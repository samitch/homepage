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
  </p:notesMasterIdLst>
  <p:sldIdLst>
    <p:sldId id="256" r:id="rId2"/>
  </p:sldIdLst>
  <p:sldSz cx="43891200" cy="32918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A7EBB"/>
    <a:srgbClr val="FFCCCC"/>
    <a:srgbClr val="FAFAFA"/>
    <a:srgbClr val="00FF00"/>
    <a:srgbClr val="1700FF"/>
    <a:srgbClr val="3233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823"/>
    <p:restoredTop sz="94683"/>
  </p:normalViewPr>
  <p:slideViewPr>
    <p:cSldViewPr snapToGrid="0" snapToObjects="1">
      <p:cViewPr>
        <p:scale>
          <a:sx n="100" d="100"/>
          <a:sy n="100" d="100"/>
        </p:scale>
        <p:origin x="-10920" y="-17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2194560" marR="0" lvl="1" indent="-10160" algn="l" rtl="0">
              <a:spcBef>
                <a:spcPts val="0"/>
              </a:spcBef>
              <a:buNone/>
              <a:defRPr sz="8600" b="0" i="0" u="none" strike="noStrike" cap="none">
                <a:solidFill>
                  <a:schemeClr val="dk1"/>
                </a:solidFill>
                <a:latin typeface="Calibri"/>
                <a:ea typeface="Calibri"/>
                <a:cs typeface="Calibri"/>
                <a:sym typeface="Calibri"/>
              </a:defRPr>
            </a:lvl2pPr>
            <a:lvl3pPr marL="4389120" marR="0" lvl="2" indent="-7620" algn="l" rtl="0">
              <a:spcBef>
                <a:spcPts val="0"/>
              </a:spcBef>
              <a:buNone/>
              <a:defRPr sz="8600" b="0" i="0" u="none" strike="noStrike" cap="none">
                <a:solidFill>
                  <a:schemeClr val="dk1"/>
                </a:solidFill>
                <a:latin typeface="Calibri"/>
                <a:ea typeface="Calibri"/>
                <a:cs typeface="Calibri"/>
                <a:sym typeface="Calibri"/>
              </a:defRPr>
            </a:lvl3pPr>
            <a:lvl4pPr marL="6583680" marR="0" lvl="3" indent="-5080" algn="l" rtl="0">
              <a:spcBef>
                <a:spcPts val="0"/>
              </a:spcBef>
              <a:buNone/>
              <a:defRPr sz="8600" b="0" i="0" u="none" strike="noStrike" cap="none">
                <a:solidFill>
                  <a:schemeClr val="dk1"/>
                </a:solidFill>
                <a:latin typeface="Calibri"/>
                <a:ea typeface="Calibri"/>
                <a:cs typeface="Calibri"/>
                <a:sym typeface="Calibri"/>
              </a:defRPr>
            </a:lvl4pPr>
            <a:lvl5pPr marL="8778240" marR="0" lvl="4" indent="-2540" algn="l" rtl="0">
              <a:spcBef>
                <a:spcPts val="0"/>
              </a:spcBef>
              <a:buNone/>
              <a:defRPr sz="8600" b="0" i="0" u="none" strike="noStrike" cap="none">
                <a:solidFill>
                  <a:schemeClr val="dk1"/>
                </a:solidFill>
                <a:latin typeface="Calibri"/>
                <a:ea typeface="Calibri"/>
                <a:cs typeface="Calibri"/>
                <a:sym typeface="Calibri"/>
              </a:defRPr>
            </a:lvl5pPr>
            <a:lvl6pPr marL="10972800" marR="0" lvl="5" indent="0" algn="l" rtl="0">
              <a:spcBef>
                <a:spcPts val="0"/>
              </a:spcBef>
              <a:buNone/>
              <a:defRPr sz="8600" b="0" i="0" u="none" strike="noStrike" cap="none">
                <a:solidFill>
                  <a:schemeClr val="dk1"/>
                </a:solidFill>
                <a:latin typeface="Calibri"/>
                <a:ea typeface="Calibri"/>
                <a:cs typeface="Calibri"/>
                <a:sym typeface="Calibri"/>
              </a:defRPr>
            </a:lvl6pPr>
            <a:lvl7pPr marL="13167361" marR="0" lvl="6" indent="-10160" algn="l" rtl="0">
              <a:spcBef>
                <a:spcPts val="0"/>
              </a:spcBef>
              <a:buNone/>
              <a:defRPr sz="8600" b="0" i="0" u="none" strike="noStrike" cap="none">
                <a:solidFill>
                  <a:schemeClr val="dk1"/>
                </a:solidFill>
                <a:latin typeface="Calibri"/>
                <a:ea typeface="Calibri"/>
                <a:cs typeface="Calibri"/>
                <a:sym typeface="Calibri"/>
              </a:defRPr>
            </a:lvl7pPr>
            <a:lvl8pPr marL="15361920" marR="0" lvl="7" indent="-7619" algn="l" rtl="0">
              <a:spcBef>
                <a:spcPts val="0"/>
              </a:spcBef>
              <a:buNone/>
              <a:defRPr sz="8600" b="0" i="0" u="none" strike="noStrike" cap="none">
                <a:solidFill>
                  <a:schemeClr val="dk1"/>
                </a:solidFill>
                <a:latin typeface="Calibri"/>
                <a:ea typeface="Calibri"/>
                <a:cs typeface="Calibri"/>
                <a:sym typeface="Calibri"/>
              </a:defRPr>
            </a:lvl8pPr>
            <a:lvl9pPr marL="17556480" marR="0" lvl="8" indent="-5080" algn="l" rtl="0">
              <a:spcBef>
                <a:spcPts val="0"/>
              </a:spcBef>
              <a:buNone/>
              <a:defRPr sz="8600" b="0" i="0" u="none" strike="noStrike" cap="none">
                <a:solidFill>
                  <a:schemeClr val="dk1"/>
                </a:solidFill>
                <a:latin typeface="Calibri"/>
                <a:ea typeface="Calibri"/>
                <a:cs typeface="Calibri"/>
                <a:sym typeface="Calibri"/>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Calibri"/>
                <a:ea typeface="Calibri"/>
                <a:cs typeface="Calibri"/>
                <a:sym typeface="Calibri"/>
              </a:defRPr>
            </a:lvl1pPr>
            <a:lvl2pPr marL="2194560" marR="0" lvl="1" indent="-10160" algn="l" rtl="0">
              <a:spcBef>
                <a:spcPts val="0"/>
              </a:spcBef>
              <a:buNone/>
              <a:defRPr sz="8600" b="0" i="0" u="none" strike="noStrike" cap="none">
                <a:solidFill>
                  <a:schemeClr val="dk1"/>
                </a:solidFill>
                <a:latin typeface="Calibri"/>
                <a:ea typeface="Calibri"/>
                <a:cs typeface="Calibri"/>
                <a:sym typeface="Calibri"/>
              </a:defRPr>
            </a:lvl2pPr>
            <a:lvl3pPr marL="4389120" marR="0" lvl="2" indent="-7620" algn="l" rtl="0">
              <a:spcBef>
                <a:spcPts val="0"/>
              </a:spcBef>
              <a:buNone/>
              <a:defRPr sz="8600" b="0" i="0" u="none" strike="noStrike" cap="none">
                <a:solidFill>
                  <a:schemeClr val="dk1"/>
                </a:solidFill>
                <a:latin typeface="Calibri"/>
                <a:ea typeface="Calibri"/>
                <a:cs typeface="Calibri"/>
                <a:sym typeface="Calibri"/>
              </a:defRPr>
            </a:lvl3pPr>
            <a:lvl4pPr marL="6583680" marR="0" lvl="3" indent="-5080" algn="l" rtl="0">
              <a:spcBef>
                <a:spcPts val="0"/>
              </a:spcBef>
              <a:buNone/>
              <a:defRPr sz="8600" b="0" i="0" u="none" strike="noStrike" cap="none">
                <a:solidFill>
                  <a:schemeClr val="dk1"/>
                </a:solidFill>
                <a:latin typeface="Calibri"/>
                <a:ea typeface="Calibri"/>
                <a:cs typeface="Calibri"/>
                <a:sym typeface="Calibri"/>
              </a:defRPr>
            </a:lvl4pPr>
            <a:lvl5pPr marL="8778240" marR="0" lvl="4" indent="-2540" algn="l" rtl="0">
              <a:spcBef>
                <a:spcPts val="0"/>
              </a:spcBef>
              <a:buNone/>
              <a:defRPr sz="8600" b="0" i="0" u="none" strike="noStrike" cap="none">
                <a:solidFill>
                  <a:schemeClr val="dk1"/>
                </a:solidFill>
                <a:latin typeface="Calibri"/>
                <a:ea typeface="Calibri"/>
                <a:cs typeface="Calibri"/>
                <a:sym typeface="Calibri"/>
              </a:defRPr>
            </a:lvl5pPr>
            <a:lvl6pPr marL="10972800" marR="0" lvl="5" indent="0" algn="l" rtl="0">
              <a:spcBef>
                <a:spcPts val="0"/>
              </a:spcBef>
              <a:buNone/>
              <a:defRPr sz="8600" b="0" i="0" u="none" strike="noStrike" cap="none">
                <a:solidFill>
                  <a:schemeClr val="dk1"/>
                </a:solidFill>
                <a:latin typeface="Calibri"/>
                <a:ea typeface="Calibri"/>
                <a:cs typeface="Calibri"/>
                <a:sym typeface="Calibri"/>
              </a:defRPr>
            </a:lvl6pPr>
            <a:lvl7pPr marL="13167361" marR="0" lvl="6" indent="-10160" algn="l" rtl="0">
              <a:spcBef>
                <a:spcPts val="0"/>
              </a:spcBef>
              <a:buNone/>
              <a:defRPr sz="8600" b="0" i="0" u="none" strike="noStrike" cap="none">
                <a:solidFill>
                  <a:schemeClr val="dk1"/>
                </a:solidFill>
                <a:latin typeface="Calibri"/>
                <a:ea typeface="Calibri"/>
                <a:cs typeface="Calibri"/>
                <a:sym typeface="Calibri"/>
              </a:defRPr>
            </a:lvl7pPr>
            <a:lvl8pPr marL="15361920" marR="0" lvl="7" indent="-7619" algn="l" rtl="0">
              <a:spcBef>
                <a:spcPts val="0"/>
              </a:spcBef>
              <a:buNone/>
              <a:defRPr sz="8600" b="0" i="0" u="none" strike="noStrike" cap="none">
                <a:solidFill>
                  <a:schemeClr val="dk1"/>
                </a:solidFill>
                <a:latin typeface="Calibri"/>
                <a:ea typeface="Calibri"/>
                <a:cs typeface="Calibri"/>
                <a:sym typeface="Calibri"/>
              </a:defRPr>
            </a:lvl8pPr>
            <a:lvl9pPr marL="17556480" marR="0" lvl="8" indent="-5080" algn="l" rtl="0">
              <a:spcBef>
                <a:spcPts val="0"/>
              </a:spcBef>
              <a:buNone/>
              <a:defRPr sz="8600" b="0" i="0" u="none" strike="noStrike" cap="none">
                <a:solidFill>
                  <a:schemeClr val="dk1"/>
                </a:solidFill>
                <a:latin typeface="Calibri"/>
                <a:ea typeface="Calibri"/>
                <a:cs typeface="Calibri"/>
                <a:sym typeface="Calibri"/>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Char char="●"/>
              <a:defRPr sz="1200" b="0" i="0" u="none" strike="noStrike" cap="none">
                <a:solidFill>
                  <a:schemeClr val="dk1"/>
                </a:solidFill>
                <a:latin typeface="Calibri"/>
                <a:ea typeface="Calibri"/>
                <a:cs typeface="Calibri"/>
                <a:sym typeface="Calibri"/>
              </a:defRPr>
            </a:lvl1pPr>
            <a:lvl2pPr marL="457200" marR="0" lvl="1" indent="0" algn="l" rtl="0">
              <a:spcBef>
                <a:spcPts val="0"/>
              </a:spcBef>
              <a:buChar char="○"/>
              <a:defRPr sz="1200" b="0" i="0" u="none" strike="noStrike" cap="none">
                <a:solidFill>
                  <a:schemeClr val="dk1"/>
                </a:solidFill>
                <a:latin typeface="Calibri"/>
                <a:ea typeface="Calibri"/>
                <a:cs typeface="Calibri"/>
                <a:sym typeface="Calibri"/>
              </a:defRPr>
            </a:lvl2pPr>
            <a:lvl3pPr marL="914400" marR="0" lvl="2" indent="0" algn="l" rtl="0">
              <a:spcBef>
                <a:spcPts val="0"/>
              </a:spcBef>
              <a:buChar char="■"/>
              <a:defRPr sz="1200" b="0" i="0" u="none" strike="noStrike" cap="none">
                <a:solidFill>
                  <a:schemeClr val="dk1"/>
                </a:solidFill>
                <a:latin typeface="Calibri"/>
                <a:ea typeface="Calibri"/>
                <a:cs typeface="Calibri"/>
                <a:sym typeface="Calibri"/>
              </a:defRPr>
            </a:lvl3pPr>
            <a:lvl4pPr marL="1371600" marR="0" lvl="3" indent="0" algn="l" rtl="0">
              <a:spcBef>
                <a:spcPts val="0"/>
              </a:spcBef>
              <a:buChar char="●"/>
              <a:defRPr sz="1200" b="0" i="0" u="none" strike="noStrike" cap="none">
                <a:solidFill>
                  <a:schemeClr val="dk1"/>
                </a:solidFill>
                <a:latin typeface="Calibri"/>
                <a:ea typeface="Calibri"/>
                <a:cs typeface="Calibri"/>
                <a:sym typeface="Calibri"/>
              </a:defRPr>
            </a:lvl4pPr>
            <a:lvl5pPr marL="1828800" marR="0" lvl="4" indent="0" algn="l" rtl="0">
              <a:spcBef>
                <a:spcPts val="0"/>
              </a:spcBef>
              <a:buChar char="○"/>
              <a:defRPr sz="1200" b="0" i="0" u="none" strike="noStrike" cap="none">
                <a:solidFill>
                  <a:schemeClr val="dk1"/>
                </a:solidFill>
                <a:latin typeface="Calibri"/>
                <a:ea typeface="Calibri"/>
                <a:cs typeface="Calibri"/>
                <a:sym typeface="Calibri"/>
              </a:defRPr>
            </a:lvl5pPr>
            <a:lvl6pPr marL="2286000" marR="0" lvl="5" indent="0" algn="l" rtl="0">
              <a:spcBef>
                <a:spcPts val="0"/>
              </a:spcBef>
              <a:buChar char="■"/>
              <a:defRPr sz="1200" b="0" i="0" u="none" strike="noStrike" cap="none">
                <a:solidFill>
                  <a:schemeClr val="dk1"/>
                </a:solidFill>
                <a:latin typeface="Calibri"/>
                <a:ea typeface="Calibri"/>
                <a:cs typeface="Calibri"/>
                <a:sym typeface="Calibri"/>
              </a:defRPr>
            </a:lvl6pPr>
            <a:lvl7pPr marL="2743200" marR="0" lvl="6" indent="0" algn="l" rtl="0">
              <a:spcBef>
                <a:spcPts val="0"/>
              </a:spcBef>
              <a:buChar char="●"/>
              <a:defRPr sz="1200" b="0" i="0" u="none" strike="noStrike" cap="none">
                <a:solidFill>
                  <a:schemeClr val="dk1"/>
                </a:solidFill>
                <a:latin typeface="Calibri"/>
                <a:ea typeface="Calibri"/>
                <a:cs typeface="Calibri"/>
                <a:sym typeface="Calibri"/>
              </a:defRPr>
            </a:lvl7pPr>
            <a:lvl8pPr marL="3200400" marR="0" lvl="7" indent="0" algn="l" rtl="0">
              <a:spcBef>
                <a:spcPts val="0"/>
              </a:spcBef>
              <a:buChar char="○"/>
              <a:defRPr sz="1200" b="0" i="0" u="none" strike="noStrike" cap="none">
                <a:solidFill>
                  <a:schemeClr val="dk1"/>
                </a:solidFill>
                <a:latin typeface="Calibri"/>
                <a:ea typeface="Calibri"/>
                <a:cs typeface="Calibri"/>
                <a:sym typeface="Calibri"/>
              </a:defRPr>
            </a:lvl8pPr>
            <a:lvl9pPr marL="3657600" marR="0" lvl="8" indent="0" algn="l" rtl="0">
              <a:spcBef>
                <a:spcPts val="0"/>
              </a:spcBef>
              <a:buChar char="■"/>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2194560" marR="0" lvl="1" indent="-10160" algn="l" rtl="0">
              <a:spcBef>
                <a:spcPts val="0"/>
              </a:spcBef>
              <a:buNone/>
              <a:defRPr sz="8600" b="0" i="0" u="none" strike="noStrike" cap="none">
                <a:solidFill>
                  <a:schemeClr val="dk1"/>
                </a:solidFill>
                <a:latin typeface="Calibri"/>
                <a:ea typeface="Calibri"/>
                <a:cs typeface="Calibri"/>
                <a:sym typeface="Calibri"/>
              </a:defRPr>
            </a:lvl2pPr>
            <a:lvl3pPr marL="4389120" marR="0" lvl="2" indent="-7620" algn="l" rtl="0">
              <a:spcBef>
                <a:spcPts val="0"/>
              </a:spcBef>
              <a:buNone/>
              <a:defRPr sz="8600" b="0" i="0" u="none" strike="noStrike" cap="none">
                <a:solidFill>
                  <a:schemeClr val="dk1"/>
                </a:solidFill>
                <a:latin typeface="Calibri"/>
                <a:ea typeface="Calibri"/>
                <a:cs typeface="Calibri"/>
                <a:sym typeface="Calibri"/>
              </a:defRPr>
            </a:lvl3pPr>
            <a:lvl4pPr marL="6583680" marR="0" lvl="3" indent="-5080" algn="l" rtl="0">
              <a:spcBef>
                <a:spcPts val="0"/>
              </a:spcBef>
              <a:buNone/>
              <a:defRPr sz="8600" b="0" i="0" u="none" strike="noStrike" cap="none">
                <a:solidFill>
                  <a:schemeClr val="dk1"/>
                </a:solidFill>
                <a:latin typeface="Calibri"/>
                <a:ea typeface="Calibri"/>
                <a:cs typeface="Calibri"/>
                <a:sym typeface="Calibri"/>
              </a:defRPr>
            </a:lvl4pPr>
            <a:lvl5pPr marL="8778240" marR="0" lvl="4" indent="-2540" algn="l" rtl="0">
              <a:spcBef>
                <a:spcPts val="0"/>
              </a:spcBef>
              <a:buNone/>
              <a:defRPr sz="8600" b="0" i="0" u="none" strike="noStrike" cap="none">
                <a:solidFill>
                  <a:schemeClr val="dk1"/>
                </a:solidFill>
                <a:latin typeface="Calibri"/>
                <a:ea typeface="Calibri"/>
                <a:cs typeface="Calibri"/>
                <a:sym typeface="Calibri"/>
              </a:defRPr>
            </a:lvl5pPr>
            <a:lvl6pPr marL="10972800" marR="0" lvl="5" indent="0" algn="l" rtl="0">
              <a:spcBef>
                <a:spcPts val="0"/>
              </a:spcBef>
              <a:buNone/>
              <a:defRPr sz="8600" b="0" i="0" u="none" strike="noStrike" cap="none">
                <a:solidFill>
                  <a:schemeClr val="dk1"/>
                </a:solidFill>
                <a:latin typeface="Calibri"/>
                <a:ea typeface="Calibri"/>
                <a:cs typeface="Calibri"/>
                <a:sym typeface="Calibri"/>
              </a:defRPr>
            </a:lvl6pPr>
            <a:lvl7pPr marL="13167361" marR="0" lvl="6" indent="-10160" algn="l" rtl="0">
              <a:spcBef>
                <a:spcPts val="0"/>
              </a:spcBef>
              <a:buNone/>
              <a:defRPr sz="8600" b="0" i="0" u="none" strike="noStrike" cap="none">
                <a:solidFill>
                  <a:schemeClr val="dk1"/>
                </a:solidFill>
                <a:latin typeface="Calibri"/>
                <a:ea typeface="Calibri"/>
                <a:cs typeface="Calibri"/>
                <a:sym typeface="Calibri"/>
              </a:defRPr>
            </a:lvl7pPr>
            <a:lvl8pPr marL="15361920" marR="0" lvl="7" indent="-7619" algn="l" rtl="0">
              <a:spcBef>
                <a:spcPts val="0"/>
              </a:spcBef>
              <a:buNone/>
              <a:defRPr sz="8600" b="0" i="0" u="none" strike="noStrike" cap="none">
                <a:solidFill>
                  <a:schemeClr val="dk1"/>
                </a:solidFill>
                <a:latin typeface="Calibri"/>
                <a:ea typeface="Calibri"/>
                <a:cs typeface="Calibri"/>
                <a:sym typeface="Calibri"/>
              </a:defRPr>
            </a:lvl8pPr>
            <a:lvl9pPr marL="17556480" marR="0" lvl="8" indent="-5080" algn="l" rtl="0">
              <a:spcBef>
                <a:spcPts val="0"/>
              </a:spcBef>
              <a:buNone/>
              <a:defRPr sz="86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Calibri"/>
                <a:ea typeface="Calibri"/>
                <a:cs typeface="Calibri"/>
                <a:sym typeface="Calibri"/>
              </a:rPr>
              <a:t>‹#›</a:t>
            </a:fld>
            <a:endParaRPr lang="en-US"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
        <p:cNvGrpSpPr/>
        <p:nvPr/>
      </p:nvGrpSpPr>
      <p:grpSpPr>
        <a:xfrm>
          <a:off x="0" y="0"/>
          <a:ext cx="0" cy="0"/>
          <a:chOff x="0" y="0"/>
          <a:chExt cx="0" cy="0"/>
        </a:xfrm>
      </p:grpSpPr>
      <p:sp>
        <p:nvSpPr>
          <p:cNvPr id="19" name="Shape 1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 name="Shape 20"/>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endParaRPr sz="1200" b="0" i="0" u="none" strike="noStrike" cap="none">
              <a:solidFill>
                <a:schemeClr val="dk1"/>
              </a:solidFill>
              <a:latin typeface="Calibri"/>
              <a:ea typeface="Calibri"/>
              <a:cs typeface="Calibri"/>
              <a:sym typeface="Calibri"/>
            </a:endParaRPr>
          </a:p>
        </p:txBody>
      </p:sp>
      <p:sp>
        <p:nvSpPr>
          <p:cNvPr id="21" name="Shape 21"/>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Calibri"/>
                <a:ea typeface="Calibri"/>
                <a:cs typeface="Calibri"/>
                <a:sym typeface="Calibri"/>
              </a:rPr>
              <a:t>1</a:t>
            </a:fld>
            <a:endParaRPr lang="en-US" sz="1200" b="0" i="0" u="none" strike="noStrike" cap="non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14"/>
        <p:cNvGrpSpPr/>
        <p:nvPr/>
      </p:nvGrpSpPr>
      <p:grpSpPr>
        <a:xfrm>
          <a:off x="0" y="0"/>
          <a:ext cx="0" cy="0"/>
          <a:chOff x="0" y="0"/>
          <a:chExt cx="0" cy="0"/>
        </a:xfrm>
      </p:grpSpPr>
      <p:sp>
        <p:nvSpPr>
          <p:cNvPr id="15" name="Shape 15"/>
          <p:cNvSpPr/>
          <p:nvPr/>
        </p:nvSpPr>
        <p:spPr>
          <a:xfrm>
            <a:off x="990600" y="3943901"/>
            <a:ext cx="13533120" cy="27432000"/>
          </a:xfrm>
          <a:prstGeom prst="roundRect">
            <a:avLst>
              <a:gd name="adj" fmla="val 3982"/>
            </a:avLst>
          </a:prstGeom>
          <a:gradFill>
            <a:gsLst>
              <a:gs pos="0">
                <a:srgbClr val="E3E3E3"/>
              </a:gs>
              <a:gs pos="100000">
                <a:srgbClr val="FFFFFF">
                  <a:alpha val="0"/>
                </a:srgbClr>
              </a:gs>
            </a:gsLst>
            <a:lin ang="5400000" scaled="0"/>
          </a:gradFill>
          <a:ln w="9525" cap="flat" cmpd="sng">
            <a:solidFill>
              <a:schemeClr val="lt1"/>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8600" b="0" i="0" u="none" strike="noStrike" cap="none">
              <a:solidFill>
                <a:schemeClr val="lt1"/>
              </a:solidFill>
              <a:latin typeface="Calibri"/>
              <a:ea typeface="Calibri"/>
              <a:cs typeface="Calibri"/>
              <a:sym typeface="Calibri"/>
            </a:endParaRPr>
          </a:p>
        </p:txBody>
      </p:sp>
      <p:sp>
        <p:nvSpPr>
          <p:cNvPr id="16" name="Shape 16"/>
          <p:cNvSpPr/>
          <p:nvPr/>
        </p:nvSpPr>
        <p:spPr>
          <a:xfrm>
            <a:off x="15163800" y="3943901"/>
            <a:ext cx="13533120" cy="27432000"/>
          </a:xfrm>
          <a:prstGeom prst="roundRect">
            <a:avLst>
              <a:gd name="adj" fmla="val 3982"/>
            </a:avLst>
          </a:prstGeom>
          <a:gradFill>
            <a:gsLst>
              <a:gs pos="0">
                <a:srgbClr val="E3E3E3"/>
              </a:gs>
              <a:gs pos="100000">
                <a:srgbClr val="FFFFFF">
                  <a:alpha val="0"/>
                </a:srgbClr>
              </a:gs>
            </a:gsLst>
            <a:lin ang="5400000" scaled="0"/>
          </a:gradFill>
          <a:ln w="9525" cap="flat" cmpd="sng">
            <a:solidFill>
              <a:schemeClr val="lt1"/>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8600" b="0" i="0" u="none" strike="noStrike" cap="none">
              <a:solidFill>
                <a:schemeClr val="lt1"/>
              </a:solidFill>
              <a:latin typeface="Calibri"/>
              <a:ea typeface="Calibri"/>
              <a:cs typeface="Calibri"/>
              <a:sym typeface="Calibri"/>
            </a:endParaRPr>
          </a:p>
        </p:txBody>
      </p:sp>
      <p:sp>
        <p:nvSpPr>
          <p:cNvPr id="17" name="Shape 17"/>
          <p:cNvSpPr/>
          <p:nvPr/>
        </p:nvSpPr>
        <p:spPr>
          <a:xfrm>
            <a:off x="29276040" y="3943901"/>
            <a:ext cx="13533120" cy="27432000"/>
          </a:xfrm>
          <a:prstGeom prst="roundRect">
            <a:avLst>
              <a:gd name="adj" fmla="val 3982"/>
            </a:avLst>
          </a:prstGeom>
          <a:gradFill>
            <a:gsLst>
              <a:gs pos="0">
                <a:srgbClr val="E3E3E3"/>
              </a:gs>
              <a:gs pos="100000">
                <a:srgbClr val="FFFFFF">
                  <a:alpha val="0"/>
                </a:srgbClr>
              </a:gs>
            </a:gsLst>
            <a:lin ang="5400000" scaled="0"/>
          </a:gradFill>
          <a:ln w="9525" cap="flat" cmpd="sng">
            <a:solidFill>
              <a:schemeClr val="lt1"/>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8600" b="0" i="0" u="none" strike="noStrike" cap="none">
              <a:solidFill>
                <a:schemeClr val="lt1"/>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Shape 10" descr="globe.png"/>
          <p:cNvPicPr preferRelativeResize="0"/>
          <p:nvPr/>
        </p:nvPicPr>
        <p:blipFill rotWithShape="1">
          <a:blip r:embed="rId3">
            <a:alphaModFix amt="10000"/>
          </a:blip>
          <a:srcRect l="13713" r="11020" b="6554"/>
          <a:stretch/>
        </p:blipFill>
        <p:spPr>
          <a:xfrm>
            <a:off x="0" y="13359384"/>
            <a:ext cx="23088599" cy="19559015"/>
          </a:xfrm>
          <a:prstGeom prst="rect">
            <a:avLst/>
          </a:prstGeom>
          <a:noFill/>
          <a:ln>
            <a:noFill/>
          </a:ln>
        </p:spPr>
      </p:pic>
      <p:sp>
        <p:nvSpPr>
          <p:cNvPr id="11" name="Shape 11"/>
          <p:cNvSpPr/>
          <p:nvPr/>
        </p:nvSpPr>
        <p:spPr>
          <a:xfrm>
            <a:off x="0" y="31775400"/>
            <a:ext cx="43891199" cy="1194891"/>
          </a:xfrm>
          <a:prstGeom prst="rect">
            <a:avLst/>
          </a:prstGeom>
          <a:solidFill>
            <a:srgbClr val="72665D"/>
          </a:solidFill>
          <a:ln w="9525" cap="flat" cmpd="sng">
            <a:solidFill>
              <a:srgbClr val="4A7DBA"/>
            </a:solidFill>
            <a:prstDash val="solid"/>
            <a:round/>
            <a:headEnd type="none" w="med" len="med"/>
            <a:tailEnd type="none" w="med" len="med"/>
          </a:ln>
          <a:effectLst>
            <a:outerShdw blurRad="39999" dist="23000" dir="5400000" rotWithShape="0">
              <a:srgbClr val="000000">
                <a:alpha val="34901"/>
              </a:srgbClr>
            </a:outerShdw>
          </a:effectLst>
        </p:spPr>
        <p:txBody>
          <a:bodyPr lIns="91425" tIns="45700" rIns="91425" bIns="45700" anchor="ctr" anchorCtr="0">
            <a:noAutofit/>
          </a:bodyPr>
          <a:lstStyle/>
          <a:p>
            <a:pPr marL="0" marR="0" lvl="0" indent="0" algn="ctr" rtl="0">
              <a:spcBef>
                <a:spcPts val="0"/>
              </a:spcBef>
              <a:buNone/>
            </a:pPr>
            <a:endParaRPr sz="8600" b="0" i="0" u="none" strike="noStrike" cap="none">
              <a:solidFill>
                <a:schemeClr val="lt1"/>
              </a:solidFill>
              <a:latin typeface="Calibri"/>
              <a:ea typeface="Calibri"/>
              <a:cs typeface="Calibri"/>
              <a:sym typeface="Calibri"/>
            </a:endParaRPr>
          </a:p>
        </p:txBody>
      </p:sp>
      <p:sp>
        <p:nvSpPr>
          <p:cNvPr id="12" name="Shape 12"/>
          <p:cNvSpPr txBox="1"/>
          <p:nvPr/>
        </p:nvSpPr>
        <p:spPr>
          <a:xfrm>
            <a:off x="21114326" y="31981912"/>
            <a:ext cx="22658845" cy="707886"/>
          </a:xfrm>
          <a:prstGeom prst="rect">
            <a:avLst/>
          </a:prstGeom>
          <a:noFill/>
          <a:ln>
            <a:noFill/>
          </a:ln>
        </p:spPr>
        <p:txBody>
          <a:bodyPr lIns="91425" tIns="45700" rIns="91425" bIns="45700" anchor="t" anchorCtr="0">
            <a:noAutofit/>
          </a:bodyPr>
          <a:lstStyle/>
          <a:p>
            <a:pPr marL="0" marR="0" lvl="0" indent="0" algn="r" rtl="0">
              <a:lnSpc>
                <a:spcPct val="100000"/>
              </a:lnSpc>
              <a:spcBef>
                <a:spcPts val="0"/>
              </a:spcBef>
              <a:spcAft>
                <a:spcPts val="0"/>
              </a:spcAft>
              <a:buClr>
                <a:schemeClr val="lt1"/>
              </a:buClr>
              <a:buSzPct val="25000"/>
              <a:buFont typeface="Calibri"/>
              <a:buNone/>
            </a:pPr>
            <a:r>
              <a:rPr lang="en-US" sz="4000" b="0" i="0" u="none" strike="noStrike" cap="none">
                <a:solidFill>
                  <a:schemeClr val="lt1"/>
                </a:solidFill>
                <a:latin typeface="Calibri"/>
                <a:ea typeface="Calibri"/>
                <a:cs typeface="Calibri"/>
                <a:sym typeface="Calibri"/>
              </a:rPr>
              <a:t>DOE ASCR Applied Mathematics Principal Investigators' (PI) Meeting, Rockville, MD, September 11-12, 2017</a:t>
            </a:r>
          </a:p>
        </p:txBody>
      </p:sp>
      <p:cxnSp>
        <p:nvCxnSpPr>
          <p:cNvPr id="13" name="Shape 13"/>
          <p:cNvCxnSpPr/>
          <p:nvPr/>
        </p:nvCxnSpPr>
        <p:spPr>
          <a:xfrm>
            <a:off x="0" y="3429000"/>
            <a:ext cx="42824400" cy="0"/>
          </a:xfrm>
          <a:prstGeom prst="straightConnector1">
            <a:avLst/>
          </a:prstGeom>
          <a:noFill/>
          <a:ln w="127000" cap="flat" cmpd="sng">
            <a:solidFill>
              <a:srgbClr val="6782B2"/>
            </a:solidFill>
            <a:prstDash val="solid"/>
            <a:round/>
            <a:headEnd type="none" w="med" len="med"/>
            <a:tailEnd type="none" w="med" len="med"/>
          </a:ln>
          <a:effectLst>
            <a:outerShdw blurRad="39999" dist="20000" dir="5400000" rotWithShape="0">
              <a:srgbClr val="000000">
                <a:alpha val="37647"/>
              </a:srgbClr>
            </a:outerShdw>
          </a:effectLst>
        </p:spPr>
      </p:cxn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8.emf"/><Relationship Id="rId20" Type="http://schemas.openxmlformats.org/officeDocument/2006/relationships/image" Target="../media/image19.emf"/><Relationship Id="rId21" Type="http://schemas.openxmlformats.org/officeDocument/2006/relationships/image" Target="../media/image20.emf"/><Relationship Id="rId22" Type="http://schemas.openxmlformats.org/officeDocument/2006/relationships/image" Target="../media/image21.emf"/><Relationship Id="rId23" Type="http://schemas.openxmlformats.org/officeDocument/2006/relationships/image" Target="../media/image22.emf"/><Relationship Id="rId10" Type="http://schemas.openxmlformats.org/officeDocument/2006/relationships/image" Target="../media/image9.emf"/><Relationship Id="rId11" Type="http://schemas.openxmlformats.org/officeDocument/2006/relationships/image" Target="../media/image10.emf"/><Relationship Id="rId12" Type="http://schemas.openxmlformats.org/officeDocument/2006/relationships/image" Target="../media/image11.png"/><Relationship Id="rId13" Type="http://schemas.openxmlformats.org/officeDocument/2006/relationships/image" Target="../media/image12.emf"/><Relationship Id="rId14" Type="http://schemas.openxmlformats.org/officeDocument/2006/relationships/image" Target="../media/image13.emf"/><Relationship Id="rId15" Type="http://schemas.openxmlformats.org/officeDocument/2006/relationships/image" Target="../media/image14.emf"/><Relationship Id="rId16" Type="http://schemas.openxmlformats.org/officeDocument/2006/relationships/image" Target="../media/image15.emf"/><Relationship Id="rId17" Type="http://schemas.openxmlformats.org/officeDocument/2006/relationships/image" Target="../media/image16.emf"/><Relationship Id="rId18" Type="http://schemas.openxmlformats.org/officeDocument/2006/relationships/image" Target="../media/image17.emf"/><Relationship Id="rId19" Type="http://schemas.openxmlformats.org/officeDocument/2006/relationships/image" Target="../media/image18.emf"/><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alpha val="61960"/>
          </a:schemeClr>
        </a:solidFill>
        <a:effectLst/>
      </p:bgPr>
    </p:bg>
    <p:spTree>
      <p:nvGrpSpPr>
        <p:cNvPr id="1" name="Shape 22"/>
        <p:cNvGrpSpPr/>
        <p:nvPr/>
      </p:nvGrpSpPr>
      <p:grpSpPr>
        <a:xfrm>
          <a:off x="0" y="0"/>
          <a:ext cx="0" cy="0"/>
          <a:chOff x="0" y="0"/>
          <a:chExt cx="0" cy="0"/>
        </a:xfrm>
      </p:grpSpPr>
      <p:sp>
        <p:nvSpPr>
          <p:cNvPr id="115" name="Freeform 114"/>
          <p:cNvSpPr/>
          <p:nvPr/>
        </p:nvSpPr>
        <p:spPr>
          <a:xfrm>
            <a:off x="9461500" y="17499782"/>
            <a:ext cx="4762500" cy="1397000"/>
          </a:xfrm>
          <a:custGeom>
            <a:avLst/>
            <a:gdLst>
              <a:gd name="connsiteX0" fmla="*/ 4737100 w 4762500"/>
              <a:gd name="connsiteY0" fmla="*/ 1397000 h 1397000"/>
              <a:gd name="connsiteX1" fmla="*/ 800100 w 4762500"/>
              <a:gd name="connsiteY1" fmla="*/ 1397000 h 1397000"/>
              <a:gd name="connsiteX2" fmla="*/ 635000 w 4762500"/>
              <a:gd name="connsiteY2" fmla="*/ 990600 h 1397000"/>
              <a:gd name="connsiteX3" fmla="*/ 469900 w 4762500"/>
              <a:gd name="connsiteY3" fmla="*/ 622300 h 1397000"/>
              <a:gd name="connsiteX4" fmla="*/ 177800 w 4762500"/>
              <a:gd name="connsiteY4" fmla="*/ 241300 h 1397000"/>
              <a:gd name="connsiteX5" fmla="*/ 0 w 4762500"/>
              <a:gd name="connsiteY5" fmla="*/ 0 h 1397000"/>
              <a:gd name="connsiteX6" fmla="*/ 4762500 w 4762500"/>
              <a:gd name="connsiteY6" fmla="*/ 0 h 1397000"/>
              <a:gd name="connsiteX7" fmla="*/ 4737100 w 4762500"/>
              <a:gd name="connsiteY7" fmla="*/ 1397000 h 139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2500" h="1397000">
                <a:moveTo>
                  <a:pt x="4737100" y="1397000"/>
                </a:moveTo>
                <a:lnTo>
                  <a:pt x="800100" y="1397000"/>
                </a:lnTo>
                <a:lnTo>
                  <a:pt x="635000" y="990600"/>
                </a:lnTo>
                <a:lnTo>
                  <a:pt x="469900" y="622300"/>
                </a:lnTo>
                <a:lnTo>
                  <a:pt x="177800" y="241300"/>
                </a:lnTo>
                <a:lnTo>
                  <a:pt x="0" y="0"/>
                </a:lnTo>
                <a:lnTo>
                  <a:pt x="4762500" y="0"/>
                </a:lnTo>
                <a:lnTo>
                  <a:pt x="4737100" y="1397000"/>
                </a:lnTo>
                <a:close/>
              </a:path>
            </a:pathLst>
          </a:custGeom>
          <a:solidFill>
            <a:srgbClr val="FAF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Shape 34"/>
          <p:cNvSpPr txBox="1"/>
          <p:nvPr/>
        </p:nvSpPr>
        <p:spPr>
          <a:xfrm>
            <a:off x="7161489" y="11891171"/>
            <a:ext cx="7243631" cy="1544873"/>
          </a:xfrm>
          <a:prstGeom prst="rect">
            <a:avLst/>
          </a:prstGeom>
          <a:noFill/>
          <a:ln>
            <a:noFill/>
          </a:ln>
        </p:spPr>
        <p:txBody>
          <a:bodyPr lIns="91425" tIns="91425" rIns="91425" bIns="91425" anchor="t" anchorCtr="0">
            <a:noAutofit/>
          </a:bodyPr>
          <a:lstStyle/>
          <a:p>
            <a:pPr lvl="0">
              <a:lnSpc>
                <a:spcPct val="115000"/>
              </a:lnSpc>
              <a:spcAft>
                <a:spcPts val="800"/>
              </a:spcAft>
            </a:pPr>
            <a:r>
              <a:rPr lang="en-US" sz="2800" dirty="0" smtClean="0">
                <a:solidFill>
                  <a:schemeClr val="dk1"/>
                </a:solidFill>
                <a:latin typeface="Times" charset="0"/>
                <a:ea typeface="Times" charset="0"/>
                <a:cs typeface="Times" charset="0"/>
                <a:sym typeface="Calibri"/>
              </a:rPr>
              <a:t>A Delaunay triangulation </a:t>
            </a:r>
            <a:r>
              <a:rPr lang="en-US" sz="2800" dirty="0" smtClean="0">
                <a:solidFill>
                  <a:schemeClr val="dk1"/>
                </a:solidFill>
                <a:latin typeface="Times" charset="0"/>
                <a:ea typeface="Times" charset="0"/>
                <a:cs typeface="Times" charset="0"/>
                <a:sym typeface="Calibri"/>
              </a:rPr>
              <a:t>(black) </a:t>
            </a:r>
            <a:r>
              <a:rPr lang="en-US" sz="2800" dirty="0" smtClean="0">
                <a:solidFill>
                  <a:schemeClr val="dk1"/>
                </a:solidFill>
                <a:latin typeface="Times" charset="0"/>
                <a:ea typeface="Times" charset="0"/>
                <a:cs typeface="Times" charset="0"/>
                <a:sym typeface="Calibri"/>
              </a:rPr>
              <a:t>and its dual Voronoi polygon mesh </a:t>
            </a:r>
            <a:r>
              <a:rPr lang="en-US" sz="2800" dirty="0" smtClean="0">
                <a:solidFill>
                  <a:schemeClr val="dk1"/>
                </a:solidFill>
                <a:latin typeface="Times" charset="0"/>
                <a:ea typeface="Times" charset="0"/>
                <a:cs typeface="Times" charset="0"/>
                <a:sym typeface="Calibri"/>
              </a:rPr>
              <a:t>(</a:t>
            </a:r>
            <a:r>
              <a:rPr lang="en-US" sz="2800" dirty="0" smtClean="0">
                <a:solidFill>
                  <a:schemeClr val="dk1"/>
                </a:solidFill>
                <a:latin typeface="Times" charset="0"/>
                <a:ea typeface="Times" charset="0"/>
                <a:cs typeface="Times" charset="0"/>
                <a:sym typeface="Calibri"/>
              </a:rPr>
              <a:t>gray</a:t>
            </a:r>
            <a:r>
              <a:rPr lang="en-US" sz="2800" dirty="0" smtClean="0">
                <a:solidFill>
                  <a:schemeClr val="dk1"/>
                </a:solidFill>
                <a:latin typeface="Times" charset="0"/>
                <a:ea typeface="Times" charset="0"/>
                <a:cs typeface="Times" charset="0"/>
                <a:sym typeface="Calibri"/>
              </a:rPr>
              <a:t>). </a:t>
            </a:r>
            <a:r>
              <a:rPr lang="en-US" sz="2800" dirty="0" smtClean="0">
                <a:solidFill>
                  <a:schemeClr val="dk1"/>
                </a:solidFill>
                <a:latin typeface="Times" charset="0"/>
                <a:ea typeface="Times" charset="0"/>
                <a:cs typeface="Times" charset="0"/>
                <a:sym typeface="Calibri"/>
              </a:rPr>
              <a:t>The primal edge </a:t>
            </a:r>
            <a:r>
              <a:rPr lang="en-US" sz="2800" dirty="0" smtClean="0">
                <a:solidFill>
                  <a:schemeClr val="dk1"/>
                </a:solidFill>
                <a:latin typeface="Times" charset="0"/>
                <a:ea typeface="Times" charset="0"/>
                <a:cs typeface="Times" charset="0"/>
                <a:sym typeface="Calibri"/>
              </a:rPr>
              <a:t/>
            </a:r>
            <a:br>
              <a:rPr lang="en-US" sz="2800" dirty="0" smtClean="0">
                <a:solidFill>
                  <a:schemeClr val="dk1"/>
                </a:solidFill>
                <a:latin typeface="Times" charset="0"/>
                <a:ea typeface="Times" charset="0"/>
                <a:cs typeface="Times" charset="0"/>
                <a:sym typeface="Calibri"/>
              </a:rPr>
            </a:br>
            <a:r>
              <a:rPr lang="en-US" sz="2800" dirty="0" err="1" smtClean="0">
                <a:solidFill>
                  <a:schemeClr val="dk1"/>
                </a:solidFill>
                <a:latin typeface="Times" charset="0"/>
                <a:ea typeface="Times" charset="0"/>
                <a:cs typeface="Times" charset="0"/>
                <a:sym typeface="Calibri"/>
              </a:rPr>
              <a:t>σ</a:t>
            </a:r>
            <a:r>
              <a:rPr lang="en-US" sz="2800" dirty="0" smtClean="0">
                <a:solidFill>
                  <a:schemeClr val="dk1"/>
                </a:solidFill>
                <a:latin typeface="Times" charset="0"/>
                <a:ea typeface="Times" charset="0"/>
                <a:cs typeface="Times" charset="0"/>
                <a:sym typeface="Calibri"/>
              </a:rPr>
              <a:t> </a:t>
            </a:r>
            <a:r>
              <a:rPr lang="en-US" sz="2800" dirty="0" smtClean="0">
                <a:solidFill>
                  <a:schemeClr val="dk1"/>
                </a:solidFill>
                <a:latin typeface="Times" charset="0"/>
                <a:ea typeface="Times" charset="0"/>
                <a:cs typeface="Times" charset="0"/>
                <a:sym typeface="Calibri"/>
              </a:rPr>
              <a:t>(red) is dual to the Voronoi edge *</a:t>
            </a:r>
            <a:r>
              <a:rPr lang="en-US" sz="2800" dirty="0" err="1" smtClean="0">
                <a:solidFill>
                  <a:schemeClr val="dk1"/>
                </a:solidFill>
                <a:latin typeface="Times" charset="0"/>
                <a:ea typeface="Times" charset="0"/>
                <a:cs typeface="Times" charset="0"/>
                <a:sym typeface="Calibri"/>
              </a:rPr>
              <a:t>σ</a:t>
            </a:r>
            <a:r>
              <a:rPr lang="en-US" sz="2800" dirty="0" smtClean="0">
                <a:solidFill>
                  <a:schemeClr val="dk1"/>
                </a:solidFill>
                <a:latin typeface="Times" charset="0"/>
                <a:ea typeface="Times" charset="0"/>
                <a:cs typeface="Times" charset="0"/>
                <a:sym typeface="Calibri"/>
              </a:rPr>
              <a:t>, which has green and blue half-edges contributed by the </a:t>
            </a:r>
            <a:r>
              <a:rPr lang="en-US" sz="2800" dirty="0">
                <a:solidFill>
                  <a:schemeClr val="dk1"/>
                </a:solidFill>
                <a:latin typeface="Times" charset="0"/>
                <a:ea typeface="Times" charset="0"/>
                <a:cs typeface="Times" charset="0"/>
                <a:sym typeface="Calibri"/>
              </a:rPr>
              <a:t>adjacent </a:t>
            </a:r>
            <a:r>
              <a:rPr lang="en-US" sz="2800" dirty="0" smtClean="0">
                <a:solidFill>
                  <a:schemeClr val="dk1"/>
                </a:solidFill>
                <a:latin typeface="Times" charset="0"/>
                <a:ea typeface="Times" charset="0"/>
                <a:cs typeface="Times" charset="0"/>
                <a:sym typeface="Calibri"/>
              </a:rPr>
              <a:t>blue and green triangles.</a:t>
            </a:r>
          </a:p>
        </p:txBody>
      </p:sp>
      <p:sp>
        <p:nvSpPr>
          <p:cNvPr id="69" name="Shape 34"/>
          <p:cNvSpPr txBox="1"/>
          <p:nvPr/>
        </p:nvSpPr>
        <p:spPr>
          <a:xfrm>
            <a:off x="7188610" y="14722174"/>
            <a:ext cx="7243631" cy="1544873"/>
          </a:xfrm>
          <a:prstGeom prst="rect">
            <a:avLst/>
          </a:prstGeom>
          <a:noFill/>
          <a:ln>
            <a:noFill/>
          </a:ln>
        </p:spPr>
        <p:txBody>
          <a:bodyPr lIns="91425" tIns="91425" rIns="91425" bIns="91425" anchor="t" anchorCtr="0">
            <a:noAutofit/>
          </a:bodyPr>
          <a:lstStyle/>
          <a:p>
            <a:pPr lvl="0">
              <a:lnSpc>
                <a:spcPct val="115000"/>
              </a:lnSpc>
              <a:spcAft>
                <a:spcPts val="800"/>
              </a:spcAft>
            </a:pPr>
            <a:r>
              <a:rPr lang="en-US" sz="2800" dirty="0" smtClean="0">
                <a:solidFill>
                  <a:schemeClr val="dk1"/>
                </a:solidFill>
                <a:latin typeface="Times" charset="0"/>
                <a:ea typeface="Times" charset="0"/>
                <a:cs typeface="Times" charset="0"/>
                <a:sym typeface="Calibri"/>
              </a:rPr>
              <a:t>The HOT energy depends on |</a:t>
            </a:r>
            <a:r>
              <a:rPr lang="en-US" sz="2800" dirty="0" err="1" smtClean="0">
                <a:solidFill>
                  <a:schemeClr val="dk1"/>
                </a:solidFill>
                <a:latin typeface="Times" charset="0"/>
                <a:ea typeface="Times" charset="0"/>
                <a:cs typeface="Times" charset="0"/>
                <a:sym typeface="Calibri"/>
              </a:rPr>
              <a:t>σ</a:t>
            </a:r>
            <a:r>
              <a:rPr lang="en-US" sz="2800" dirty="0" smtClean="0">
                <a:solidFill>
                  <a:schemeClr val="dk1"/>
                </a:solidFill>
                <a:latin typeface="Times" charset="0"/>
                <a:ea typeface="Times" charset="0"/>
                <a:cs typeface="Times" charset="0"/>
                <a:sym typeface="Calibri"/>
              </a:rPr>
              <a:t>| and |*</a:t>
            </a:r>
            <a:r>
              <a:rPr lang="en-US" sz="2800" dirty="0" err="1" smtClean="0">
                <a:solidFill>
                  <a:schemeClr val="dk1"/>
                </a:solidFill>
                <a:latin typeface="Times" charset="0"/>
                <a:ea typeface="Times" charset="0"/>
                <a:cs typeface="Times" charset="0"/>
                <a:sym typeface="Calibri"/>
              </a:rPr>
              <a:t>σ</a:t>
            </a:r>
            <a:r>
              <a:rPr lang="en-US" sz="2800" dirty="0" smtClean="0">
                <a:solidFill>
                  <a:schemeClr val="dk1"/>
                </a:solidFill>
                <a:latin typeface="Times" charset="0"/>
                <a:ea typeface="Times" charset="0"/>
                <a:cs typeface="Times" charset="0"/>
                <a:sym typeface="Calibri"/>
              </a:rPr>
              <a:t>|. </a:t>
            </a:r>
            <a:br>
              <a:rPr lang="en-US" sz="2800" dirty="0" smtClean="0">
                <a:solidFill>
                  <a:schemeClr val="dk1"/>
                </a:solidFill>
                <a:latin typeface="Times" charset="0"/>
                <a:ea typeface="Times" charset="0"/>
                <a:cs typeface="Times" charset="0"/>
                <a:sym typeface="Calibri"/>
              </a:rPr>
            </a:br>
            <a:r>
              <a:rPr lang="en-US" sz="2800" dirty="0" smtClean="0">
                <a:solidFill>
                  <a:schemeClr val="dk1"/>
                </a:solidFill>
                <a:latin typeface="Times" charset="0"/>
                <a:ea typeface="Times" charset="0"/>
                <a:cs typeface="Times" charset="0"/>
                <a:sym typeface="Calibri"/>
              </a:rPr>
              <a:t>HOT bounds the discretization error of the system of equations Ax=b given by the DEC formulation of the PDE. The error arises from the  diagonalization of the dual Hodge-star operator. </a:t>
            </a:r>
            <a:br>
              <a:rPr lang="en-US" sz="2800" dirty="0" smtClean="0">
                <a:solidFill>
                  <a:schemeClr val="dk1"/>
                </a:solidFill>
                <a:latin typeface="Times" charset="0"/>
                <a:ea typeface="Times" charset="0"/>
                <a:cs typeface="Times" charset="0"/>
                <a:sym typeface="Calibri"/>
              </a:rPr>
            </a:br>
            <a:r>
              <a:rPr lang="en-US" sz="2800" dirty="0">
                <a:solidFill>
                  <a:schemeClr val="dk1"/>
                </a:solidFill>
                <a:latin typeface="Times" charset="0"/>
                <a:ea typeface="Times" charset="0"/>
                <a:cs typeface="Times" charset="0"/>
                <a:sym typeface="Calibri"/>
              </a:rPr>
              <a:t>The error roughly corresponds to how </a:t>
            </a:r>
            <a:r>
              <a:rPr lang="en-US" sz="2800" dirty="0" smtClean="0">
                <a:solidFill>
                  <a:schemeClr val="dk1"/>
                </a:solidFill>
                <a:latin typeface="Times" charset="0"/>
                <a:ea typeface="Times" charset="0"/>
                <a:cs typeface="Times" charset="0"/>
                <a:sym typeface="Calibri"/>
              </a:rPr>
              <a:t>well-</a:t>
            </a:r>
          </a:p>
        </p:txBody>
      </p:sp>
      <p:sp>
        <p:nvSpPr>
          <p:cNvPr id="70" name="Shape 34"/>
          <p:cNvSpPr txBox="1"/>
          <p:nvPr/>
        </p:nvSpPr>
        <p:spPr>
          <a:xfrm>
            <a:off x="9733934" y="17663924"/>
            <a:ext cx="4671185" cy="1946393"/>
          </a:xfrm>
          <a:prstGeom prst="rect">
            <a:avLst/>
          </a:prstGeom>
          <a:noFill/>
          <a:ln>
            <a:noFill/>
          </a:ln>
        </p:spPr>
        <p:txBody>
          <a:bodyPr lIns="91425" tIns="91425" rIns="91425" bIns="91425" anchor="t" anchorCtr="0">
            <a:noAutofit/>
          </a:bodyPr>
          <a:lstStyle/>
          <a:p>
            <a:pPr lvl="0">
              <a:lnSpc>
                <a:spcPct val="115000"/>
              </a:lnSpc>
              <a:spcAft>
                <a:spcPts val="800"/>
              </a:spcAft>
            </a:pPr>
            <a:r>
              <a:rPr lang="en-US" sz="2800" smtClean="0">
                <a:solidFill>
                  <a:schemeClr val="dk1"/>
                </a:solidFill>
                <a:latin typeface="Times" charset="0"/>
                <a:ea typeface="Times" charset="0"/>
                <a:cs typeface="Times" charset="0"/>
                <a:sym typeface="Calibri"/>
              </a:rPr>
              <a:t>centered the mesh is, how   </a:t>
            </a:r>
            <a:br>
              <a:rPr lang="en-US" sz="2800" smtClean="0">
                <a:solidFill>
                  <a:schemeClr val="dk1"/>
                </a:solidFill>
                <a:latin typeface="Times" charset="0"/>
                <a:ea typeface="Times" charset="0"/>
                <a:cs typeface="Times" charset="0"/>
                <a:sym typeface="Calibri"/>
              </a:rPr>
            </a:br>
            <a:r>
              <a:rPr lang="en-US" sz="2800" smtClean="0">
                <a:solidFill>
                  <a:schemeClr val="dk1"/>
                </a:solidFill>
                <a:latin typeface="Times" charset="0"/>
                <a:ea typeface="Times" charset="0"/>
                <a:cs typeface="Times" charset="0"/>
                <a:sym typeface="Calibri"/>
              </a:rPr>
              <a:t>   close the dual vertices are to</a:t>
            </a:r>
            <a:br>
              <a:rPr lang="en-US" sz="2800" smtClean="0">
                <a:solidFill>
                  <a:schemeClr val="dk1"/>
                </a:solidFill>
                <a:latin typeface="Times" charset="0"/>
                <a:ea typeface="Times" charset="0"/>
                <a:cs typeface="Times" charset="0"/>
                <a:sym typeface="Calibri"/>
              </a:rPr>
            </a:br>
            <a:r>
              <a:rPr lang="en-US" sz="2800" smtClean="0">
                <a:solidFill>
                  <a:schemeClr val="dk1"/>
                </a:solidFill>
                <a:latin typeface="Times" charset="0"/>
                <a:ea typeface="Times" charset="0"/>
                <a:cs typeface="Times" charset="0"/>
                <a:sym typeface="Calibri"/>
              </a:rPr>
              <a:t>       the triangles’ barycenters.</a:t>
            </a:r>
          </a:p>
        </p:txBody>
      </p:sp>
      <p:sp>
        <p:nvSpPr>
          <p:cNvPr id="120" name="Rectangle 119"/>
          <p:cNvSpPr/>
          <p:nvPr/>
        </p:nvSpPr>
        <p:spPr>
          <a:xfrm>
            <a:off x="15179074" y="12576932"/>
            <a:ext cx="13512458" cy="5745421"/>
          </a:xfrm>
          <a:prstGeom prst="rect">
            <a:avLst/>
          </a:pr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hape 34"/>
          <p:cNvSpPr txBox="1"/>
          <p:nvPr/>
        </p:nvSpPr>
        <p:spPr>
          <a:xfrm>
            <a:off x="1219200" y="5080438"/>
            <a:ext cx="13107900" cy="2470737"/>
          </a:xfrm>
          <a:prstGeom prst="rect">
            <a:avLst/>
          </a:prstGeom>
          <a:noFill/>
          <a:ln>
            <a:noFill/>
          </a:ln>
        </p:spPr>
        <p:txBody>
          <a:bodyPr lIns="91425" tIns="91425" rIns="91425" bIns="91425" anchor="t" anchorCtr="0">
            <a:noAutofit/>
          </a:bodyPr>
          <a:lstStyle/>
          <a:p>
            <a:pPr lvl="0">
              <a:lnSpc>
                <a:spcPct val="115000"/>
              </a:lnSpc>
              <a:spcAft>
                <a:spcPts val="800"/>
              </a:spcAft>
            </a:pPr>
            <a:r>
              <a:rPr lang="en-US" sz="2800" i="1">
                <a:solidFill>
                  <a:schemeClr val="dk1"/>
                </a:solidFill>
                <a:latin typeface="Calibri"/>
                <a:ea typeface="Calibri"/>
                <a:cs typeface="Calibri"/>
                <a:sym typeface="Calibri"/>
              </a:rPr>
              <a:t>We investigate the </a:t>
            </a:r>
            <a:r>
              <a:rPr lang="en-US" sz="2800" i="1" smtClean="0">
                <a:solidFill>
                  <a:schemeClr val="dk1"/>
                </a:solidFill>
                <a:latin typeface="Calibri"/>
                <a:ea typeface="Calibri"/>
                <a:cs typeface="Calibri"/>
                <a:sym typeface="Calibri"/>
              </a:rPr>
              <a:t>math </a:t>
            </a:r>
            <a:r>
              <a:rPr lang="en-US" sz="2800" i="1">
                <a:solidFill>
                  <a:schemeClr val="dk1"/>
                </a:solidFill>
                <a:latin typeface="Calibri"/>
                <a:ea typeface="Calibri"/>
                <a:cs typeface="Calibri"/>
                <a:sym typeface="Calibri"/>
              </a:rPr>
              <a:t>and algorithms for primal-dual mesh </a:t>
            </a:r>
            <a:r>
              <a:rPr lang="en-US" sz="2800" i="1" smtClean="0">
                <a:solidFill>
                  <a:schemeClr val="dk1"/>
                </a:solidFill>
                <a:latin typeface="Calibri"/>
                <a:ea typeface="Calibri"/>
                <a:cs typeface="Calibri"/>
                <a:sym typeface="Calibri"/>
              </a:rPr>
              <a:t>quality improvement </a:t>
            </a:r>
            <a:r>
              <a:rPr lang="en-US" sz="2800" i="1">
                <a:solidFill>
                  <a:schemeClr val="dk1"/>
                </a:solidFill>
                <a:latin typeface="Calibri"/>
                <a:ea typeface="Calibri"/>
                <a:cs typeface="Calibri"/>
                <a:sym typeface="Calibri"/>
              </a:rPr>
              <a:t>and generation. We </a:t>
            </a:r>
            <a:r>
              <a:rPr lang="en-US" sz="2800" i="1" smtClean="0">
                <a:solidFill>
                  <a:schemeClr val="dk1"/>
                </a:solidFill>
                <a:latin typeface="Calibri"/>
                <a:ea typeface="Calibri"/>
                <a:cs typeface="Calibri"/>
                <a:sym typeface="Calibri"/>
              </a:rPr>
              <a:t>advanced simultaneously-good </a:t>
            </a:r>
            <a:r>
              <a:rPr lang="en-US" sz="2800" i="1">
                <a:solidFill>
                  <a:schemeClr val="dk1"/>
                </a:solidFill>
                <a:latin typeface="Calibri"/>
                <a:ea typeface="Calibri"/>
                <a:cs typeface="Calibri"/>
                <a:sym typeface="Calibri"/>
              </a:rPr>
              <a:t>primal-dual mesh quality, resampling </a:t>
            </a:r>
            <a:r>
              <a:rPr lang="en-US" sz="2800" i="1" smtClean="0">
                <a:solidFill>
                  <a:schemeClr val="dk1"/>
                </a:solidFill>
                <a:latin typeface="Calibri"/>
                <a:ea typeface="Calibri"/>
                <a:cs typeface="Calibri"/>
                <a:sym typeface="Calibri"/>
              </a:rPr>
              <a:t>nodes for </a:t>
            </a:r>
            <a:r>
              <a:rPr lang="en-US" sz="2800" i="1">
                <a:solidFill>
                  <a:schemeClr val="dk1"/>
                </a:solidFill>
                <a:latin typeface="Calibri"/>
                <a:ea typeface="Calibri"/>
                <a:cs typeface="Calibri"/>
                <a:sym typeface="Calibri"/>
              </a:rPr>
              <a:t>mesh improvement, and dual Voronoi </a:t>
            </a:r>
            <a:r>
              <a:rPr lang="en-US" sz="2800" i="1" smtClean="0">
                <a:solidFill>
                  <a:schemeClr val="dk1"/>
                </a:solidFill>
                <a:latin typeface="Calibri"/>
                <a:ea typeface="Calibri"/>
                <a:cs typeface="Calibri"/>
                <a:sym typeface="Calibri"/>
              </a:rPr>
              <a:t>polyhedral </a:t>
            </a:r>
            <a:r>
              <a:rPr lang="en-US" sz="2800" i="1">
                <a:solidFill>
                  <a:schemeClr val="dk1"/>
                </a:solidFill>
                <a:latin typeface="Calibri"/>
                <a:ea typeface="Calibri"/>
                <a:cs typeface="Calibri"/>
                <a:sym typeface="Calibri"/>
              </a:rPr>
              <a:t>mesh generation. </a:t>
            </a:r>
          </a:p>
        </p:txBody>
      </p:sp>
      <p:sp>
        <p:nvSpPr>
          <p:cNvPr id="24" name="Shape 24"/>
          <p:cNvSpPr txBox="1"/>
          <p:nvPr/>
        </p:nvSpPr>
        <p:spPr>
          <a:xfrm>
            <a:off x="1219200" y="4187293"/>
            <a:ext cx="12801599" cy="797654"/>
          </a:xfrm>
          <a:prstGeom prst="rect">
            <a:avLst/>
          </a:prstGeom>
          <a:noFill/>
          <a:ln>
            <a:noFill/>
          </a:ln>
        </p:spPr>
        <p:txBody>
          <a:bodyPr lIns="91425" tIns="45700" rIns="91425" bIns="45700" anchor="t" anchorCtr="0">
            <a:noAutofit/>
          </a:bodyPr>
          <a:lstStyle/>
          <a:p>
            <a:pPr marL="0" marR="0" lvl="0" indent="0" algn="l" rtl="0">
              <a:lnSpc>
                <a:spcPct val="91666"/>
              </a:lnSpc>
              <a:spcBef>
                <a:spcPts val="0"/>
              </a:spcBef>
              <a:buSzPct val="25000"/>
              <a:buNone/>
            </a:pPr>
            <a:r>
              <a:rPr lang="en-US" sz="6000" b="1" i="0" u="none" strike="noStrike" cap="none">
                <a:solidFill>
                  <a:srgbClr val="6782B2"/>
                </a:solidFill>
                <a:latin typeface="Arial"/>
                <a:ea typeface="Arial"/>
                <a:cs typeface="Arial"/>
                <a:sym typeface="Arial"/>
              </a:rPr>
              <a:t>Abstract</a:t>
            </a:r>
          </a:p>
        </p:txBody>
      </p:sp>
      <p:sp>
        <p:nvSpPr>
          <p:cNvPr id="25" name="Shape 25"/>
          <p:cNvSpPr txBox="1"/>
          <p:nvPr/>
        </p:nvSpPr>
        <p:spPr>
          <a:xfrm>
            <a:off x="29689675" y="4039805"/>
            <a:ext cx="12885463" cy="797654"/>
          </a:xfrm>
          <a:prstGeom prst="rect">
            <a:avLst/>
          </a:prstGeom>
          <a:noFill/>
          <a:ln>
            <a:noFill/>
          </a:ln>
        </p:spPr>
        <p:txBody>
          <a:bodyPr lIns="91425" tIns="45700" rIns="91425" bIns="45700" anchor="t" anchorCtr="0">
            <a:noAutofit/>
          </a:bodyPr>
          <a:lstStyle/>
          <a:p>
            <a:pPr marL="0" marR="0" lvl="0" indent="0" algn="l" rtl="0">
              <a:lnSpc>
                <a:spcPct val="91666"/>
              </a:lnSpc>
              <a:spcBef>
                <a:spcPts val="0"/>
              </a:spcBef>
              <a:buSzPct val="25000"/>
              <a:buNone/>
            </a:pPr>
            <a:r>
              <a:rPr lang="en-US" sz="6000" b="1" i="0" u="none" strike="noStrike" cap="none">
                <a:solidFill>
                  <a:srgbClr val="6782B2"/>
                </a:solidFill>
                <a:latin typeface="Arial"/>
                <a:ea typeface="Arial"/>
                <a:cs typeface="Arial"/>
                <a:sym typeface="Arial"/>
              </a:rPr>
              <a:t>Conclusions and Future Work</a:t>
            </a:r>
          </a:p>
        </p:txBody>
      </p:sp>
      <p:sp>
        <p:nvSpPr>
          <p:cNvPr id="26" name="Shape 26"/>
          <p:cNvSpPr txBox="1"/>
          <p:nvPr/>
        </p:nvSpPr>
        <p:spPr>
          <a:xfrm>
            <a:off x="1219200" y="7143970"/>
            <a:ext cx="12801599" cy="797654"/>
          </a:xfrm>
          <a:prstGeom prst="rect">
            <a:avLst/>
          </a:prstGeom>
          <a:noFill/>
          <a:ln>
            <a:noFill/>
          </a:ln>
        </p:spPr>
        <p:txBody>
          <a:bodyPr lIns="91425" tIns="45700" rIns="91425" bIns="45700" anchor="t" anchorCtr="0">
            <a:noAutofit/>
          </a:bodyPr>
          <a:lstStyle/>
          <a:p>
            <a:pPr marL="0" marR="0" lvl="0" indent="0" algn="l" rtl="0">
              <a:lnSpc>
                <a:spcPct val="91666"/>
              </a:lnSpc>
              <a:spcBef>
                <a:spcPts val="0"/>
              </a:spcBef>
              <a:buSzPct val="25000"/>
              <a:buNone/>
            </a:pPr>
            <a:r>
              <a:rPr lang="en-US" sz="6000" b="1" i="0" u="none" strike="noStrike" cap="none">
                <a:solidFill>
                  <a:srgbClr val="6782B2"/>
                </a:solidFill>
                <a:latin typeface="Arial"/>
                <a:ea typeface="Arial"/>
                <a:cs typeface="Arial"/>
                <a:sym typeface="Arial"/>
              </a:rPr>
              <a:t>Motivation</a:t>
            </a:r>
          </a:p>
        </p:txBody>
      </p:sp>
      <p:sp>
        <p:nvSpPr>
          <p:cNvPr id="27" name="Shape 27"/>
          <p:cNvSpPr txBox="1"/>
          <p:nvPr/>
        </p:nvSpPr>
        <p:spPr>
          <a:xfrm>
            <a:off x="990600" y="213360"/>
            <a:ext cx="34523516" cy="2758440"/>
          </a:xfrm>
          <a:prstGeom prst="rect">
            <a:avLst/>
          </a:prstGeom>
          <a:noFill/>
          <a:ln>
            <a:noFill/>
          </a:ln>
        </p:spPr>
        <p:txBody>
          <a:bodyPr lIns="91425" tIns="45700" rIns="91425" bIns="45700" anchor="b" anchorCtr="0">
            <a:noAutofit/>
          </a:bodyPr>
          <a:lstStyle/>
          <a:p>
            <a:pPr lvl="0">
              <a:buClr>
                <a:srgbClr val="6782B2"/>
              </a:buClr>
              <a:buSzPct val="25000"/>
            </a:pPr>
            <a:r>
              <a:rPr lang="en-US" sz="8800" b="1" smtClean="0">
                <a:solidFill>
                  <a:srgbClr val="6782B2"/>
                </a:solidFill>
              </a:rPr>
              <a:t>Unstructured </a:t>
            </a:r>
            <a:r>
              <a:rPr lang="en-US" sz="8800" b="1">
                <a:solidFill>
                  <a:srgbClr val="6782B2"/>
                </a:solidFill>
              </a:rPr>
              <a:t>Primal-Dual Mesh Improvement and </a:t>
            </a:r>
            <a:r>
              <a:rPr lang="en-US" sz="8800" b="1" smtClean="0">
                <a:solidFill>
                  <a:srgbClr val="6782B2"/>
                </a:solidFill>
              </a:rPr>
              <a:t>Generation</a:t>
            </a:r>
            <a:endParaRPr lang="en-US" sz="8800" b="1" i="0" u="none" strike="noStrike" cap="none">
              <a:solidFill>
                <a:srgbClr val="6782B2"/>
              </a:solidFill>
              <a:latin typeface="Arial"/>
              <a:ea typeface="Arial"/>
              <a:cs typeface="Arial"/>
              <a:sym typeface="Arial"/>
            </a:endParaRPr>
          </a:p>
        </p:txBody>
      </p:sp>
      <p:sp>
        <p:nvSpPr>
          <p:cNvPr id="28" name="Shape 28"/>
          <p:cNvSpPr txBox="1"/>
          <p:nvPr/>
        </p:nvSpPr>
        <p:spPr>
          <a:xfrm>
            <a:off x="32689800" y="425635"/>
            <a:ext cx="9887758" cy="2308323"/>
          </a:xfrm>
          <a:prstGeom prst="rect">
            <a:avLst/>
          </a:prstGeom>
          <a:noFill/>
          <a:ln>
            <a:noFill/>
          </a:ln>
        </p:spPr>
        <p:txBody>
          <a:bodyPr lIns="91425" tIns="45700" rIns="91425" bIns="45700" anchor="t" anchorCtr="0">
            <a:noAutofit/>
          </a:bodyPr>
          <a:lstStyle/>
          <a:p>
            <a:pPr marL="0" marR="0" lvl="0" indent="0" algn="r" rtl="0">
              <a:spcBef>
                <a:spcPts val="0"/>
              </a:spcBef>
              <a:buSzPct val="25000"/>
              <a:buNone/>
            </a:pPr>
            <a:r>
              <a:rPr lang="en-US" sz="4000" smtClean="0">
                <a:solidFill>
                  <a:schemeClr val="dk1"/>
                </a:solidFill>
                <a:latin typeface="Times New Roman"/>
                <a:ea typeface="Times New Roman"/>
                <a:cs typeface="Times New Roman"/>
                <a:sym typeface="Times New Roman"/>
              </a:rPr>
              <a:t>Scott A. Mitchell</a:t>
            </a:r>
            <a:r>
              <a:rPr lang="en-US" sz="4000" b="0" i="0" u="none" strike="noStrike" cap="none" baseline="30000" smtClean="0">
                <a:solidFill>
                  <a:schemeClr val="dk1"/>
                </a:solidFill>
                <a:latin typeface="Times New Roman"/>
                <a:ea typeface="Times New Roman"/>
                <a:cs typeface="Times New Roman"/>
                <a:sym typeface="Times New Roman"/>
              </a:rPr>
              <a:t>1</a:t>
            </a:r>
            <a:r>
              <a:rPr lang="en-US" sz="4000" b="0" i="0" u="none" strike="noStrike" cap="none" smtClean="0">
                <a:solidFill>
                  <a:schemeClr val="dk1"/>
                </a:solidFill>
                <a:latin typeface="Times New Roman"/>
                <a:ea typeface="Times New Roman"/>
                <a:cs typeface="Times New Roman"/>
                <a:sym typeface="Times New Roman"/>
              </a:rPr>
              <a:t> </a:t>
            </a:r>
            <a:r>
              <a:rPr lang="en-US" sz="4000" b="0" i="0" u="none" strike="noStrike" cap="none">
                <a:solidFill>
                  <a:schemeClr val="dk1"/>
                </a:solidFill>
                <a:latin typeface="Times New Roman"/>
                <a:ea typeface="Times New Roman"/>
                <a:cs typeface="Times New Roman"/>
                <a:sym typeface="Times New Roman"/>
              </a:rPr>
              <a:t/>
            </a:r>
            <a:br>
              <a:rPr lang="en-US" sz="4000" b="0" i="0" u="none" strike="noStrike" cap="none">
                <a:solidFill>
                  <a:schemeClr val="dk1"/>
                </a:solidFill>
                <a:latin typeface="Times New Roman"/>
                <a:ea typeface="Times New Roman"/>
                <a:cs typeface="Times New Roman"/>
                <a:sym typeface="Times New Roman"/>
              </a:rPr>
            </a:br>
            <a:r>
              <a:rPr lang="en-US" sz="4000" b="0" i="0" u="none" strike="noStrike" cap="none">
                <a:solidFill>
                  <a:schemeClr val="dk1"/>
                </a:solidFill>
                <a:latin typeface="Times New Roman"/>
                <a:ea typeface="Times New Roman"/>
                <a:cs typeface="Times New Roman"/>
                <a:sym typeface="Times New Roman"/>
              </a:rPr>
              <a:t> </a:t>
            </a:r>
            <a:r>
              <a:rPr lang="en-US" sz="4000" b="0" i="0" u="none" strike="noStrike" cap="none" smtClean="0">
                <a:solidFill>
                  <a:schemeClr val="dk1"/>
                </a:solidFill>
                <a:latin typeface="Times New Roman"/>
                <a:ea typeface="Times New Roman"/>
                <a:cs typeface="Times New Roman"/>
                <a:sym typeface="Times New Roman"/>
              </a:rPr>
              <a:t>Patrick M. Knupp</a:t>
            </a:r>
            <a:r>
              <a:rPr lang="en-US" sz="4000" b="0" i="0" u="none" strike="noStrike" cap="none" baseline="30000" smtClean="0">
                <a:solidFill>
                  <a:schemeClr val="dk1"/>
                </a:solidFill>
                <a:latin typeface="Times New Roman"/>
                <a:ea typeface="Times New Roman"/>
                <a:cs typeface="Times New Roman"/>
                <a:sym typeface="Times New Roman"/>
              </a:rPr>
              <a:t>2 </a:t>
            </a:r>
            <a:r>
              <a:rPr lang="en-US" sz="4000" b="0" i="0" u="none" strike="noStrike" cap="none" baseline="30000">
                <a:solidFill>
                  <a:schemeClr val="dk1"/>
                </a:solidFill>
                <a:latin typeface="Times New Roman"/>
                <a:ea typeface="Times New Roman"/>
                <a:cs typeface="Times New Roman"/>
                <a:sym typeface="Times New Roman"/>
              </a:rPr>
              <a:t/>
            </a:r>
            <a:br>
              <a:rPr lang="en-US" sz="4000" b="0" i="0" u="none" strike="noStrike" cap="none" baseline="30000">
                <a:solidFill>
                  <a:schemeClr val="dk1"/>
                </a:solidFill>
                <a:latin typeface="Times New Roman"/>
                <a:ea typeface="Times New Roman"/>
                <a:cs typeface="Times New Roman"/>
                <a:sym typeface="Times New Roman"/>
              </a:rPr>
            </a:br>
            <a:r>
              <a:rPr lang="en-US" sz="4000" b="0" i="0" u="none" strike="noStrike" cap="none" baseline="30000" smtClean="0">
                <a:solidFill>
                  <a:schemeClr val="dk1"/>
                </a:solidFill>
                <a:latin typeface="Times New Roman"/>
                <a:ea typeface="Times New Roman"/>
                <a:cs typeface="Times New Roman"/>
                <a:sym typeface="Times New Roman"/>
              </a:rPr>
              <a:t>1</a:t>
            </a:r>
            <a:r>
              <a:rPr lang="en-US" sz="3200" b="0" i="1" u="none" strike="noStrike" cap="none" smtClean="0">
                <a:solidFill>
                  <a:schemeClr val="dk1"/>
                </a:solidFill>
                <a:latin typeface="Times New Roman"/>
                <a:ea typeface="Times New Roman"/>
                <a:cs typeface="Times New Roman"/>
                <a:sym typeface="Times New Roman"/>
              </a:rPr>
              <a:t>Sandia National Laboratories</a:t>
            </a:r>
            <a:endParaRPr lang="en-US" sz="3200" b="0" i="1" u="none" strike="noStrike" cap="none">
              <a:solidFill>
                <a:schemeClr val="dk1"/>
              </a:solidFill>
              <a:latin typeface="Times New Roman"/>
              <a:ea typeface="Times New Roman"/>
              <a:cs typeface="Times New Roman"/>
              <a:sym typeface="Times New Roman"/>
            </a:endParaRPr>
          </a:p>
          <a:p>
            <a:pPr marL="0" marR="0" lvl="0" indent="0" algn="r" rtl="0">
              <a:spcBef>
                <a:spcPts val="0"/>
              </a:spcBef>
              <a:buSzPct val="25000"/>
              <a:buNone/>
            </a:pPr>
            <a:r>
              <a:rPr lang="en-US" sz="4000" b="0" i="0" u="none" strike="noStrike" cap="none" baseline="30000" smtClean="0">
                <a:solidFill>
                  <a:srgbClr val="000000"/>
                </a:solidFill>
                <a:latin typeface="Times New Roman"/>
                <a:ea typeface="Times New Roman"/>
                <a:cs typeface="Times New Roman"/>
                <a:sym typeface="Times New Roman"/>
              </a:rPr>
              <a:t>2</a:t>
            </a:r>
            <a:r>
              <a:rPr lang="en-US" sz="3200" b="0" i="1" u="none" strike="noStrike" cap="none" smtClean="0">
                <a:solidFill>
                  <a:srgbClr val="000000"/>
                </a:solidFill>
                <a:latin typeface="Times New Roman"/>
                <a:ea typeface="Times New Roman"/>
                <a:cs typeface="Times New Roman"/>
                <a:sym typeface="Times New Roman"/>
              </a:rPr>
              <a:t>Dihedral</a:t>
            </a:r>
            <a:endParaRPr lang="en-US" sz="3200" b="0" i="1" u="none" strike="noStrike" cap="none">
              <a:solidFill>
                <a:srgbClr val="000000"/>
              </a:solidFill>
              <a:latin typeface="Times New Roman"/>
              <a:ea typeface="Times New Roman"/>
              <a:cs typeface="Times New Roman"/>
              <a:sym typeface="Times New Roman"/>
            </a:endParaRPr>
          </a:p>
        </p:txBody>
      </p:sp>
      <p:grpSp>
        <p:nvGrpSpPr>
          <p:cNvPr id="74" name="Group 73"/>
          <p:cNvGrpSpPr/>
          <p:nvPr/>
        </p:nvGrpSpPr>
        <p:grpSpPr>
          <a:xfrm>
            <a:off x="31292090" y="25332926"/>
            <a:ext cx="11283044" cy="6877666"/>
            <a:chOff x="29689670" y="22633552"/>
            <a:chExt cx="12885464" cy="9255764"/>
          </a:xfrm>
        </p:grpSpPr>
        <p:sp>
          <p:nvSpPr>
            <p:cNvPr id="31" name="Shape 31"/>
            <p:cNvSpPr txBox="1"/>
            <p:nvPr/>
          </p:nvSpPr>
          <p:spPr>
            <a:xfrm>
              <a:off x="29689670" y="22633552"/>
              <a:ext cx="12885463" cy="797654"/>
            </a:xfrm>
            <a:prstGeom prst="rect">
              <a:avLst/>
            </a:prstGeom>
            <a:noFill/>
            <a:ln>
              <a:noFill/>
            </a:ln>
          </p:spPr>
          <p:txBody>
            <a:bodyPr lIns="91425" tIns="45700" rIns="91425" bIns="45700" anchor="t" anchorCtr="0">
              <a:noAutofit/>
            </a:bodyPr>
            <a:lstStyle/>
            <a:p>
              <a:pPr marL="0" marR="0" lvl="0" indent="0" algn="l" rtl="0">
                <a:lnSpc>
                  <a:spcPct val="91666"/>
                </a:lnSpc>
                <a:spcBef>
                  <a:spcPts val="0"/>
                </a:spcBef>
                <a:buSzPct val="25000"/>
                <a:buNone/>
              </a:pPr>
              <a:r>
                <a:rPr lang="en-US" sz="6000" b="1" i="0" u="none" strike="noStrike" cap="none">
                  <a:solidFill>
                    <a:srgbClr val="6782B2"/>
                  </a:solidFill>
                  <a:latin typeface="Arial"/>
                  <a:ea typeface="Arial"/>
                  <a:cs typeface="Arial"/>
                  <a:sym typeface="Arial"/>
                </a:rPr>
                <a:t>References</a:t>
              </a:r>
            </a:p>
          </p:txBody>
        </p:sp>
        <p:sp>
          <p:nvSpPr>
            <p:cNvPr id="16" name="Shape 33"/>
            <p:cNvSpPr txBox="1"/>
            <p:nvPr/>
          </p:nvSpPr>
          <p:spPr>
            <a:xfrm>
              <a:off x="29689672" y="23807200"/>
              <a:ext cx="12885462" cy="8082116"/>
            </a:xfrm>
            <a:prstGeom prst="rect">
              <a:avLst/>
            </a:prstGeom>
            <a:noFill/>
            <a:ln>
              <a:noFill/>
            </a:ln>
          </p:spPr>
          <p:txBody>
            <a:bodyPr lIns="91425" tIns="91425" rIns="91425" bIns="91425" anchor="t" anchorCtr="0">
              <a:noAutofit/>
            </a:bodyPr>
            <a:lstStyle/>
            <a:p>
              <a:pPr marL="514350" lvl="0" indent="-514350">
                <a:buFont typeface="+mj-lt"/>
                <a:buAutoNum type="arabicPeriod"/>
              </a:pPr>
              <a:r>
                <a:rPr lang="en-US" sz="2800" i="1">
                  <a:solidFill>
                    <a:schemeClr val="dk1"/>
                  </a:solidFill>
                  <a:latin typeface="Calibri"/>
                  <a:ea typeface="Calibri"/>
                  <a:cs typeface="Calibri"/>
                  <a:sym typeface="Calibri"/>
                </a:rPr>
                <a:t>Meshes Optimized for </a:t>
              </a:r>
              <a:r>
                <a:rPr lang="en-US" sz="2800" i="1" smtClean="0">
                  <a:solidFill>
                    <a:schemeClr val="dk1"/>
                  </a:solidFill>
                  <a:latin typeface="Calibri"/>
                  <a:ea typeface="Calibri"/>
                  <a:cs typeface="Calibri"/>
                  <a:sym typeface="Calibri"/>
                </a:rPr>
                <a:t>Discrete Exterior Calculus, tech report</a:t>
              </a:r>
              <a:endParaRPr lang="en-US" sz="2800" i="1">
                <a:solidFill>
                  <a:schemeClr val="dk1"/>
                </a:solidFill>
                <a:latin typeface="Calibri"/>
                <a:ea typeface="Calibri"/>
                <a:cs typeface="Calibri"/>
                <a:sym typeface="Calibri"/>
              </a:endParaRPr>
            </a:p>
            <a:p>
              <a:pPr marL="514350" lvl="0" indent="-514350">
                <a:buFont typeface="+mj-lt"/>
                <a:buAutoNum type="arabicPeriod"/>
              </a:pPr>
              <a:r>
                <a:rPr lang="en-US" sz="2800" i="1" smtClean="0">
                  <a:solidFill>
                    <a:schemeClr val="dk1"/>
                  </a:solidFill>
                  <a:latin typeface="Calibri"/>
                  <a:ea typeface="Calibri"/>
                  <a:cs typeface="Calibri"/>
                  <a:sym typeface="Calibri"/>
                </a:rPr>
                <a:t>A </a:t>
              </a:r>
              <a:r>
                <a:rPr lang="en-US" sz="2800" i="1">
                  <a:solidFill>
                    <a:schemeClr val="dk1"/>
                  </a:solidFill>
                  <a:latin typeface="Calibri"/>
                  <a:ea typeface="Calibri"/>
                  <a:cs typeface="Calibri"/>
                  <a:sym typeface="Calibri"/>
                </a:rPr>
                <a:t>Constrained Resampling Strategy for Mesh </a:t>
              </a:r>
              <a:r>
                <a:rPr lang="en-US" sz="2800" i="1" smtClean="0">
                  <a:solidFill>
                    <a:schemeClr val="dk1"/>
                  </a:solidFill>
                  <a:latin typeface="Calibri"/>
                  <a:ea typeface="Calibri"/>
                  <a:cs typeface="Calibri"/>
                  <a:sym typeface="Calibri"/>
                </a:rPr>
                <a:t>Improvement, CGF</a:t>
              </a:r>
            </a:p>
            <a:p>
              <a:pPr marL="514350" lvl="0" indent="-514350">
                <a:buFont typeface="+mj-lt"/>
                <a:buAutoNum type="arabicPeriod"/>
              </a:pPr>
              <a:r>
                <a:rPr lang="en-US" sz="2800" i="1">
                  <a:solidFill>
                    <a:schemeClr val="dk1"/>
                  </a:solidFill>
                  <a:latin typeface="Calibri"/>
                  <a:ea typeface="Calibri"/>
                  <a:cs typeface="Calibri"/>
                  <a:sym typeface="Calibri"/>
                </a:rPr>
                <a:t>Disk Density Tuning of a Maximal Random </a:t>
              </a:r>
              <a:r>
                <a:rPr lang="en-US" sz="2800" i="1" smtClean="0">
                  <a:solidFill>
                    <a:schemeClr val="dk1"/>
                  </a:solidFill>
                  <a:latin typeface="Calibri"/>
                  <a:ea typeface="Calibri"/>
                  <a:cs typeface="Calibri"/>
                  <a:sym typeface="Calibri"/>
                </a:rPr>
                <a:t>Packing, CGF</a:t>
              </a:r>
            </a:p>
            <a:p>
              <a:pPr marL="514350" indent="-514350">
                <a:buFont typeface="+mj-lt"/>
                <a:buAutoNum type="arabicPeriod"/>
              </a:pPr>
              <a:r>
                <a:rPr lang="en-US" sz="2800" i="1">
                  <a:solidFill>
                    <a:schemeClr val="dk1"/>
                  </a:solidFill>
                  <a:latin typeface="Calibri"/>
                  <a:ea typeface="Calibri"/>
                  <a:cs typeface="Calibri"/>
                  <a:sym typeface="Calibri"/>
                </a:rPr>
                <a:t>Spoke-Darts for High-Dimensional Blue Noise Sampling, accepted to TOG</a:t>
              </a:r>
            </a:p>
            <a:p>
              <a:pPr marL="514350" lvl="0" indent="-514350">
                <a:buFont typeface="+mj-lt"/>
                <a:buAutoNum type="arabicPeriod"/>
              </a:pPr>
              <a:r>
                <a:rPr lang="en-US" sz="2800" i="1" smtClean="0">
                  <a:solidFill>
                    <a:schemeClr val="dk1"/>
                  </a:solidFill>
                  <a:latin typeface="Calibri"/>
                  <a:ea typeface="Calibri"/>
                  <a:cs typeface="Calibri"/>
                  <a:sym typeface="Calibri"/>
                </a:rPr>
                <a:t>A Seed </a:t>
              </a:r>
              <a:r>
                <a:rPr lang="en-US" sz="2800" i="1">
                  <a:solidFill>
                    <a:schemeClr val="dk1"/>
                  </a:solidFill>
                  <a:latin typeface="Calibri"/>
                  <a:ea typeface="Calibri"/>
                  <a:cs typeface="Calibri"/>
                  <a:sym typeface="Calibri"/>
                </a:rPr>
                <a:t>Placement Strategy for Conforming </a:t>
              </a:r>
              <a:r>
                <a:rPr lang="en-US" sz="2800" i="1" smtClean="0">
                  <a:solidFill>
                    <a:schemeClr val="dk1"/>
                  </a:solidFill>
                  <a:latin typeface="Calibri"/>
                  <a:ea typeface="Calibri"/>
                  <a:cs typeface="Calibri"/>
                  <a:sym typeface="Calibri"/>
                </a:rPr>
                <a:t>Voronoi Meshing, CCCG</a:t>
              </a:r>
            </a:p>
            <a:p>
              <a:pPr marL="514350" lvl="0" indent="-514350">
                <a:buFont typeface="+mj-lt"/>
                <a:buAutoNum type="arabicPeriod"/>
              </a:pPr>
              <a:r>
                <a:rPr lang="en-US" sz="2800" i="1" smtClean="0">
                  <a:solidFill>
                    <a:schemeClr val="dk1"/>
                  </a:solidFill>
                  <a:latin typeface="Calibri"/>
                  <a:ea typeface="Calibri"/>
                  <a:cs typeface="Calibri"/>
                  <a:sym typeface="Calibri"/>
                </a:rPr>
                <a:t>VoroCrust </a:t>
              </a:r>
              <a:r>
                <a:rPr lang="en-US" sz="2800" i="1">
                  <a:solidFill>
                    <a:schemeClr val="dk1"/>
                  </a:solidFill>
                  <a:latin typeface="Calibri"/>
                  <a:ea typeface="Calibri"/>
                  <a:cs typeface="Calibri"/>
                  <a:sym typeface="Calibri"/>
                </a:rPr>
                <a:t>Surface Reconstruction </a:t>
              </a:r>
              <a:r>
                <a:rPr lang="en-US" sz="2800" i="1" smtClean="0">
                  <a:solidFill>
                    <a:schemeClr val="dk1"/>
                  </a:solidFill>
                  <a:latin typeface="Calibri"/>
                  <a:ea typeface="Calibri"/>
                  <a:cs typeface="Calibri"/>
                  <a:sym typeface="Calibri"/>
                </a:rPr>
                <a:t>Conditions, manuscript</a:t>
              </a:r>
            </a:p>
            <a:p>
              <a:pPr marL="514350" lvl="0" indent="-514350">
                <a:buFont typeface="+mj-lt"/>
                <a:buAutoNum type="arabicPeriod"/>
              </a:pPr>
              <a:r>
                <a:rPr lang="en-US" sz="2800" i="1">
                  <a:solidFill>
                    <a:schemeClr val="dk1"/>
                  </a:solidFill>
                  <a:latin typeface="Calibri"/>
                  <a:ea typeface="Calibri"/>
                  <a:cs typeface="Calibri"/>
                  <a:sym typeface="Calibri"/>
                </a:rPr>
                <a:t>VoroCrust: Clipping-Free Voronoi </a:t>
              </a:r>
              <a:r>
                <a:rPr lang="en-US" sz="2800" i="1" smtClean="0">
                  <a:solidFill>
                    <a:schemeClr val="dk1"/>
                  </a:solidFill>
                  <a:latin typeface="Calibri"/>
                  <a:ea typeface="Calibri"/>
                  <a:cs typeface="Calibri"/>
                  <a:sym typeface="Calibri"/>
                </a:rPr>
                <a:t>Meshing, manuscript</a:t>
              </a:r>
            </a:p>
            <a:p>
              <a:pPr lvl="0">
                <a:spcBef>
                  <a:spcPts val="1200"/>
                </a:spcBef>
              </a:pPr>
              <a:r>
                <a:rPr lang="en-US" sz="2800" i="1" smtClean="0">
                  <a:solidFill>
                    <a:schemeClr val="dk1"/>
                  </a:solidFill>
                  <a:latin typeface="Calibri"/>
                  <a:ea typeface="Calibri"/>
                  <a:cs typeface="Calibri"/>
                  <a:sym typeface="Calibri"/>
                </a:rPr>
                <a:t>Team members: A</a:t>
              </a:r>
              <a:r>
                <a:rPr lang="en-US" sz="2800" i="1">
                  <a:solidFill>
                    <a:schemeClr val="dk1"/>
                  </a:solidFill>
                  <a:latin typeface="Calibri"/>
                  <a:ea typeface="Calibri"/>
                  <a:cs typeface="Calibri"/>
                  <a:sym typeface="Calibri"/>
                </a:rPr>
                <a:t>. Abdelkader (UMD), M. A. Awad (</a:t>
              </a:r>
              <a:r>
                <a:rPr lang="en-US" sz="2800" i="1" smtClean="0">
                  <a:solidFill>
                    <a:schemeClr val="dk1"/>
                  </a:solidFill>
                  <a:latin typeface="Calibri"/>
                  <a:ea typeface="Calibri"/>
                  <a:cs typeface="Calibri"/>
                  <a:sym typeface="Calibri"/>
                </a:rPr>
                <a:t>UC Davis</a:t>
              </a:r>
              <a:r>
                <a:rPr lang="en-US" sz="2800" i="1">
                  <a:solidFill>
                    <a:schemeClr val="dk1"/>
                  </a:solidFill>
                  <a:latin typeface="Calibri"/>
                  <a:ea typeface="Calibri"/>
                  <a:cs typeface="Calibri"/>
                  <a:sym typeface="Calibri"/>
                </a:rPr>
                <a:t>), C. L. Bajaj </a:t>
              </a:r>
              <a:r>
                <a:rPr lang="en-US" sz="2800" i="1" smtClean="0">
                  <a:solidFill>
                    <a:schemeClr val="dk1"/>
                  </a:solidFill>
                  <a:latin typeface="Calibri"/>
                  <a:ea typeface="Calibri"/>
                  <a:cs typeface="Calibri"/>
                  <a:sym typeface="Calibri"/>
                </a:rPr>
                <a:t/>
              </a:r>
              <a:br>
                <a:rPr lang="en-US" sz="2800" i="1" smtClean="0">
                  <a:solidFill>
                    <a:schemeClr val="dk1"/>
                  </a:solidFill>
                  <a:latin typeface="Calibri"/>
                  <a:ea typeface="Calibri"/>
                  <a:cs typeface="Calibri"/>
                  <a:sym typeface="Calibri"/>
                </a:rPr>
              </a:br>
              <a:r>
                <a:rPr lang="en-US" sz="2800" i="1" smtClean="0">
                  <a:solidFill>
                    <a:schemeClr val="dk1"/>
                  </a:solidFill>
                  <a:latin typeface="Calibri"/>
                  <a:ea typeface="Calibri"/>
                  <a:cs typeface="Calibri"/>
                  <a:sym typeface="Calibri"/>
                </a:rPr>
                <a:t>(UT Austin</a:t>
              </a:r>
              <a:r>
                <a:rPr lang="en-US" sz="2800" i="1">
                  <a:solidFill>
                    <a:schemeClr val="dk1"/>
                  </a:solidFill>
                  <a:latin typeface="Calibri"/>
                  <a:ea typeface="Calibri"/>
                  <a:cs typeface="Calibri"/>
                  <a:sym typeface="Calibri"/>
                </a:rPr>
                <a:t>), M. S. Ebeida (SNL), S. A. </a:t>
              </a:r>
              <a:r>
                <a:rPr lang="en-US" sz="2800" i="1" smtClean="0">
                  <a:solidFill>
                    <a:schemeClr val="dk1"/>
                  </a:solidFill>
                  <a:latin typeface="Calibri"/>
                  <a:ea typeface="Calibri"/>
                  <a:cs typeface="Calibri"/>
                  <a:sym typeface="Calibri"/>
                </a:rPr>
                <a:t>English </a:t>
              </a:r>
              <a:r>
                <a:rPr lang="en-US" sz="2800" i="1">
                  <a:solidFill>
                    <a:schemeClr val="dk1"/>
                  </a:solidFill>
                  <a:latin typeface="Calibri"/>
                  <a:ea typeface="Calibri"/>
                  <a:cs typeface="Calibri"/>
                  <a:sym typeface="Calibri"/>
                </a:rPr>
                <a:t>(SNL), P. M. Knupp (Dihedral), </a:t>
              </a:r>
              <a:r>
                <a:rPr lang="en-US" sz="2800" i="1" smtClean="0">
                  <a:solidFill>
                    <a:schemeClr val="dk1"/>
                  </a:solidFill>
                  <a:latin typeface="Calibri"/>
                  <a:ea typeface="Calibri"/>
                  <a:cs typeface="Calibri"/>
                  <a:sym typeface="Calibri"/>
                </a:rPr>
                <a:t/>
              </a:r>
              <a:br>
                <a:rPr lang="en-US" sz="2800" i="1" smtClean="0">
                  <a:solidFill>
                    <a:schemeClr val="dk1"/>
                  </a:solidFill>
                  <a:latin typeface="Calibri"/>
                  <a:ea typeface="Calibri"/>
                  <a:cs typeface="Calibri"/>
                  <a:sym typeface="Calibri"/>
                </a:rPr>
              </a:br>
              <a:r>
                <a:rPr lang="en-US" sz="2800" i="1" smtClean="0">
                  <a:solidFill>
                    <a:schemeClr val="dk1"/>
                  </a:solidFill>
                  <a:latin typeface="Calibri"/>
                  <a:ea typeface="Calibri"/>
                  <a:cs typeface="Calibri"/>
                  <a:sym typeface="Calibri"/>
                </a:rPr>
                <a:t>A</a:t>
              </a:r>
              <a:r>
                <a:rPr lang="en-US" sz="2800" i="1">
                  <a:solidFill>
                    <a:schemeClr val="dk1"/>
                  </a:solidFill>
                  <a:latin typeface="Calibri"/>
                  <a:ea typeface="Calibri"/>
                  <a:cs typeface="Calibri"/>
                  <a:sym typeface="Calibri"/>
                </a:rPr>
                <a:t>. H. Mahmoud (</a:t>
              </a:r>
              <a:r>
                <a:rPr lang="en-US" sz="2800" i="1" smtClean="0">
                  <a:solidFill>
                    <a:schemeClr val="dk1"/>
                  </a:solidFill>
                  <a:latin typeface="Calibri"/>
                  <a:ea typeface="Calibri"/>
                  <a:cs typeface="Calibri"/>
                  <a:sym typeface="Calibri"/>
                </a:rPr>
                <a:t>UC Davis</a:t>
              </a:r>
              <a:r>
                <a:rPr lang="en-US" sz="2800" i="1">
                  <a:solidFill>
                    <a:schemeClr val="dk1"/>
                  </a:solidFill>
                  <a:latin typeface="Calibri"/>
                  <a:ea typeface="Calibri"/>
                  <a:cs typeface="Calibri"/>
                  <a:sym typeface="Calibri"/>
                </a:rPr>
                <a:t>), D. Manocha (UNC), S. A. Mitchell (SNL), </a:t>
              </a:r>
              <a:r>
                <a:rPr lang="en-US" sz="2800" i="1" smtClean="0">
                  <a:solidFill>
                    <a:schemeClr val="dk1"/>
                  </a:solidFill>
                  <a:latin typeface="Calibri"/>
                  <a:ea typeface="Calibri"/>
                  <a:cs typeface="Calibri"/>
                  <a:sym typeface="Calibri"/>
                </a:rPr>
                <a:t/>
              </a:r>
              <a:br>
                <a:rPr lang="en-US" sz="2800" i="1" smtClean="0">
                  <a:solidFill>
                    <a:schemeClr val="dk1"/>
                  </a:solidFill>
                  <a:latin typeface="Calibri"/>
                  <a:ea typeface="Calibri"/>
                  <a:cs typeface="Calibri"/>
                  <a:sym typeface="Calibri"/>
                </a:rPr>
              </a:br>
              <a:r>
                <a:rPr lang="en-US" sz="2800" i="1" smtClean="0">
                  <a:solidFill>
                    <a:schemeClr val="dk1"/>
                  </a:solidFill>
                  <a:latin typeface="Calibri"/>
                  <a:ea typeface="Calibri"/>
                  <a:cs typeface="Calibri"/>
                  <a:sym typeface="Calibri"/>
                </a:rPr>
                <a:t>S</a:t>
              </a:r>
              <a:r>
                <a:rPr lang="en-US" sz="2800" i="1">
                  <a:solidFill>
                    <a:schemeClr val="dk1"/>
                  </a:solidFill>
                  <a:latin typeface="Calibri"/>
                  <a:ea typeface="Calibri"/>
                  <a:cs typeface="Calibri"/>
                  <a:sym typeface="Calibri"/>
                </a:rPr>
                <a:t>. C. Mousley (UIUC), C. Park (UNC), A. Patney (NVIDIA), J. D. Owens </a:t>
              </a:r>
              <a:r>
                <a:rPr lang="en-US" sz="2800" i="1" smtClean="0">
                  <a:solidFill>
                    <a:schemeClr val="dk1"/>
                  </a:solidFill>
                  <a:latin typeface="Calibri"/>
                  <a:ea typeface="Calibri"/>
                  <a:cs typeface="Calibri"/>
                  <a:sym typeface="Calibri"/>
                </a:rPr>
                <a:t/>
              </a:r>
              <a:br>
                <a:rPr lang="en-US" sz="2800" i="1" smtClean="0">
                  <a:solidFill>
                    <a:schemeClr val="dk1"/>
                  </a:solidFill>
                  <a:latin typeface="Calibri"/>
                  <a:ea typeface="Calibri"/>
                  <a:cs typeface="Calibri"/>
                  <a:sym typeface="Calibri"/>
                </a:rPr>
              </a:br>
              <a:r>
                <a:rPr lang="en-US" sz="2800" i="1" smtClean="0">
                  <a:solidFill>
                    <a:schemeClr val="dk1"/>
                  </a:solidFill>
                  <a:latin typeface="Calibri"/>
                  <a:ea typeface="Calibri"/>
                  <a:cs typeface="Calibri"/>
                  <a:sym typeface="Calibri"/>
                </a:rPr>
                <a:t>(UC Davis</a:t>
              </a:r>
              <a:r>
                <a:rPr lang="en-US" sz="2800" i="1">
                  <a:solidFill>
                    <a:schemeClr val="dk1"/>
                  </a:solidFill>
                  <a:latin typeface="Calibri"/>
                  <a:ea typeface="Calibri"/>
                  <a:cs typeface="Calibri"/>
                  <a:sym typeface="Calibri"/>
                </a:rPr>
                <a:t>), A. A. Rushdi (SNL), D. Yan (CAS), </a:t>
              </a:r>
              <a:r>
                <a:rPr lang="en-US" sz="2800" i="1" smtClean="0">
                  <a:solidFill>
                    <a:schemeClr val="dk1"/>
                  </a:solidFill>
                  <a:latin typeface="Calibri"/>
                  <a:ea typeface="Calibri"/>
                  <a:cs typeface="Calibri"/>
                  <a:sym typeface="Calibri"/>
                </a:rPr>
                <a:t>and L</a:t>
              </a:r>
              <a:r>
                <a:rPr lang="en-US" sz="2800" i="1">
                  <a:solidFill>
                    <a:schemeClr val="dk1"/>
                  </a:solidFill>
                  <a:latin typeface="Calibri"/>
                  <a:ea typeface="Calibri"/>
                  <a:cs typeface="Calibri"/>
                  <a:sym typeface="Calibri"/>
                </a:rPr>
                <a:t>. Wei </a:t>
              </a:r>
              <a:r>
                <a:rPr lang="en-US" sz="2800" i="1" smtClean="0">
                  <a:solidFill>
                    <a:schemeClr val="dk1"/>
                  </a:solidFill>
                  <a:latin typeface="Calibri"/>
                  <a:ea typeface="Calibri"/>
                  <a:cs typeface="Calibri"/>
                  <a:sym typeface="Calibri"/>
                </a:rPr>
                <a:t>(HKU). </a:t>
              </a:r>
            </a:p>
          </p:txBody>
        </p:sp>
      </p:grpSp>
      <p:grpSp>
        <p:nvGrpSpPr>
          <p:cNvPr id="76" name="Group 75"/>
          <p:cNvGrpSpPr/>
          <p:nvPr/>
        </p:nvGrpSpPr>
        <p:grpSpPr>
          <a:xfrm>
            <a:off x="15506009" y="4073400"/>
            <a:ext cx="13107900" cy="6298240"/>
            <a:chOff x="15506009" y="4947653"/>
            <a:chExt cx="13107900" cy="5898070"/>
          </a:xfrm>
        </p:grpSpPr>
        <p:sp>
          <p:nvSpPr>
            <p:cNvPr id="29" name="Shape 29"/>
            <p:cNvSpPr txBox="1"/>
            <p:nvPr/>
          </p:nvSpPr>
          <p:spPr>
            <a:xfrm>
              <a:off x="15506009" y="4947653"/>
              <a:ext cx="12138846" cy="797654"/>
            </a:xfrm>
            <a:prstGeom prst="rect">
              <a:avLst/>
            </a:prstGeom>
            <a:noFill/>
            <a:ln>
              <a:noFill/>
            </a:ln>
          </p:spPr>
          <p:txBody>
            <a:bodyPr lIns="91425" tIns="45700" rIns="91425" bIns="45700" anchor="t" anchorCtr="0">
              <a:noAutofit/>
            </a:bodyPr>
            <a:lstStyle/>
            <a:p>
              <a:pPr marL="0" marR="0" lvl="0" indent="0" algn="l" rtl="0">
                <a:lnSpc>
                  <a:spcPct val="91666"/>
                </a:lnSpc>
                <a:spcBef>
                  <a:spcPts val="0"/>
                </a:spcBef>
                <a:buSzPct val="25000"/>
                <a:buNone/>
              </a:pPr>
              <a:r>
                <a:rPr lang="en-US" sz="6000" b="1" i="0" u="none" strike="noStrike" cap="none">
                  <a:solidFill>
                    <a:srgbClr val="6782B2"/>
                  </a:solidFill>
                  <a:latin typeface="Arial"/>
                  <a:ea typeface="Arial"/>
                  <a:cs typeface="Arial"/>
                  <a:sym typeface="Arial"/>
                </a:rPr>
                <a:t>Results</a:t>
              </a:r>
            </a:p>
          </p:txBody>
        </p:sp>
        <p:sp>
          <p:nvSpPr>
            <p:cNvPr id="21" name="Shape 34"/>
            <p:cNvSpPr txBox="1"/>
            <p:nvPr/>
          </p:nvSpPr>
          <p:spPr>
            <a:xfrm>
              <a:off x="15506009" y="5715415"/>
              <a:ext cx="13107900" cy="5130308"/>
            </a:xfrm>
            <a:prstGeom prst="rect">
              <a:avLst/>
            </a:prstGeom>
            <a:noFill/>
            <a:ln>
              <a:noFill/>
            </a:ln>
          </p:spPr>
          <p:txBody>
            <a:bodyPr lIns="91425" tIns="91425" rIns="91425" bIns="91425" anchor="t" anchorCtr="0">
              <a:noAutofit/>
            </a:bodyPr>
            <a:lstStyle/>
            <a:p>
              <a:pPr lvl="0">
                <a:lnSpc>
                  <a:spcPct val="115000"/>
                </a:lnSpc>
                <a:spcAft>
                  <a:spcPts val="800"/>
                </a:spcAft>
              </a:pPr>
              <a:r>
                <a:rPr lang="en-US" sz="3200" b="1" dirty="0" smtClean="0">
                  <a:solidFill>
                    <a:schemeClr val="dk1"/>
                  </a:solidFill>
                  <a:latin typeface="Calibri"/>
                  <a:ea typeface="Calibri"/>
                  <a:cs typeface="Calibri"/>
                  <a:sym typeface="Calibri"/>
                </a:rPr>
                <a:t>Primal-Dual Quality Metric Analysis, Design, and Optimization. </a:t>
              </a:r>
              <a:r>
                <a:rPr lang="en-US" sz="2800" b="1" dirty="0" smtClean="0">
                  <a:solidFill>
                    <a:schemeClr val="dk1"/>
                  </a:solidFill>
                  <a:latin typeface="Calibri"/>
                  <a:ea typeface="Calibri"/>
                  <a:cs typeface="Calibri"/>
                  <a:sym typeface="Calibri"/>
                </a:rPr>
                <a:t/>
              </a:r>
              <a:br>
                <a:rPr lang="en-US" sz="2800" b="1" dirty="0" smtClean="0">
                  <a:solidFill>
                    <a:schemeClr val="dk1"/>
                  </a:solidFill>
                  <a:latin typeface="Calibri"/>
                  <a:ea typeface="Calibri"/>
                  <a:cs typeface="Calibri"/>
                  <a:sym typeface="Calibri"/>
                </a:rPr>
              </a:br>
              <a:r>
                <a:rPr lang="en-US" sz="2800" i="1" dirty="0" smtClean="0">
                  <a:solidFill>
                    <a:schemeClr val="dk1"/>
                  </a:solidFill>
                  <a:latin typeface="Calibri"/>
                  <a:ea typeface="Calibri"/>
                  <a:cs typeface="Calibri"/>
                  <a:sym typeface="Calibri"/>
                </a:rPr>
                <a:t>We </a:t>
              </a:r>
              <a:r>
                <a:rPr lang="en-US" sz="2800" i="1" dirty="0">
                  <a:solidFill>
                    <a:schemeClr val="dk1"/>
                  </a:solidFill>
                  <a:latin typeface="Calibri"/>
                  <a:ea typeface="Calibri"/>
                  <a:cs typeface="Calibri"/>
                  <a:sym typeface="Calibri"/>
                </a:rPr>
                <a:t>discovered that while </a:t>
              </a:r>
              <a:r>
                <a:rPr lang="en-US" sz="2800" i="1" dirty="0" smtClean="0">
                  <a:solidFill>
                    <a:schemeClr val="dk1"/>
                  </a:solidFill>
                  <a:latin typeface="Calibri"/>
                  <a:ea typeface="Calibri"/>
                  <a:cs typeface="Calibri"/>
                  <a:sym typeface="Calibri"/>
                </a:rPr>
                <a:t>the HOT-energy metric may </a:t>
              </a:r>
              <a:r>
                <a:rPr lang="en-US" sz="2800" i="1" dirty="0">
                  <a:solidFill>
                    <a:schemeClr val="dk1"/>
                  </a:solidFill>
                  <a:latin typeface="Calibri"/>
                  <a:ea typeface="Calibri"/>
                  <a:cs typeface="Calibri"/>
                  <a:sym typeface="Calibri"/>
                </a:rPr>
                <a:t>be a reasonable way to </a:t>
              </a:r>
              <a:r>
                <a:rPr lang="en-US" sz="2800" i="1" u="sng" dirty="0">
                  <a:solidFill>
                    <a:schemeClr val="dk1"/>
                  </a:solidFill>
                  <a:latin typeface="Calibri"/>
                  <a:ea typeface="Calibri"/>
                  <a:cs typeface="Calibri"/>
                  <a:sym typeface="Calibri"/>
                </a:rPr>
                <a:t>evaluate</a:t>
              </a:r>
              <a:r>
                <a:rPr lang="en-US" sz="2800" i="1" dirty="0">
                  <a:solidFill>
                    <a:schemeClr val="dk1"/>
                  </a:solidFill>
                  <a:latin typeface="Calibri"/>
                  <a:ea typeface="Calibri"/>
                  <a:cs typeface="Calibri"/>
                  <a:sym typeface="Calibri"/>
                </a:rPr>
                <a:t> quality, </a:t>
              </a:r>
              <a:r>
                <a:rPr lang="en-US" sz="2800" i="1" dirty="0" smtClean="0">
                  <a:solidFill>
                    <a:schemeClr val="dk1"/>
                  </a:solidFill>
                  <a:latin typeface="Calibri"/>
                  <a:ea typeface="Calibri"/>
                  <a:cs typeface="Calibri"/>
                  <a:sym typeface="Calibri"/>
                </a:rPr>
                <a:t>the </a:t>
              </a:r>
              <a:r>
                <a:rPr lang="en-US" sz="2800" i="1" dirty="0">
                  <a:solidFill>
                    <a:schemeClr val="dk1"/>
                  </a:solidFill>
                  <a:latin typeface="Calibri"/>
                  <a:ea typeface="Calibri"/>
                  <a:cs typeface="Calibri"/>
                  <a:sym typeface="Calibri"/>
                </a:rPr>
                <a:t>community </a:t>
              </a:r>
              <a:r>
                <a:rPr lang="en-US" sz="2800" i="1" dirty="0" smtClean="0">
                  <a:solidFill>
                    <a:schemeClr val="dk1"/>
                  </a:solidFill>
                  <a:latin typeface="Calibri"/>
                  <a:ea typeface="Calibri"/>
                  <a:cs typeface="Calibri"/>
                  <a:sym typeface="Calibri"/>
                </a:rPr>
                <a:t>practice of directly </a:t>
              </a:r>
              <a:r>
                <a:rPr lang="en-US" sz="2800" i="1" u="sng" dirty="0" smtClean="0">
                  <a:solidFill>
                    <a:schemeClr val="dk1"/>
                  </a:solidFill>
                  <a:latin typeface="Calibri"/>
                  <a:ea typeface="Calibri"/>
                  <a:cs typeface="Calibri"/>
                  <a:sym typeface="Calibri"/>
                </a:rPr>
                <a:t>optimizing</a:t>
              </a:r>
              <a:r>
                <a:rPr lang="en-US" sz="2800" i="1" dirty="0" smtClean="0">
                  <a:solidFill>
                    <a:schemeClr val="dk1"/>
                  </a:solidFill>
                  <a:latin typeface="Calibri"/>
                  <a:ea typeface="Calibri"/>
                  <a:cs typeface="Calibri"/>
                  <a:sym typeface="Calibri"/>
                </a:rPr>
                <a:t> it </a:t>
              </a:r>
              <a:r>
                <a:rPr lang="en-US" sz="2800" i="1" dirty="0">
                  <a:solidFill>
                    <a:schemeClr val="dk1"/>
                  </a:solidFill>
                  <a:latin typeface="Calibri"/>
                  <a:ea typeface="Calibri"/>
                  <a:cs typeface="Calibri"/>
                  <a:sym typeface="Calibri"/>
                </a:rPr>
                <a:t>leads to undesirable behavior. </a:t>
              </a:r>
              <a:r>
                <a:rPr lang="en-US" sz="2800" i="1" dirty="0" smtClean="0">
                  <a:solidFill>
                    <a:schemeClr val="dk1"/>
                  </a:solidFill>
                  <a:latin typeface="Calibri"/>
                  <a:ea typeface="Calibri"/>
                  <a:cs typeface="Calibri"/>
                  <a:sym typeface="Calibri"/>
                </a:rPr>
                <a:t/>
              </a:r>
              <a:br>
                <a:rPr lang="en-US" sz="2800" i="1" dirty="0" smtClean="0">
                  <a:solidFill>
                    <a:schemeClr val="dk1"/>
                  </a:solidFill>
                  <a:latin typeface="Calibri"/>
                  <a:ea typeface="Calibri"/>
                  <a:cs typeface="Calibri"/>
                  <a:sym typeface="Calibri"/>
                </a:rPr>
              </a:br>
              <a:r>
                <a:rPr lang="en-US" sz="2800" i="1" dirty="0" smtClean="0">
                  <a:solidFill>
                    <a:schemeClr val="dk1"/>
                  </a:solidFill>
                  <a:latin typeface="Calibri"/>
                  <a:ea typeface="Calibri"/>
                  <a:cs typeface="Calibri"/>
                  <a:sym typeface="Calibri"/>
                </a:rPr>
                <a:t>In </a:t>
              </a:r>
              <a:r>
                <a:rPr lang="en-US" sz="2800" i="1" dirty="0">
                  <a:solidFill>
                    <a:schemeClr val="dk1"/>
                  </a:solidFill>
                  <a:latin typeface="Calibri"/>
                  <a:ea typeface="Calibri"/>
                  <a:cs typeface="Calibri"/>
                  <a:sym typeface="Calibri"/>
                </a:rPr>
                <a:t>particular, </a:t>
              </a:r>
              <a:r>
                <a:rPr lang="en-US" sz="2800" i="1" dirty="0" smtClean="0">
                  <a:solidFill>
                    <a:schemeClr val="dk1"/>
                  </a:solidFill>
                  <a:latin typeface="Calibri"/>
                  <a:ea typeface="Calibri"/>
                  <a:cs typeface="Calibri"/>
                  <a:sym typeface="Calibri"/>
                </a:rPr>
                <a:t>HOT </a:t>
              </a:r>
              <a:r>
                <a:rPr lang="en-US" sz="2800" i="1" dirty="0">
                  <a:solidFill>
                    <a:schemeClr val="dk1"/>
                  </a:solidFill>
                  <a:latin typeface="Calibri"/>
                  <a:ea typeface="Calibri"/>
                  <a:cs typeface="Calibri"/>
                  <a:sym typeface="Calibri"/>
                </a:rPr>
                <a:t>has no barrier to mesh inversion and </a:t>
              </a:r>
              <a:r>
                <a:rPr lang="en-US" sz="2800" i="1" dirty="0" smtClean="0">
                  <a:solidFill>
                    <a:schemeClr val="dk1"/>
                  </a:solidFill>
                  <a:latin typeface="Calibri"/>
                  <a:ea typeface="Calibri"/>
                  <a:cs typeface="Calibri"/>
                  <a:sym typeface="Calibri"/>
                </a:rPr>
                <a:t>bad </a:t>
              </a:r>
              <a:r>
                <a:rPr lang="en-US" sz="2800" i="1" dirty="0">
                  <a:solidFill>
                    <a:schemeClr val="dk1"/>
                  </a:solidFill>
                  <a:latin typeface="Calibri"/>
                  <a:ea typeface="Calibri"/>
                  <a:cs typeface="Calibri"/>
                  <a:sym typeface="Calibri"/>
                </a:rPr>
                <a:t>local minima exist. </a:t>
              </a:r>
              <a:r>
                <a:rPr lang="en-US" sz="2800" i="1" dirty="0" smtClean="0">
                  <a:solidFill>
                    <a:schemeClr val="dk1"/>
                  </a:solidFill>
                  <a:latin typeface="Calibri"/>
                  <a:ea typeface="Calibri"/>
                  <a:cs typeface="Calibri"/>
                  <a:sym typeface="Calibri"/>
                </a:rPr>
                <a:t/>
              </a:r>
              <a:br>
                <a:rPr lang="en-US" sz="2800" i="1" dirty="0" smtClean="0">
                  <a:solidFill>
                    <a:schemeClr val="dk1"/>
                  </a:solidFill>
                  <a:latin typeface="Calibri"/>
                  <a:ea typeface="Calibri"/>
                  <a:cs typeface="Calibri"/>
                  <a:sym typeface="Calibri"/>
                </a:rPr>
              </a:br>
              <a:r>
                <a:rPr lang="en-US" sz="2800" i="1" dirty="0" smtClean="0">
                  <a:solidFill>
                    <a:schemeClr val="dk1"/>
                  </a:solidFill>
                  <a:latin typeface="Calibri"/>
                  <a:ea typeface="Calibri"/>
                  <a:cs typeface="Calibri"/>
                  <a:sym typeface="Calibri"/>
                </a:rPr>
                <a:t>Because </a:t>
              </a:r>
              <a:r>
                <a:rPr lang="en-US" sz="2800" i="1" dirty="0">
                  <a:solidFill>
                    <a:schemeClr val="dk1"/>
                  </a:solidFill>
                  <a:latin typeface="Calibri"/>
                  <a:ea typeface="Calibri"/>
                  <a:cs typeface="Calibri"/>
                  <a:sym typeface="Calibri"/>
                </a:rPr>
                <a:t>of these limitations, the community relies on preconditioning by Lloyd’s </a:t>
              </a:r>
              <a:r>
                <a:rPr lang="en-US" sz="2800" i="1" dirty="0" smtClean="0">
                  <a:solidFill>
                    <a:schemeClr val="dk1"/>
                  </a:solidFill>
                  <a:latin typeface="Calibri"/>
                  <a:ea typeface="Calibri"/>
                  <a:cs typeface="Calibri"/>
                  <a:sym typeface="Calibri"/>
                </a:rPr>
                <a:t>iterations, </a:t>
              </a:r>
              <a:r>
                <a:rPr lang="en-US" sz="2800" i="1" dirty="0">
                  <a:solidFill>
                    <a:schemeClr val="dk1"/>
                  </a:solidFill>
                  <a:latin typeface="Calibri"/>
                  <a:ea typeface="Calibri"/>
                  <a:cs typeface="Calibri"/>
                  <a:sym typeface="Calibri"/>
                </a:rPr>
                <a:t>as in Centroidal Voronoi Tesselation (CVT). </a:t>
              </a:r>
              <a:endParaRPr lang="en-US" sz="2800" i="1" dirty="0" smtClean="0">
                <a:solidFill>
                  <a:schemeClr val="dk1"/>
                </a:solidFill>
                <a:latin typeface="Calibri"/>
                <a:ea typeface="Calibri"/>
                <a:cs typeface="Calibri"/>
                <a:sym typeface="Calibri"/>
              </a:endParaRPr>
            </a:p>
            <a:p>
              <a:pPr lvl="0">
                <a:lnSpc>
                  <a:spcPct val="115000"/>
                </a:lnSpc>
                <a:spcAft>
                  <a:spcPts val="800"/>
                </a:spcAft>
              </a:pPr>
              <a:r>
                <a:rPr lang="en-US" sz="2800" b="1" dirty="0" smtClean="0">
                  <a:solidFill>
                    <a:schemeClr val="dk1"/>
                  </a:solidFill>
                  <a:latin typeface="Calibri"/>
                  <a:ea typeface="Calibri"/>
                  <a:cs typeface="Calibri"/>
                  <a:sym typeface="Calibri"/>
                </a:rPr>
                <a:t>We </a:t>
              </a:r>
              <a:r>
                <a:rPr lang="en-US" sz="2800" b="1" dirty="0">
                  <a:solidFill>
                    <a:schemeClr val="dk1"/>
                  </a:solidFill>
                  <a:latin typeface="Calibri"/>
                  <a:ea typeface="Calibri"/>
                  <a:cs typeface="Calibri"/>
                  <a:sym typeface="Calibri"/>
                </a:rPr>
                <a:t>designed a </a:t>
              </a:r>
              <a:r>
                <a:rPr lang="en-US" sz="2800" b="1" dirty="0" smtClean="0">
                  <a:solidFill>
                    <a:schemeClr val="dk1"/>
                  </a:solidFill>
                  <a:latin typeface="Calibri"/>
                  <a:ea typeface="Calibri"/>
                  <a:cs typeface="Calibri"/>
                  <a:sym typeface="Calibri"/>
                </a:rPr>
                <a:t>metric HOT that </a:t>
              </a:r>
              <a:r>
                <a:rPr lang="en-US" sz="2800" b="1" dirty="0">
                  <a:solidFill>
                    <a:schemeClr val="dk1"/>
                  </a:solidFill>
                  <a:latin typeface="Calibri"/>
                  <a:ea typeface="Calibri"/>
                  <a:cs typeface="Calibri"/>
                  <a:sym typeface="Calibri"/>
                </a:rPr>
                <a:t>overcomes these </a:t>
              </a:r>
              <a:r>
                <a:rPr lang="en-US" sz="2800" b="1" dirty="0" smtClean="0">
                  <a:solidFill>
                    <a:schemeClr val="dk1"/>
                  </a:solidFill>
                  <a:latin typeface="Calibri"/>
                  <a:ea typeface="Calibri"/>
                  <a:cs typeface="Calibri"/>
                  <a:sym typeface="Calibri"/>
                </a:rPr>
                <a:t>shortcomings</a:t>
              </a:r>
              <a:r>
                <a:rPr lang="en-US" sz="2800" i="1" dirty="0" smtClean="0">
                  <a:solidFill>
                    <a:schemeClr val="dk1"/>
                  </a:solidFill>
                  <a:latin typeface="Calibri"/>
                  <a:ea typeface="Calibri"/>
                  <a:cs typeface="Calibri"/>
                  <a:sym typeface="Calibri"/>
                </a:rPr>
                <a:t>, is </a:t>
              </a:r>
              <a:r>
                <a:rPr lang="en-US" sz="2800" i="1" dirty="0">
                  <a:solidFill>
                    <a:schemeClr val="dk1"/>
                  </a:solidFill>
                  <a:latin typeface="Calibri"/>
                  <a:ea typeface="Calibri"/>
                  <a:cs typeface="Calibri"/>
                  <a:sym typeface="Calibri"/>
                </a:rPr>
                <a:t>unitless and scale </a:t>
              </a:r>
              <a:r>
                <a:rPr lang="en-US" sz="2800" i="1" dirty="0" smtClean="0">
                  <a:solidFill>
                    <a:schemeClr val="dk1"/>
                  </a:solidFill>
                  <a:latin typeface="Calibri"/>
                  <a:ea typeface="Calibri"/>
                  <a:cs typeface="Calibri"/>
                  <a:sym typeface="Calibri"/>
                </a:rPr>
                <a:t>invariant, and has better values over non-Delaunay meshes. Our new metric holds the promise of better behavior under </a:t>
              </a:r>
              <a:r>
                <a:rPr lang="en-US" sz="2800" i="1" dirty="0">
                  <a:solidFill>
                    <a:schemeClr val="dk1"/>
                  </a:solidFill>
                  <a:latin typeface="Calibri"/>
                  <a:ea typeface="Calibri"/>
                  <a:cs typeface="Calibri"/>
                  <a:sym typeface="Calibri"/>
                </a:rPr>
                <a:t>optimization, while </a:t>
              </a:r>
              <a:r>
                <a:rPr lang="en-US" sz="2800" i="1" dirty="0" smtClean="0">
                  <a:solidFill>
                    <a:schemeClr val="dk1"/>
                  </a:solidFill>
                  <a:latin typeface="Calibri"/>
                  <a:ea typeface="Calibri"/>
                  <a:cs typeface="Calibri"/>
                  <a:sym typeface="Calibri"/>
                </a:rPr>
                <a:t>still reducing discretization error [1].</a:t>
              </a:r>
              <a:endParaRPr lang="en-US" sz="2800" i="1" dirty="0">
                <a:solidFill>
                  <a:schemeClr val="dk1"/>
                </a:solidFill>
                <a:latin typeface="Calibri"/>
                <a:ea typeface="Calibri"/>
                <a:cs typeface="Calibri"/>
                <a:sym typeface="Calibri"/>
              </a:endParaRPr>
            </a:p>
            <a:p>
              <a:pPr lvl="0">
                <a:spcBef>
                  <a:spcPts val="0"/>
                </a:spcBef>
                <a:buNone/>
              </a:pPr>
              <a:endParaRPr sz="2800" i="1" dirty="0"/>
            </a:p>
          </p:txBody>
        </p:sp>
      </p:grpSp>
      <p:sp>
        <p:nvSpPr>
          <p:cNvPr id="39" name="Shape 34"/>
          <p:cNvSpPr txBox="1"/>
          <p:nvPr/>
        </p:nvSpPr>
        <p:spPr>
          <a:xfrm>
            <a:off x="1219200" y="7966540"/>
            <a:ext cx="13107900" cy="3571837"/>
          </a:xfrm>
          <a:prstGeom prst="rect">
            <a:avLst/>
          </a:prstGeom>
          <a:noFill/>
          <a:ln>
            <a:noFill/>
          </a:ln>
        </p:spPr>
        <p:txBody>
          <a:bodyPr lIns="91425" tIns="91425" rIns="91425" bIns="91425" anchor="t" anchorCtr="0">
            <a:noAutofit/>
          </a:bodyPr>
          <a:lstStyle/>
          <a:p>
            <a:pPr lvl="0">
              <a:lnSpc>
                <a:spcPct val="115000"/>
              </a:lnSpc>
              <a:spcAft>
                <a:spcPts val="800"/>
              </a:spcAft>
            </a:pPr>
            <a:r>
              <a:rPr lang="en-US" sz="3200" b="1" dirty="0" smtClean="0">
                <a:solidFill>
                  <a:schemeClr val="dk1"/>
                </a:solidFill>
                <a:latin typeface="Calibri"/>
                <a:ea typeface="Calibri"/>
                <a:cs typeface="Calibri"/>
                <a:sym typeface="Calibri"/>
              </a:rPr>
              <a:t>Primal-dual</a:t>
            </a:r>
            <a:r>
              <a:rPr lang="en-US" sz="3200" b="1" dirty="0">
                <a:solidFill>
                  <a:schemeClr val="dk1"/>
                </a:solidFill>
                <a:latin typeface="Calibri"/>
                <a:ea typeface="Calibri"/>
                <a:cs typeface="Calibri"/>
                <a:sym typeface="Calibri"/>
              </a:rPr>
              <a:t> </a:t>
            </a:r>
            <a:r>
              <a:rPr lang="en-US" sz="3200" b="1" dirty="0" smtClean="0">
                <a:solidFill>
                  <a:schemeClr val="dk1"/>
                </a:solidFill>
                <a:latin typeface="Calibri"/>
                <a:ea typeface="Calibri"/>
                <a:cs typeface="Calibri"/>
                <a:sym typeface="Calibri"/>
              </a:rPr>
              <a:t>meshes,</a:t>
            </a:r>
            <a:r>
              <a:rPr lang="en-US" sz="3200" b="1" i="1" dirty="0" smtClean="0">
                <a:solidFill>
                  <a:schemeClr val="dk1"/>
                </a:solidFill>
                <a:latin typeface="Calibri"/>
                <a:ea typeface="Calibri"/>
                <a:cs typeface="Calibri"/>
                <a:sym typeface="Calibri"/>
              </a:rPr>
              <a:t> </a:t>
            </a:r>
            <a:r>
              <a:rPr lang="en-US" sz="2800" i="1" dirty="0" smtClean="0">
                <a:solidFill>
                  <a:schemeClr val="dk1"/>
                </a:solidFill>
                <a:latin typeface="Calibri"/>
                <a:ea typeface="Calibri"/>
                <a:cs typeface="Calibri"/>
                <a:sym typeface="Calibri"/>
              </a:rPr>
              <a:t>otherwise known as well-centered meshes, find use in </a:t>
            </a:r>
            <a:r>
              <a:rPr lang="en-US" sz="2800" i="1" dirty="0" smtClean="0">
                <a:solidFill>
                  <a:schemeClr val="dk1"/>
                </a:solidFill>
                <a:latin typeface="Calibri"/>
                <a:ea typeface="Calibri"/>
                <a:cs typeface="Calibri"/>
                <a:sym typeface="Calibri"/>
              </a:rPr>
              <a:t>Discrete Exterior Calculous </a:t>
            </a:r>
            <a:r>
              <a:rPr lang="en-US" sz="2800" i="1" dirty="0" smtClean="0">
                <a:solidFill>
                  <a:schemeClr val="dk1"/>
                </a:solidFill>
                <a:latin typeface="Calibri"/>
                <a:ea typeface="Calibri"/>
                <a:cs typeface="Calibri"/>
                <a:sym typeface="Calibri"/>
              </a:rPr>
              <a:t>(DEC) formulations of PDE’s and play a role in compatible discretizations. Mirroring the geometric orthogonality of primal and dual elements, these are most well suited for simulations involving orthogonal phenomena, such as electro-magnetism, and other divergence-curl phenomena. Besides PDE’s, primal-dual meshes are ubiquitous in geometry processing, for applications including the design of self-supporting structures, and the design and modeling of tight packings.</a:t>
            </a:r>
          </a:p>
        </p:txBody>
      </p:sp>
      <p:grpSp>
        <p:nvGrpSpPr>
          <p:cNvPr id="2" name="Group 1"/>
          <p:cNvGrpSpPr/>
          <p:nvPr/>
        </p:nvGrpSpPr>
        <p:grpSpPr>
          <a:xfrm>
            <a:off x="29689670" y="22324250"/>
            <a:ext cx="13107900" cy="3983734"/>
            <a:chOff x="29689671" y="20075968"/>
            <a:chExt cx="13107900" cy="3983734"/>
          </a:xfrm>
        </p:grpSpPr>
        <p:sp>
          <p:nvSpPr>
            <p:cNvPr id="32" name="Shape 32"/>
            <p:cNvSpPr txBox="1"/>
            <p:nvPr/>
          </p:nvSpPr>
          <p:spPr>
            <a:xfrm>
              <a:off x="29689671" y="20075968"/>
              <a:ext cx="12885463" cy="797654"/>
            </a:xfrm>
            <a:prstGeom prst="rect">
              <a:avLst/>
            </a:prstGeom>
            <a:noFill/>
            <a:ln>
              <a:noFill/>
            </a:ln>
          </p:spPr>
          <p:txBody>
            <a:bodyPr lIns="91425" tIns="45700" rIns="91425" bIns="45700" anchor="t" anchorCtr="0">
              <a:noAutofit/>
            </a:bodyPr>
            <a:lstStyle/>
            <a:p>
              <a:pPr marL="0" marR="0" lvl="0" indent="0" algn="l" rtl="0">
                <a:lnSpc>
                  <a:spcPct val="91666"/>
                </a:lnSpc>
                <a:spcBef>
                  <a:spcPts val="0"/>
                </a:spcBef>
                <a:buSzPct val="25000"/>
                <a:buNone/>
              </a:pPr>
              <a:r>
                <a:rPr lang="en-US" sz="6000" b="1" i="0" u="none" strike="noStrike" cap="none">
                  <a:solidFill>
                    <a:srgbClr val="6782B2"/>
                  </a:solidFill>
                  <a:latin typeface="Arial"/>
                  <a:ea typeface="Arial"/>
                  <a:cs typeface="Arial"/>
                  <a:sym typeface="Arial"/>
                </a:rPr>
                <a:t>Areas in which we need help</a:t>
              </a:r>
            </a:p>
          </p:txBody>
        </p:sp>
        <p:sp>
          <p:nvSpPr>
            <p:cNvPr id="40" name="Shape 34"/>
            <p:cNvSpPr txBox="1"/>
            <p:nvPr/>
          </p:nvSpPr>
          <p:spPr>
            <a:xfrm>
              <a:off x="29689671" y="20859326"/>
              <a:ext cx="13107900" cy="3200376"/>
            </a:xfrm>
            <a:prstGeom prst="rect">
              <a:avLst/>
            </a:prstGeom>
            <a:noFill/>
            <a:ln>
              <a:noFill/>
            </a:ln>
          </p:spPr>
          <p:txBody>
            <a:bodyPr lIns="91425" tIns="91425" rIns="91425" bIns="91425" anchor="t" anchorCtr="0">
              <a:noAutofit/>
            </a:bodyPr>
            <a:lstStyle/>
            <a:p>
              <a:pPr>
                <a:lnSpc>
                  <a:spcPct val="115000"/>
                </a:lnSpc>
                <a:spcAft>
                  <a:spcPts val="800"/>
                </a:spcAft>
              </a:pPr>
              <a:r>
                <a:rPr lang="en-US" sz="2800" b="1" smtClean="0">
                  <a:solidFill>
                    <a:schemeClr val="dk1"/>
                  </a:solidFill>
                  <a:latin typeface="Calibri"/>
                  <a:ea typeface="Calibri"/>
                  <a:cs typeface="Calibri"/>
                  <a:sym typeface="Calibri"/>
                </a:rPr>
                <a:t>We </a:t>
              </a:r>
              <a:r>
                <a:rPr lang="en-US" sz="2800" b="1">
                  <a:solidFill>
                    <a:schemeClr val="dk1"/>
                  </a:solidFill>
                  <a:latin typeface="Calibri"/>
                  <a:ea typeface="Calibri"/>
                  <a:cs typeface="Calibri"/>
                  <a:sym typeface="Calibri"/>
                </a:rPr>
                <a:t>seek partnerships with simulation </a:t>
              </a:r>
              <a:r>
                <a:rPr lang="en-US" sz="2800" b="1" smtClean="0">
                  <a:solidFill>
                    <a:schemeClr val="dk1"/>
                  </a:solidFill>
                  <a:latin typeface="Calibri"/>
                  <a:ea typeface="Calibri"/>
                  <a:cs typeface="Calibri"/>
                  <a:sym typeface="Calibri"/>
                </a:rPr>
                <a:t>groups </a:t>
              </a:r>
              <a:r>
                <a:rPr lang="en-US" sz="2800" b="1">
                  <a:solidFill>
                    <a:schemeClr val="dk1"/>
                  </a:solidFill>
                  <a:latin typeface="Calibri"/>
                  <a:ea typeface="Calibri"/>
                  <a:cs typeface="Calibri"/>
                  <a:sym typeface="Calibri"/>
                </a:rPr>
                <a:t>based on DEC </a:t>
              </a:r>
              <a:r>
                <a:rPr lang="en-US" sz="2800" b="1" smtClean="0">
                  <a:solidFill>
                    <a:schemeClr val="dk1"/>
                  </a:solidFill>
                  <a:latin typeface="Calibri"/>
                  <a:ea typeface="Calibri"/>
                  <a:cs typeface="Calibri"/>
                  <a:sym typeface="Calibri"/>
                </a:rPr>
                <a:t>or polyhedral meshes! </a:t>
              </a:r>
              <a:r>
                <a:rPr lang="en-US" sz="2800" i="1" smtClean="0">
                  <a:solidFill>
                    <a:schemeClr val="dk1"/>
                  </a:solidFill>
                  <a:latin typeface="Calibri"/>
                  <a:ea typeface="Calibri"/>
                  <a:cs typeface="Calibri"/>
                  <a:sym typeface="Calibri"/>
                </a:rPr>
                <a:t/>
              </a:r>
              <a:br>
                <a:rPr lang="en-US" sz="2800" i="1" smtClean="0">
                  <a:solidFill>
                    <a:schemeClr val="dk1"/>
                  </a:solidFill>
                  <a:latin typeface="Calibri"/>
                  <a:ea typeface="Calibri"/>
                  <a:cs typeface="Calibri"/>
                  <a:sym typeface="Calibri"/>
                </a:rPr>
              </a:br>
              <a:r>
                <a:rPr lang="en-US" sz="2800" i="1" smtClean="0">
                  <a:solidFill>
                    <a:schemeClr val="dk1"/>
                  </a:solidFill>
                  <a:latin typeface="Calibri"/>
                  <a:ea typeface="Calibri"/>
                  <a:cs typeface="Calibri"/>
                  <a:sym typeface="Calibri"/>
                </a:rPr>
                <a:t>The </a:t>
              </a:r>
              <a:r>
                <a:rPr lang="en-US" sz="2800" i="1">
                  <a:solidFill>
                    <a:schemeClr val="dk1"/>
                  </a:solidFill>
                  <a:latin typeface="Calibri"/>
                  <a:ea typeface="Calibri"/>
                  <a:cs typeface="Calibri"/>
                  <a:sym typeface="Calibri"/>
                </a:rPr>
                <a:t>major gap we seek to close is tying our results to simulation practice. In particular, while </a:t>
              </a:r>
              <a:r>
                <a:rPr lang="en-US" sz="2800" i="1" smtClean="0">
                  <a:solidFill>
                    <a:schemeClr val="dk1"/>
                  </a:solidFill>
                  <a:latin typeface="Calibri"/>
                  <a:ea typeface="Calibri"/>
                  <a:cs typeface="Calibri"/>
                  <a:sym typeface="Calibri"/>
                </a:rPr>
                <a:t>the theory connects mesh </a:t>
              </a:r>
              <a:r>
                <a:rPr lang="en-US" sz="2800" i="1">
                  <a:solidFill>
                    <a:schemeClr val="dk1"/>
                  </a:solidFill>
                  <a:latin typeface="Calibri"/>
                  <a:ea typeface="Calibri"/>
                  <a:cs typeface="Calibri"/>
                  <a:sym typeface="Calibri"/>
                </a:rPr>
                <a:t>quality </a:t>
              </a:r>
              <a:r>
                <a:rPr lang="en-US" sz="2800" i="1" smtClean="0">
                  <a:solidFill>
                    <a:schemeClr val="dk1"/>
                  </a:solidFill>
                  <a:latin typeface="Calibri"/>
                  <a:ea typeface="Calibri"/>
                  <a:cs typeface="Calibri"/>
                  <a:sym typeface="Calibri"/>
                </a:rPr>
                <a:t>to </a:t>
              </a:r>
              <a:r>
                <a:rPr lang="en-US" sz="2800" i="1">
                  <a:solidFill>
                    <a:schemeClr val="dk1"/>
                  </a:solidFill>
                  <a:latin typeface="Calibri"/>
                  <a:ea typeface="Calibri"/>
                  <a:cs typeface="Calibri"/>
                  <a:sym typeface="Calibri"/>
                </a:rPr>
                <a:t>simulation error</a:t>
              </a:r>
              <a:r>
                <a:rPr lang="en-US" sz="2800" i="1" smtClean="0">
                  <a:solidFill>
                    <a:schemeClr val="dk1"/>
                  </a:solidFill>
                  <a:latin typeface="Calibri"/>
                  <a:ea typeface="Calibri"/>
                  <a:cs typeface="Calibri"/>
                  <a:sym typeface="Calibri"/>
                </a:rPr>
                <a:t>, we wish </a:t>
              </a:r>
              <a:r>
                <a:rPr lang="en-US" sz="2800" i="1">
                  <a:solidFill>
                    <a:schemeClr val="dk1"/>
                  </a:solidFill>
                  <a:latin typeface="Calibri"/>
                  <a:ea typeface="Calibri"/>
                  <a:cs typeface="Calibri"/>
                  <a:sym typeface="Calibri"/>
                </a:rPr>
                <a:t>to discover </a:t>
              </a:r>
              <a:r>
                <a:rPr lang="en-US" sz="2800" i="1" smtClean="0">
                  <a:solidFill>
                    <a:schemeClr val="dk1"/>
                  </a:solidFill>
                  <a:latin typeface="Calibri"/>
                  <a:ea typeface="Calibri"/>
                  <a:cs typeface="Calibri"/>
                  <a:sym typeface="Calibri"/>
                </a:rPr>
                <a:t>how tight this connection is, </a:t>
              </a:r>
              <a:r>
                <a:rPr lang="en-US" sz="2800" i="1">
                  <a:solidFill>
                    <a:schemeClr val="dk1"/>
                  </a:solidFill>
                  <a:latin typeface="Calibri"/>
                  <a:ea typeface="Calibri"/>
                  <a:cs typeface="Calibri"/>
                  <a:sym typeface="Calibri"/>
                </a:rPr>
                <a:t>and whether coarser meshes </a:t>
              </a:r>
              <a:r>
                <a:rPr lang="en-US" sz="2800" i="1" smtClean="0">
                  <a:solidFill>
                    <a:schemeClr val="dk1"/>
                  </a:solidFill>
                  <a:latin typeface="Calibri"/>
                  <a:ea typeface="Calibri"/>
                  <a:cs typeface="Calibri"/>
                  <a:sym typeface="Calibri"/>
                </a:rPr>
                <a:t>and worse quality suffice in practice. </a:t>
              </a:r>
            </a:p>
          </p:txBody>
        </p:sp>
      </p:grpSp>
      <p:sp>
        <p:nvSpPr>
          <p:cNvPr id="42" name="Shape 34"/>
          <p:cNvSpPr txBox="1"/>
          <p:nvPr/>
        </p:nvSpPr>
        <p:spPr>
          <a:xfrm>
            <a:off x="1299778" y="21794980"/>
            <a:ext cx="13107900" cy="3380765"/>
          </a:xfrm>
          <a:prstGeom prst="rect">
            <a:avLst/>
          </a:prstGeom>
          <a:noFill/>
          <a:ln>
            <a:noFill/>
          </a:ln>
        </p:spPr>
        <p:txBody>
          <a:bodyPr lIns="91425" tIns="91425" rIns="91425" bIns="91425" anchor="t" anchorCtr="0">
            <a:noAutofit/>
          </a:bodyPr>
          <a:lstStyle/>
          <a:p>
            <a:pPr lvl="0">
              <a:lnSpc>
                <a:spcPct val="115000"/>
              </a:lnSpc>
              <a:spcAft>
                <a:spcPts val="800"/>
              </a:spcAft>
            </a:pPr>
            <a:r>
              <a:rPr lang="en-US" sz="3200" b="1" dirty="0" smtClean="0">
                <a:solidFill>
                  <a:schemeClr val="dk1"/>
                </a:solidFill>
                <a:latin typeface="Calibri"/>
                <a:ea typeface="Calibri"/>
                <a:cs typeface="Calibri"/>
                <a:sym typeface="Calibri"/>
              </a:rPr>
              <a:t>Dual polyhedral meshes </a:t>
            </a:r>
            <a:r>
              <a:rPr lang="en-US" sz="2800" i="1" dirty="0" smtClean="0">
                <a:solidFill>
                  <a:schemeClr val="dk1"/>
                </a:solidFill>
                <a:latin typeface="Calibri"/>
                <a:ea typeface="Calibri"/>
                <a:cs typeface="Calibri"/>
                <a:sym typeface="Calibri"/>
              </a:rPr>
              <a:t>are interesting and useful in and of themselves, outside their role in primal-dual meshes. The cells of a Voronoi tessellation boast many properties that make them useful for polyhedral mesh generation, such as convexity and flat facets. Polyhedral mesh generation finds use in fracture mechanics within the Labs complex, and is now widespread in industry for fluid flow and similar phenomena, </a:t>
            </a:r>
            <a:r>
              <a:rPr lang="en-US" sz="2800" i="1" dirty="0">
                <a:solidFill>
                  <a:schemeClr val="dk1"/>
                </a:solidFill>
                <a:latin typeface="Calibri"/>
                <a:ea typeface="Calibri"/>
                <a:cs typeface="Calibri"/>
                <a:sym typeface="Calibri"/>
              </a:rPr>
              <a:t>e.g. </a:t>
            </a:r>
            <a:r>
              <a:rPr lang="en-US" sz="2800" i="1" dirty="0" smtClean="0">
                <a:solidFill>
                  <a:schemeClr val="dk1"/>
                </a:solidFill>
                <a:latin typeface="Calibri"/>
                <a:ea typeface="Calibri"/>
                <a:cs typeface="Calibri"/>
                <a:sym typeface="Calibri"/>
              </a:rPr>
              <a:t>CD-adapco</a:t>
            </a:r>
            <a:r>
              <a:rPr lang="en-US" sz="2800" i="1" dirty="0" smtClean="0">
                <a:solidFill>
                  <a:schemeClr val="dk1"/>
                </a:solidFill>
                <a:latin typeface="Calibri"/>
                <a:ea typeface="Calibri"/>
                <a:cs typeface="Calibri"/>
                <a:sym typeface="Calibri"/>
              </a:rPr>
              <a:t>. Polyhedra’s efficiency in filling space (i.e. a low node-to-cell ratio), leads to calculation efficiency. Polyhedra provide flexible element formulations</a:t>
            </a:r>
            <a:r>
              <a:rPr lang="en-US" sz="2800" i="1" dirty="0">
                <a:solidFill>
                  <a:schemeClr val="dk1"/>
                </a:solidFill>
                <a:latin typeface="Calibri"/>
                <a:ea typeface="Calibri"/>
                <a:cs typeface="Calibri"/>
                <a:sym typeface="Calibri"/>
              </a:rPr>
              <a:t>.</a:t>
            </a:r>
          </a:p>
        </p:txBody>
      </p:sp>
      <p:grpSp>
        <p:nvGrpSpPr>
          <p:cNvPr id="3" name="Group 2"/>
          <p:cNvGrpSpPr/>
          <p:nvPr/>
        </p:nvGrpSpPr>
        <p:grpSpPr>
          <a:xfrm>
            <a:off x="29696101" y="17507593"/>
            <a:ext cx="13107900" cy="4089170"/>
            <a:chOff x="29689671" y="14999276"/>
            <a:chExt cx="13107900" cy="4089170"/>
          </a:xfrm>
        </p:grpSpPr>
        <p:sp>
          <p:nvSpPr>
            <p:cNvPr id="30" name="Shape 30"/>
            <p:cNvSpPr txBox="1"/>
            <p:nvPr/>
          </p:nvSpPr>
          <p:spPr>
            <a:xfrm>
              <a:off x="29689671" y="14999276"/>
              <a:ext cx="12885463" cy="797654"/>
            </a:xfrm>
            <a:prstGeom prst="rect">
              <a:avLst/>
            </a:prstGeom>
            <a:noFill/>
            <a:ln>
              <a:noFill/>
            </a:ln>
          </p:spPr>
          <p:txBody>
            <a:bodyPr lIns="91425" tIns="45700" rIns="91425" bIns="45700" anchor="t" anchorCtr="0">
              <a:noAutofit/>
            </a:bodyPr>
            <a:lstStyle/>
            <a:p>
              <a:pPr marL="0" marR="0" lvl="0" indent="0" algn="l" rtl="0">
                <a:lnSpc>
                  <a:spcPct val="91666"/>
                </a:lnSpc>
                <a:spcBef>
                  <a:spcPts val="0"/>
                </a:spcBef>
                <a:buSzPct val="25000"/>
                <a:buNone/>
              </a:pPr>
              <a:r>
                <a:rPr lang="en-US" sz="6000" b="1" i="0" u="none" strike="noStrike" cap="none" dirty="0">
                  <a:solidFill>
                    <a:srgbClr val="6782B2"/>
                  </a:solidFill>
                  <a:latin typeface="Arial"/>
                  <a:ea typeface="Arial"/>
                  <a:cs typeface="Arial"/>
                  <a:sym typeface="Arial"/>
                </a:rPr>
                <a:t>Areas in which we can help</a:t>
              </a:r>
            </a:p>
          </p:txBody>
        </p:sp>
        <p:sp>
          <p:nvSpPr>
            <p:cNvPr id="49" name="Shape 34"/>
            <p:cNvSpPr txBox="1"/>
            <p:nvPr/>
          </p:nvSpPr>
          <p:spPr>
            <a:xfrm>
              <a:off x="29689671" y="15888070"/>
              <a:ext cx="13107900" cy="3200376"/>
            </a:xfrm>
            <a:prstGeom prst="rect">
              <a:avLst/>
            </a:prstGeom>
            <a:noFill/>
            <a:ln>
              <a:noFill/>
            </a:ln>
          </p:spPr>
          <p:txBody>
            <a:bodyPr lIns="91425" tIns="91425" rIns="91425" bIns="91425" anchor="t" anchorCtr="0">
              <a:noAutofit/>
            </a:bodyPr>
            <a:lstStyle/>
            <a:p>
              <a:pPr lvl="0">
                <a:lnSpc>
                  <a:spcPct val="115000"/>
                </a:lnSpc>
                <a:spcAft>
                  <a:spcPts val="800"/>
                </a:spcAft>
              </a:pPr>
              <a:r>
                <a:rPr lang="en-US" sz="2800" b="1" dirty="0" smtClean="0">
                  <a:solidFill>
                    <a:schemeClr val="dk1"/>
                  </a:solidFill>
                  <a:latin typeface="Calibri"/>
                  <a:ea typeface="Calibri"/>
                  <a:cs typeface="Calibri"/>
                  <a:sym typeface="Calibri"/>
                </a:rPr>
                <a:t>We seek to deliver a general-purpose primal-dual mesh improvement library</a:t>
              </a:r>
              <a:r>
                <a:rPr lang="en-US" sz="2800" b="1" dirty="0">
                  <a:solidFill>
                    <a:schemeClr val="dk1"/>
                  </a:solidFill>
                  <a:latin typeface="Calibri"/>
                  <a:ea typeface="Calibri"/>
                  <a:cs typeface="Calibri"/>
                  <a:sym typeface="Calibri"/>
                </a:rPr>
                <a:t>,</a:t>
              </a:r>
              <a:r>
                <a:rPr lang="en-US" sz="2800" b="1" dirty="0" smtClean="0">
                  <a:solidFill>
                    <a:schemeClr val="dk1"/>
                  </a:solidFill>
                  <a:latin typeface="Calibri"/>
                  <a:ea typeface="Calibri"/>
                  <a:cs typeface="Calibri"/>
                  <a:sym typeface="Calibri"/>
                </a:rPr>
                <a:t/>
              </a:r>
              <a:br>
                <a:rPr lang="en-US" sz="2800" b="1" dirty="0" smtClean="0">
                  <a:solidFill>
                    <a:schemeClr val="dk1"/>
                  </a:solidFill>
                  <a:latin typeface="Calibri"/>
                  <a:ea typeface="Calibri"/>
                  <a:cs typeface="Calibri"/>
                  <a:sym typeface="Calibri"/>
                </a:rPr>
              </a:br>
              <a:r>
                <a:rPr lang="en-US" sz="2800" i="1" dirty="0" smtClean="0">
                  <a:solidFill>
                    <a:schemeClr val="dk1"/>
                  </a:solidFill>
                  <a:latin typeface="Calibri"/>
                  <a:ea typeface="Calibri"/>
                  <a:cs typeface="Calibri"/>
                  <a:sym typeface="Calibri"/>
                </a:rPr>
                <a:t>useful </a:t>
              </a:r>
              <a:r>
                <a:rPr lang="en-US" sz="2800" i="1" dirty="0">
                  <a:solidFill>
                    <a:schemeClr val="dk1"/>
                  </a:solidFill>
                  <a:latin typeface="Calibri"/>
                  <a:ea typeface="Calibri"/>
                  <a:cs typeface="Calibri"/>
                  <a:sym typeface="Calibri"/>
                </a:rPr>
                <a:t>across many types of </a:t>
              </a:r>
              <a:r>
                <a:rPr lang="en-US" sz="2800" i="1" dirty="0" smtClean="0">
                  <a:solidFill>
                    <a:schemeClr val="dk1"/>
                  </a:solidFill>
                  <a:latin typeface="Calibri"/>
                  <a:ea typeface="Calibri"/>
                  <a:cs typeface="Calibri"/>
                  <a:sym typeface="Calibri"/>
                </a:rPr>
                <a:t>next-generation simulations. While the literature has demonstrated some primal-dual mesh optimization, no open-source capabilities exist</a:t>
              </a:r>
              <a:r>
                <a:rPr lang="en-US" sz="2800" i="1" dirty="0">
                  <a:solidFill>
                    <a:schemeClr val="dk1"/>
                  </a:solidFill>
                  <a:latin typeface="Calibri"/>
                  <a:ea typeface="Calibri"/>
                  <a:cs typeface="Calibri"/>
                  <a:sym typeface="Calibri"/>
                </a:rPr>
                <a:t>. </a:t>
              </a:r>
            </a:p>
            <a:p>
              <a:pPr lvl="0">
                <a:lnSpc>
                  <a:spcPct val="115000"/>
                </a:lnSpc>
                <a:spcAft>
                  <a:spcPts val="800"/>
                </a:spcAft>
              </a:pPr>
              <a:r>
                <a:rPr lang="en-US" sz="2800" b="1" dirty="0" smtClean="0">
                  <a:solidFill>
                    <a:schemeClr val="dk1"/>
                  </a:solidFill>
                  <a:latin typeface="Calibri"/>
                  <a:ea typeface="Calibri"/>
                  <a:cs typeface="Calibri"/>
                  <a:sym typeface="Calibri"/>
                </a:rPr>
                <a:t>We derive math in support of general-purpose dual polyhedral mesh generation.</a:t>
              </a:r>
              <a:br>
                <a:rPr lang="en-US" sz="2800" b="1" dirty="0" smtClean="0">
                  <a:solidFill>
                    <a:schemeClr val="dk1"/>
                  </a:solidFill>
                  <a:latin typeface="Calibri"/>
                  <a:ea typeface="Calibri"/>
                  <a:cs typeface="Calibri"/>
                  <a:sym typeface="Calibri"/>
                </a:rPr>
              </a:br>
              <a:r>
                <a:rPr lang="en-US" sz="2800" i="1" dirty="0" smtClean="0">
                  <a:solidFill>
                    <a:schemeClr val="dk1"/>
                  </a:solidFill>
                  <a:latin typeface="Calibri"/>
                  <a:ea typeface="Calibri"/>
                  <a:cs typeface="Calibri"/>
                  <a:sym typeface="Calibri"/>
                </a:rPr>
                <a:t>LANL’s Center for Nonlinear Studies has expressed interest in VoroCrust meshes. </a:t>
              </a:r>
              <a:br>
                <a:rPr lang="en-US" sz="2800" i="1" dirty="0" smtClean="0">
                  <a:solidFill>
                    <a:schemeClr val="dk1"/>
                  </a:solidFill>
                  <a:latin typeface="Calibri"/>
                  <a:ea typeface="Calibri"/>
                  <a:cs typeface="Calibri"/>
                  <a:sym typeface="Calibri"/>
                </a:rPr>
              </a:br>
              <a:r>
                <a:rPr lang="en-US" sz="2800" i="1" dirty="0" smtClean="0">
                  <a:solidFill>
                    <a:schemeClr val="dk1"/>
                  </a:solidFill>
                  <a:latin typeface="Calibri"/>
                  <a:ea typeface="Calibri"/>
                  <a:cs typeface="Calibri"/>
                  <a:sym typeface="Calibri"/>
                </a:rPr>
                <a:t>Sandia’s Engineering Sciences Center has demonstrated fracture mechanics using prior versions of our Voronoi-based meshing.</a:t>
              </a:r>
            </a:p>
          </p:txBody>
        </p:sp>
      </p:grpSp>
      <p:sp>
        <p:nvSpPr>
          <p:cNvPr id="50" name="Shape 34"/>
          <p:cNvSpPr txBox="1"/>
          <p:nvPr/>
        </p:nvSpPr>
        <p:spPr>
          <a:xfrm>
            <a:off x="29689670" y="4837459"/>
            <a:ext cx="13107900" cy="7108151"/>
          </a:xfrm>
          <a:prstGeom prst="rect">
            <a:avLst/>
          </a:prstGeom>
          <a:noFill/>
          <a:ln>
            <a:noFill/>
          </a:ln>
        </p:spPr>
        <p:txBody>
          <a:bodyPr lIns="91425" tIns="91425" rIns="91425" bIns="91425" anchor="t" anchorCtr="0">
            <a:noAutofit/>
          </a:bodyPr>
          <a:lstStyle/>
          <a:p>
            <a:pPr marL="457200" lvl="0" indent="-457200">
              <a:lnSpc>
                <a:spcPct val="115000"/>
              </a:lnSpc>
              <a:spcAft>
                <a:spcPts val="800"/>
              </a:spcAft>
              <a:buFont typeface="Arial" charset="0"/>
              <a:buChar char="•"/>
            </a:pPr>
            <a:r>
              <a:rPr lang="en-US" sz="2800" b="1" dirty="0" smtClean="0">
                <a:solidFill>
                  <a:schemeClr val="dk1"/>
                </a:solidFill>
                <a:latin typeface="Calibri"/>
                <a:ea typeface="Calibri"/>
                <a:cs typeface="Calibri"/>
                <a:sym typeface="Calibri"/>
              </a:rPr>
              <a:t>Primal-dual mesh quality analysis, and optimization to reduce discretization error</a:t>
            </a:r>
          </a:p>
          <a:p>
            <a:pPr marL="457200" lvl="0" indent="-457200">
              <a:lnSpc>
                <a:spcPct val="115000"/>
              </a:lnSpc>
              <a:spcAft>
                <a:spcPts val="800"/>
              </a:spcAft>
              <a:buFont typeface="Arial" charset="0"/>
              <a:buChar char="•"/>
            </a:pPr>
            <a:r>
              <a:rPr lang="en-US" sz="2800" b="1" dirty="0" smtClean="0">
                <a:solidFill>
                  <a:schemeClr val="dk1"/>
                </a:solidFill>
                <a:latin typeface="Calibri"/>
                <a:ea typeface="Calibri"/>
                <a:cs typeface="Calibri"/>
                <a:sym typeface="Calibri"/>
              </a:rPr>
              <a:t>Sampling-based framework for improving multiple mesh qualities simultaneously</a:t>
            </a:r>
          </a:p>
          <a:p>
            <a:pPr marL="457200" lvl="0" indent="-457200">
              <a:lnSpc>
                <a:spcPct val="115000"/>
              </a:lnSpc>
              <a:spcAft>
                <a:spcPts val="800"/>
              </a:spcAft>
              <a:buFont typeface="Arial" charset="0"/>
              <a:buChar char="•"/>
            </a:pPr>
            <a:r>
              <a:rPr lang="en-US" sz="2800" b="1" dirty="0" smtClean="0">
                <a:solidFill>
                  <a:schemeClr val="dk1"/>
                </a:solidFill>
                <a:latin typeface="Calibri"/>
                <a:ea typeface="Calibri"/>
                <a:cs typeface="Calibri"/>
                <a:sym typeface="Calibri"/>
              </a:rPr>
              <a:t>Dual Voronoi polyhedral mesh generation algorithms, and </a:t>
            </a:r>
            <a:br>
              <a:rPr lang="en-US" sz="2800" b="1" dirty="0" smtClean="0">
                <a:solidFill>
                  <a:schemeClr val="dk1"/>
                </a:solidFill>
                <a:latin typeface="Calibri"/>
                <a:ea typeface="Calibri"/>
                <a:cs typeface="Calibri"/>
                <a:sym typeface="Calibri"/>
              </a:rPr>
            </a:br>
            <a:r>
              <a:rPr lang="en-US" sz="2800" b="1" dirty="0" smtClean="0">
                <a:solidFill>
                  <a:schemeClr val="dk1"/>
                </a:solidFill>
                <a:latin typeface="Calibri"/>
                <a:ea typeface="Calibri"/>
                <a:cs typeface="Calibri"/>
                <a:sym typeface="Calibri"/>
              </a:rPr>
              <a:t>derivation </a:t>
            </a:r>
            <a:r>
              <a:rPr lang="en-US" sz="2800" b="1" dirty="0">
                <a:solidFill>
                  <a:schemeClr val="dk1"/>
                </a:solidFill>
                <a:latin typeface="Calibri"/>
                <a:ea typeface="Calibri"/>
                <a:cs typeface="Calibri"/>
                <a:sym typeface="Calibri"/>
              </a:rPr>
              <a:t>of </a:t>
            </a:r>
            <a:r>
              <a:rPr lang="en-US" sz="2800" b="1" dirty="0" smtClean="0">
                <a:solidFill>
                  <a:schemeClr val="dk1"/>
                </a:solidFill>
                <a:latin typeface="Calibri"/>
                <a:ea typeface="Calibri"/>
                <a:cs typeface="Calibri"/>
                <a:sym typeface="Calibri"/>
              </a:rPr>
              <a:t>mathematically-sufficient </a:t>
            </a:r>
            <a:r>
              <a:rPr lang="en-US" sz="2800" b="1" dirty="0">
                <a:solidFill>
                  <a:schemeClr val="dk1"/>
                </a:solidFill>
                <a:latin typeface="Calibri"/>
                <a:ea typeface="Calibri"/>
                <a:cs typeface="Calibri"/>
                <a:sym typeface="Calibri"/>
              </a:rPr>
              <a:t>conditions </a:t>
            </a:r>
            <a:r>
              <a:rPr lang="en-US" sz="2800" b="1" dirty="0" smtClean="0">
                <a:solidFill>
                  <a:schemeClr val="dk1"/>
                </a:solidFill>
                <a:latin typeface="Calibri"/>
                <a:ea typeface="Calibri"/>
                <a:cs typeface="Calibri"/>
                <a:sym typeface="Calibri"/>
              </a:rPr>
              <a:t>for provably correct output</a:t>
            </a:r>
          </a:p>
          <a:p>
            <a:pPr lvl="0">
              <a:lnSpc>
                <a:spcPct val="115000"/>
              </a:lnSpc>
              <a:spcAft>
                <a:spcPts val="800"/>
              </a:spcAft>
            </a:pPr>
            <a:r>
              <a:rPr lang="en-US" sz="2800" i="1" dirty="0" smtClean="0">
                <a:solidFill>
                  <a:schemeClr val="dk1"/>
                </a:solidFill>
                <a:latin typeface="Calibri"/>
                <a:ea typeface="Calibri"/>
                <a:cs typeface="Calibri"/>
                <a:sym typeface="Calibri"/>
              </a:rPr>
              <a:t>We reached a depth of mathematical understanding of primal-dual energy metrics that enabled the design of a new metric that should behave better under optimization. Near-future work is actually optimizing this new metric, tuning for efficiency, and achieving the properties that are the most beneficial in practice. While resampling can produce a well-centered primal-dual mesh, we seek to demonstrate it over energy metrics more closely tied to simulation error. Extending to weighted meshes is challenging: we understand the mathematics of the metric and its gradient with respect to node weights, but an algorithm to simultaneously modify both weights and positions is challenging due to their different units and scales. </a:t>
            </a:r>
            <a:endParaRPr lang="en-US" sz="2800" i="1" dirty="0">
              <a:solidFill>
                <a:schemeClr val="dk1"/>
              </a:solidFill>
              <a:latin typeface="Calibri"/>
              <a:ea typeface="Calibri"/>
              <a:cs typeface="Calibri"/>
              <a:sym typeface="Calibri"/>
            </a:endParaRPr>
          </a:p>
          <a:p>
            <a:pPr lvl="0">
              <a:lnSpc>
                <a:spcPct val="115000"/>
              </a:lnSpc>
              <a:spcAft>
                <a:spcPts val="800"/>
              </a:spcAft>
            </a:pPr>
            <a:r>
              <a:rPr lang="en-US" sz="2800" i="1" dirty="0" smtClean="0">
                <a:solidFill>
                  <a:schemeClr val="dk1"/>
                </a:solidFill>
                <a:latin typeface="Calibri"/>
                <a:ea typeface="Calibri"/>
                <a:cs typeface="Calibri"/>
                <a:sym typeface="Calibri"/>
              </a:rPr>
              <a:t>Besides </a:t>
            </a:r>
            <a:r>
              <a:rPr lang="en-US" sz="2800" i="1" dirty="0">
                <a:solidFill>
                  <a:schemeClr val="dk1"/>
                </a:solidFill>
                <a:latin typeface="Calibri"/>
                <a:ea typeface="Calibri"/>
                <a:cs typeface="Calibri"/>
                <a:sym typeface="Calibri"/>
              </a:rPr>
              <a:t>meshes, we demonstrated building an accurate model of a fiber material.</a:t>
            </a:r>
          </a:p>
        </p:txBody>
      </p:sp>
      <p:grpSp>
        <p:nvGrpSpPr>
          <p:cNvPr id="75" name="Group 74"/>
          <p:cNvGrpSpPr/>
          <p:nvPr/>
        </p:nvGrpSpPr>
        <p:grpSpPr>
          <a:xfrm>
            <a:off x="1219200" y="25749753"/>
            <a:ext cx="13107900" cy="5998429"/>
            <a:chOff x="1219200" y="25127853"/>
            <a:chExt cx="13107900" cy="6499233"/>
          </a:xfrm>
        </p:grpSpPr>
        <p:sp>
          <p:nvSpPr>
            <p:cNvPr id="23" name="Shape 23"/>
            <p:cNvSpPr txBox="1"/>
            <p:nvPr/>
          </p:nvSpPr>
          <p:spPr>
            <a:xfrm>
              <a:off x="1219200" y="25127853"/>
              <a:ext cx="12138846" cy="797654"/>
            </a:xfrm>
            <a:prstGeom prst="rect">
              <a:avLst/>
            </a:prstGeom>
            <a:noFill/>
            <a:ln>
              <a:noFill/>
            </a:ln>
          </p:spPr>
          <p:txBody>
            <a:bodyPr lIns="91425" tIns="45700" rIns="91425" bIns="45700" anchor="t" anchorCtr="0">
              <a:noAutofit/>
            </a:bodyPr>
            <a:lstStyle/>
            <a:p>
              <a:pPr marL="0" marR="0" lvl="0" indent="0" algn="l" rtl="0">
                <a:lnSpc>
                  <a:spcPct val="91666"/>
                </a:lnSpc>
                <a:spcBef>
                  <a:spcPts val="0"/>
                </a:spcBef>
                <a:buSzPct val="25000"/>
                <a:buNone/>
              </a:pPr>
              <a:r>
                <a:rPr lang="en-US" sz="6000" b="1" i="0" u="none" strike="noStrike" cap="none" dirty="0">
                  <a:solidFill>
                    <a:srgbClr val="6782B2"/>
                  </a:solidFill>
                  <a:latin typeface="Arial"/>
                  <a:ea typeface="Arial"/>
                  <a:cs typeface="Arial"/>
                  <a:sym typeface="Arial"/>
                </a:rPr>
                <a:t>Approach</a:t>
              </a:r>
            </a:p>
          </p:txBody>
        </p:sp>
        <p:sp>
          <p:nvSpPr>
            <p:cNvPr id="51" name="Shape 34"/>
            <p:cNvSpPr txBox="1"/>
            <p:nvPr/>
          </p:nvSpPr>
          <p:spPr>
            <a:xfrm>
              <a:off x="1219200" y="26020280"/>
              <a:ext cx="13107900" cy="5606806"/>
            </a:xfrm>
            <a:prstGeom prst="rect">
              <a:avLst/>
            </a:prstGeom>
            <a:noFill/>
            <a:ln>
              <a:noFill/>
            </a:ln>
          </p:spPr>
          <p:txBody>
            <a:bodyPr lIns="91425" tIns="91425" rIns="91425" bIns="91425" anchor="t" anchorCtr="0">
              <a:noAutofit/>
            </a:bodyPr>
            <a:lstStyle/>
            <a:p>
              <a:pPr lvl="0">
                <a:lnSpc>
                  <a:spcPct val="115000"/>
                </a:lnSpc>
                <a:spcAft>
                  <a:spcPts val="800"/>
                </a:spcAft>
              </a:pPr>
              <a:r>
                <a:rPr lang="en-US" sz="2800" b="1" dirty="0" smtClean="0">
                  <a:solidFill>
                    <a:schemeClr val="dk1"/>
                  </a:solidFill>
                  <a:latin typeface="Calibri"/>
                  <a:ea typeface="Calibri"/>
                  <a:cs typeface="Calibri"/>
                  <a:sym typeface="Calibri"/>
                </a:rPr>
                <a:t>The major strengths we build on are our mathematical depth in computational geometry, sampling, and mesh optimization. </a:t>
              </a:r>
              <a:endParaRPr lang="en-US" sz="2800" i="1" dirty="0" smtClean="0">
                <a:solidFill>
                  <a:schemeClr val="dk1"/>
                </a:solidFill>
                <a:latin typeface="Calibri"/>
                <a:ea typeface="Calibri"/>
                <a:cs typeface="Calibri"/>
                <a:sym typeface="Calibri"/>
              </a:endParaRPr>
            </a:p>
            <a:p>
              <a:pPr marL="457200" lvl="0" indent="-457200">
                <a:lnSpc>
                  <a:spcPct val="115000"/>
                </a:lnSpc>
                <a:spcAft>
                  <a:spcPts val="800"/>
                </a:spcAft>
                <a:buFont typeface="Arial" charset="0"/>
                <a:buChar char="•"/>
              </a:pPr>
              <a:r>
                <a:rPr lang="en-US" sz="2800" i="1" dirty="0" smtClean="0">
                  <a:solidFill>
                    <a:schemeClr val="dk1"/>
                  </a:solidFill>
                  <a:latin typeface="Calibri"/>
                  <a:ea typeface="Calibri"/>
                  <a:cs typeface="Calibri"/>
                  <a:sym typeface="Calibri"/>
                </a:rPr>
                <a:t>For </a:t>
              </a:r>
              <a:r>
                <a:rPr lang="en-US" sz="2800" i="1" dirty="0">
                  <a:solidFill>
                    <a:schemeClr val="dk1"/>
                  </a:solidFill>
                  <a:latin typeface="Calibri"/>
                  <a:ea typeface="Calibri"/>
                  <a:cs typeface="Calibri"/>
                  <a:sym typeface="Calibri"/>
                </a:rPr>
                <a:t>the design and analysis of mesh metrics for quality optimization, we </a:t>
              </a:r>
              <a:r>
                <a:rPr lang="en-US" sz="2800" i="1" dirty="0" smtClean="0">
                  <a:solidFill>
                    <a:schemeClr val="dk1"/>
                  </a:solidFill>
                  <a:latin typeface="Calibri"/>
                  <a:ea typeface="Calibri"/>
                  <a:cs typeface="Calibri"/>
                  <a:sym typeface="Calibri"/>
                </a:rPr>
                <a:t>exploit metric properties </a:t>
              </a:r>
              <a:r>
                <a:rPr lang="en-US" sz="2800" i="1" dirty="0">
                  <a:solidFill>
                    <a:schemeClr val="dk1"/>
                  </a:solidFill>
                  <a:latin typeface="Calibri"/>
                  <a:ea typeface="Calibri"/>
                  <a:cs typeface="Calibri"/>
                  <a:sym typeface="Calibri"/>
                </a:rPr>
                <a:t>that make them well-behaved under iterative local mesh </a:t>
              </a:r>
              <a:r>
                <a:rPr lang="en-US" sz="2800" i="1" dirty="0" smtClean="0">
                  <a:solidFill>
                    <a:schemeClr val="dk1"/>
                  </a:solidFill>
                  <a:latin typeface="Calibri"/>
                  <a:ea typeface="Calibri"/>
                  <a:cs typeface="Calibri"/>
                  <a:sym typeface="Calibri"/>
                </a:rPr>
                <a:t>optimization. </a:t>
              </a:r>
            </a:p>
            <a:p>
              <a:pPr marL="457200" lvl="0" indent="-457200">
                <a:lnSpc>
                  <a:spcPct val="115000"/>
                </a:lnSpc>
                <a:spcAft>
                  <a:spcPts val="800"/>
                </a:spcAft>
                <a:buFont typeface="Arial" charset="0"/>
                <a:buChar char="•"/>
              </a:pPr>
              <a:r>
                <a:rPr lang="en-US" sz="2800" i="1" dirty="0" smtClean="0">
                  <a:solidFill>
                    <a:schemeClr val="dk1"/>
                  </a:solidFill>
                  <a:latin typeface="Calibri"/>
                  <a:ea typeface="Calibri"/>
                  <a:cs typeface="Calibri"/>
                  <a:sym typeface="Calibri"/>
                </a:rPr>
                <a:t>For sampling-based mesh improvement, we exploit that sampling is insensitive to how well behaved a metric is, e.g. no gradients are required, and take advantage of how constraint satisfaction easily supports </a:t>
              </a:r>
              <a:r>
                <a:rPr lang="en-US" sz="2800" i="1" dirty="0">
                  <a:solidFill>
                    <a:schemeClr val="dk1"/>
                  </a:solidFill>
                  <a:latin typeface="Calibri"/>
                  <a:ea typeface="Calibri"/>
                  <a:cs typeface="Calibri"/>
                  <a:sym typeface="Calibri"/>
                </a:rPr>
                <a:t>multiple </a:t>
              </a:r>
              <a:r>
                <a:rPr lang="en-US" sz="2800" i="1" dirty="0" smtClean="0">
                  <a:solidFill>
                    <a:schemeClr val="dk1"/>
                  </a:solidFill>
                  <a:latin typeface="Calibri"/>
                  <a:ea typeface="Calibri"/>
                  <a:cs typeface="Calibri"/>
                  <a:sym typeface="Calibri"/>
                </a:rPr>
                <a:t>objectives.</a:t>
              </a:r>
              <a:r>
                <a:rPr lang="en-US" sz="2800" i="1" dirty="0">
                  <a:solidFill>
                    <a:schemeClr val="dk1"/>
                  </a:solidFill>
                  <a:latin typeface="Calibri"/>
                  <a:ea typeface="Calibri"/>
                  <a:cs typeface="Calibri"/>
                  <a:sym typeface="Calibri"/>
                </a:rPr>
                <a:t> </a:t>
              </a:r>
            </a:p>
            <a:p>
              <a:pPr marL="457200" lvl="0" indent="-457200">
                <a:lnSpc>
                  <a:spcPct val="115000"/>
                </a:lnSpc>
                <a:spcAft>
                  <a:spcPts val="800"/>
                </a:spcAft>
                <a:buFont typeface="Arial" charset="0"/>
                <a:buChar char="•"/>
              </a:pPr>
              <a:r>
                <a:rPr lang="en-US" sz="2800" i="1" dirty="0" smtClean="0">
                  <a:solidFill>
                    <a:schemeClr val="dk1"/>
                  </a:solidFill>
                  <a:latin typeface="Calibri"/>
                  <a:ea typeface="Calibri"/>
                  <a:cs typeface="Calibri"/>
                  <a:sym typeface="Calibri"/>
                </a:rPr>
                <a:t>For </a:t>
              </a:r>
              <a:r>
                <a:rPr lang="en-US" sz="2800" i="1" dirty="0">
                  <a:solidFill>
                    <a:schemeClr val="dk1"/>
                  </a:solidFill>
                  <a:latin typeface="Calibri"/>
                  <a:ea typeface="Calibri"/>
                  <a:cs typeface="Calibri"/>
                  <a:sym typeface="Calibri"/>
                </a:rPr>
                <a:t>the proof of VoroCrust correctness we exploit the mathematics of </a:t>
              </a:r>
              <a:r>
                <a:rPr lang="en-US" sz="2800" i="1" dirty="0" smtClean="0">
                  <a:solidFill>
                    <a:schemeClr val="dk1"/>
                  </a:solidFill>
                  <a:latin typeface="Calibri"/>
                  <a:ea typeface="Calibri"/>
                  <a:cs typeface="Calibri"/>
                  <a:sym typeface="Calibri"/>
                </a:rPr>
                <a:t>local-feature </a:t>
              </a:r>
              <a:r>
                <a:rPr lang="en-US" sz="2800" i="1" dirty="0">
                  <a:solidFill>
                    <a:schemeClr val="dk1"/>
                  </a:solidFill>
                  <a:latin typeface="Calibri"/>
                  <a:ea typeface="Calibri"/>
                  <a:cs typeface="Calibri"/>
                  <a:sym typeface="Calibri"/>
                </a:rPr>
                <a:t>size (</a:t>
              </a:r>
              <a:r>
                <a:rPr lang="en-US" sz="2800" dirty="0" err="1">
                  <a:solidFill>
                    <a:schemeClr val="dk1"/>
                  </a:solidFill>
                  <a:latin typeface="Calibri"/>
                  <a:ea typeface="Calibri"/>
                  <a:cs typeface="Calibri"/>
                  <a:sym typeface="Calibri"/>
                </a:rPr>
                <a:t>lfs</a:t>
              </a:r>
              <a:r>
                <a:rPr lang="en-US" sz="2800" i="1" dirty="0" smtClean="0">
                  <a:solidFill>
                    <a:schemeClr val="dk1"/>
                  </a:solidFill>
                  <a:latin typeface="Calibri"/>
                  <a:ea typeface="Calibri"/>
                  <a:cs typeface="Calibri"/>
                  <a:sym typeface="Calibri"/>
                </a:rPr>
                <a:t>) sampling to bound how close the mesh is to the domain boundary.</a:t>
              </a:r>
            </a:p>
          </p:txBody>
        </p:sp>
      </p:grpSp>
      <p:grpSp>
        <p:nvGrpSpPr>
          <p:cNvPr id="55" name="Group 54"/>
          <p:cNvGrpSpPr>
            <a:grpSpLocks noChangeAspect="1"/>
          </p:cNvGrpSpPr>
          <p:nvPr/>
        </p:nvGrpSpPr>
        <p:grpSpPr>
          <a:xfrm>
            <a:off x="25361134" y="25486003"/>
            <a:ext cx="5765923" cy="3203492"/>
            <a:chOff x="5564277" y="695180"/>
            <a:chExt cx="3579723" cy="2033774"/>
          </a:xfrm>
        </p:grpSpPr>
        <p:pic>
          <p:nvPicPr>
            <p:cNvPr id="56" name="Picture 55" descr="Screen Shot 2015-04-22 at 3.40.32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0751" y="695180"/>
              <a:ext cx="2063249" cy="2033774"/>
            </a:xfrm>
            <a:prstGeom prst="rect">
              <a:avLst/>
            </a:prstGeom>
          </p:spPr>
        </p:pic>
        <p:pic>
          <p:nvPicPr>
            <p:cNvPr id="57" name="Picture 56" descr="VC_2_Scott.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64277" y="946150"/>
              <a:ext cx="1521581" cy="1727200"/>
            </a:xfrm>
            <a:prstGeom prst="rect">
              <a:avLst/>
            </a:prstGeom>
          </p:spPr>
        </p:pic>
      </p:grpSp>
      <p:sp>
        <p:nvSpPr>
          <p:cNvPr id="38" name="Shape 34"/>
          <p:cNvSpPr txBox="1"/>
          <p:nvPr/>
        </p:nvSpPr>
        <p:spPr>
          <a:xfrm>
            <a:off x="15504461" y="22161978"/>
            <a:ext cx="13107900" cy="2663483"/>
          </a:xfrm>
          <a:prstGeom prst="rect">
            <a:avLst/>
          </a:prstGeom>
          <a:noFill/>
          <a:ln>
            <a:noFill/>
          </a:ln>
        </p:spPr>
        <p:txBody>
          <a:bodyPr lIns="91425" tIns="91425" rIns="91425" bIns="91425" anchor="t" anchorCtr="0">
            <a:noAutofit/>
          </a:bodyPr>
          <a:lstStyle/>
          <a:p>
            <a:pPr lvl="0">
              <a:lnSpc>
                <a:spcPct val="115000"/>
              </a:lnSpc>
              <a:spcAft>
                <a:spcPts val="800"/>
              </a:spcAft>
            </a:pPr>
            <a:r>
              <a:rPr lang="en-US" sz="3200" b="1" smtClean="0">
                <a:solidFill>
                  <a:schemeClr val="dk1"/>
                </a:solidFill>
                <a:latin typeface="Calibri"/>
                <a:ea typeface="Calibri"/>
                <a:cs typeface="Calibri"/>
                <a:sym typeface="Calibri"/>
              </a:rPr>
              <a:t>VoroCrust Dual-Polyhedral Meshing.</a:t>
            </a:r>
            <a:r>
              <a:rPr lang="en-US" sz="3200" i="1" smtClean="0">
                <a:solidFill>
                  <a:schemeClr val="dk1"/>
                </a:solidFill>
                <a:latin typeface="Calibri"/>
                <a:ea typeface="Calibri"/>
                <a:cs typeface="Calibri"/>
                <a:sym typeface="Calibri"/>
              </a:rPr>
              <a:t> </a:t>
            </a:r>
            <a:r>
              <a:rPr lang="en-US" sz="2800" i="1" smtClean="0">
                <a:solidFill>
                  <a:schemeClr val="dk1"/>
                </a:solidFill>
                <a:latin typeface="Calibri"/>
                <a:ea typeface="Calibri"/>
                <a:cs typeface="Calibri"/>
                <a:sym typeface="Calibri"/>
              </a:rPr>
              <a:t>We </a:t>
            </a:r>
            <a:r>
              <a:rPr lang="en-US" sz="2800" i="1">
                <a:solidFill>
                  <a:schemeClr val="dk1"/>
                </a:solidFill>
                <a:latin typeface="Calibri"/>
                <a:ea typeface="Calibri"/>
                <a:cs typeface="Calibri"/>
                <a:sym typeface="Calibri"/>
              </a:rPr>
              <a:t>developed the “VoroCrust” </a:t>
            </a:r>
            <a:r>
              <a:rPr lang="en-US" sz="2800" i="1" smtClean="0">
                <a:solidFill>
                  <a:schemeClr val="dk1"/>
                </a:solidFill>
                <a:latin typeface="Calibri"/>
                <a:ea typeface="Calibri"/>
                <a:cs typeface="Calibri"/>
                <a:sym typeface="Calibri"/>
              </a:rPr>
              <a:t>theory and algorithms </a:t>
            </a:r>
            <a:r>
              <a:rPr lang="en-US" sz="2800" i="1">
                <a:solidFill>
                  <a:schemeClr val="dk1"/>
                </a:solidFill>
                <a:latin typeface="Calibri"/>
                <a:ea typeface="Calibri"/>
                <a:cs typeface="Calibri"/>
                <a:sym typeface="Calibri"/>
              </a:rPr>
              <a:t>for </a:t>
            </a:r>
            <a:r>
              <a:rPr lang="en-US" sz="2800" i="1" smtClean="0">
                <a:solidFill>
                  <a:schemeClr val="dk1"/>
                </a:solidFill>
                <a:latin typeface="Calibri"/>
                <a:ea typeface="Calibri"/>
                <a:cs typeface="Calibri"/>
                <a:sym typeface="Calibri"/>
              </a:rPr>
              <a:t>polyhedral </a:t>
            </a:r>
            <a:r>
              <a:rPr lang="en-US" sz="2800" i="1">
                <a:solidFill>
                  <a:schemeClr val="dk1"/>
                </a:solidFill>
                <a:latin typeface="Calibri"/>
                <a:ea typeface="Calibri"/>
                <a:cs typeface="Calibri"/>
                <a:sym typeface="Calibri"/>
              </a:rPr>
              <a:t>mesh generation and surface </a:t>
            </a:r>
            <a:r>
              <a:rPr lang="en-US" sz="2800" i="1" smtClean="0">
                <a:solidFill>
                  <a:schemeClr val="dk1"/>
                </a:solidFill>
                <a:latin typeface="Calibri"/>
                <a:ea typeface="Calibri"/>
                <a:cs typeface="Calibri"/>
                <a:sym typeface="Calibri"/>
              </a:rPr>
              <a:t>reconstruction [5,6,7]. </a:t>
            </a:r>
            <a:br>
              <a:rPr lang="en-US" sz="2800" i="1" smtClean="0">
                <a:solidFill>
                  <a:schemeClr val="dk1"/>
                </a:solidFill>
                <a:latin typeface="Calibri"/>
                <a:ea typeface="Calibri"/>
                <a:cs typeface="Calibri"/>
                <a:sym typeface="Calibri"/>
              </a:rPr>
            </a:br>
            <a:r>
              <a:rPr lang="en-US" sz="2800" i="1" smtClean="0">
                <a:solidFill>
                  <a:schemeClr val="dk1"/>
                </a:solidFill>
                <a:latin typeface="Calibri"/>
                <a:ea typeface="Calibri"/>
                <a:cs typeface="Calibri"/>
                <a:sym typeface="Calibri"/>
              </a:rPr>
              <a:t>It works by generating </a:t>
            </a:r>
            <a:r>
              <a:rPr lang="en-US" sz="2800" i="1">
                <a:solidFill>
                  <a:schemeClr val="dk1"/>
                </a:solidFill>
                <a:latin typeface="Calibri"/>
                <a:ea typeface="Calibri"/>
                <a:cs typeface="Calibri"/>
                <a:sym typeface="Calibri"/>
              </a:rPr>
              <a:t>Voronoi cells whose boundaries match a prescribed </a:t>
            </a:r>
            <a:r>
              <a:rPr lang="en-US" sz="2800" i="1" smtClean="0">
                <a:solidFill>
                  <a:schemeClr val="dk1"/>
                </a:solidFill>
                <a:latin typeface="Calibri"/>
                <a:ea typeface="Calibri"/>
                <a:cs typeface="Calibri"/>
                <a:sym typeface="Calibri"/>
              </a:rPr>
              <a:t>domain. </a:t>
            </a:r>
          </a:p>
          <a:p>
            <a:pPr lvl="0">
              <a:lnSpc>
                <a:spcPct val="115000"/>
              </a:lnSpc>
              <a:spcAft>
                <a:spcPts val="800"/>
              </a:spcAft>
            </a:pPr>
            <a:r>
              <a:rPr lang="en-US" sz="2800" b="1" smtClean="0">
                <a:solidFill>
                  <a:schemeClr val="dk1"/>
                </a:solidFill>
                <a:latin typeface="Calibri"/>
                <a:ea typeface="Calibri"/>
                <a:cs typeface="Calibri"/>
                <a:sym typeface="Calibri"/>
              </a:rPr>
              <a:t>We </a:t>
            </a:r>
            <a:r>
              <a:rPr lang="en-US" sz="2800" b="1">
                <a:solidFill>
                  <a:schemeClr val="dk1"/>
                </a:solidFill>
                <a:latin typeface="Calibri"/>
                <a:ea typeface="Calibri"/>
                <a:cs typeface="Calibri"/>
                <a:sym typeface="Calibri"/>
              </a:rPr>
              <a:t>discovered </a:t>
            </a:r>
            <a:r>
              <a:rPr lang="en-US" sz="2800" b="1" smtClean="0">
                <a:solidFill>
                  <a:schemeClr val="dk1"/>
                </a:solidFill>
                <a:latin typeface="Calibri"/>
                <a:ea typeface="Calibri"/>
                <a:cs typeface="Calibri"/>
                <a:sym typeface="Calibri"/>
              </a:rPr>
              <a:t>sufficient </a:t>
            </a:r>
            <a:r>
              <a:rPr lang="en-US" sz="2800" b="1">
                <a:solidFill>
                  <a:schemeClr val="dk1"/>
                </a:solidFill>
                <a:latin typeface="Calibri"/>
                <a:ea typeface="Calibri"/>
                <a:cs typeface="Calibri"/>
                <a:sym typeface="Calibri"/>
              </a:rPr>
              <a:t>conditions for </a:t>
            </a:r>
            <a:r>
              <a:rPr lang="en-US" sz="2800" b="1" smtClean="0">
                <a:solidFill>
                  <a:schemeClr val="dk1"/>
                </a:solidFill>
                <a:latin typeface="Calibri"/>
                <a:ea typeface="Calibri"/>
                <a:cs typeface="Calibri"/>
                <a:sym typeface="Calibri"/>
              </a:rPr>
              <a:t>provably correct</a:t>
            </a:r>
            <a:r>
              <a:rPr lang="en-US" sz="2800" b="1">
                <a:solidFill>
                  <a:schemeClr val="dk1"/>
                </a:solidFill>
                <a:latin typeface="Calibri"/>
                <a:ea typeface="Calibri"/>
                <a:cs typeface="Calibri"/>
                <a:sym typeface="Calibri"/>
              </a:rPr>
              <a:t> </a:t>
            </a:r>
            <a:r>
              <a:rPr lang="en-US" sz="2800" b="1" smtClean="0">
                <a:solidFill>
                  <a:schemeClr val="dk1"/>
                </a:solidFill>
                <a:latin typeface="Calibri"/>
                <a:ea typeface="Calibri"/>
                <a:cs typeface="Calibri"/>
                <a:sym typeface="Calibri"/>
              </a:rPr>
              <a:t>meshing and reconstruction, for both smooth manifolds and piecewise linear complexes.</a:t>
            </a:r>
          </a:p>
        </p:txBody>
      </p:sp>
      <p:sp>
        <p:nvSpPr>
          <p:cNvPr id="58" name="Shape 34"/>
          <p:cNvSpPr txBox="1"/>
          <p:nvPr/>
        </p:nvSpPr>
        <p:spPr>
          <a:xfrm>
            <a:off x="15562767" y="24856304"/>
            <a:ext cx="12693870" cy="894162"/>
          </a:xfrm>
          <a:prstGeom prst="rect">
            <a:avLst/>
          </a:prstGeom>
          <a:noFill/>
          <a:ln>
            <a:noFill/>
          </a:ln>
        </p:spPr>
        <p:txBody>
          <a:bodyPr lIns="91425" tIns="91425" rIns="91425" bIns="91425" anchor="t" anchorCtr="0">
            <a:noAutofit/>
          </a:bodyPr>
          <a:lstStyle/>
          <a:p>
            <a:pPr lvl="0">
              <a:lnSpc>
                <a:spcPct val="115000"/>
              </a:lnSpc>
              <a:spcAft>
                <a:spcPts val="800"/>
              </a:spcAft>
            </a:pPr>
            <a:r>
              <a:rPr lang="en-US" sz="2400" smtClean="0">
                <a:solidFill>
                  <a:schemeClr val="dk1"/>
                </a:solidFill>
                <a:latin typeface="Times" charset="0"/>
                <a:ea typeface="Times" charset="0"/>
                <a:cs typeface="Times" charset="0"/>
                <a:sym typeface="Calibri"/>
              </a:rPr>
              <a:t>Sufficient Conditions for VoroCrust Polyhedral Meshing of Smooth </a:t>
            </a:r>
            <a:r>
              <a:rPr lang="en-US" sz="2400" smtClean="0">
                <a:solidFill>
                  <a:schemeClr val="dk1"/>
                </a:solidFill>
                <a:latin typeface="Times" charset="0"/>
                <a:ea typeface="Times" charset="0"/>
                <a:cs typeface="Times" charset="0"/>
                <a:sym typeface="Calibri"/>
              </a:rPr>
              <a:t>Manifolds</a:t>
            </a:r>
            <a:r>
              <a:rPr lang="en-US" sz="2400" smtClean="0">
                <a:solidFill>
                  <a:schemeClr val="dk1"/>
                </a:solidFill>
                <a:latin typeface="Times" charset="0"/>
                <a:ea typeface="Times" charset="0"/>
                <a:cs typeface="Times" charset="0"/>
                <a:sym typeface="Calibri"/>
              </a:rPr>
              <a:t>  </a:t>
            </a:r>
            <a:endParaRPr lang="en-US" sz="2400" smtClean="0">
              <a:solidFill>
                <a:schemeClr val="dk1"/>
              </a:solidFill>
              <a:latin typeface="Times" charset="0"/>
              <a:ea typeface="Times" charset="0"/>
              <a:cs typeface="Times" charset="0"/>
              <a:sym typeface="Calibri"/>
            </a:endParaRPr>
          </a:p>
        </p:txBody>
      </p:sp>
      <p:grpSp>
        <p:nvGrpSpPr>
          <p:cNvPr id="59" name="Group 58"/>
          <p:cNvGrpSpPr>
            <a:grpSpLocks noChangeAspect="1"/>
          </p:cNvGrpSpPr>
          <p:nvPr/>
        </p:nvGrpSpPr>
        <p:grpSpPr>
          <a:xfrm>
            <a:off x="15558223" y="29276503"/>
            <a:ext cx="6124869" cy="2451595"/>
            <a:chOff x="713232" y="3342386"/>
            <a:chExt cx="6055741" cy="2423923"/>
          </a:xfrm>
        </p:grpSpPr>
        <p:grpSp>
          <p:nvGrpSpPr>
            <p:cNvPr id="60" name="Group 59"/>
            <p:cNvGrpSpPr/>
            <p:nvPr/>
          </p:nvGrpSpPr>
          <p:grpSpPr>
            <a:xfrm>
              <a:off x="713232" y="3342386"/>
              <a:ext cx="3361094" cy="2423923"/>
              <a:chOff x="713232" y="3831336"/>
              <a:chExt cx="3361094" cy="2423923"/>
            </a:xfrm>
          </p:grpSpPr>
          <p:pic>
            <p:nvPicPr>
              <p:cNvPr id="62" name="Picture 6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7637" y="3831336"/>
                <a:ext cx="3356689" cy="2423923"/>
              </a:xfrm>
              <a:prstGeom prst="rect">
                <a:avLst/>
              </a:prstGeom>
            </p:spPr>
          </p:pic>
          <p:pic>
            <p:nvPicPr>
              <p:cNvPr id="63" name="Picture 6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8700" y="4122256"/>
                <a:ext cx="1930400" cy="1612900"/>
              </a:xfrm>
              <a:prstGeom prst="rect">
                <a:avLst/>
              </a:prstGeom>
            </p:spPr>
          </p:pic>
          <p:pic>
            <p:nvPicPr>
              <p:cNvPr id="64" name="Picture 63"/>
              <p:cNvPicPr>
                <a:picLocks noChangeAspect="1"/>
              </p:cNvPicPr>
              <p:nvPr/>
            </p:nvPicPr>
            <p:blipFill>
              <a:blip r:embed="rId5">
                <a:alphaModFix amt="60000"/>
                <a:extLst>
                  <a:ext uri="{28A0092B-C50C-407E-A947-70E740481C1C}">
                    <a14:useLocalDpi xmlns:a14="http://schemas.microsoft.com/office/drawing/2010/main" val="0"/>
                  </a:ext>
                </a:extLst>
              </a:blip>
              <a:stretch>
                <a:fillRect/>
              </a:stretch>
            </p:blipFill>
            <p:spPr>
              <a:xfrm>
                <a:off x="713232" y="3831336"/>
                <a:ext cx="3356689" cy="2423923"/>
              </a:xfrm>
              <a:prstGeom prst="rect">
                <a:avLst/>
              </a:prstGeom>
            </p:spPr>
          </p:pic>
        </p:grpSp>
        <p:pic>
          <p:nvPicPr>
            <p:cNvPr id="61" name="Picture 60" descr="threespheres-faces.pn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46138" y="3797846"/>
              <a:ext cx="2222835" cy="1387183"/>
            </a:xfrm>
            <a:prstGeom prst="rect">
              <a:avLst/>
            </a:prstGeom>
          </p:spPr>
        </p:pic>
      </p:grpSp>
      <p:sp>
        <p:nvSpPr>
          <p:cNvPr id="65" name="Shape 34"/>
          <p:cNvSpPr txBox="1"/>
          <p:nvPr/>
        </p:nvSpPr>
        <p:spPr>
          <a:xfrm>
            <a:off x="21951824" y="29754458"/>
            <a:ext cx="8858374" cy="1467659"/>
          </a:xfrm>
          <a:prstGeom prst="rect">
            <a:avLst/>
          </a:prstGeom>
          <a:noFill/>
          <a:ln>
            <a:noFill/>
          </a:ln>
        </p:spPr>
        <p:txBody>
          <a:bodyPr lIns="91425" tIns="91425" rIns="91425" bIns="91425" anchor="t" anchorCtr="0">
            <a:noAutofit/>
          </a:bodyPr>
          <a:lstStyle/>
          <a:p>
            <a:pPr lvl="0">
              <a:lnSpc>
                <a:spcPct val="115000"/>
              </a:lnSpc>
              <a:spcAft>
                <a:spcPts val="800"/>
              </a:spcAft>
            </a:pPr>
            <a:r>
              <a:rPr lang="en-US" sz="2000" smtClean="0">
                <a:solidFill>
                  <a:schemeClr val="dk1"/>
                </a:solidFill>
                <a:latin typeface="Times" charset="0"/>
                <a:ea typeface="Times" charset="0"/>
                <a:cs typeface="Times" charset="0"/>
                <a:sym typeface="Calibri"/>
              </a:rPr>
              <a:t>VoroCrust produces a polyhedral mesh matching a prescribed set of triangles: </a:t>
            </a:r>
          </a:p>
          <a:p>
            <a:pPr marL="342900" lvl="0" indent="-342900">
              <a:lnSpc>
                <a:spcPct val="115000"/>
              </a:lnSpc>
              <a:spcAft>
                <a:spcPts val="200"/>
              </a:spcAft>
              <a:buFont typeface="Arial" charset="0"/>
              <a:buChar char="•"/>
            </a:pPr>
            <a:r>
              <a:rPr lang="en-US" sz="2000" smtClean="0">
                <a:solidFill>
                  <a:schemeClr val="dk1"/>
                </a:solidFill>
                <a:latin typeface="Times" charset="0"/>
                <a:ea typeface="Times" charset="0"/>
                <a:cs typeface="Times" charset="0"/>
                <a:sym typeface="Calibri"/>
              </a:rPr>
              <a:t>The intersection of dual power spheres around three input samples (mesh nodes) </a:t>
            </a:r>
            <a:br>
              <a:rPr lang="en-US" sz="2000" smtClean="0">
                <a:solidFill>
                  <a:schemeClr val="dk1"/>
                </a:solidFill>
                <a:latin typeface="Times" charset="0"/>
                <a:ea typeface="Times" charset="0"/>
                <a:cs typeface="Times" charset="0"/>
                <a:sym typeface="Calibri"/>
              </a:rPr>
            </a:br>
            <a:r>
              <a:rPr lang="en-US" sz="2000" smtClean="0">
                <a:solidFill>
                  <a:schemeClr val="dk1"/>
                </a:solidFill>
                <a:latin typeface="Times" charset="0"/>
                <a:ea typeface="Times" charset="0"/>
                <a:cs typeface="Times" charset="0"/>
                <a:sym typeface="Calibri"/>
              </a:rPr>
              <a:t>produces two primal seeds. </a:t>
            </a:r>
          </a:p>
          <a:p>
            <a:pPr marL="342900" lvl="0" indent="-342900">
              <a:lnSpc>
                <a:spcPct val="115000"/>
              </a:lnSpc>
              <a:spcAft>
                <a:spcPts val="200"/>
              </a:spcAft>
              <a:buFont typeface="Arial" charset="0"/>
              <a:buChar char="•"/>
            </a:pPr>
            <a:r>
              <a:rPr lang="en-US" sz="2000" smtClean="0">
                <a:solidFill>
                  <a:schemeClr val="dk1"/>
                </a:solidFill>
                <a:latin typeface="Times" charset="0"/>
                <a:ea typeface="Times" charset="0"/>
                <a:cs typeface="Times" charset="0"/>
                <a:sym typeface="Calibri"/>
              </a:rPr>
              <a:t>The seeds’ Voronoi cells have the input triangle as their common boundary.</a:t>
            </a:r>
          </a:p>
        </p:txBody>
      </p:sp>
      <p:sp>
        <p:nvSpPr>
          <p:cNvPr id="111" name="Rectangle 110"/>
          <p:cNvSpPr/>
          <p:nvPr/>
        </p:nvSpPr>
        <p:spPr>
          <a:xfrm>
            <a:off x="19598860" y="9952630"/>
            <a:ext cx="9013501" cy="22422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p:cNvSpPr txBox="1"/>
          <p:nvPr/>
        </p:nvSpPr>
        <p:spPr>
          <a:xfrm>
            <a:off x="20642582" y="10623493"/>
            <a:ext cx="4268024" cy="307777"/>
          </a:xfrm>
          <a:prstGeom prst="rect">
            <a:avLst/>
          </a:prstGeom>
          <a:solidFill>
            <a:schemeClr val="lt1"/>
          </a:solidFill>
        </p:spPr>
        <p:txBody>
          <a:bodyPr wrap="square" rtlCol="0">
            <a:spAutoFit/>
          </a:bodyPr>
          <a:lstStyle/>
          <a:p>
            <a:r>
              <a:rPr lang="en-US" smtClean="0"/>
              <a:t>                               </a:t>
            </a:r>
            <a:r>
              <a:rPr lang="en-US" i="1"/>
              <a:t>W</a:t>
            </a:r>
            <a:r>
              <a:rPr lang="en-US" smtClean="0"/>
              <a:t>asserstein </a:t>
            </a:r>
            <a:r>
              <a:rPr lang="en-US" smtClean="0"/>
              <a:t>distance</a:t>
            </a:r>
            <a:endParaRPr lang="en-US"/>
          </a:p>
        </p:txBody>
      </p:sp>
      <p:cxnSp>
        <p:nvCxnSpPr>
          <p:cNvPr id="97" name="Straight Connector 96"/>
          <p:cNvCxnSpPr/>
          <p:nvPr/>
        </p:nvCxnSpPr>
        <p:spPr>
          <a:xfrm>
            <a:off x="18870885" y="8166100"/>
            <a:ext cx="6400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Shape 34"/>
          <p:cNvSpPr txBox="1"/>
          <p:nvPr/>
        </p:nvSpPr>
        <p:spPr>
          <a:xfrm>
            <a:off x="15504461" y="18369193"/>
            <a:ext cx="13107900" cy="3791101"/>
          </a:xfrm>
          <a:prstGeom prst="rect">
            <a:avLst/>
          </a:prstGeom>
          <a:noFill/>
          <a:ln>
            <a:noFill/>
          </a:ln>
        </p:spPr>
        <p:txBody>
          <a:bodyPr lIns="91425" tIns="91425" rIns="91425" bIns="91425" anchor="t" anchorCtr="0">
            <a:noAutofit/>
          </a:bodyPr>
          <a:lstStyle/>
          <a:p>
            <a:pPr lvl="0">
              <a:lnSpc>
                <a:spcPct val="115000"/>
              </a:lnSpc>
            </a:pPr>
            <a:r>
              <a:rPr lang="en-US" sz="3200" b="1" smtClean="0">
                <a:solidFill>
                  <a:schemeClr val="dk1"/>
                </a:solidFill>
                <a:latin typeface="Calibri"/>
                <a:ea typeface="Calibri"/>
                <a:cs typeface="Calibri"/>
                <a:sym typeface="Calibri"/>
              </a:rPr>
              <a:t>Quality Improvement by Resampling. </a:t>
            </a:r>
            <a:r>
              <a:rPr lang="en-US" sz="3200" b="1">
                <a:solidFill>
                  <a:schemeClr val="dk1"/>
                </a:solidFill>
                <a:latin typeface="Calibri"/>
                <a:ea typeface="Calibri"/>
                <a:cs typeface="Calibri"/>
                <a:sym typeface="Calibri"/>
              </a:rPr>
              <a:t/>
            </a:r>
            <a:br>
              <a:rPr lang="en-US" sz="3200" b="1">
                <a:solidFill>
                  <a:schemeClr val="dk1"/>
                </a:solidFill>
                <a:latin typeface="Calibri"/>
                <a:ea typeface="Calibri"/>
                <a:cs typeface="Calibri"/>
                <a:sym typeface="Calibri"/>
              </a:rPr>
            </a:br>
            <a:r>
              <a:rPr lang="en-US" sz="2800" b="1" smtClean="0">
                <a:solidFill>
                  <a:schemeClr val="dk1"/>
                </a:solidFill>
                <a:latin typeface="Calibri"/>
                <a:ea typeface="Calibri"/>
                <a:cs typeface="Calibri"/>
                <a:sym typeface="Calibri"/>
              </a:rPr>
              <a:t>We </a:t>
            </a:r>
            <a:r>
              <a:rPr lang="en-US" sz="2800" b="1">
                <a:solidFill>
                  <a:schemeClr val="dk1"/>
                </a:solidFill>
                <a:latin typeface="Calibri"/>
                <a:ea typeface="Calibri"/>
                <a:cs typeface="Calibri"/>
                <a:sym typeface="Calibri"/>
              </a:rPr>
              <a:t>demonstrated eliminating obtuse angles so triangles are well-centered. </a:t>
            </a:r>
            <a:br>
              <a:rPr lang="en-US" sz="2800" b="1">
                <a:solidFill>
                  <a:schemeClr val="dk1"/>
                </a:solidFill>
                <a:latin typeface="Calibri"/>
                <a:ea typeface="Calibri"/>
                <a:cs typeface="Calibri"/>
                <a:sym typeface="Calibri"/>
              </a:rPr>
            </a:br>
            <a:r>
              <a:rPr lang="en-US" sz="2800" i="1" smtClean="0">
                <a:solidFill>
                  <a:schemeClr val="dk1"/>
                </a:solidFill>
                <a:latin typeface="Calibri"/>
                <a:ea typeface="Calibri"/>
                <a:cs typeface="Calibri"/>
                <a:sym typeface="Calibri"/>
              </a:rPr>
              <a:t>We produced </a:t>
            </a:r>
            <a:r>
              <a:rPr lang="en-US" sz="2800" i="1">
                <a:solidFill>
                  <a:schemeClr val="dk1"/>
                </a:solidFill>
                <a:latin typeface="Calibri"/>
                <a:ea typeface="Calibri"/>
                <a:cs typeface="Calibri"/>
                <a:sym typeface="Calibri"/>
              </a:rPr>
              <a:t>a general framework for </a:t>
            </a:r>
            <a:r>
              <a:rPr lang="en-US" sz="2800" i="1" smtClean="0">
                <a:solidFill>
                  <a:schemeClr val="dk1"/>
                </a:solidFill>
                <a:latin typeface="Calibri"/>
                <a:ea typeface="Calibri"/>
                <a:cs typeface="Calibri"/>
                <a:sym typeface="Calibri"/>
              </a:rPr>
              <a:t>local </a:t>
            </a:r>
            <a:r>
              <a:rPr lang="en-US" sz="2800" i="1">
                <a:solidFill>
                  <a:schemeClr val="dk1"/>
                </a:solidFill>
                <a:latin typeface="Calibri"/>
                <a:ea typeface="Calibri"/>
                <a:cs typeface="Calibri"/>
                <a:sym typeface="Calibri"/>
              </a:rPr>
              <a:t>resampling of mesh </a:t>
            </a:r>
            <a:r>
              <a:rPr lang="en-US" sz="2800" i="1" smtClean="0">
                <a:solidFill>
                  <a:schemeClr val="dk1"/>
                </a:solidFill>
                <a:latin typeface="Calibri"/>
                <a:ea typeface="Calibri"/>
                <a:cs typeface="Calibri"/>
                <a:sym typeface="Calibri"/>
              </a:rPr>
              <a:t>nodes[2,3,4]</a:t>
            </a:r>
          </a:p>
          <a:p>
            <a:pPr marL="457200" lvl="0" indent="-457200">
              <a:lnSpc>
                <a:spcPct val="115000"/>
              </a:lnSpc>
              <a:buFont typeface="Arial" charset="0"/>
              <a:buChar char="•"/>
            </a:pPr>
            <a:r>
              <a:rPr lang="en-US" sz="2800" i="1" smtClean="0">
                <a:solidFill>
                  <a:schemeClr val="dk1"/>
                </a:solidFill>
                <a:latin typeface="Calibri"/>
                <a:ea typeface="Calibri"/>
                <a:cs typeface="Calibri"/>
                <a:sym typeface="Calibri"/>
              </a:rPr>
              <a:t>Support multiple quality objectives, ensure none degrade. </a:t>
            </a:r>
          </a:p>
          <a:p>
            <a:pPr marL="457200" lvl="0" indent="-457200">
              <a:lnSpc>
                <a:spcPct val="115000"/>
              </a:lnSpc>
              <a:buFont typeface="Arial" charset="0"/>
              <a:buChar char="•"/>
            </a:pPr>
            <a:r>
              <a:rPr lang="en-US" sz="2800" i="1" smtClean="0">
                <a:solidFill>
                  <a:schemeClr val="dk1"/>
                </a:solidFill>
                <a:latin typeface="Calibri"/>
                <a:ea typeface="Calibri"/>
                <a:cs typeface="Calibri"/>
                <a:sym typeface="Calibri"/>
              </a:rPr>
              <a:t>Nodes move randomly within </a:t>
            </a:r>
            <a:r>
              <a:rPr lang="en-US" sz="2800" i="1">
                <a:solidFill>
                  <a:schemeClr val="dk1"/>
                </a:solidFill>
                <a:latin typeface="Calibri"/>
                <a:ea typeface="Calibri"/>
                <a:cs typeface="Calibri"/>
                <a:sym typeface="Calibri"/>
              </a:rPr>
              <a:t>the local feasible </a:t>
            </a:r>
            <a:r>
              <a:rPr lang="en-US" sz="2800" i="1" smtClean="0">
                <a:solidFill>
                  <a:schemeClr val="dk1"/>
                </a:solidFill>
                <a:latin typeface="Calibri"/>
                <a:ea typeface="Calibri"/>
                <a:cs typeface="Calibri"/>
                <a:sym typeface="Calibri"/>
              </a:rPr>
              <a:t>space, </a:t>
            </a:r>
            <a:r>
              <a:rPr lang="en-US" sz="2800" i="1">
                <a:solidFill>
                  <a:schemeClr val="dk1"/>
                </a:solidFill>
                <a:latin typeface="Calibri"/>
                <a:ea typeface="Calibri"/>
                <a:cs typeface="Calibri"/>
                <a:sym typeface="Calibri"/>
              </a:rPr>
              <a:t>are inserted and </a:t>
            </a:r>
            <a:r>
              <a:rPr lang="en-US" sz="2800" i="1" smtClean="0">
                <a:solidFill>
                  <a:schemeClr val="dk1"/>
                </a:solidFill>
                <a:latin typeface="Calibri"/>
                <a:ea typeface="Calibri"/>
                <a:cs typeface="Calibri"/>
                <a:sym typeface="Calibri"/>
              </a:rPr>
              <a:t>deleted</a:t>
            </a:r>
            <a:r>
              <a:rPr lang="en-US" sz="2800" i="1">
                <a:solidFill>
                  <a:schemeClr val="dk1"/>
                </a:solidFill>
                <a:latin typeface="Calibri"/>
                <a:ea typeface="Calibri"/>
                <a:cs typeface="Calibri"/>
                <a:sym typeface="Calibri"/>
              </a:rPr>
              <a:t>.</a:t>
            </a:r>
            <a:endParaRPr lang="en-US" sz="2800" i="1" smtClean="0">
              <a:solidFill>
                <a:schemeClr val="dk1"/>
              </a:solidFill>
              <a:latin typeface="Calibri"/>
              <a:ea typeface="Calibri"/>
              <a:cs typeface="Calibri"/>
              <a:sym typeface="Calibri"/>
            </a:endParaRPr>
          </a:p>
          <a:p>
            <a:pPr marL="457200" lvl="0" indent="-457200">
              <a:lnSpc>
                <a:spcPct val="115000"/>
              </a:lnSpc>
              <a:buFont typeface="Arial" charset="0"/>
              <a:buChar char="•"/>
            </a:pPr>
            <a:r>
              <a:rPr lang="en-US" sz="2800" i="1" smtClean="0">
                <a:solidFill>
                  <a:schemeClr val="dk1"/>
                </a:solidFill>
                <a:latin typeface="Calibri"/>
                <a:ea typeface="Calibri"/>
                <a:cs typeface="Calibri"/>
                <a:sym typeface="Calibri"/>
              </a:rPr>
              <a:t>Locally “satisfice” quality rather </a:t>
            </a:r>
            <a:r>
              <a:rPr lang="en-US" sz="2800" i="1">
                <a:solidFill>
                  <a:schemeClr val="dk1"/>
                </a:solidFill>
                <a:latin typeface="Calibri"/>
                <a:ea typeface="Calibri"/>
                <a:cs typeface="Calibri"/>
                <a:sym typeface="Calibri"/>
              </a:rPr>
              <a:t>than optimize </a:t>
            </a:r>
            <a:r>
              <a:rPr lang="en-US" sz="2800" i="1" smtClean="0">
                <a:solidFill>
                  <a:schemeClr val="dk1"/>
                </a:solidFill>
                <a:latin typeface="Calibri"/>
                <a:ea typeface="Calibri"/>
                <a:cs typeface="Calibri"/>
                <a:sym typeface="Calibri"/>
              </a:rPr>
              <a:t>it. Constraints </a:t>
            </a:r>
            <a:r>
              <a:rPr lang="en-US" sz="2800" i="1">
                <a:solidFill>
                  <a:schemeClr val="dk1"/>
                </a:solidFill>
                <a:latin typeface="Calibri"/>
                <a:ea typeface="Calibri"/>
                <a:cs typeface="Calibri"/>
                <a:sym typeface="Calibri"/>
              </a:rPr>
              <a:t>act </a:t>
            </a:r>
            <a:r>
              <a:rPr lang="en-US" sz="2800" i="1" smtClean="0">
                <a:solidFill>
                  <a:schemeClr val="dk1"/>
                </a:solidFill>
                <a:latin typeface="Calibri"/>
                <a:ea typeface="Calibri"/>
                <a:cs typeface="Calibri"/>
                <a:sym typeface="Calibri"/>
              </a:rPr>
              <a:t>like barriers</a:t>
            </a:r>
            <a:r>
              <a:rPr lang="en-US" sz="2800" i="1">
                <a:solidFill>
                  <a:schemeClr val="dk1"/>
                </a:solidFill>
                <a:latin typeface="Calibri"/>
                <a:ea typeface="Calibri"/>
                <a:cs typeface="Calibri"/>
                <a:sym typeface="Calibri"/>
              </a:rPr>
              <a:t>. </a:t>
            </a:r>
            <a:endParaRPr lang="en-US" sz="2800" i="1" smtClean="0">
              <a:solidFill>
                <a:schemeClr val="dk1"/>
              </a:solidFill>
              <a:latin typeface="Calibri"/>
              <a:ea typeface="Calibri"/>
              <a:cs typeface="Calibri"/>
              <a:sym typeface="Calibri"/>
            </a:endParaRPr>
          </a:p>
          <a:p>
            <a:pPr marL="457200" lvl="0" indent="-457200">
              <a:lnSpc>
                <a:spcPct val="115000"/>
              </a:lnSpc>
              <a:buFont typeface="Arial" charset="0"/>
              <a:buChar char="•"/>
            </a:pPr>
            <a:r>
              <a:rPr lang="en-US" sz="2800" i="1" smtClean="0">
                <a:solidFill>
                  <a:schemeClr val="dk1"/>
                </a:solidFill>
                <a:latin typeface="Calibri"/>
                <a:ea typeface="Calibri"/>
                <a:cs typeface="Calibri"/>
                <a:sym typeface="Calibri"/>
              </a:rPr>
              <a:t>Getting </a:t>
            </a:r>
            <a:r>
              <a:rPr lang="en-US" sz="2800" i="1">
                <a:solidFill>
                  <a:schemeClr val="dk1"/>
                </a:solidFill>
                <a:latin typeface="Calibri"/>
                <a:ea typeface="Calibri"/>
                <a:cs typeface="Calibri"/>
                <a:sym typeface="Calibri"/>
              </a:rPr>
              <a:t>stuck in an undesirable local minimum is possible, </a:t>
            </a:r>
            <a:r>
              <a:rPr lang="en-US" sz="2800" i="1" smtClean="0">
                <a:solidFill>
                  <a:schemeClr val="dk1"/>
                </a:solidFill>
                <a:latin typeface="Calibri"/>
                <a:ea typeface="Calibri"/>
                <a:cs typeface="Calibri"/>
                <a:sym typeface="Calibri"/>
              </a:rPr>
              <a:t>but </a:t>
            </a:r>
            <a:r>
              <a:rPr lang="en-US" sz="2800" i="1">
                <a:solidFill>
                  <a:schemeClr val="dk1"/>
                </a:solidFill>
                <a:latin typeface="Calibri"/>
                <a:ea typeface="Calibri"/>
                <a:cs typeface="Calibri"/>
                <a:sym typeface="Calibri"/>
              </a:rPr>
              <a:t>rare. </a:t>
            </a:r>
            <a:endParaRPr lang="en-US" sz="2800" i="1" smtClean="0">
              <a:solidFill>
                <a:schemeClr val="dk1"/>
              </a:solidFill>
              <a:latin typeface="Calibri"/>
              <a:ea typeface="Calibri"/>
              <a:cs typeface="Calibri"/>
              <a:sym typeface="Calibri"/>
            </a:endParaRPr>
          </a:p>
        </p:txBody>
      </p:sp>
      <p:grpSp>
        <p:nvGrpSpPr>
          <p:cNvPr id="34" name="Group 33"/>
          <p:cNvGrpSpPr/>
          <p:nvPr/>
        </p:nvGrpSpPr>
        <p:grpSpPr>
          <a:xfrm>
            <a:off x="29657135" y="12200675"/>
            <a:ext cx="13009525" cy="4948416"/>
            <a:chOff x="15485995" y="18380339"/>
            <a:chExt cx="13009525" cy="4948416"/>
          </a:xfrm>
        </p:grpSpPr>
        <p:sp>
          <p:nvSpPr>
            <p:cNvPr id="105" name="Rectangle 104"/>
            <p:cNvSpPr/>
            <p:nvPr/>
          </p:nvSpPr>
          <p:spPr>
            <a:xfrm>
              <a:off x="15485995" y="18380339"/>
              <a:ext cx="13009525" cy="4948416"/>
            </a:xfrm>
            <a:prstGeom prst="rect">
              <a:avLst/>
            </a:prstGeom>
            <a:solidFill>
              <a:schemeClr val="l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p:cNvGrpSpPr/>
            <p:nvPr/>
          </p:nvGrpSpPr>
          <p:grpSpPr>
            <a:xfrm>
              <a:off x="15502913" y="18418439"/>
              <a:ext cx="12854572" cy="4910316"/>
              <a:chOff x="15424665" y="17014915"/>
              <a:chExt cx="12854572" cy="4910316"/>
            </a:xfrm>
          </p:grpSpPr>
          <p:sp>
            <p:nvSpPr>
              <p:cNvPr id="44" name="Shape 34"/>
              <p:cNvSpPr txBox="1"/>
              <p:nvPr/>
            </p:nvSpPr>
            <p:spPr>
              <a:xfrm>
                <a:off x="15424665" y="20832526"/>
                <a:ext cx="12693870" cy="1092705"/>
              </a:xfrm>
              <a:prstGeom prst="rect">
                <a:avLst/>
              </a:prstGeom>
              <a:noFill/>
              <a:ln>
                <a:noFill/>
              </a:ln>
            </p:spPr>
            <p:txBody>
              <a:bodyPr lIns="91425" tIns="91425" rIns="91425" bIns="91425" anchor="t" anchorCtr="0">
                <a:noAutofit/>
              </a:bodyPr>
              <a:lstStyle/>
              <a:p>
                <a:pPr>
                  <a:lnSpc>
                    <a:spcPct val="115000"/>
                  </a:lnSpc>
                  <a:spcAft>
                    <a:spcPts val="800"/>
                  </a:spcAft>
                </a:pPr>
                <a:r>
                  <a:rPr lang="en-US" sz="2800" smtClean="0">
                    <a:solidFill>
                      <a:schemeClr val="dk1"/>
                    </a:solidFill>
                    <a:latin typeface="Times" charset="0"/>
                    <a:ea typeface="Times" charset="0"/>
                    <a:cs typeface="Times" charset="0"/>
                    <a:sym typeface="Calibri"/>
                  </a:rPr>
                  <a:t>Our “Tuned MPS” material model, with correct fiber-to-epoxy ratio and random locations of fiber strands, gives a more accurate simulation of fracture response</a:t>
                </a:r>
                <a:r>
                  <a:rPr lang="mr-IN" sz="2800" smtClean="0">
                    <a:solidFill>
                      <a:schemeClr val="dk1"/>
                    </a:solidFill>
                    <a:latin typeface="Times" charset="0"/>
                    <a:ea typeface="Times" charset="0"/>
                    <a:cs typeface="Times" charset="0"/>
                    <a:sym typeface="Calibri"/>
                  </a:rPr>
                  <a:t> </a:t>
                </a:r>
                <a:r>
                  <a:rPr lang="mr-IN" sz="2800">
                    <a:solidFill>
                      <a:schemeClr val="dk1"/>
                    </a:solidFill>
                    <a:latin typeface="Times" charset="0"/>
                    <a:ea typeface="Times" charset="0"/>
                    <a:cs typeface="Times" charset="0"/>
                    <a:sym typeface="Calibri"/>
                  </a:rPr>
                  <a:t>[3]</a:t>
                </a:r>
                <a:r>
                  <a:rPr lang="en-US" sz="2800" smtClean="0">
                    <a:solidFill>
                      <a:schemeClr val="dk1"/>
                    </a:solidFill>
                    <a:latin typeface="Times" charset="0"/>
                    <a:ea typeface="Times" charset="0"/>
                    <a:cs typeface="Times" charset="0"/>
                    <a:sym typeface="Calibri"/>
                  </a:rPr>
                  <a:t>.</a:t>
                </a:r>
              </a:p>
            </p:txBody>
          </p:sp>
          <p:grpSp>
            <p:nvGrpSpPr>
              <p:cNvPr id="7" name="Group 6"/>
              <p:cNvGrpSpPr/>
              <p:nvPr/>
            </p:nvGrpSpPr>
            <p:grpSpPr>
              <a:xfrm>
                <a:off x="15476210" y="17014915"/>
                <a:ext cx="12803027" cy="4000500"/>
                <a:chOff x="15506008" y="22441451"/>
                <a:chExt cx="12803027" cy="4000500"/>
              </a:xfrm>
            </p:grpSpPr>
            <p:pic>
              <p:nvPicPr>
                <p:cNvPr id="4" name="Picture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9314254" y="22570052"/>
                  <a:ext cx="3545306" cy="3566160"/>
                </a:xfrm>
                <a:prstGeom prst="rect">
                  <a:avLst/>
                </a:prstGeom>
              </p:spPr>
            </p:pic>
            <p:pic>
              <p:nvPicPr>
                <p:cNvPr id="5" name="Picture 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506008" y="22581296"/>
                  <a:ext cx="3545305" cy="3566160"/>
                </a:xfrm>
                <a:prstGeom prst="rect">
                  <a:avLst/>
                </a:prstGeom>
              </p:spPr>
            </p:pic>
            <p:pic>
              <p:nvPicPr>
                <p:cNvPr id="6" name="Picture 5"/>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2975035" y="22441451"/>
                  <a:ext cx="5334000" cy="4000500"/>
                </a:xfrm>
                <a:prstGeom prst="rect">
                  <a:avLst/>
                </a:prstGeom>
              </p:spPr>
            </p:pic>
          </p:grpSp>
        </p:grpSp>
      </p:grpSp>
      <p:pic>
        <p:nvPicPr>
          <p:cNvPr id="17" name="Picture 16"/>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337187" y="31871665"/>
            <a:ext cx="2654420" cy="1023391"/>
          </a:xfrm>
          <a:prstGeom prst="rect">
            <a:avLst/>
          </a:prstGeom>
        </p:spPr>
      </p:pic>
      <p:sp>
        <p:nvSpPr>
          <p:cNvPr id="87" name="Shape 33"/>
          <p:cNvSpPr txBox="1"/>
          <p:nvPr/>
        </p:nvSpPr>
        <p:spPr>
          <a:xfrm>
            <a:off x="4493079" y="31397898"/>
            <a:ext cx="11283042" cy="2003716"/>
          </a:xfrm>
          <a:prstGeom prst="rect">
            <a:avLst/>
          </a:prstGeom>
          <a:noFill/>
          <a:ln>
            <a:noFill/>
          </a:ln>
        </p:spPr>
        <p:txBody>
          <a:bodyPr lIns="91425" tIns="91425" rIns="91425" bIns="91425" anchor="t" anchorCtr="0">
            <a:noAutofit/>
          </a:bodyPr>
          <a:lstStyle/>
          <a:p>
            <a:pPr lvl="0"/>
            <a:endParaRPr lang="en-US" sz="2800" i="1" smtClean="0">
              <a:solidFill>
                <a:schemeClr val="dk1"/>
              </a:solidFill>
              <a:latin typeface="Calibri"/>
              <a:ea typeface="Calibri"/>
              <a:cs typeface="Calibri"/>
              <a:sym typeface="Calibri"/>
            </a:endParaRPr>
          </a:p>
          <a:p>
            <a:r>
              <a:rPr lang="en-US" sz="2000" i="1">
                <a:solidFill>
                  <a:schemeClr val="dk1"/>
                </a:solidFill>
                <a:latin typeface="Calibri"/>
                <a:ea typeface="Calibri"/>
                <a:cs typeface="Calibri"/>
                <a:sym typeface="Calibri"/>
              </a:rPr>
              <a:t>Sandia National Laboratories is a multimission laboratory managed and operated by National Technology and </a:t>
            </a:r>
            <a:r>
              <a:rPr lang="en-US" sz="2000" i="1" smtClean="0">
                <a:solidFill>
                  <a:schemeClr val="dk1"/>
                </a:solidFill>
                <a:latin typeface="Calibri"/>
                <a:ea typeface="Calibri"/>
                <a:cs typeface="Calibri"/>
                <a:sym typeface="Calibri"/>
              </a:rPr>
              <a:t>Engineering Solutions </a:t>
            </a:r>
            <a:r>
              <a:rPr lang="en-US" sz="2000" i="1">
                <a:solidFill>
                  <a:schemeClr val="dk1"/>
                </a:solidFill>
                <a:latin typeface="Calibri"/>
                <a:ea typeface="Calibri"/>
                <a:cs typeface="Calibri"/>
                <a:sym typeface="Calibri"/>
              </a:rPr>
              <a:t>of Sandia, LLC, a wholly owned subsidiary of Honeywell </a:t>
            </a:r>
            <a:r>
              <a:rPr lang="en-US" sz="2000" i="1" smtClean="0">
                <a:solidFill>
                  <a:schemeClr val="dk1"/>
                </a:solidFill>
                <a:latin typeface="Calibri"/>
                <a:ea typeface="Calibri"/>
                <a:cs typeface="Calibri"/>
                <a:sym typeface="Calibri"/>
              </a:rPr>
              <a:t>International</a:t>
            </a:r>
            <a:r>
              <a:rPr lang="en-US" sz="2000" i="1">
                <a:solidFill>
                  <a:schemeClr val="dk1"/>
                </a:solidFill>
                <a:latin typeface="Calibri"/>
                <a:ea typeface="Calibri"/>
                <a:cs typeface="Calibri"/>
                <a:sym typeface="Calibri"/>
              </a:rPr>
              <a:t>, Inc., for the U.S. Department of Energy’s National Nuclear Security Administration under contract DE-NA0003525.</a:t>
            </a:r>
          </a:p>
        </p:txBody>
      </p:sp>
      <p:pic>
        <p:nvPicPr>
          <p:cNvPr id="19" name="Picture 18"/>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5142934" y="148623"/>
            <a:ext cx="2152913" cy="2333325"/>
          </a:xfrm>
          <a:prstGeom prst="rect">
            <a:avLst/>
          </a:prstGeom>
        </p:spPr>
      </p:pic>
      <p:pic>
        <p:nvPicPr>
          <p:cNvPr id="36" name="Picture 35"/>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3421911" y="14670582"/>
            <a:ext cx="5486400" cy="3657600"/>
          </a:xfrm>
          <a:prstGeom prst="rect">
            <a:avLst/>
          </a:prstGeom>
        </p:spPr>
      </p:pic>
      <p:grpSp>
        <p:nvGrpSpPr>
          <p:cNvPr id="78" name="Group 77"/>
          <p:cNvGrpSpPr/>
          <p:nvPr/>
        </p:nvGrpSpPr>
        <p:grpSpPr>
          <a:xfrm>
            <a:off x="15309453" y="14659838"/>
            <a:ext cx="5486400" cy="3657600"/>
            <a:chOff x="16683921" y="14647647"/>
            <a:chExt cx="5486400" cy="3657600"/>
          </a:xfrm>
        </p:grpSpPr>
        <p:pic>
          <p:nvPicPr>
            <p:cNvPr id="37" name="Picture 36"/>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6683921" y="14647647"/>
              <a:ext cx="5486400" cy="3657600"/>
            </a:xfrm>
            <a:prstGeom prst="rect">
              <a:avLst/>
            </a:prstGeom>
          </p:spPr>
        </p:pic>
        <p:sp>
          <p:nvSpPr>
            <p:cNvPr id="41" name="Rectangle 40"/>
            <p:cNvSpPr/>
            <p:nvPr/>
          </p:nvSpPr>
          <p:spPr>
            <a:xfrm>
              <a:off x="18363784" y="15118944"/>
              <a:ext cx="2826258" cy="738664"/>
            </a:xfrm>
            <a:prstGeom prst="rect">
              <a:avLst/>
            </a:prstGeom>
          </p:spPr>
          <p:txBody>
            <a:bodyPr wrap="square">
              <a:spAutoFit/>
            </a:bodyPr>
            <a:lstStyle/>
            <a:p>
              <a:r>
                <a:rPr lang="en-US" smtClean="0"/>
                <a:t> </a:t>
              </a:r>
              <a:r>
                <a:rPr lang="en-US"/>
                <a:t> </a:t>
              </a:r>
              <a:r>
                <a:rPr lang="en-US" smtClean="0"/>
                <a:t>      </a:t>
              </a:r>
              <a:r>
                <a:rPr lang="en-US" smtClean="0"/>
                <a:t>Two </a:t>
              </a:r>
              <a:r>
                <a:rPr lang="en-US"/>
                <a:t>local minima, </a:t>
              </a:r>
              <a:br>
                <a:rPr lang="en-US"/>
              </a:br>
              <a:r>
                <a:rPr lang="en-US"/>
                <a:t> </a:t>
              </a:r>
              <a:r>
                <a:rPr lang="en-US" smtClean="0"/>
                <a:t>       both collapse </a:t>
              </a:r>
              <a:r>
                <a:rPr lang="en-US"/>
                <a:t>triangles!</a:t>
              </a:r>
              <a:br>
                <a:rPr lang="en-US"/>
              </a:br>
              <a:endParaRPr lang="en-US"/>
            </a:p>
          </p:txBody>
        </p:sp>
        <p:cxnSp>
          <p:nvCxnSpPr>
            <p:cNvPr id="45" name="Straight Connector 44"/>
            <p:cNvCxnSpPr/>
            <p:nvPr/>
          </p:nvCxnSpPr>
          <p:spPr>
            <a:xfrm flipH="1">
              <a:off x="19151601" y="15671555"/>
              <a:ext cx="494902" cy="762245"/>
            </a:xfrm>
            <a:prstGeom prst="line">
              <a:avLst/>
            </a:prstGeom>
            <a:ln w="381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a:off x="20321280" y="15646328"/>
              <a:ext cx="379720" cy="682577"/>
            </a:xfrm>
            <a:prstGeom prst="line">
              <a:avLst/>
            </a:prstGeom>
            <a:ln w="381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116" name="Rectangle 115"/>
          <p:cNvSpPr/>
          <p:nvPr/>
        </p:nvSpPr>
        <p:spPr>
          <a:xfrm>
            <a:off x="20737260" y="14902535"/>
            <a:ext cx="2783140" cy="2677656"/>
          </a:xfrm>
          <a:prstGeom prst="rect">
            <a:avLst/>
          </a:prstGeom>
        </p:spPr>
        <p:txBody>
          <a:bodyPr wrap="square">
            <a:spAutoFit/>
          </a:bodyPr>
          <a:lstStyle/>
          <a:p>
            <a:r>
              <a:rPr lang="en-US" smtClean="0"/>
              <a:t>HOT</a:t>
            </a:r>
            <a:r>
              <a:rPr lang="en-US" smtClean="0"/>
              <a:t>:</a:t>
            </a:r>
          </a:p>
          <a:p>
            <a:endParaRPr lang="en-US" smtClean="0"/>
          </a:p>
          <a:p>
            <a:pPr marL="342900" indent="-342900">
              <a:buFont typeface="+mj-lt"/>
              <a:buAutoNum type="arabicPeriod"/>
            </a:pPr>
            <a:r>
              <a:rPr lang="en-US" smtClean="0"/>
              <a:t>Replace formula-based </a:t>
            </a:r>
            <a:r>
              <a:rPr lang="en-US" smtClean="0"/>
              <a:t>by</a:t>
            </a:r>
            <a:br>
              <a:rPr lang="en-US" smtClean="0"/>
            </a:br>
            <a:r>
              <a:rPr lang="en-US" smtClean="0"/>
              <a:t>theory-based </a:t>
            </a:r>
            <a:r>
              <a:rPr lang="en-US" smtClean="0"/>
              <a:t>extrapolation </a:t>
            </a:r>
            <a:r>
              <a:rPr lang="en-US" smtClean="0"/>
              <a:t>over </a:t>
            </a:r>
            <a:r>
              <a:rPr lang="en-US" smtClean="0"/>
              <a:t>non-Delaunay </a:t>
            </a:r>
            <a:r>
              <a:rPr lang="en-US" smtClean="0"/>
              <a:t>meshes.</a:t>
            </a:r>
            <a:br>
              <a:rPr lang="en-US" smtClean="0"/>
            </a:br>
            <a:r>
              <a:rPr lang="en-US" smtClean="0"/>
              <a:t>Energies stay positive, and partial barriers are created</a:t>
            </a:r>
            <a:r>
              <a:rPr lang="en-US" smtClean="0"/>
              <a:t>.</a:t>
            </a:r>
            <a:endParaRPr lang="en-US" smtClean="0"/>
          </a:p>
          <a:p>
            <a:pPr marL="342900" indent="-342900">
              <a:buFont typeface="+mj-lt"/>
              <a:buAutoNum type="arabicPeriod"/>
            </a:pPr>
            <a:endParaRPr lang="en-US" smtClean="0"/>
          </a:p>
          <a:p>
            <a:pPr marL="342900" indent="-342900">
              <a:buFont typeface="+mj-lt"/>
              <a:buAutoNum type="arabicPeriod"/>
            </a:pPr>
            <a:r>
              <a:rPr lang="en-US" smtClean="0"/>
              <a:t>Scaling </a:t>
            </a:r>
            <a:r>
              <a:rPr lang="en-US" smtClean="0"/>
              <a:t>by </a:t>
            </a:r>
            <a:r>
              <a:rPr lang="en-US" smtClean="0"/>
              <a:t>1/area</a:t>
            </a:r>
            <a:r>
              <a:rPr lang="en-US" baseline="30000" smtClean="0"/>
              <a:t>2</a:t>
            </a:r>
            <a:br>
              <a:rPr lang="en-US" baseline="30000" smtClean="0"/>
            </a:br>
            <a:r>
              <a:rPr lang="en-US" smtClean="0"/>
              <a:t>a. removes point “holes</a:t>
            </a:r>
            <a:r>
              <a:rPr lang="en-US" smtClean="0"/>
              <a:t>” </a:t>
            </a:r>
            <a:r>
              <a:rPr lang="en-US" smtClean="0"/>
              <a:t/>
            </a:r>
            <a:br>
              <a:rPr lang="en-US" smtClean="0"/>
            </a:br>
            <a:r>
              <a:rPr lang="en-US" smtClean="0"/>
              <a:t>    in barriers.</a:t>
            </a:r>
            <a:r>
              <a:rPr lang="en-US"/>
              <a:t/>
            </a:r>
            <a:br>
              <a:rPr lang="en-US"/>
            </a:br>
            <a:r>
              <a:rPr lang="en-US" smtClean="0"/>
              <a:t>b. improves landscape</a:t>
            </a:r>
            <a:endParaRPr lang="en-US" smtClean="0"/>
          </a:p>
        </p:txBody>
      </p:sp>
      <p:cxnSp>
        <p:nvCxnSpPr>
          <p:cNvPr id="117" name="Straight Connector 116"/>
          <p:cNvCxnSpPr/>
          <p:nvPr/>
        </p:nvCxnSpPr>
        <p:spPr>
          <a:xfrm>
            <a:off x="23332530" y="15531717"/>
            <a:ext cx="2726777" cy="682158"/>
          </a:xfrm>
          <a:prstGeom prst="line">
            <a:avLst/>
          </a:prstGeom>
          <a:ln w="381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flipV="1">
            <a:off x="23189203" y="16484487"/>
            <a:ext cx="2450603" cy="496479"/>
          </a:xfrm>
          <a:prstGeom prst="line">
            <a:avLst/>
          </a:prstGeom>
          <a:ln w="381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191" name="Group 190"/>
          <p:cNvGrpSpPr/>
          <p:nvPr/>
        </p:nvGrpSpPr>
        <p:grpSpPr>
          <a:xfrm>
            <a:off x="23608121" y="12718309"/>
            <a:ext cx="5354137" cy="1938992"/>
            <a:chOff x="20655461" y="12744430"/>
            <a:chExt cx="5354137" cy="1938992"/>
          </a:xfrm>
        </p:grpSpPr>
        <p:grpSp>
          <p:nvGrpSpPr>
            <p:cNvPr id="104" name="Group 103"/>
            <p:cNvGrpSpPr/>
            <p:nvPr/>
          </p:nvGrpSpPr>
          <p:grpSpPr>
            <a:xfrm>
              <a:off x="20655461" y="12744430"/>
              <a:ext cx="5354137" cy="1938992"/>
              <a:chOff x="20759745" y="12444165"/>
              <a:chExt cx="5354137" cy="1938992"/>
            </a:xfrm>
          </p:grpSpPr>
          <p:sp>
            <p:nvSpPr>
              <p:cNvPr id="99" name="TextBox 98"/>
              <p:cNvSpPr txBox="1"/>
              <p:nvPr/>
            </p:nvSpPr>
            <p:spPr>
              <a:xfrm>
                <a:off x="20759745" y="12444165"/>
                <a:ext cx="5354137" cy="1938992"/>
              </a:xfrm>
              <a:prstGeom prst="rect">
                <a:avLst/>
              </a:prstGeom>
              <a:noFill/>
              <a:ln>
                <a:noFill/>
              </a:ln>
            </p:spPr>
            <p:txBody>
              <a:bodyPr wrap="square" rtlCol="0">
                <a:spAutoFit/>
              </a:bodyPr>
              <a:lstStyle/>
              <a:p>
                <a:r>
                  <a:rPr lang="en-US" sz="3200" b="1" smtClean="0"/>
                  <a:t>“Horseshoe” Mesh Patch</a:t>
                </a:r>
                <a:endParaRPr lang="en-US" sz="3200"/>
              </a:p>
              <a:p>
                <a:r>
                  <a:rPr lang="en-US" sz="1600" smtClean="0"/>
                  <a:t/>
                </a:r>
                <a:br>
                  <a:rPr lang="en-US" sz="1600" smtClean="0"/>
                </a:br>
                <a:r>
                  <a:rPr lang="en-US" sz="1600" smtClean="0"/>
                  <a:t>      </a:t>
                </a:r>
                <a:r>
                  <a:rPr lang="en-US" sz="1600" smtClean="0"/>
                  <a:t>	</a:t>
                </a:r>
                <a:r>
                  <a:rPr lang="en-US" sz="2400" smtClean="0"/>
                  <a:t>HOT </a:t>
                </a:r>
                <a:r>
                  <a:rPr lang="en-US" sz="2400" smtClean="0"/>
                  <a:t>behaves poorly</a:t>
                </a:r>
              </a:p>
              <a:p>
                <a:endParaRPr lang="en-US" sz="2400"/>
              </a:p>
              <a:p>
                <a:r>
                  <a:rPr lang="en-US" sz="2400" smtClean="0"/>
                  <a:t>    </a:t>
                </a:r>
                <a:r>
                  <a:rPr lang="en-US" sz="2400" smtClean="0"/>
                  <a:t>	HOT </a:t>
                </a:r>
                <a:r>
                  <a:rPr lang="en-US" sz="2400" smtClean="0"/>
                  <a:t>behaves well</a:t>
                </a:r>
                <a:endParaRPr lang="en-US" sz="2400"/>
              </a:p>
            </p:txBody>
          </p:sp>
          <p:cxnSp>
            <p:nvCxnSpPr>
              <p:cNvPr id="103" name="Straight Connector 102"/>
              <p:cNvCxnSpPr/>
              <p:nvPr/>
            </p:nvCxnSpPr>
            <p:spPr>
              <a:xfrm>
                <a:off x="25639806" y="13645121"/>
                <a:ext cx="365760" cy="0"/>
              </a:xfrm>
              <a:prstGeom prst="line">
                <a:avLst/>
              </a:prstGeom>
              <a:ln w="25400">
                <a:noFill/>
              </a:ln>
            </p:spPr>
            <p:style>
              <a:lnRef idx="1">
                <a:schemeClr val="accent1"/>
              </a:lnRef>
              <a:fillRef idx="0">
                <a:schemeClr val="accent1"/>
              </a:fillRef>
              <a:effectRef idx="0">
                <a:schemeClr val="accent1"/>
              </a:effectRef>
              <a:fontRef idx="minor">
                <a:schemeClr val="tx1"/>
              </a:fontRef>
            </p:style>
          </p:cxnSp>
        </p:grpSp>
        <p:cxnSp>
          <p:nvCxnSpPr>
            <p:cNvPr id="119" name="Straight Connector 118"/>
            <p:cNvCxnSpPr/>
            <p:nvPr/>
          </p:nvCxnSpPr>
          <p:spPr>
            <a:xfrm>
              <a:off x="21648892" y="14283493"/>
              <a:ext cx="65620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8" name="Rectangle 107"/>
          <p:cNvSpPr/>
          <p:nvPr/>
        </p:nvSpPr>
        <p:spPr>
          <a:xfrm>
            <a:off x="15186859" y="12572017"/>
            <a:ext cx="13512458" cy="574542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4" name="Straight Connector 123"/>
          <p:cNvCxnSpPr/>
          <p:nvPr/>
        </p:nvCxnSpPr>
        <p:spPr>
          <a:xfrm>
            <a:off x="20824873" y="14945801"/>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TextBox 124"/>
          <p:cNvSpPr txBox="1"/>
          <p:nvPr/>
        </p:nvSpPr>
        <p:spPr>
          <a:xfrm>
            <a:off x="16277593" y="32152527"/>
            <a:ext cx="2488182" cy="461665"/>
          </a:xfrm>
          <a:prstGeom prst="rect">
            <a:avLst/>
          </a:prstGeom>
          <a:noFill/>
        </p:spPr>
        <p:txBody>
          <a:bodyPr wrap="none" rtlCol="0">
            <a:spAutoFit/>
          </a:bodyPr>
          <a:lstStyle/>
          <a:p>
            <a:r>
              <a:rPr lang="en-US" sz="2400">
                <a:latin typeface="Calibri" charset="0"/>
                <a:ea typeface="Calibri" charset="0"/>
                <a:cs typeface="Calibri" charset="0"/>
              </a:rPr>
              <a:t>SAND2017-9545 D</a:t>
            </a:r>
          </a:p>
        </p:txBody>
      </p:sp>
      <p:grpSp>
        <p:nvGrpSpPr>
          <p:cNvPr id="141" name="Group 140"/>
          <p:cNvGrpSpPr/>
          <p:nvPr/>
        </p:nvGrpSpPr>
        <p:grpSpPr>
          <a:xfrm>
            <a:off x="1267426" y="18253265"/>
            <a:ext cx="11983468" cy="3331173"/>
            <a:chOff x="1335109" y="18018068"/>
            <a:chExt cx="11983468" cy="3331173"/>
          </a:xfrm>
        </p:grpSpPr>
        <p:pic>
          <p:nvPicPr>
            <p:cNvPr id="142" name="Picture 141"/>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335109" y="19463291"/>
              <a:ext cx="4416466" cy="1885950"/>
            </a:xfrm>
            <a:prstGeom prst="rect">
              <a:avLst/>
            </a:prstGeom>
          </p:spPr>
        </p:pic>
        <p:pic>
          <p:nvPicPr>
            <p:cNvPr id="143" name="Picture 142"/>
            <p:cNvPicPr>
              <a:picLocks noChangeAspect="1"/>
            </p:cNvPicPr>
            <p:nvPr/>
          </p:nvPicPr>
          <p:blipFill>
            <a:blip r:embed="rId16"/>
            <a:stretch>
              <a:fillRect/>
            </a:stretch>
          </p:blipFill>
          <p:spPr>
            <a:xfrm>
              <a:off x="2884790" y="18175770"/>
              <a:ext cx="2308274" cy="1202514"/>
            </a:xfrm>
            <a:prstGeom prst="rect">
              <a:avLst/>
            </a:prstGeom>
          </p:spPr>
        </p:pic>
        <p:cxnSp>
          <p:nvCxnSpPr>
            <p:cNvPr id="144" name="Straight Connector 143"/>
            <p:cNvCxnSpPr/>
            <p:nvPr/>
          </p:nvCxnSpPr>
          <p:spPr>
            <a:xfrm flipV="1">
              <a:off x="5384800" y="18777027"/>
              <a:ext cx="1524000" cy="4445"/>
            </a:xfrm>
            <a:prstGeom prst="line">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flipV="1">
              <a:off x="5483882" y="20351273"/>
              <a:ext cx="1524000" cy="4445"/>
            </a:xfrm>
            <a:prstGeom prst="line">
              <a:avLst/>
            </a:prstGeom>
            <a:ln w="38100">
              <a:solidFill>
                <a:schemeClr val="tx1"/>
              </a:solidFill>
              <a:tailEnd type="stealth" w="lg" len="lg"/>
            </a:ln>
            <a:effectLst/>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flipV="1">
              <a:off x="10220982" y="19571707"/>
              <a:ext cx="1221718" cy="9312"/>
            </a:xfrm>
            <a:prstGeom prst="line">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147" name="Group 146"/>
            <p:cNvGrpSpPr/>
            <p:nvPr/>
          </p:nvGrpSpPr>
          <p:grpSpPr>
            <a:xfrm>
              <a:off x="6932265" y="18018068"/>
              <a:ext cx="3125902" cy="3125902"/>
              <a:chOff x="8150416" y="18462384"/>
              <a:chExt cx="3125902" cy="3125902"/>
            </a:xfrm>
          </p:grpSpPr>
          <p:sp>
            <p:nvSpPr>
              <p:cNvPr id="152" name="Oval 151"/>
              <p:cNvSpPr/>
              <p:nvPr/>
            </p:nvSpPr>
            <p:spPr>
              <a:xfrm>
                <a:off x="8150416" y="18462384"/>
                <a:ext cx="3125902" cy="3125902"/>
              </a:xfrm>
              <a:prstGeom prst="ellipse">
                <a:avLst/>
              </a:prstGeom>
              <a:solidFill>
                <a:srgbClr val="FFCCCC"/>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TextBox 152"/>
              <p:cNvSpPr txBox="1"/>
              <p:nvPr/>
            </p:nvSpPr>
            <p:spPr>
              <a:xfrm>
                <a:off x="8835014" y="18818846"/>
                <a:ext cx="1954381" cy="2308324"/>
              </a:xfrm>
              <a:prstGeom prst="rect">
                <a:avLst/>
              </a:prstGeom>
              <a:noFill/>
            </p:spPr>
            <p:txBody>
              <a:bodyPr wrap="none" rtlCol="0">
                <a:spAutoFit/>
              </a:bodyPr>
              <a:lstStyle/>
              <a:p>
                <a:r>
                  <a:rPr lang="en-US" sz="3600" b="1" smtClean="0"/>
                  <a:t>   </a:t>
                </a:r>
                <a:r>
                  <a:rPr lang="en-US" sz="3600" b="1" smtClean="0">
                    <a:solidFill>
                      <a:srgbClr val="0070C0"/>
                    </a:solidFill>
                  </a:rPr>
                  <a:t>DEC</a:t>
                </a:r>
              </a:p>
              <a:p>
                <a:r>
                  <a:rPr lang="en-US" sz="3600" smtClean="0">
                    <a:latin typeface="+mn-lt"/>
                  </a:rPr>
                  <a:t>Discrete</a:t>
                </a:r>
                <a:br>
                  <a:rPr lang="en-US" sz="3600" smtClean="0">
                    <a:latin typeface="+mn-lt"/>
                  </a:rPr>
                </a:br>
                <a:r>
                  <a:rPr lang="en-US" sz="3600" smtClean="0">
                    <a:latin typeface="+mn-lt"/>
                  </a:rPr>
                  <a:t>Exterior</a:t>
                </a:r>
                <a:br>
                  <a:rPr lang="en-US" sz="3600" smtClean="0">
                    <a:latin typeface="+mn-lt"/>
                  </a:rPr>
                </a:br>
                <a:r>
                  <a:rPr lang="en-US" sz="3600" smtClean="0">
                    <a:latin typeface="+mn-lt"/>
                  </a:rPr>
                  <a:t>Calculus</a:t>
                </a:r>
              </a:p>
            </p:txBody>
          </p:sp>
        </p:grpSp>
        <p:grpSp>
          <p:nvGrpSpPr>
            <p:cNvPr id="148" name="Group 147"/>
            <p:cNvGrpSpPr/>
            <p:nvPr/>
          </p:nvGrpSpPr>
          <p:grpSpPr>
            <a:xfrm>
              <a:off x="11466165" y="19242079"/>
              <a:ext cx="1852412" cy="646331"/>
              <a:chOff x="13099543" y="19215987"/>
              <a:chExt cx="1852412" cy="646331"/>
            </a:xfrm>
          </p:grpSpPr>
          <p:sp>
            <p:nvSpPr>
              <p:cNvPr id="150" name="TextBox 149"/>
              <p:cNvSpPr txBox="1"/>
              <p:nvPr/>
            </p:nvSpPr>
            <p:spPr>
              <a:xfrm>
                <a:off x="13099543" y="19215987"/>
                <a:ext cx="1441420" cy="646331"/>
              </a:xfrm>
              <a:prstGeom prst="rect">
                <a:avLst/>
              </a:prstGeom>
              <a:noFill/>
            </p:spPr>
            <p:txBody>
              <a:bodyPr wrap="none" rtlCol="0">
                <a:spAutoFit/>
              </a:bodyPr>
              <a:lstStyle/>
              <a:p>
                <a:r>
                  <a:rPr lang="en-US" sz="3600" smtClean="0">
                    <a:latin typeface="+mn-lt"/>
                  </a:rPr>
                  <a:t>matrix</a:t>
                </a:r>
              </a:p>
            </p:txBody>
          </p:sp>
          <p:pic>
            <p:nvPicPr>
              <p:cNvPr id="151" name="Picture 150"/>
              <p:cNvPicPr>
                <a:picLocks noChangeAspect="1"/>
              </p:cNvPicPr>
              <p:nvPr/>
            </p:nvPicPr>
            <p:blipFill>
              <a:blip r:embed="rId17"/>
              <a:stretch>
                <a:fillRect/>
              </a:stretch>
            </p:blipFill>
            <p:spPr>
              <a:xfrm>
                <a:off x="14548376" y="19301712"/>
                <a:ext cx="403579" cy="419101"/>
              </a:xfrm>
              <a:prstGeom prst="rect">
                <a:avLst/>
              </a:prstGeom>
            </p:spPr>
          </p:pic>
        </p:grpSp>
        <p:pic>
          <p:nvPicPr>
            <p:cNvPr id="149" name="Picture 148"/>
            <p:cNvPicPr>
              <a:picLocks noChangeAspect="1"/>
            </p:cNvPicPr>
            <p:nvPr/>
          </p:nvPicPr>
          <p:blipFill>
            <a:blip r:embed="rId18"/>
            <a:stretch>
              <a:fillRect/>
            </a:stretch>
          </p:blipFill>
          <p:spPr>
            <a:xfrm>
              <a:off x="11485535" y="19973008"/>
              <a:ext cx="1819590" cy="446627"/>
            </a:xfrm>
            <a:prstGeom prst="rect">
              <a:avLst/>
            </a:prstGeom>
          </p:spPr>
        </p:pic>
      </p:grpSp>
      <p:pic>
        <p:nvPicPr>
          <p:cNvPr id="43" name="Picture 42"/>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990414" y="11964661"/>
            <a:ext cx="6051444" cy="6025583"/>
          </a:xfrm>
          <a:prstGeom prst="rect">
            <a:avLst/>
          </a:prstGeom>
        </p:spPr>
      </p:pic>
      <p:pic>
        <p:nvPicPr>
          <p:cNvPr id="46" name="Picture 45"/>
          <p:cNvPicPr>
            <a:picLocks noChangeAspect="1"/>
          </p:cNvPicPr>
          <p:nvPr/>
        </p:nvPicPr>
        <p:blipFill>
          <a:blip r:embed="rId20"/>
          <a:stretch>
            <a:fillRect/>
          </a:stretch>
        </p:blipFill>
        <p:spPr>
          <a:xfrm>
            <a:off x="19682023" y="10102534"/>
            <a:ext cx="8816777" cy="702222"/>
          </a:xfrm>
          <a:prstGeom prst="rect">
            <a:avLst/>
          </a:prstGeom>
        </p:spPr>
      </p:pic>
      <p:pic>
        <p:nvPicPr>
          <p:cNvPr id="47" name="Picture 46"/>
          <p:cNvPicPr>
            <a:picLocks noChangeAspect="1"/>
          </p:cNvPicPr>
          <p:nvPr/>
        </p:nvPicPr>
        <p:blipFill>
          <a:blip r:embed="rId21"/>
          <a:stretch>
            <a:fillRect/>
          </a:stretch>
        </p:blipFill>
        <p:spPr>
          <a:xfrm>
            <a:off x="19682023" y="11185134"/>
            <a:ext cx="8816777" cy="731308"/>
          </a:xfrm>
          <a:prstGeom prst="rect">
            <a:avLst/>
          </a:prstGeom>
        </p:spPr>
      </p:pic>
      <p:pic>
        <p:nvPicPr>
          <p:cNvPr id="48" name="Picture 47"/>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15212477" y="9760388"/>
            <a:ext cx="4254564" cy="2478387"/>
          </a:xfrm>
          <a:prstGeom prst="rect">
            <a:avLst/>
          </a:prstGeom>
        </p:spPr>
      </p:pic>
      <p:grpSp>
        <p:nvGrpSpPr>
          <p:cNvPr id="227" name="Group 226"/>
          <p:cNvGrpSpPr/>
          <p:nvPr/>
        </p:nvGrpSpPr>
        <p:grpSpPr>
          <a:xfrm>
            <a:off x="15948921" y="13242430"/>
            <a:ext cx="2781675" cy="1665179"/>
            <a:chOff x="15948921" y="13242430"/>
            <a:chExt cx="2781675" cy="1665179"/>
          </a:xfrm>
        </p:grpSpPr>
        <p:grpSp>
          <p:nvGrpSpPr>
            <p:cNvPr id="194" name="Group 193"/>
            <p:cNvGrpSpPr/>
            <p:nvPr/>
          </p:nvGrpSpPr>
          <p:grpSpPr>
            <a:xfrm>
              <a:off x="15948921" y="13242430"/>
              <a:ext cx="2768730" cy="762132"/>
              <a:chOff x="15889320" y="12965016"/>
              <a:chExt cx="3929433" cy="1081632"/>
            </a:xfrm>
          </p:grpSpPr>
          <p:cxnSp>
            <p:nvCxnSpPr>
              <p:cNvPr id="200" name="Straight Connector 199"/>
              <p:cNvCxnSpPr/>
              <p:nvPr/>
            </p:nvCxnSpPr>
            <p:spPr>
              <a:xfrm>
                <a:off x="15897105" y="12966700"/>
                <a:ext cx="3918469" cy="54592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p:nvCxnSpPr>
            <p:spPr>
              <a:xfrm flipV="1">
                <a:off x="15897105" y="13511372"/>
                <a:ext cx="3921648" cy="5300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p:cNvCxnSpPr/>
              <p:nvPr/>
            </p:nvCxnSpPr>
            <p:spPr>
              <a:xfrm flipV="1">
                <a:off x="15889320" y="13511046"/>
                <a:ext cx="1960530" cy="53560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a:xfrm>
                <a:off x="15897104" y="12965016"/>
                <a:ext cx="1952746" cy="54592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5" name="Straight Connector 194"/>
            <p:cNvCxnSpPr>
              <a:endCxn id="199" idx="4"/>
            </p:cNvCxnSpPr>
            <p:nvPr/>
          </p:nvCxnSpPr>
          <p:spPr>
            <a:xfrm flipV="1">
              <a:off x="15951663" y="13646309"/>
              <a:ext cx="1364261" cy="35546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a:endCxn id="199" idx="0"/>
            </p:cNvCxnSpPr>
            <p:nvPr/>
          </p:nvCxnSpPr>
          <p:spPr>
            <a:xfrm>
              <a:off x="15957148" y="13243312"/>
              <a:ext cx="1358776" cy="365029"/>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a:xfrm flipV="1">
              <a:off x="17328099" y="13625553"/>
              <a:ext cx="67295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a:xfrm>
              <a:off x="18001057" y="13625918"/>
              <a:ext cx="706635" cy="1196"/>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9" name="Oval 198"/>
            <p:cNvSpPr/>
            <p:nvPr/>
          </p:nvSpPr>
          <p:spPr>
            <a:xfrm>
              <a:off x="17296940" y="13608341"/>
              <a:ext cx="37968" cy="37968"/>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5" name="Group 204"/>
            <p:cNvGrpSpPr/>
            <p:nvPr/>
          </p:nvGrpSpPr>
          <p:grpSpPr>
            <a:xfrm>
              <a:off x="15961866" y="14145477"/>
              <a:ext cx="2768730" cy="762132"/>
              <a:chOff x="15889320" y="12965016"/>
              <a:chExt cx="3929433" cy="1081632"/>
            </a:xfrm>
          </p:grpSpPr>
          <p:cxnSp>
            <p:nvCxnSpPr>
              <p:cNvPr id="211" name="Straight Connector 210"/>
              <p:cNvCxnSpPr/>
              <p:nvPr/>
            </p:nvCxnSpPr>
            <p:spPr>
              <a:xfrm>
                <a:off x="15897105" y="12966700"/>
                <a:ext cx="3918469" cy="54592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flipV="1">
                <a:off x="15897105" y="13511372"/>
                <a:ext cx="3921648" cy="5300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flipV="1">
                <a:off x="15889320" y="13511046"/>
                <a:ext cx="1960530" cy="53560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a:off x="15897104" y="12965016"/>
                <a:ext cx="1952746" cy="54592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6" name="Straight Connector 205"/>
            <p:cNvCxnSpPr>
              <a:endCxn id="210" idx="2"/>
            </p:cNvCxnSpPr>
            <p:nvPr/>
          </p:nvCxnSpPr>
          <p:spPr>
            <a:xfrm flipV="1">
              <a:off x="15964608" y="14531770"/>
              <a:ext cx="2682402" cy="3730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a:endCxn id="210" idx="2"/>
            </p:cNvCxnSpPr>
            <p:nvPr/>
          </p:nvCxnSpPr>
          <p:spPr>
            <a:xfrm>
              <a:off x="15970093" y="14146359"/>
              <a:ext cx="2676917" cy="38541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flipV="1">
              <a:off x="17341044" y="14528600"/>
              <a:ext cx="67295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a:xfrm>
              <a:off x="18014002" y="14528965"/>
              <a:ext cx="706635" cy="1196"/>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10" name="Oval 209"/>
            <p:cNvSpPr/>
            <p:nvPr/>
          </p:nvSpPr>
          <p:spPr>
            <a:xfrm>
              <a:off x="18647010" y="14512786"/>
              <a:ext cx="37968" cy="37968"/>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6" name="Rectangle 225"/>
          <p:cNvSpPr/>
          <p:nvPr/>
        </p:nvSpPr>
        <p:spPr>
          <a:xfrm>
            <a:off x="15816658" y="12884109"/>
            <a:ext cx="3707146" cy="584775"/>
          </a:xfrm>
          <a:prstGeom prst="rect">
            <a:avLst/>
          </a:prstGeom>
        </p:spPr>
        <p:txBody>
          <a:bodyPr wrap="square">
            <a:spAutoFit/>
          </a:bodyPr>
          <a:lstStyle/>
          <a:p>
            <a:r>
              <a:rPr lang="en-US" sz="1600" smtClean="0"/>
              <a:t>Optimizing HOT collapses </a:t>
            </a:r>
            <a:r>
              <a:rPr lang="en-US" sz="1600"/>
              <a:t>triangles!</a:t>
            </a:r>
            <a:br>
              <a:rPr lang="en-US" sz="1600"/>
            </a:br>
            <a:endParaRPr lang="en-US" sz="1600"/>
          </a:p>
        </p:txBody>
      </p:sp>
      <p:grpSp>
        <p:nvGrpSpPr>
          <p:cNvPr id="229" name="Group 228"/>
          <p:cNvGrpSpPr/>
          <p:nvPr/>
        </p:nvGrpSpPr>
        <p:grpSpPr>
          <a:xfrm>
            <a:off x="19495169" y="12859706"/>
            <a:ext cx="4784782" cy="1730733"/>
            <a:chOff x="19253869" y="12859706"/>
            <a:chExt cx="4784782" cy="1730733"/>
          </a:xfrm>
        </p:grpSpPr>
        <p:grpSp>
          <p:nvGrpSpPr>
            <p:cNvPr id="224" name="Group 223"/>
            <p:cNvGrpSpPr/>
            <p:nvPr/>
          </p:nvGrpSpPr>
          <p:grpSpPr>
            <a:xfrm>
              <a:off x="19253869" y="12859706"/>
              <a:ext cx="4784782" cy="1730733"/>
              <a:chOff x="15609149" y="12623755"/>
              <a:chExt cx="4784782" cy="1730733"/>
            </a:xfrm>
          </p:grpSpPr>
          <p:sp>
            <p:nvSpPr>
              <p:cNvPr id="166" name="TextBox 165"/>
              <p:cNvSpPr txBox="1"/>
              <p:nvPr/>
            </p:nvSpPr>
            <p:spPr>
              <a:xfrm>
                <a:off x="15609149" y="14046711"/>
                <a:ext cx="611065" cy="307777"/>
              </a:xfrm>
              <a:prstGeom prst="rect">
                <a:avLst/>
              </a:prstGeom>
              <a:noFill/>
            </p:spPr>
            <p:txBody>
              <a:bodyPr wrap="none" rtlCol="0">
                <a:spAutoFit/>
              </a:bodyPr>
              <a:lstStyle/>
              <a:p>
                <a:r>
                  <a:rPr lang="en-US" smtClean="0"/>
                  <a:t>(0,-1)</a:t>
                </a:r>
                <a:endParaRPr lang="en-US"/>
              </a:p>
            </p:txBody>
          </p:sp>
          <p:sp>
            <p:nvSpPr>
              <p:cNvPr id="167" name="TextBox 166"/>
              <p:cNvSpPr txBox="1"/>
              <p:nvPr/>
            </p:nvSpPr>
            <p:spPr>
              <a:xfrm>
                <a:off x="15638804" y="12623755"/>
                <a:ext cx="551754" cy="307777"/>
              </a:xfrm>
              <a:prstGeom prst="rect">
                <a:avLst/>
              </a:prstGeom>
              <a:noFill/>
            </p:spPr>
            <p:txBody>
              <a:bodyPr wrap="none" rtlCol="0">
                <a:spAutoFit/>
              </a:bodyPr>
              <a:lstStyle/>
              <a:p>
                <a:r>
                  <a:rPr lang="en-US" smtClean="0"/>
                  <a:t>(0,1)</a:t>
                </a:r>
                <a:endParaRPr lang="en-US"/>
              </a:p>
            </p:txBody>
          </p:sp>
          <p:sp>
            <p:nvSpPr>
              <p:cNvPr id="168" name="TextBox 167"/>
              <p:cNvSpPr txBox="1"/>
              <p:nvPr/>
            </p:nvSpPr>
            <p:spPr>
              <a:xfrm>
                <a:off x="19842177" y="13342162"/>
                <a:ext cx="551754" cy="307777"/>
              </a:xfrm>
              <a:prstGeom prst="rect">
                <a:avLst/>
              </a:prstGeom>
              <a:noFill/>
            </p:spPr>
            <p:txBody>
              <a:bodyPr wrap="none" rtlCol="0">
                <a:spAutoFit/>
              </a:bodyPr>
              <a:lstStyle/>
              <a:p>
                <a:r>
                  <a:rPr lang="en-US" smtClean="0"/>
                  <a:t>(8,0)</a:t>
                </a:r>
                <a:endParaRPr lang="en-US"/>
              </a:p>
            </p:txBody>
          </p:sp>
          <p:grpSp>
            <p:nvGrpSpPr>
              <p:cNvPr id="192" name="Group 191"/>
              <p:cNvGrpSpPr/>
              <p:nvPr/>
            </p:nvGrpSpPr>
            <p:grpSpPr>
              <a:xfrm>
                <a:off x="15889320" y="12965016"/>
                <a:ext cx="3929433" cy="1081632"/>
                <a:chOff x="15889320" y="12965016"/>
                <a:chExt cx="3929433" cy="1081632"/>
              </a:xfrm>
            </p:grpSpPr>
            <p:grpSp>
              <p:nvGrpSpPr>
                <p:cNvPr id="188" name="Group 187"/>
                <p:cNvGrpSpPr/>
                <p:nvPr/>
              </p:nvGrpSpPr>
              <p:grpSpPr>
                <a:xfrm>
                  <a:off x="15889320" y="12965016"/>
                  <a:ext cx="3929433" cy="1081632"/>
                  <a:chOff x="15889320" y="12965016"/>
                  <a:chExt cx="3929433" cy="1081632"/>
                </a:xfrm>
              </p:grpSpPr>
              <p:cxnSp>
                <p:nvCxnSpPr>
                  <p:cNvPr id="53" name="Straight Connector 52"/>
                  <p:cNvCxnSpPr/>
                  <p:nvPr/>
                </p:nvCxnSpPr>
                <p:spPr>
                  <a:xfrm>
                    <a:off x="15897105" y="12966700"/>
                    <a:ext cx="3918469" cy="54592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flipV="1">
                    <a:off x="15897105" y="13511372"/>
                    <a:ext cx="3921648" cy="5300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flipV="1">
                    <a:off x="15889320" y="13511046"/>
                    <a:ext cx="1960530" cy="53560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a:off x="15897104" y="12965016"/>
                    <a:ext cx="1952746" cy="54592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59" name="Straight Connector 158"/>
                <p:cNvCxnSpPr/>
                <p:nvPr/>
              </p:nvCxnSpPr>
              <p:spPr>
                <a:xfrm flipV="1">
                  <a:off x="15893211" y="13510437"/>
                  <a:ext cx="2908538" cy="53225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a:off x="15900996" y="12966268"/>
                  <a:ext cx="2892968" cy="540189"/>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flipV="1">
                  <a:off x="17846675" y="13508751"/>
                  <a:ext cx="95507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a:off x="18801749" y="13509269"/>
                  <a:ext cx="1002869" cy="169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87" name="Oval 186"/>
                <p:cNvSpPr/>
                <p:nvPr/>
              </p:nvSpPr>
              <p:spPr>
                <a:xfrm>
                  <a:off x="18732634" y="13483405"/>
                  <a:ext cx="53885" cy="53885"/>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28" name="Rectangle 227"/>
            <p:cNvSpPr/>
            <p:nvPr/>
          </p:nvSpPr>
          <p:spPr>
            <a:xfrm>
              <a:off x="21295964" y="13011686"/>
              <a:ext cx="851470" cy="400110"/>
            </a:xfrm>
            <a:prstGeom prst="rect">
              <a:avLst/>
            </a:prstGeom>
          </p:spPr>
          <p:txBody>
            <a:bodyPr wrap="square">
              <a:spAutoFit/>
            </a:bodyPr>
            <a:lstStyle/>
            <a:p>
              <a:r>
                <a:rPr lang="en-US" sz="2000" smtClean="0"/>
                <a:t>Input</a:t>
              </a:r>
              <a:endParaRPr lang="en-US" sz="2000"/>
            </a:p>
          </p:txBody>
        </p:sp>
      </p:grpSp>
      <p:sp>
        <p:nvSpPr>
          <p:cNvPr id="231" name="Rectangle 230"/>
          <p:cNvSpPr/>
          <p:nvPr/>
        </p:nvSpPr>
        <p:spPr>
          <a:xfrm>
            <a:off x="24746718" y="14761324"/>
            <a:ext cx="2783140" cy="307777"/>
          </a:xfrm>
          <a:prstGeom prst="rect">
            <a:avLst/>
          </a:prstGeom>
          <a:solidFill>
            <a:schemeClr val="lt1"/>
          </a:solidFill>
        </p:spPr>
        <p:txBody>
          <a:bodyPr wrap="square">
            <a:spAutoFit/>
          </a:bodyPr>
          <a:lstStyle/>
          <a:p>
            <a:r>
              <a:rPr lang="en-US" smtClean="0"/>
              <a:t>Landscape after 1, before 2</a:t>
            </a:r>
          </a:p>
        </p:txBody>
      </p:sp>
      <p:pic>
        <p:nvPicPr>
          <p:cNvPr id="234" name="Picture 233"/>
          <p:cNvPicPr>
            <a:picLocks noChangeAspect="1"/>
          </p:cNvPicPr>
          <p:nvPr/>
        </p:nvPicPr>
        <p:blipFill>
          <a:blip r:embed="rId23"/>
          <a:stretch>
            <a:fillRect/>
          </a:stretch>
        </p:blipFill>
        <p:spPr>
          <a:xfrm>
            <a:off x="15676532" y="25462577"/>
            <a:ext cx="9877909" cy="381392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9266</TotalTime>
  <Words>733</Words>
  <Application>Microsoft Macintosh PowerPoint</Application>
  <PresentationFormat>Custom</PresentationFormat>
  <Paragraphs>75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Times</vt:lpstr>
      <vt:lpstr>Times New Roman</vt:lpstr>
      <vt:lpstr>Arial</vt:lpstr>
      <vt:lpstr>Office Theme</vt:lpstr>
      <vt:lpstr>PowerPoint Presentation</vt:lpstr>
    </vt:vector>
  </TitlesOfParts>
  <LinksUpToDate>false</LinksUpToDate>
  <SharedDoc>false</SharedDoc>
  <HyperlinksChanged>false</HyperlinksChanged>
  <AppVersion>15.0038</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Microsoft Office User</cp:lastModifiedBy>
  <cp:revision>101</cp:revision>
  <cp:lastPrinted>2017-09-06T21:47:33Z</cp:lastPrinted>
  <dcterms:modified xsi:type="dcterms:W3CDTF">2017-09-07T06:18:18Z</dcterms:modified>
</cp:coreProperties>
</file>