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mpg" ContentType="video/mpeg"/>
  <Default Extension="emf" ContentType="image/x-emf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6" r:id="rId2"/>
    <p:sldId id="257" r:id="rId3"/>
    <p:sldId id="258" r:id="rId4"/>
    <p:sldId id="270" r:id="rId5"/>
    <p:sldId id="271" r:id="rId6"/>
    <p:sldId id="259" r:id="rId7"/>
    <p:sldId id="280" r:id="rId8"/>
    <p:sldId id="267" r:id="rId9"/>
    <p:sldId id="263" r:id="rId10"/>
    <p:sldId id="265" r:id="rId11"/>
    <p:sldId id="264" r:id="rId12"/>
    <p:sldId id="261" r:id="rId13"/>
    <p:sldId id="262" r:id="rId14"/>
    <p:sldId id="266" r:id="rId15"/>
    <p:sldId id="268" r:id="rId16"/>
    <p:sldId id="269" r:id="rId17"/>
    <p:sldId id="272" r:id="rId18"/>
    <p:sldId id="276" r:id="rId19"/>
    <p:sldId id="279" r:id="rId20"/>
    <p:sldId id="281" r:id="rId21"/>
    <p:sldId id="274" r:id="rId22"/>
    <p:sldId id="275" r:id="rId23"/>
  </p:sldIdLst>
  <p:sldSz cx="9144000" cy="6858000" type="screen4x3"/>
  <p:notesSz cx="6940550" cy="90805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60">
          <p15:clr>
            <a:srgbClr val="A4A3A4"/>
          </p15:clr>
        </p15:guide>
        <p15:guide id="2" pos="218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FB296"/>
    <a:srgbClr val="FF35FB"/>
    <a:srgbClr val="37519A"/>
    <a:srgbClr val="263869"/>
    <a:srgbClr val="850085"/>
    <a:srgbClr val="01AAA0"/>
    <a:srgbClr val="FFD906"/>
    <a:srgbClr val="00D200"/>
    <a:srgbClr val="FA04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47" autoAdjust="0"/>
    <p:restoredTop sz="94648" autoAdjust="0"/>
  </p:normalViewPr>
  <p:slideViewPr>
    <p:cSldViewPr snapToGrid="0">
      <p:cViewPr varScale="1">
        <p:scale>
          <a:sx n="107" d="100"/>
          <a:sy n="107" d="100"/>
        </p:scale>
        <p:origin x="1032" y="1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8" d="100"/>
          <a:sy n="128" d="100"/>
        </p:scale>
        <p:origin x="-4416" y="-128"/>
      </p:cViewPr>
      <p:guideLst>
        <p:guide orient="horz" pos="2860"/>
        <p:guide pos="218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handoutMaster" Target="handoutMasters/handout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73005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4563" y="4340225"/>
            <a:ext cx="5049837" cy="41052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581" tIns="46085" rIns="90581" bIns="4608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051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09675" y="687388"/>
            <a:ext cx="4522788" cy="33924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</p:sp>
    </p:spTree>
    <p:extLst>
      <p:ext uri="{BB962C8B-B14F-4D97-AF65-F5344CB8AC3E}">
        <p14:creationId xmlns:p14="http://schemas.microsoft.com/office/powerpoint/2010/main" val="289174207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9048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2438" algn="l" defTabSz="9048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04875" algn="l" defTabSz="9048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57313" algn="l" defTabSz="9048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09750" algn="l" defTabSz="9048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/>
              <a:t>Fraction</a:t>
            </a:r>
            <a:r>
              <a:rPr lang="en-US" baseline="0" dirty="0"/>
              <a:t> of work…</a:t>
            </a:r>
            <a:endParaRPr lang="en-US" dirty="0"/>
          </a:p>
        </p:txBody>
      </p:sp>
      <p:sp>
        <p:nvSpPr>
          <p:cNvPr id="512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  <p:extLst>
      <p:ext uri="{BB962C8B-B14F-4D97-AF65-F5344CB8AC3E}">
        <p14:creationId xmlns:p14="http://schemas.microsoft.com/office/powerpoint/2010/main" val="19354458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67094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25766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420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18258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29694"/>
            <a:ext cx="7772400" cy="101441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254500"/>
            <a:ext cx="77724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6528"/>
            <a:ext cx="7772400" cy="101441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5240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504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9950"/>
            <a:ext cx="7772400" cy="101441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6530"/>
            <a:ext cx="7772400" cy="101441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280988"/>
            <a:ext cx="1943100" cy="581501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80988"/>
            <a:ext cx="5676900" cy="581501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emf"/><Relationship Id="rId14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524000"/>
            <a:ext cx="7772400" cy="4572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Subtitle 24 pt</a:t>
            </a:r>
          </a:p>
          <a:p>
            <a:pPr lvl="1"/>
            <a:r>
              <a:rPr lang="en-US" smtClean="0"/>
              <a:t>Second level 22 pt</a:t>
            </a:r>
          </a:p>
          <a:p>
            <a:pPr lvl="2"/>
            <a:r>
              <a:rPr lang="en-US" smtClean="0"/>
              <a:t>Third level 20 pt</a:t>
            </a:r>
          </a:p>
          <a:p>
            <a:pPr lvl="3"/>
            <a:r>
              <a:rPr lang="en-US" smtClean="0"/>
              <a:t>Fourth level 18pt</a:t>
            </a:r>
          </a:p>
          <a:p>
            <a:pPr lvl="4"/>
            <a:r>
              <a:rPr lang="en-US" smtClean="0"/>
              <a:t>Fifth level 18pt</a:t>
            </a:r>
          </a:p>
        </p:txBody>
      </p:sp>
      <p:sp>
        <p:nvSpPr>
          <p:cNvPr id="1028" name="Line 4"/>
          <p:cNvSpPr>
            <a:spLocks noChangeShapeType="1"/>
          </p:cNvSpPr>
          <p:nvPr/>
        </p:nvSpPr>
        <p:spPr bwMode="auto">
          <a:xfrm>
            <a:off x="817563" y="1143000"/>
            <a:ext cx="7589837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80988"/>
            <a:ext cx="7772400" cy="10144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7" tIns="44450" rIns="90487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Title - 28 Point Helvetica Bold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663641" y="-3388"/>
            <a:ext cx="1589117" cy="65259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 descr="SNL_color_stack.png"/>
          <p:cNvPicPr>
            <a:picLocks noChangeAspect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7991435" y="676642"/>
            <a:ext cx="935182" cy="411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Arial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Arial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Arial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Arial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Arial" charset="0"/>
        </a:defRPr>
      </a:lvl9pPr>
    </p:titleStyle>
    <p:bodyStyle>
      <a:lvl1pPr marL="342900" indent="-17145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400" b="1">
          <a:solidFill>
            <a:srgbClr val="000000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2200" b="1">
          <a:solidFill>
            <a:srgbClr val="000000"/>
          </a:solidFill>
          <a:latin typeface="+mn-lt"/>
        </a:defRPr>
      </a:lvl2pPr>
      <a:lvl3pPr marL="1085850" indent="-17145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 b="1">
          <a:solidFill>
            <a:srgbClr val="000000"/>
          </a:solidFill>
          <a:latin typeface="+mn-lt"/>
        </a:defRPr>
      </a:lvl3pPr>
      <a:lvl4pPr marL="1543050" indent="-17145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b="1">
          <a:solidFill>
            <a:srgbClr val="000000"/>
          </a:solidFill>
          <a:latin typeface="+mn-lt"/>
        </a:defRPr>
      </a:lvl4pPr>
      <a:lvl5pPr marL="1943100" indent="-1143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b="1">
          <a:solidFill>
            <a:srgbClr val="000000"/>
          </a:solidFill>
          <a:latin typeface="+mn-lt"/>
        </a:defRPr>
      </a:lvl5pPr>
      <a:lvl6pPr marL="2400300" indent="-1143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b="1">
          <a:solidFill>
            <a:srgbClr val="000000"/>
          </a:solidFill>
          <a:latin typeface="+mn-lt"/>
        </a:defRPr>
      </a:lvl6pPr>
      <a:lvl7pPr marL="2857500" indent="-1143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b="1">
          <a:solidFill>
            <a:srgbClr val="000000"/>
          </a:solidFill>
          <a:latin typeface="+mn-lt"/>
        </a:defRPr>
      </a:lvl7pPr>
      <a:lvl8pPr marL="3314700" indent="-1143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b="1">
          <a:solidFill>
            <a:srgbClr val="000000"/>
          </a:solidFill>
          <a:latin typeface="+mn-lt"/>
        </a:defRPr>
      </a:lvl8pPr>
      <a:lvl9pPr marL="3771900" indent="-1143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b="1">
          <a:solidFill>
            <a:srgbClr val="000000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4" Type="http://schemas.openxmlformats.org/officeDocument/2006/relationships/image" Target="../media/image1.emf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4" Type="http://schemas.openxmlformats.org/officeDocument/2006/relationships/image" Target="../media/image7.emf"/><Relationship Id="rId5" Type="http://schemas.openxmlformats.org/officeDocument/2006/relationships/image" Target="../media/image8.emf"/><Relationship Id="rId6" Type="http://schemas.openxmlformats.org/officeDocument/2006/relationships/image" Target="../media/image9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4" Type="http://schemas.openxmlformats.org/officeDocument/2006/relationships/image" Target="../media/image13.emf"/><Relationship Id="rId5" Type="http://schemas.openxmlformats.org/officeDocument/2006/relationships/image" Target="../media/image14.emf"/><Relationship Id="rId6" Type="http://schemas.openxmlformats.org/officeDocument/2006/relationships/image" Target="../media/image15.emf"/><Relationship Id="rId7" Type="http://schemas.openxmlformats.org/officeDocument/2006/relationships/image" Target="../media/image16.png"/><Relationship Id="rId8" Type="http://schemas.openxmlformats.org/officeDocument/2006/relationships/image" Target="../media/image17.emf"/><Relationship Id="rId1" Type="http://schemas.microsoft.com/office/2007/relationships/media" Target="../media/media1.mpg"/><Relationship Id="rId2" Type="http://schemas.openxmlformats.org/officeDocument/2006/relationships/video" Target="../media/media1.m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4.png"/><Relationship Id="rId7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7" name="Rectangle 11"/>
          <p:cNvSpPr>
            <a:spLocks noChangeArrowheads="1"/>
          </p:cNvSpPr>
          <p:nvPr/>
        </p:nvSpPr>
        <p:spPr bwMode="auto">
          <a:xfrm>
            <a:off x="1645724" y="5985377"/>
            <a:ext cx="5850960" cy="7822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algn="ctr"/>
            <a:r>
              <a:rPr lang="en-US" sz="900" dirty="0">
                <a:solidFill>
                  <a:srgbClr val="000000"/>
                </a:solidFill>
                <a:latin typeface="Helvetica" pitchFamily="34" charset="0"/>
              </a:rPr>
              <a:t>This material is based upon work supported by the U.S. Department of Energy, Office of Science, </a:t>
            </a:r>
          </a:p>
          <a:p>
            <a:pPr algn="ctr"/>
            <a:r>
              <a:rPr lang="en-US" sz="900" dirty="0">
                <a:solidFill>
                  <a:srgbClr val="000000"/>
                </a:solidFill>
                <a:latin typeface="Helvetica" pitchFamily="34" charset="0"/>
              </a:rPr>
              <a:t>Office of Advanced Scientific Computing Research (ASCR), Applied Mathematics Program.</a:t>
            </a:r>
          </a:p>
          <a:p>
            <a:pPr algn="ctr"/>
            <a:r>
              <a:rPr lang="en-US" sz="900" dirty="0">
                <a:solidFill>
                  <a:srgbClr val="000000"/>
                </a:solidFill>
                <a:latin typeface="Helvetica" pitchFamily="34" charset="0"/>
              </a:rPr>
              <a:t>Sandia National Laboratories is a multi-mission laboratory managed and operated by National Technology and </a:t>
            </a:r>
            <a:br>
              <a:rPr lang="en-US" sz="900" dirty="0">
                <a:solidFill>
                  <a:srgbClr val="000000"/>
                </a:solidFill>
                <a:latin typeface="Helvetica" pitchFamily="34" charset="0"/>
              </a:rPr>
            </a:br>
            <a:r>
              <a:rPr lang="en-US" sz="900" dirty="0">
                <a:solidFill>
                  <a:srgbClr val="000000"/>
                </a:solidFill>
                <a:latin typeface="Helvetica" pitchFamily="34" charset="0"/>
              </a:rPr>
              <a:t>Engineering Solutions of Sandia, LLC., a wholly owned subsidiary of Honeywell International, Inc., for the </a:t>
            </a:r>
          </a:p>
          <a:p>
            <a:pPr algn="ctr"/>
            <a:r>
              <a:rPr lang="en-US" sz="900" dirty="0">
                <a:solidFill>
                  <a:srgbClr val="000000"/>
                </a:solidFill>
                <a:latin typeface="Helvetica" pitchFamily="34" charset="0"/>
              </a:rPr>
              <a:t>U.S. Department of Energy's National Nuclear Security Administration under contract DE-NA-0003525.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20700" y="4392034"/>
            <a:ext cx="8070850" cy="1763120"/>
          </a:xfrm>
          <a:noFill/>
          <a:ln/>
        </p:spPr>
        <p:txBody>
          <a:bodyPr/>
          <a:lstStyle/>
          <a:p>
            <a:pPr marL="342900" indent="-171450">
              <a:lnSpc>
                <a:spcPct val="80000"/>
              </a:lnSpc>
            </a:pPr>
            <a:endParaRPr lang="en-US" sz="1600" dirty="0" smtClean="0">
              <a:solidFill>
                <a:schemeClr val="accent2"/>
              </a:solidFill>
            </a:endParaRPr>
          </a:p>
          <a:p>
            <a:pPr marL="342900" indent="-171450">
              <a:lnSpc>
                <a:spcPct val="80000"/>
              </a:lnSpc>
            </a:pPr>
            <a:r>
              <a:rPr lang="en-US" sz="1600" dirty="0"/>
              <a:t>University of Maryland, College Park     	University of Texas, Austin</a:t>
            </a:r>
            <a:br>
              <a:rPr lang="en-US" sz="1600" dirty="0"/>
            </a:br>
            <a:r>
              <a:rPr lang="en-US" sz="1600" dirty="0"/>
              <a:t>Sandia National Labs, Center for Computing Research</a:t>
            </a:r>
          </a:p>
          <a:p>
            <a:pPr marL="342900" indent="-171450">
              <a:lnSpc>
                <a:spcPct val="80000"/>
              </a:lnSpc>
            </a:pP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>
                <a:solidFill>
                  <a:schemeClr val="accent6"/>
                </a:solidFill>
              </a:rPr>
              <a:t>CCCG 2017, Ottawa</a:t>
            </a:r>
          </a:p>
          <a:p>
            <a:pPr marL="342900" indent="-171450">
              <a:lnSpc>
                <a:spcPct val="80000"/>
              </a:lnSpc>
            </a:pPr>
            <a:r>
              <a:rPr lang="en-US" sz="1600" dirty="0">
                <a:solidFill>
                  <a:schemeClr val="accent6"/>
                </a:solidFill>
              </a:rPr>
              <a:t>Thursday 27 July 2017, 10:30-10:50, Session 3B in TB 340</a:t>
            </a:r>
          </a:p>
          <a:p>
            <a:pPr marL="342900" indent="-171450">
              <a:lnSpc>
                <a:spcPct val="80000"/>
              </a:lnSpc>
            </a:pPr>
            <a:r>
              <a:rPr lang="en-US" sz="1100" dirty="0">
                <a:solidFill>
                  <a:schemeClr val="tx1"/>
                </a:solidFill>
              </a:rPr>
              <a:t>20</a:t>
            </a:r>
            <a:r>
              <a:rPr lang="en-US" sz="1100" dirty="0" smtClean="0">
                <a:solidFill>
                  <a:schemeClr val="tx1"/>
                </a:solidFill>
              </a:rPr>
              <a:t> minutes gross (17 incl. questions, + transition)</a:t>
            </a:r>
            <a:br>
              <a:rPr lang="en-US" sz="1100" dirty="0" smtClean="0">
                <a:solidFill>
                  <a:schemeClr val="tx1"/>
                </a:solidFill>
              </a:rPr>
            </a:br>
            <a:endParaRPr lang="en-US" sz="1100" dirty="0">
              <a:solidFill>
                <a:schemeClr val="tx1"/>
              </a:solidFill>
            </a:endParaRPr>
          </a:p>
        </p:txBody>
      </p:sp>
      <p:pic>
        <p:nvPicPr>
          <p:cNvPr id="4106" name="Picture 10" descr="NNSAlogo04100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6343650"/>
            <a:ext cx="914400" cy="333375"/>
          </a:xfrm>
          <a:prstGeom prst="rect">
            <a:avLst/>
          </a:prstGeom>
          <a:noFill/>
        </p:spPr>
      </p:pic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28443" y="3319437"/>
            <a:ext cx="8286750" cy="1203559"/>
          </a:xfrm>
          <a:noFill/>
          <a:ln/>
        </p:spPr>
        <p:txBody>
          <a:bodyPr/>
          <a:lstStyle/>
          <a:p>
            <a:r>
              <a:rPr lang="en-US" sz="2400" dirty="0">
                <a:solidFill>
                  <a:schemeClr val="tx1"/>
                </a:solidFill>
                <a:latin typeface="Helvetica" pitchFamily="34" charset="0"/>
              </a:rPr>
              <a:t>A Seed Placement Strategy for </a:t>
            </a:r>
            <a:br>
              <a:rPr lang="en-US" sz="2400" dirty="0">
                <a:solidFill>
                  <a:schemeClr val="tx1"/>
                </a:solidFill>
                <a:latin typeface="Helvetica" pitchFamily="34" charset="0"/>
              </a:rPr>
            </a:br>
            <a:r>
              <a:rPr lang="en-US" sz="2400" dirty="0">
                <a:solidFill>
                  <a:schemeClr val="tx1"/>
                </a:solidFill>
                <a:latin typeface="Helvetica" pitchFamily="34" charset="0"/>
              </a:rPr>
              <a:t>Conforming Voronoi Meshing</a:t>
            </a: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/>
              <a:t> Ahmed Abdelkader, Chandrajit Bajaj, Mohamed Ebeida and </a:t>
            </a:r>
            <a:r>
              <a:rPr lang="en-US" sz="1800" i="1" dirty="0"/>
              <a:t>Scott Mitchell</a:t>
            </a:r>
            <a:endParaRPr lang="en-US" sz="1800" i="1" dirty="0">
              <a:solidFill>
                <a:schemeClr val="tx1"/>
              </a:solidFill>
              <a:latin typeface="Helvetica" pitchFamily="34" charset="0"/>
            </a:endParaRPr>
          </a:p>
        </p:txBody>
      </p:sp>
      <p:pic>
        <p:nvPicPr>
          <p:cNvPr id="33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663641" y="-3388"/>
            <a:ext cx="1589117" cy="65259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8" descr="SNL_color_stack.png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991435" y="676642"/>
            <a:ext cx="935182" cy="411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2813" y="323977"/>
            <a:ext cx="2293697" cy="2286000"/>
          </a:xfrm>
          <a:prstGeom prst="rect">
            <a:avLst/>
          </a:prstGeom>
        </p:spPr>
      </p:pic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781777" y="39939"/>
            <a:ext cx="3125323" cy="2743200"/>
            <a:chOff x="152400" y="533400"/>
            <a:chExt cx="7417061" cy="6510207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52400" y="533400"/>
              <a:ext cx="6346874" cy="6510207"/>
            </a:xfrm>
            <a:prstGeom prst="rect">
              <a:avLst/>
            </a:prstGeom>
          </p:spPr>
        </p:pic>
        <p:sp>
          <p:nvSpPr>
            <p:cNvPr id="11" name="Freeform 10"/>
            <p:cNvSpPr/>
            <p:nvPr/>
          </p:nvSpPr>
          <p:spPr>
            <a:xfrm>
              <a:off x="833642" y="1497948"/>
              <a:ext cx="6695179" cy="4448257"/>
            </a:xfrm>
            <a:custGeom>
              <a:avLst/>
              <a:gdLst>
                <a:gd name="connsiteX0" fmla="*/ 6695179 w 6695179"/>
                <a:gd name="connsiteY0" fmla="*/ 4415692 h 4448257"/>
                <a:gd name="connsiteX1" fmla="*/ 91179 w 6695179"/>
                <a:gd name="connsiteY1" fmla="*/ 4448257 h 4448257"/>
                <a:gd name="connsiteX2" fmla="*/ 0 w 6695179"/>
                <a:gd name="connsiteY2" fmla="*/ 0 h 4448257"/>
                <a:gd name="connsiteX3" fmla="*/ 4435231 w 6695179"/>
                <a:gd name="connsiteY3" fmla="*/ 677333 h 4448257"/>
                <a:gd name="connsiteX4" fmla="*/ 4962769 w 6695179"/>
                <a:gd name="connsiteY4" fmla="*/ 1452359 h 4448257"/>
                <a:gd name="connsiteX5" fmla="*/ 2155744 w 6695179"/>
                <a:gd name="connsiteY5" fmla="*/ 2605128 h 4448257"/>
                <a:gd name="connsiteX6" fmla="*/ 6695179 w 6695179"/>
                <a:gd name="connsiteY6" fmla="*/ 4415692 h 4448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95179" h="4448257">
                  <a:moveTo>
                    <a:pt x="6695179" y="4415692"/>
                  </a:moveTo>
                  <a:lnTo>
                    <a:pt x="91179" y="4448257"/>
                  </a:lnTo>
                  <a:lnTo>
                    <a:pt x="0" y="0"/>
                  </a:lnTo>
                  <a:lnTo>
                    <a:pt x="4435231" y="677333"/>
                  </a:lnTo>
                  <a:lnTo>
                    <a:pt x="4962769" y="1452359"/>
                  </a:lnTo>
                  <a:lnTo>
                    <a:pt x="2155744" y="2605128"/>
                  </a:lnTo>
                  <a:lnTo>
                    <a:pt x="6695179" y="4415692"/>
                  </a:lnTo>
                  <a:close/>
                </a:path>
              </a:pathLst>
            </a:custGeom>
            <a:ln w="50800">
              <a:solidFill>
                <a:schemeClr val="tx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12" name="Oval 11"/>
            <p:cNvSpPr>
              <a:spLocks noChangeAspect="1"/>
            </p:cNvSpPr>
            <p:nvPr/>
          </p:nvSpPr>
          <p:spPr>
            <a:xfrm>
              <a:off x="801077" y="1458873"/>
              <a:ext cx="91440" cy="91440"/>
            </a:xfrm>
            <a:prstGeom prst="ellipse">
              <a:avLst/>
            </a:prstGeom>
            <a:solidFill>
              <a:srgbClr val="008000"/>
            </a:solidFill>
            <a:ln>
              <a:solidFill>
                <a:srgbClr val="008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solidFill>
                  <a:srgbClr val="008000"/>
                </a:solidFill>
                <a:latin typeface="Times" pitchFamily="18" charset="0"/>
              </a:endParaRPr>
            </a:p>
          </p:txBody>
        </p:sp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2008553" y="1643838"/>
              <a:ext cx="91440" cy="91440"/>
            </a:xfrm>
            <a:prstGeom prst="ellipse">
              <a:avLst/>
            </a:prstGeom>
            <a:solidFill>
              <a:srgbClr val="008000"/>
            </a:solidFill>
            <a:ln>
              <a:solidFill>
                <a:srgbClr val="008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solidFill>
                  <a:srgbClr val="008000"/>
                </a:solidFill>
                <a:latin typeface="Times" pitchFamily="18" charset="0"/>
              </a:endParaRPr>
            </a:p>
          </p:txBody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5736493" y="2909929"/>
              <a:ext cx="91440" cy="91440"/>
            </a:xfrm>
            <a:prstGeom prst="ellipse">
              <a:avLst/>
            </a:prstGeom>
            <a:solidFill>
              <a:srgbClr val="008000"/>
            </a:solidFill>
            <a:ln>
              <a:solidFill>
                <a:srgbClr val="008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solidFill>
                  <a:srgbClr val="008000"/>
                </a:solidFill>
                <a:latin typeface="Times" pitchFamily="18" charset="0"/>
              </a:endParaRPr>
            </a:p>
          </p:txBody>
        </p:sp>
        <p:sp>
          <p:nvSpPr>
            <p:cNvPr id="15" name="Oval 14"/>
            <p:cNvSpPr>
              <a:spLocks noChangeAspect="1"/>
            </p:cNvSpPr>
            <p:nvPr/>
          </p:nvSpPr>
          <p:spPr>
            <a:xfrm>
              <a:off x="5231098" y="2144022"/>
              <a:ext cx="91440" cy="91440"/>
            </a:xfrm>
            <a:prstGeom prst="ellipse">
              <a:avLst/>
            </a:prstGeom>
            <a:solidFill>
              <a:srgbClr val="008000"/>
            </a:solidFill>
            <a:ln>
              <a:solidFill>
                <a:srgbClr val="008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solidFill>
                  <a:srgbClr val="008000"/>
                </a:solidFill>
                <a:latin typeface="Times" pitchFamily="18" charset="0"/>
              </a:endParaRPr>
            </a:p>
          </p:txBody>
        </p:sp>
        <p:sp>
          <p:nvSpPr>
            <p:cNvPr id="16" name="Oval 15"/>
            <p:cNvSpPr>
              <a:spLocks noChangeAspect="1"/>
            </p:cNvSpPr>
            <p:nvPr/>
          </p:nvSpPr>
          <p:spPr>
            <a:xfrm>
              <a:off x="810195" y="2470966"/>
              <a:ext cx="91440" cy="91440"/>
            </a:xfrm>
            <a:prstGeom prst="ellipse">
              <a:avLst/>
            </a:prstGeom>
            <a:solidFill>
              <a:srgbClr val="008000"/>
            </a:solidFill>
            <a:ln>
              <a:solidFill>
                <a:srgbClr val="008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solidFill>
                  <a:srgbClr val="008000"/>
                </a:solidFill>
                <a:latin typeface="Times" pitchFamily="18" charset="0"/>
              </a:endParaRPr>
            </a:p>
          </p:txBody>
        </p:sp>
        <p:sp>
          <p:nvSpPr>
            <p:cNvPr id="17" name="Oval 16"/>
            <p:cNvSpPr>
              <a:spLocks noChangeAspect="1"/>
            </p:cNvSpPr>
            <p:nvPr/>
          </p:nvSpPr>
          <p:spPr>
            <a:xfrm>
              <a:off x="845364" y="4225520"/>
              <a:ext cx="91440" cy="91440"/>
            </a:xfrm>
            <a:prstGeom prst="ellipse">
              <a:avLst/>
            </a:prstGeom>
            <a:solidFill>
              <a:srgbClr val="008000"/>
            </a:solidFill>
            <a:ln>
              <a:solidFill>
                <a:srgbClr val="008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solidFill>
                  <a:srgbClr val="008000"/>
                </a:solidFill>
                <a:latin typeface="Times" pitchFamily="18" charset="0"/>
              </a:endParaRPr>
            </a:p>
          </p:txBody>
        </p:sp>
        <p:sp>
          <p:nvSpPr>
            <p:cNvPr id="18" name="Oval 17"/>
            <p:cNvSpPr>
              <a:spLocks noChangeAspect="1"/>
            </p:cNvSpPr>
            <p:nvPr/>
          </p:nvSpPr>
          <p:spPr>
            <a:xfrm>
              <a:off x="828431" y="3531252"/>
              <a:ext cx="91440" cy="91440"/>
            </a:xfrm>
            <a:prstGeom prst="ellipse">
              <a:avLst/>
            </a:prstGeom>
            <a:solidFill>
              <a:srgbClr val="008000"/>
            </a:solidFill>
            <a:ln>
              <a:solidFill>
                <a:srgbClr val="008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solidFill>
                  <a:srgbClr val="008000"/>
                </a:solidFill>
                <a:latin typeface="Times" pitchFamily="18" charset="0"/>
              </a:endParaRPr>
            </a:p>
          </p:txBody>
        </p:sp>
        <p:sp>
          <p:nvSpPr>
            <p:cNvPr id="19" name="Oval 18"/>
            <p:cNvSpPr>
              <a:spLocks noChangeAspect="1"/>
            </p:cNvSpPr>
            <p:nvPr/>
          </p:nvSpPr>
          <p:spPr>
            <a:xfrm>
              <a:off x="894862" y="5896709"/>
              <a:ext cx="91440" cy="91440"/>
            </a:xfrm>
            <a:prstGeom prst="ellipse">
              <a:avLst/>
            </a:prstGeom>
            <a:solidFill>
              <a:srgbClr val="008000"/>
            </a:solidFill>
            <a:ln>
              <a:solidFill>
                <a:srgbClr val="008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solidFill>
                  <a:srgbClr val="008000"/>
                </a:solidFill>
                <a:latin typeface="Times" pitchFamily="18" charset="0"/>
              </a:endParaRPr>
            </a:p>
          </p:txBody>
        </p:sp>
        <p:sp>
          <p:nvSpPr>
            <p:cNvPr id="20" name="Oval 19"/>
            <p:cNvSpPr>
              <a:spLocks noChangeAspect="1"/>
            </p:cNvSpPr>
            <p:nvPr/>
          </p:nvSpPr>
          <p:spPr>
            <a:xfrm>
              <a:off x="2968544" y="4049673"/>
              <a:ext cx="91440" cy="91440"/>
            </a:xfrm>
            <a:prstGeom prst="ellipse">
              <a:avLst/>
            </a:prstGeom>
            <a:solidFill>
              <a:srgbClr val="008000"/>
            </a:solidFill>
            <a:ln>
              <a:solidFill>
                <a:srgbClr val="008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solidFill>
                  <a:srgbClr val="008000"/>
                </a:solidFill>
                <a:latin typeface="Times" pitchFamily="18" charset="0"/>
              </a:endParaRPr>
            </a:p>
          </p:txBody>
        </p:sp>
        <p:sp>
          <p:nvSpPr>
            <p:cNvPr id="21" name="Oval 20"/>
            <p:cNvSpPr>
              <a:spLocks noChangeAspect="1"/>
            </p:cNvSpPr>
            <p:nvPr/>
          </p:nvSpPr>
          <p:spPr>
            <a:xfrm>
              <a:off x="1922585" y="5888894"/>
              <a:ext cx="91440" cy="91440"/>
            </a:xfrm>
            <a:prstGeom prst="ellipse">
              <a:avLst/>
            </a:prstGeom>
            <a:solidFill>
              <a:srgbClr val="008000"/>
            </a:solidFill>
            <a:ln>
              <a:solidFill>
                <a:srgbClr val="008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solidFill>
                  <a:srgbClr val="008000"/>
                </a:solidFill>
                <a:latin typeface="Times" pitchFamily="18" charset="0"/>
              </a:endParaRPr>
            </a:p>
          </p:txBody>
        </p:sp>
        <p:sp>
          <p:nvSpPr>
            <p:cNvPr id="22" name="Oval 21"/>
            <p:cNvSpPr>
              <a:spLocks noChangeAspect="1"/>
            </p:cNvSpPr>
            <p:nvPr/>
          </p:nvSpPr>
          <p:spPr>
            <a:xfrm>
              <a:off x="4996637" y="5882380"/>
              <a:ext cx="91440" cy="91440"/>
            </a:xfrm>
            <a:prstGeom prst="ellipse">
              <a:avLst/>
            </a:prstGeom>
            <a:solidFill>
              <a:srgbClr val="008000"/>
            </a:solidFill>
            <a:ln>
              <a:solidFill>
                <a:srgbClr val="008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solidFill>
                  <a:srgbClr val="008000"/>
                </a:solidFill>
                <a:latin typeface="Times" pitchFamily="18" charset="0"/>
              </a:endParaRPr>
            </a:p>
          </p:txBody>
        </p:sp>
        <p:sp>
          <p:nvSpPr>
            <p:cNvPr id="23" name="Oval 22"/>
            <p:cNvSpPr>
              <a:spLocks noChangeAspect="1"/>
            </p:cNvSpPr>
            <p:nvPr/>
          </p:nvSpPr>
          <p:spPr>
            <a:xfrm>
              <a:off x="3918113" y="4452165"/>
              <a:ext cx="91440" cy="91440"/>
            </a:xfrm>
            <a:prstGeom prst="ellipse">
              <a:avLst/>
            </a:prstGeom>
            <a:solidFill>
              <a:srgbClr val="008000"/>
            </a:solidFill>
            <a:ln>
              <a:solidFill>
                <a:srgbClr val="008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solidFill>
                  <a:srgbClr val="008000"/>
                </a:solidFill>
                <a:latin typeface="Times" pitchFamily="18" charset="0"/>
              </a:endParaRPr>
            </a:p>
          </p:txBody>
        </p:sp>
        <p:sp>
          <p:nvSpPr>
            <p:cNvPr id="24" name="Oval 23"/>
            <p:cNvSpPr>
              <a:spLocks noChangeAspect="1"/>
            </p:cNvSpPr>
            <p:nvPr/>
          </p:nvSpPr>
          <p:spPr>
            <a:xfrm>
              <a:off x="3189980" y="5892802"/>
              <a:ext cx="91440" cy="91440"/>
            </a:xfrm>
            <a:prstGeom prst="ellipse">
              <a:avLst/>
            </a:prstGeom>
            <a:solidFill>
              <a:srgbClr val="008000"/>
            </a:solidFill>
            <a:ln>
              <a:solidFill>
                <a:srgbClr val="008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solidFill>
                  <a:srgbClr val="008000"/>
                </a:solidFill>
                <a:latin typeface="Times" pitchFamily="18" charset="0"/>
              </a:endParaRPr>
            </a:p>
          </p:txBody>
        </p:sp>
        <p:sp>
          <p:nvSpPr>
            <p:cNvPr id="25" name="Oval 24"/>
            <p:cNvSpPr>
              <a:spLocks noChangeAspect="1"/>
            </p:cNvSpPr>
            <p:nvPr/>
          </p:nvSpPr>
          <p:spPr>
            <a:xfrm>
              <a:off x="7478021" y="5875868"/>
              <a:ext cx="91440" cy="91440"/>
            </a:xfrm>
            <a:prstGeom prst="ellipse">
              <a:avLst/>
            </a:prstGeom>
            <a:solidFill>
              <a:srgbClr val="008000"/>
            </a:solidFill>
            <a:ln>
              <a:solidFill>
                <a:srgbClr val="008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solidFill>
                  <a:srgbClr val="008000"/>
                </a:solidFill>
                <a:latin typeface="Times" pitchFamily="18" charset="0"/>
              </a:endParaRPr>
            </a:p>
          </p:txBody>
        </p:sp>
        <p:sp>
          <p:nvSpPr>
            <p:cNvPr id="26" name="Oval 25"/>
            <p:cNvSpPr>
              <a:spLocks noChangeAspect="1"/>
            </p:cNvSpPr>
            <p:nvPr/>
          </p:nvSpPr>
          <p:spPr>
            <a:xfrm>
              <a:off x="3205610" y="1811868"/>
              <a:ext cx="91440" cy="91440"/>
            </a:xfrm>
            <a:prstGeom prst="ellipse">
              <a:avLst/>
            </a:prstGeom>
            <a:solidFill>
              <a:srgbClr val="008000"/>
            </a:solidFill>
            <a:ln>
              <a:solidFill>
                <a:srgbClr val="008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solidFill>
                  <a:srgbClr val="008000"/>
                </a:solidFill>
                <a:latin typeface="Times" pitchFamily="18" charset="0"/>
              </a:endParaRPr>
            </a:p>
          </p:txBody>
        </p:sp>
        <p:sp>
          <p:nvSpPr>
            <p:cNvPr id="27" name="Oval 26"/>
            <p:cNvSpPr>
              <a:spLocks noChangeAspect="1"/>
            </p:cNvSpPr>
            <p:nvPr/>
          </p:nvSpPr>
          <p:spPr>
            <a:xfrm>
              <a:off x="3787857" y="3716216"/>
              <a:ext cx="91440" cy="91440"/>
            </a:xfrm>
            <a:prstGeom prst="ellipse">
              <a:avLst/>
            </a:prstGeom>
            <a:solidFill>
              <a:srgbClr val="008000"/>
            </a:solidFill>
            <a:ln>
              <a:solidFill>
                <a:srgbClr val="008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solidFill>
                  <a:srgbClr val="008000"/>
                </a:solidFill>
                <a:latin typeface="Times" pitchFamily="18" charset="0"/>
              </a:endParaRPr>
            </a:p>
          </p:txBody>
        </p:sp>
        <p:sp>
          <p:nvSpPr>
            <p:cNvPr id="28" name="Oval 27"/>
            <p:cNvSpPr>
              <a:spLocks noChangeAspect="1"/>
            </p:cNvSpPr>
            <p:nvPr/>
          </p:nvSpPr>
          <p:spPr>
            <a:xfrm>
              <a:off x="4760872" y="3308514"/>
              <a:ext cx="91440" cy="91440"/>
            </a:xfrm>
            <a:prstGeom prst="ellipse">
              <a:avLst/>
            </a:prstGeom>
            <a:solidFill>
              <a:srgbClr val="008000"/>
            </a:solidFill>
            <a:ln>
              <a:solidFill>
                <a:srgbClr val="008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solidFill>
                  <a:srgbClr val="008000"/>
                </a:solidFill>
                <a:latin typeface="Times" pitchFamily="18" charset="0"/>
              </a:endParaRPr>
            </a:p>
          </p:txBody>
        </p:sp>
        <p:sp>
          <p:nvSpPr>
            <p:cNvPr id="29" name="Oval 28"/>
            <p:cNvSpPr>
              <a:spLocks noChangeAspect="1"/>
            </p:cNvSpPr>
            <p:nvPr/>
          </p:nvSpPr>
          <p:spPr>
            <a:xfrm>
              <a:off x="4631918" y="2046330"/>
              <a:ext cx="91440" cy="91440"/>
            </a:xfrm>
            <a:prstGeom prst="ellipse">
              <a:avLst/>
            </a:prstGeom>
            <a:solidFill>
              <a:srgbClr val="008000"/>
            </a:solidFill>
            <a:ln>
              <a:solidFill>
                <a:srgbClr val="008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solidFill>
                  <a:srgbClr val="008000"/>
                </a:solidFill>
                <a:latin typeface="Times" pitchFamily="18" charset="0"/>
              </a:endParaRPr>
            </a:p>
          </p:txBody>
        </p:sp>
        <p:sp>
          <p:nvSpPr>
            <p:cNvPr id="30" name="Oval 29"/>
            <p:cNvSpPr>
              <a:spLocks noChangeAspect="1"/>
            </p:cNvSpPr>
            <p:nvPr/>
          </p:nvSpPr>
          <p:spPr>
            <a:xfrm>
              <a:off x="5184206" y="4936719"/>
              <a:ext cx="91440" cy="91440"/>
            </a:xfrm>
            <a:prstGeom prst="ellipse">
              <a:avLst/>
            </a:prstGeom>
            <a:solidFill>
              <a:srgbClr val="008000"/>
            </a:solidFill>
            <a:ln>
              <a:solidFill>
                <a:srgbClr val="008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solidFill>
                  <a:srgbClr val="008000"/>
                </a:solidFill>
                <a:latin typeface="Times" pitchFamily="18" charset="0"/>
              </a:endParaRPr>
            </a:p>
          </p:txBody>
        </p:sp>
        <p:sp>
          <p:nvSpPr>
            <p:cNvPr id="31" name="Oval 30"/>
            <p:cNvSpPr>
              <a:spLocks noChangeAspect="1"/>
            </p:cNvSpPr>
            <p:nvPr/>
          </p:nvSpPr>
          <p:spPr>
            <a:xfrm>
              <a:off x="4487334" y="4669693"/>
              <a:ext cx="91440" cy="91440"/>
            </a:xfrm>
            <a:prstGeom prst="ellipse">
              <a:avLst/>
            </a:prstGeom>
            <a:solidFill>
              <a:srgbClr val="008000"/>
            </a:solidFill>
            <a:ln>
              <a:solidFill>
                <a:srgbClr val="008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solidFill>
                  <a:srgbClr val="008000"/>
                </a:solidFill>
                <a:latin typeface="Times" pitchFamily="18" charset="0"/>
              </a:endParaRPr>
            </a:p>
          </p:txBody>
        </p:sp>
        <p:sp>
          <p:nvSpPr>
            <p:cNvPr id="32" name="Oval 31"/>
            <p:cNvSpPr>
              <a:spLocks noChangeAspect="1"/>
            </p:cNvSpPr>
            <p:nvPr/>
          </p:nvSpPr>
          <p:spPr>
            <a:xfrm>
              <a:off x="4431324" y="5883682"/>
              <a:ext cx="91440" cy="91440"/>
            </a:xfrm>
            <a:prstGeom prst="ellipse">
              <a:avLst/>
            </a:prstGeom>
            <a:solidFill>
              <a:srgbClr val="008000"/>
            </a:solidFill>
            <a:ln>
              <a:solidFill>
                <a:srgbClr val="008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solidFill>
                  <a:srgbClr val="008000"/>
                </a:solidFill>
                <a:latin typeface="Times" pitchFamily="18" charset="0"/>
              </a:endParaRPr>
            </a:p>
          </p:txBody>
        </p:sp>
        <p:sp>
          <p:nvSpPr>
            <p:cNvPr id="35" name="Oval 34"/>
            <p:cNvSpPr>
              <a:spLocks noChangeAspect="1"/>
            </p:cNvSpPr>
            <p:nvPr/>
          </p:nvSpPr>
          <p:spPr>
            <a:xfrm>
              <a:off x="2407138" y="2140113"/>
              <a:ext cx="91440" cy="91440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36" name="Oval 35"/>
            <p:cNvSpPr>
              <a:spLocks noChangeAspect="1"/>
            </p:cNvSpPr>
            <p:nvPr/>
          </p:nvSpPr>
          <p:spPr>
            <a:xfrm>
              <a:off x="2546513" y="1243949"/>
              <a:ext cx="91440" cy="9144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37" name="Oval 36"/>
            <p:cNvSpPr>
              <a:spLocks noChangeAspect="1"/>
            </p:cNvSpPr>
            <p:nvPr/>
          </p:nvSpPr>
          <p:spPr>
            <a:xfrm>
              <a:off x="1361179" y="1751949"/>
              <a:ext cx="91440" cy="91440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38" name="Oval 37"/>
            <p:cNvSpPr>
              <a:spLocks noChangeAspect="1"/>
            </p:cNvSpPr>
            <p:nvPr/>
          </p:nvSpPr>
          <p:spPr>
            <a:xfrm>
              <a:off x="1116297" y="1989015"/>
              <a:ext cx="91440" cy="91440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39" name="Oval 38"/>
            <p:cNvSpPr>
              <a:spLocks noChangeAspect="1"/>
            </p:cNvSpPr>
            <p:nvPr/>
          </p:nvSpPr>
          <p:spPr>
            <a:xfrm>
              <a:off x="962595" y="3007621"/>
              <a:ext cx="91440" cy="91440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40" name="Oval 39"/>
            <p:cNvSpPr>
              <a:spLocks noChangeAspect="1"/>
            </p:cNvSpPr>
            <p:nvPr/>
          </p:nvSpPr>
          <p:spPr>
            <a:xfrm>
              <a:off x="1180122" y="3928533"/>
              <a:ext cx="91440" cy="91440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41" name="Oval 40"/>
            <p:cNvSpPr>
              <a:spLocks noChangeAspect="1"/>
            </p:cNvSpPr>
            <p:nvPr/>
          </p:nvSpPr>
          <p:spPr>
            <a:xfrm>
              <a:off x="1026421" y="4654061"/>
              <a:ext cx="91440" cy="91440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42" name="Oval 41"/>
            <p:cNvSpPr>
              <a:spLocks noChangeAspect="1"/>
            </p:cNvSpPr>
            <p:nvPr/>
          </p:nvSpPr>
          <p:spPr>
            <a:xfrm>
              <a:off x="2461846" y="5379589"/>
              <a:ext cx="91440" cy="91440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43" name="Oval 42"/>
            <p:cNvSpPr>
              <a:spLocks noChangeAspect="1"/>
            </p:cNvSpPr>
            <p:nvPr/>
          </p:nvSpPr>
          <p:spPr>
            <a:xfrm>
              <a:off x="1858759" y="5154246"/>
              <a:ext cx="91440" cy="91440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44" name="Oval 43"/>
            <p:cNvSpPr>
              <a:spLocks noChangeAspect="1"/>
            </p:cNvSpPr>
            <p:nvPr/>
          </p:nvSpPr>
          <p:spPr>
            <a:xfrm>
              <a:off x="3997569" y="2173980"/>
              <a:ext cx="91440" cy="91440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45" name="Oval 44"/>
            <p:cNvSpPr>
              <a:spLocks noChangeAspect="1"/>
            </p:cNvSpPr>
            <p:nvPr/>
          </p:nvSpPr>
          <p:spPr>
            <a:xfrm>
              <a:off x="5113866" y="2554329"/>
              <a:ext cx="91440" cy="91440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46" name="Oval 45"/>
            <p:cNvSpPr>
              <a:spLocks noChangeAspect="1"/>
            </p:cNvSpPr>
            <p:nvPr/>
          </p:nvSpPr>
          <p:spPr>
            <a:xfrm>
              <a:off x="5370471" y="2563447"/>
              <a:ext cx="91440" cy="91440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47" name="Oval 46"/>
            <p:cNvSpPr>
              <a:spLocks noChangeAspect="1"/>
            </p:cNvSpPr>
            <p:nvPr/>
          </p:nvSpPr>
          <p:spPr>
            <a:xfrm>
              <a:off x="5249333" y="2833077"/>
              <a:ext cx="91440" cy="91440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48" name="Oval 47"/>
            <p:cNvSpPr>
              <a:spLocks noChangeAspect="1"/>
            </p:cNvSpPr>
            <p:nvPr/>
          </p:nvSpPr>
          <p:spPr>
            <a:xfrm>
              <a:off x="4079630" y="3473938"/>
              <a:ext cx="91440" cy="91440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49" name="Oval 48"/>
            <p:cNvSpPr>
              <a:spLocks noChangeAspect="1"/>
            </p:cNvSpPr>
            <p:nvPr/>
          </p:nvSpPr>
          <p:spPr>
            <a:xfrm>
              <a:off x="3548184" y="3365826"/>
              <a:ext cx="91440" cy="91440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50" name="Oval 49"/>
            <p:cNvSpPr>
              <a:spLocks noChangeAspect="1"/>
            </p:cNvSpPr>
            <p:nvPr/>
          </p:nvSpPr>
          <p:spPr>
            <a:xfrm>
              <a:off x="3563815" y="4657970"/>
              <a:ext cx="91440" cy="91440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51" name="Oval 50"/>
            <p:cNvSpPr>
              <a:spLocks noChangeAspect="1"/>
            </p:cNvSpPr>
            <p:nvPr/>
          </p:nvSpPr>
          <p:spPr>
            <a:xfrm>
              <a:off x="5572369" y="5513754"/>
              <a:ext cx="91440" cy="91440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52" name="Oval 51"/>
            <p:cNvSpPr>
              <a:spLocks noChangeAspect="1"/>
            </p:cNvSpPr>
            <p:nvPr/>
          </p:nvSpPr>
          <p:spPr>
            <a:xfrm>
              <a:off x="4233332" y="4702257"/>
              <a:ext cx="91440" cy="91440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53" name="Oval 52"/>
            <p:cNvSpPr>
              <a:spLocks noChangeAspect="1"/>
            </p:cNvSpPr>
            <p:nvPr/>
          </p:nvSpPr>
          <p:spPr>
            <a:xfrm>
              <a:off x="4515989" y="4913272"/>
              <a:ext cx="91440" cy="91440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54" name="Oval 53"/>
            <p:cNvSpPr>
              <a:spLocks noChangeAspect="1"/>
            </p:cNvSpPr>
            <p:nvPr/>
          </p:nvSpPr>
          <p:spPr>
            <a:xfrm>
              <a:off x="4062697" y="5671364"/>
              <a:ext cx="91440" cy="91440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55" name="Oval 54"/>
            <p:cNvSpPr>
              <a:spLocks noChangeAspect="1"/>
            </p:cNvSpPr>
            <p:nvPr/>
          </p:nvSpPr>
          <p:spPr>
            <a:xfrm>
              <a:off x="4443046" y="5472072"/>
              <a:ext cx="91440" cy="91440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56" name="Oval 55"/>
            <p:cNvSpPr>
              <a:spLocks noChangeAspect="1"/>
            </p:cNvSpPr>
            <p:nvPr/>
          </p:nvSpPr>
          <p:spPr>
            <a:xfrm>
              <a:off x="4614984" y="5305344"/>
              <a:ext cx="91440" cy="91440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57" name="Oval 56"/>
            <p:cNvSpPr>
              <a:spLocks noChangeAspect="1"/>
            </p:cNvSpPr>
            <p:nvPr/>
          </p:nvSpPr>
          <p:spPr>
            <a:xfrm>
              <a:off x="1422401" y="1331220"/>
              <a:ext cx="91440" cy="9144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58" name="Oval 57"/>
            <p:cNvSpPr>
              <a:spLocks noChangeAspect="1"/>
            </p:cNvSpPr>
            <p:nvPr/>
          </p:nvSpPr>
          <p:spPr>
            <a:xfrm>
              <a:off x="500185" y="1985108"/>
              <a:ext cx="91440" cy="9144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59" name="Oval 58"/>
            <p:cNvSpPr>
              <a:spLocks noChangeAspect="1"/>
            </p:cNvSpPr>
            <p:nvPr/>
          </p:nvSpPr>
          <p:spPr>
            <a:xfrm>
              <a:off x="685148" y="3016739"/>
              <a:ext cx="91440" cy="9144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60" name="Oval 59"/>
            <p:cNvSpPr>
              <a:spLocks noChangeAspect="1"/>
            </p:cNvSpPr>
            <p:nvPr/>
          </p:nvSpPr>
          <p:spPr>
            <a:xfrm>
              <a:off x="485857" y="3950678"/>
              <a:ext cx="91440" cy="9144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61" name="Oval 60"/>
            <p:cNvSpPr>
              <a:spLocks noChangeAspect="1"/>
            </p:cNvSpPr>
            <p:nvPr/>
          </p:nvSpPr>
          <p:spPr>
            <a:xfrm>
              <a:off x="690359" y="4656667"/>
              <a:ext cx="91440" cy="9144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62" name="Oval 61"/>
            <p:cNvSpPr>
              <a:spLocks noChangeAspect="1"/>
            </p:cNvSpPr>
            <p:nvPr/>
          </p:nvSpPr>
          <p:spPr>
            <a:xfrm>
              <a:off x="1858759" y="6632657"/>
              <a:ext cx="91440" cy="9144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63" name="Oval 62"/>
            <p:cNvSpPr>
              <a:spLocks noChangeAspect="1"/>
            </p:cNvSpPr>
            <p:nvPr/>
          </p:nvSpPr>
          <p:spPr>
            <a:xfrm>
              <a:off x="2454031" y="6420338"/>
              <a:ext cx="91440" cy="9144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64" name="Oval 63"/>
            <p:cNvSpPr>
              <a:spLocks noChangeAspect="1"/>
            </p:cNvSpPr>
            <p:nvPr/>
          </p:nvSpPr>
          <p:spPr>
            <a:xfrm>
              <a:off x="4065303" y="1733713"/>
              <a:ext cx="91440" cy="9144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65" name="Oval 64"/>
            <p:cNvSpPr>
              <a:spLocks noChangeAspect="1"/>
            </p:cNvSpPr>
            <p:nvPr/>
          </p:nvSpPr>
          <p:spPr>
            <a:xfrm>
              <a:off x="5214164" y="1677703"/>
              <a:ext cx="91440" cy="9144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66" name="Oval 65"/>
            <p:cNvSpPr>
              <a:spLocks noChangeAspect="1"/>
            </p:cNvSpPr>
            <p:nvPr/>
          </p:nvSpPr>
          <p:spPr>
            <a:xfrm>
              <a:off x="5588000" y="2429282"/>
              <a:ext cx="91440" cy="9144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67" name="Oval 66"/>
            <p:cNvSpPr>
              <a:spLocks noChangeAspect="1"/>
            </p:cNvSpPr>
            <p:nvPr/>
          </p:nvSpPr>
          <p:spPr>
            <a:xfrm>
              <a:off x="5434298" y="3317631"/>
              <a:ext cx="91440" cy="9144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68" name="Oval 67"/>
            <p:cNvSpPr>
              <a:spLocks noChangeAspect="1"/>
            </p:cNvSpPr>
            <p:nvPr/>
          </p:nvSpPr>
          <p:spPr>
            <a:xfrm>
              <a:off x="4147364" y="3671929"/>
              <a:ext cx="91440" cy="9144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69" name="Oval 68"/>
            <p:cNvSpPr>
              <a:spLocks noChangeAspect="1"/>
            </p:cNvSpPr>
            <p:nvPr/>
          </p:nvSpPr>
          <p:spPr>
            <a:xfrm>
              <a:off x="5849815" y="4814277"/>
              <a:ext cx="91440" cy="9144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70" name="Oval 69"/>
            <p:cNvSpPr>
              <a:spLocks noChangeAspect="1"/>
            </p:cNvSpPr>
            <p:nvPr/>
          </p:nvSpPr>
          <p:spPr>
            <a:xfrm>
              <a:off x="3820421" y="4074421"/>
              <a:ext cx="91440" cy="9144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71" name="Oval 70"/>
            <p:cNvSpPr>
              <a:spLocks noChangeAspect="1"/>
            </p:cNvSpPr>
            <p:nvPr/>
          </p:nvSpPr>
          <p:spPr>
            <a:xfrm>
              <a:off x="4676206" y="4513385"/>
              <a:ext cx="91440" cy="9144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72" name="Oval 71"/>
            <p:cNvSpPr>
              <a:spLocks noChangeAspect="1"/>
            </p:cNvSpPr>
            <p:nvPr/>
          </p:nvSpPr>
          <p:spPr>
            <a:xfrm>
              <a:off x="4294554" y="4496452"/>
              <a:ext cx="91440" cy="9144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73" name="Oval 72"/>
            <p:cNvSpPr>
              <a:spLocks noChangeAspect="1"/>
            </p:cNvSpPr>
            <p:nvPr/>
          </p:nvSpPr>
          <p:spPr>
            <a:xfrm>
              <a:off x="5558041" y="6209323"/>
              <a:ext cx="91440" cy="9144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74" name="Oval 73"/>
            <p:cNvSpPr>
              <a:spLocks noChangeAspect="1"/>
            </p:cNvSpPr>
            <p:nvPr/>
          </p:nvSpPr>
          <p:spPr>
            <a:xfrm>
              <a:off x="4453467" y="6296596"/>
              <a:ext cx="91440" cy="9144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75" name="Oval 74"/>
            <p:cNvSpPr>
              <a:spLocks noChangeAspect="1"/>
            </p:cNvSpPr>
            <p:nvPr/>
          </p:nvSpPr>
          <p:spPr>
            <a:xfrm>
              <a:off x="4058789" y="6110329"/>
              <a:ext cx="91440" cy="9144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</a:t>
            </a:r>
            <a:r>
              <a:rPr lang="en-US" dirty="0" smtClean="0"/>
              <a:t>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dirty="0"/>
              <a:t>Ahmed Abdelkader sends </a:t>
            </a:r>
            <a:r>
              <a:rPr lang="en-US" sz="1600" dirty="0" smtClean="0"/>
              <a:t>regrets</a:t>
            </a:r>
          </a:p>
          <a:p>
            <a:r>
              <a:rPr lang="en-US" sz="1600" dirty="0" smtClean="0"/>
              <a:t>Problem definition</a:t>
            </a:r>
          </a:p>
          <a:p>
            <a:pPr lvl="1"/>
            <a:r>
              <a:rPr lang="en-US" sz="1600" dirty="0" smtClean="0"/>
              <a:t>conforming</a:t>
            </a:r>
            <a:r>
              <a:rPr lang="en-US" sz="1600" dirty="0"/>
              <a:t>, not constrained or clipped</a:t>
            </a:r>
          </a:p>
          <a:p>
            <a:pPr lvl="1"/>
            <a:r>
              <a:rPr lang="en-US" sz="1600" dirty="0"/>
              <a:t>analogous to conforming Delaunay, but not </a:t>
            </a:r>
            <a:r>
              <a:rPr lang="en-US" sz="1600" dirty="0" smtClean="0"/>
              <a:t>dual </a:t>
            </a:r>
            <a:r>
              <a:rPr lang="en-US" sz="1600" dirty="0"/>
              <a:t>of it (no seeds on bdy)</a:t>
            </a:r>
          </a:p>
          <a:p>
            <a:pPr lvl="1"/>
            <a:r>
              <a:rPr lang="en-US" sz="1600" dirty="0"/>
              <a:t>PLC</a:t>
            </a:r>
          </a:p>
          <a:p>
            <a:r>
              <a:rPr lang="en-US" sz="1600" dirty="0"/>
              <a:t>M</a:t>
            </a:r>
            <a:r>
              <a:rPr lang="en-US" sz="1600" dirty="0" smtClean="0"/>
              <a:t>otivation</a:t>
            </a:r>
            <a:endParaRPr lang="en-US" sz="1600" dirty="0"/>
          </a:p>
          <a:p>
            <a:pPr lvl="1"/>
            <a:r>
              <a:rPr lang="en-US" sz="1600" dirty="0"/>
              <a:t>polyhedral meshing, interior seed freedom</a:t>
            </a:r>
          </a:p>
          <a:p>
            <a:pPr lvl="1"/>
            <a:r>
              <a:rPr lang="en-US" sz="1600" dirty="0"/>
              <a:t>vs. Powercrust, weighted and non-local to bdy</a:t>
            </a:r>
          </a:p>
          <a:p>
            <a:r>
              <a:rPr lang="en-US" sz="1600" dirty="0"/>
              <a:t>S</a:t>
            </a:r>
            <a:r>
              <a:rPr lang="en-US" sz="1600" dirty="0" smtClean="0"/>
              <a:t>pherical </a:t>
            </a:r>
            <a:r>
              <a:rPr lang="en-US" sz="1600" dirty="0"/>
              <a:t>constructions</a:t>
            </a:r>
          </a:p>
          <a:p>
            <a:pPr lvl="1"/>
            <a:r>
              <a:rPr lang="en-US" sz="1600" dirty="0"/>
              <a:t>vertex, edge, </a:t>
            </a:r>
            <a:r>
              <a:rPr lang="en-US" sz="1600" dirty="0" smtClean="0"/>
              <a:t>triangle</a:t>
            </a:r>
          </a:p>
          <a:p>
            <a:pPr marL="342900" lvl="1" indent="-171450">
              <a:buFontTx/>
              <a:buChar char="•"/>
            </a:pPr>
            <a:r>
              <a:rPr lang="en-US" sz="1600" dirty="0" smtClean="0"/>
              <a:t>Sufficient conditions: refinement </a:t>
            </a:r>
            <a:r>
              <a:rPr lang="en-US" sz="1600" dirty="0"/>
              <a:t>for empty </a:t>
            </a:r>
            <a:r>
              <a:rPr lang="en-US" sz="1600" dirty="0" smtClean="0"/>
              <a:t>ball-neighborhoods</a:t>
            </a:r>
            <a:endParaRPr lang="en-US" sz="1600" dirty="0"/>
          </a:p>
          <a:p>
            <a:r>
              <a:rPr lang="en-US" sz="1600" dirty="0"/>
              <a:t>Non-zero radius</a:t>
            </a:r>
          </a:p>
          <a:p>
            <a:r>
              <a:rPr lang="en-US" sz="1600" dirty="0" smtClean="0"/>
              <a:t>Reducing </a:t>
            </a:r>
            <a:r>
              <a:rPr lang="en-US" sz="1600" dirty="0"/>
              <a:t>the number of Steiner points</a:t>
            </a:r>
          </a:p>
          <a:p>
            <a:r>
              <a:rPr lang="en-US" sz="1600" dirty="0" smtClean="0"/>
              <a:t>Forward </a:t>
            </a:r>
            <a:r>
              <a:rPr lang="en-US" sz="1600" dirty="0"/>
              <a:t>peek to VoroCrust proper</a:t>
            </a:r>
          </a:p>
          <a:p>
            <a:pPr lvl="1"/>
            <a:r>
              <a:rPr lang="en-US" sz="1600" dirty="0"/>
              <a:t>smooth manifolds</a:t>
            </a:r>
          </a:p>
          <a:p>
            <a:pPr lvl="1"/>
            <a:r>
              <a:rPr lang="en-US" sz="1600" dirty="0"/>
              <a:t>sampling conditions</a:t>
            </a:r>
          </a:p>
        </p:txBody>
      </p:sp>
    </p:spTree>
    <p:extLst>
      <p:ext uri="{BB962C8B-B14F-4D97-AF65-F5344CB8AC3E}">
        <p14:creationId xmlns:p14="http://schemas.microsoft.com/office/powerpoint/2010/main" val="447383005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</a:t>
            </a:r>
            <a:r>
              <a:rPr lang="en-US" dirty="0" smtClean="0"/>
              <a:t>roblem </a:t>
            </a:r>
            <a:r>
              <a:rPr lang="en-US" dirty="0"/>
              <a:t>D</a:t>
            </a:r>
            <a:r>
              <a:rPr lang="en-US" dirty="0" smtClean="0"/>
              <a:t>efinition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799" y="1254501"/>
            <a:ext cx="8256319" cy="1108690"/>
          </a:xfrm>
        </p:spPr>
        <p:txBody>
          <a:bodyPr/>
          <a:lstStyle/>
          <a:p>
            <a:r>
              <a:rPr lang="en-US" sz="2000" dirty="0" smtClean="0"/>
              <a:t>Conforming Voronoi Complex</a:t>
            </a:r>
          </a:p>
          <a:p>
            <a:pPr lvl="1"/>
            <a:r>
              <a:rPr lang="en-US" sz="1800" dirty="0" smtClean="0"/>
              <a:t>Given PLC (Piecewise Linear Complex, 3D)</a:t>
            </a:r>
            <a:endParaRPr lang="en-US" sz="1800" dirty="0"/>
          </a:p>
          <a:p>
            <a:pPr lvl="2"/>
            <a:r>
              <a:rPr lang="en-US" sz="1800" dirty="0"/>
              <a:t>place Voronoi seeds </a:t>
            </a:r>
          </a:p>
          <a:p>
            <a:pPr lvl="3"/>
            <a:r>
              <a:rPr lang="en-US" sz="1600" dirty="0"/>
              <a:t>such that refinement of PLC appears as faces of Voronoi cells </a:t>
            </a:r>
            <a:endParaRPr lang="en-US" sz="1600" dirty="0" smtClean="0"/>
          </a:p>
          <a:p>
            <a:pPr lvl="3"/>
            <a:r>
              <a:rPr lang="en-US" sz="1600" dirty="0" smtClean="0"/>
              <a:t>i.e. input face is a union of Voronoi faces</a:t>
            </a:r>
            <a:endParaRPr lang="en-US" sz="1600" dirty="0" smtClean="0"/>
          </a:p>
          <a:p>
            <a:pPr marL="342900" lvl="1" indent="-171450">
              <a:buFontTx/>
              <a:buChar char="•"/>
            </a:pPr>
            <a:r>
              <a:rPr lang="en-US" sz="2000" dirty="0"/>
              <a:t>A</a:t>
            </a:r>
            <a:r>
              <a:rPr lang="en-US" sz="2000" dirty="0" smtClean="0"/>
              <a:t>nalogous </a:t>
            </a:r>
            <a:r>
              <a:rPr lang="en-US" sz="2000" dirty="0"/>
              <a:t>to conforming </a:t>
            </a:r>
            <a:r>
              <a:rPr lang="en-US" sz="2000" dirty="0" smtClean="0"/>
              <a:t>Delaunay triangulation</a:t>
            </a:r>
            <a:br>
              <a:rPr lang="en-US" sz="2000" dirty="0" smtClean="0"/>
            </a:br>
            <a:r>
              <a:rPr lang="en-US" sz="2000" dirty="0" smtClean="0"/>
              <a:t>but dual of a conforming Delaunay is not a conforming Voronoi 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 smtClean="0"/>
              <a:t>e.g. no </a:t>
            </a:r>
            <a:r>
              <a:rPr lang="en-US" sz="2000" dirty="0"/>
              <a:t>seeds (Delaunay vertices) on </a:t>
            </a:r>
            <a:r>
              <a:rPr lang="en-US" sz="2000" dirty="0" smtClean="0"/>
              <a:t>boundary</a:t>
            </a:r>
            <a:endParaRPr lang="en-US" sz="2000" dirty="0"/>
          </a:p>
          <a:p>
            <a:endParaRPr lang="en-US" dirty="0"/>
          </a:p>
        </p:txBody>
      </p:sp>
      <p:grpSp>
        <p:nvGrpSpPr>
          <p:cNvPr id="17" name="Group 16"/>
          <p:cNvGrpSpPr/>
          <p:nvPr/>
        </p:nvGrpSpPr>
        <p:grpSpPr>
          <a:xfrm>
            <a:off x="2253343" y="4408289"/>
            <a:ext cx="3022600" cy="1320800"/>
            <a:chOff x="3730589" y="5432894"/>
            <a:chExt cx="3022600" cy="1320800"/>
          </a:xfrm>
        </p:grpSpPr>
        <p:cxnSp>
          <p:nvCxnSpPr>
            <p:cNvPr id="12" name="Straight Connector 11"/>
            <p:cNvCxnSpPr/>
            <p:nvPr/>
          </p:nvCxnSpPr>
          <p:spPr bwMode="auto">
            <a:xfrm flipV="1">
              <a:off x="3730589" y="5763094"/>
              <a:ext cx="3022600" cy="76200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16" name="Group 15"/>
            <p:cNvGrpSpPr/>
            <p:nvPr/>
          </p:nvGrpSpPr>
          <p:grpSpPr>
            <a:xfrm>
              <a:off x="4441789" y="5432894"/>
              <a:ext cx="1295400" cy="1320800"/>
              <a:chOff x="4441789" y="5432894"/>
              <a:chExt cx="1295400" cy="1320800"/>
            </a:xfrm>
          </p:grpSpPr>
          <p:sp>
            <p:nvSpPr>
              <p:cNvPr id="13" name="TextBox 12"/>
              <p:cNvSpPr txBox="1"/>
              <p:nvPr/>
            </p:nvSpPr>
            <p:spPr>
              <a:xfrm>
                <a:off x="5038689" y="5940894"/>
                <a:ext cx="389850" cy="5847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 smtClean="0">
                    <a:solidFill>
                      <a:schemeClr val="tx2"/>
                    </a:solidFill>
                    <a:latin typeface="+mn-lt"/>
                  </a:rPr>
                  <a:t>x</a:t>
                </a:r>
                <a:endParaRPr lang="en-US" sz="3200" dirty="0">
                  <a:solidFill>
                    <a:schemeClr val="tx2"/>
                  </a:solidFill>
                  <a:latin typeface="+mn-lt"/>
                </a:endParaRPr>
              </a:p>
            </p:txBody>
          </p:sp>
          <p:sp>
            <p:nvSpPr>
              <p:cNvPr id="14" name="Freeform 13"/>
              <p:cNvSpPr/>
              <p:nvPr/>
            </p:nvSpPr>
            <p:spPr>
              <a:xfrm>
                <a:off x="4441789" y="5432894"/>
                <a:ext cx="1295400" cy="1320800"/>
              </a:xfrm>
              <a:custGeom>
                <a:avLst/>
                <a:gdLst>
                  <a:gd name="connsiteX0" fmla="*/ 0 w 1295400"/>
                  <a:gd name="connsiteY0" fmla="*/ 419100 h 1320800"/>
                  <a:gd name="connsiteX1" fmla="*/ 317500 w 1295400"/>
                  <a:gd name="connsiteY1" fmla="*/ 1231900 h 1320800"/>
                  <a:gd name="connsiteX2" fmla="*/ 825500 w 1295400"/>
                  <a:gd name="connsiteY2" fmla="*/ 1320800 h 1320800"/>
                  <a:gd name="connsiteX3" fmla="*/ 1295400 w 1295400"/>
                  <a:gd name="connsiteY3" fmla="*/ 889000 h 1320800"/>
                  <a:gd name="connsiteX4" fmla="*/ 1181100 w 1295400"/>
                  <a:gd name="connsiteY4" fmla="*/ 431800 h 1320800"/>
                  <a:gd name="connsiteX5" fmla="*/ 673100 w 1295400"/>
                  <a:gd name="connsiteY5" fmla="*/ 0 h 1320800"/>
                  <a:gd name="connsiteX6" fmla="*/ 0 w 1295400"/>
                  <a:gd name="connsiteY6" fmla="*/ 419100 h 1320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95400" h="1320800">
                    <a:moveTo>
                      <a:pt x="0" y="419100"/>
                    </a:moveTo>
                    <a:lnTo>
                      <a:pt x="317500" y="1231900"/>
                    </a:lnTo>
                    <a:lnTo>
                      <a:pt x="825500" y="1320800"/>
                    </a:lnTo>
                    <a:lnTo>
                      <a:pt x="1295400" y="889000"/>
                    </a:lnTo>
                    <a:lnTo>
                      <a:pt x="1181100" y="431800"/>
                    </a:lnTo>
                    <a:lnTo>
                      <a:pt x="673100" y="0"/>
                    </a:lnTo>
                    <a:lnTo>
                      <a:pt x="0" y="419100"/>
                    </a:lnTo>
                    <a:close/>
                  </a:path>
                </a:pathLst>
              </a:custGeom>
              <a:ln w="25400">
                <a:solidFill>
                  <a:schemeClr val="tx2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" pitchFamily="18" charset="0"/>
                </a:endParaRP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4987889" y="5674194"/>
                <a:ext cx="389850" cy="5847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 smtClean="0">
                    <a:solidFill>
                      <a:schemeClr val="tx2"/>
                    </a:solidFill>
                    <a:latin typeface="+mn-lt"/>
                  </a:rPr>
                  <a:t>x</a:t>
                </a:r>
                <a:endParaRPr lang="en-US" sz="3200" dirty="0">
                  <a:solidFill>
                    <a:schemeClr val="tx2"/>
                  </a:solidFill>
                  <a:latin typeface="+mn-lt"/>
                </a:endParaRPr>
              </a:p>
            </p:txBody>
          </p:sp>
        </p:grpSp>
      </p:grpSp>
      <p:cxnSp>
        <p:nvCxnSpPr>
          <p:cNvPr id="5" name="Straight Connector 4"/>
          <p:cNvCxnSpPr>
            <a:stCxn id="14" idx="4"/>
          </p:cNvCxnSpPr>
          <p:nvPr/>
        </p:nvCxnSpPr>
        <p:spPr bwMode="auto">
          <a:xfrm flipV="1">
            <a:off x="4145643" y="4408289"/>
            <a:ext cx="405732" cy="43180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Straight Connector 17"/>
          <p:cNvCxnSpPr/>
          <p:nvPr/>
        </p:nvCxnSpPr>
        <p:spPr bwMode="auto">
          <a:xfrm flipH="1" flipV="1">
            <a:off x="4551375" y="4408289"/>
            <a:ext cx="360947" cy="24130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/>
          <p:cNvCxnSpPr/>
          <p:nvPr/>
        </p:nvCxnSpPr>
        <p:spPr bwMode="auto">
          <a:xfrm flipH="1" flipV="1">
            <a:off x="4912322" y="4649589"/>
            <a:ext cx="156410" cy="584776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" name="Straight Connector 20"/>
          <p:cNvCxnSpPr/>
          <p:nvPr/>
        </p:nvCxnSpPr>
        <p:spPr bwMode="auto">
          <a:xfrm flipH="1">
            <a:off x="4551375" y="5234365"/>
            <a:ext cx="517357" cy="102925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Straight Connector 22"/>
          <p:cNvCxnSpPr>
            <a:stCxn id="14" idx="3"/>
          </p:cNvCxnSpPr>
          <p:nvPr/>
        </p:nvCxnSpPr>
        <p:spPr bwMode="auto">
          <a:xfrm>
            <a:off x="4259943" y="5297289"/>
            <a:ext cx="291432" cy="40001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6" name="TextBox 25"/>
          <p:cNvSpPr txBox="1"/>
          <p:nvPr/>
        </p:nvSpPr>
        <p:spPr>
          <a:xfrm>
            <a:off x="4378093" y="4420487"/>
            <a:ext cx="38985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solidFill>
                  <a:schemeClr val="tx2"/>
                </a:solidFill>
                <a:latin typeface="+mn-lt"/>
              </a:rPr>
              <a:t>x</a:t>
            </a:r>
            <a:endParaRPr lang="en-US" sz="320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460056" y="4732513"/>
            <a:ext cx="38985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solidFill>
                  <a:schemeClr val="tx2"/>
                </a:solidFill>
                <a:latin typeface="+mn-lt"/>
              </a:rPr>
              <a:t>x</a:t>
            </a:r>
            <a:endParaRPr lang="en-US" sz="320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4156849" y="4978556"/>
            <a:ext cx="91440" cy="91440"/>
          </a:xfrm>
          <a:prstGeom prst="ellipse">
            <a:avLst/>
          </a:prstGeom>
          <a:solidFill>
            <a:srgbClr val="C00000"/>
          </a:solidFill>
          <a:ln w="19050">
            <a:solidFill>
              <a:srgbClr val="FF0000"/>
            </a:solidFill>
          </a:ln>
          <a:scene3d>
            <a:camera prst="orthographicFront"/>
            <a:lightRig rig="threePt" dir="t"/>
          </a:scene3d>
          <a:sp3d prstMaterial="matte"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3081409" y="5232741"/>
            <a:ext cx="91440" cy="91440"/>
          </a:xfrm>
          <a:prstGeom prst="ellipse">
            <a:avLst/>
          </a:prstGeom>
          <a:solidFill>
            <a:srgbClr val="C00000"/>
          </a:solidFill>
          <a:ln w="19050">
            <a:solidFill>
              <a:srgbClr val="FF0000"/>
            </a:solidFill>
          </a:ln>
          <a:scene3d>
            <a:camera prst="orthographicFront"/>
            <a:lightRig rig="threePt" dir="t"/>
          </a:scene3d>
          <a:sp3d prstMaterial="matte"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4911119" y="4762119"/>
            <a:ext cx="91440" cy="91440"/>
          </a:xfrm>
          <a:prstGeom prst="ellipse">
            <a:avLst/>
          </a:prstGeom>
          <a:solidFill>
            <a:srgbClr val="C00000"/>
          </a:solidFill>
          <a:ln w="19050">
            <a:solidFill>
              <a:srgbClr val="FF0000"/>
            </a:solidFill>
          </a:ln>
          <a:scene3d>
            <a:camera prst="orthographicFront"/>
            <a:lightRig rig="threePt" dir="t"/>
          </a:scene3d>
          <a:sp3d prstMaterial="matte"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2236282" y="5444516"/>
            <a:ext cx="91440" cy="91440"/>
          </a:xfrm>
          <a:prstGeom prst="ellipse">
            <a:avLst/>
          </a:prstGeom>
          <a:solidFill>
            <a:srgbClr val="C00000"/>
          </a:solidFill>
          <a:ln w="19050">
            <a:solidFill>
              <a:srgbClr val="FF0000"/>
            </a:solidFill>
          </a:ln>
          <a:scene3d>
            <a:camera prst="orthographicFront"/>
            <a:lightRig rig="threePt" dir="t"/>
          </a:scene3d>
          <a:sp3d prstMaterial="matte"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5238839" y="4703022"/>
            <a:ext cx="91440" cy="91440"/>
          </a:xfrm>
          <a:prstGeom prst="ellipse">
            <a:avLst/>
          </a:prstGeom>
          <a:solidFill>
            <a:srgbClr val="C00000"/>
          </a:solidFill>
          <a:ln w="19050">
            <a:solidFill>
              <a:srgbClr val="FF0000"/>
            </a:solidFill>
          </a:ln>
          <a:scene3d>
            <a:camera prst="orthographicFront"/>
            <a:lightRig rig="threePt" dir="t"/>
          </a:scene3d>
          <a:sp3d prstMaterial="matte"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571157" y="5286519"/>
            <a:ext cx="38985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solidFill>
                  <a:schemeClr val="tx2"/>
                </a:solidFill>
                <a:latin typeface="+mn-lt"/>
              </a:rPr>
              <a:t>x</a:t>
            </a:r>
            <a:endParaRPr lang="en-US" sz="320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520357" y="4859740"/>
            <a:ext cx="38985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solidFill>
                  <a:schemeClr val="tx2"/>
                </a:solidFill>
                <a:latin typeface="+mn-lt"/>
              </a:rPr>
              <a:t>x</a:t>
            </a:r>
            <a:endParaRPr lang="en-US" sz="320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825707" y="5724894"/>
            <a:ext cx="38985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solidFill>
                  <a:schemeClr val="tx2"/>
                </a:solidFill>
                <a:latin typeface="+mn-lt"/>
              </a:rPr>
              <a:t>x</a:t>
            </a:r>
            <a:endParaRPr lang="en-US" sz="320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3" name="TextBox 32"/>
          <p:cNvSpPr txBox="1"/>
          <p:nvPr/>
        </p:nvSpPr>
        <p:spPr>
          <a:xfrm flipH="1" flipV="1">
            <a:off x="1546824" y="4915714"/>
            <a:ext cx="4653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tx2"/>
                </a:solidFill>
                <a:latin typeface="+mn-lt"/>
              </a:rPr>
              <a:t>x</a:t>
            </a:r>
            <a:endParaRPr lang="en-US" sz="320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4" name="TextBox 33"/>
          <p:cNvSpPr txBox="1"/>
          <p:nvPr/>
        </p:nvSpPr>
        <p:spPr>
          <a:xfrm flipH="1" flipV="1">
            <a:off x="4821811" y="4284113"/>
            <a:ext cx="4653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tx2"/>
                </a:solidFill>
                <a:latin typeface="+mn-lt"/>
              </a:rPr>
              <a:t>x</a:t>
            </a:r>
            <a:endParaRPr lang="en-US" sz="320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 flipH="1" flipV="1">
            <a:off x="4942253" y="4776301"/>
            <a:ext cx="4653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tx2"/>
                </a:solidFill>
                <a:latin typeface="+mn-lt"/>
              </a:rPr>
              <a:t>x</a:t>
            </a:r>
            <a:endParaRPr lang="en-US" sz="320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6" name="TextBox 35"/>
          <p:cNvSpPr txBox="1"/>
          <p:nvPr/>
        </p:nvSpPr>
        <p:spPr>
          <a:xfrm flipH="1" flipV="1">
            <a:off x="5381074" y="4378877"/>
            <a:ext cx="4653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tx2"/>
                </a:solidFill>
                <a:latin typeface="+mn-lt"/>
              </a:rPr>
              <a:t>x</a:t>
            </a:r>
            <a:endParaRPr lang="en-US" sz="3200" dirty="0">
              <a:solidFill>
                <a:schemeClr val="tx2"/>
              </a:solidFill>
              <a:latin typeface="+mn-lt"/>
            </a:endParaRPr>
          </a:p>
        </p:txBody>
      </p:sp>
      <p:cxnSp>
        <p:nvCxnSpPr>
          <p:cNvPr id="37" name="Straight Connector 36"/>
          <p:cNvCxnSpPr/>
          <p:nvPr/>
        </p:nvCxnSpPr>
        <p:spPr bwMode="auto">
          <a:xfrm flipV="1">
            <a:off x="5297520" y="4209687"/>
            <a:ext cx="176670" cy="520417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8" name="Straight Connector 37"/>
          <p:cNvCxnSpPr>
            <a:endCxn id="24" idx="6"/>
          </p:cNvCxnSpPr>
          <p:nvPr/>
        </p:nvCxnSpPr>
        <p:spPr bwMode="auto">
          <a:xfrm flipH="1" flipV="1">
            <a:off x="5330279" y="4748742"/>
            <a:ext cx="402196" cy="34484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9" name="Straight Connector 38"/>
          <p:cNvCxnSpPr/>
          <p:nvPr/>
        </p:nvCxnSpPr>
        <p:spPr bwMode="auto">
          <a:xfrm flipH="1" flipV="1">
            <a:off x="2281126" y="5535956"/>
            <a:ext cx="353498" cy="706027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0" name="Straight Connector 39"/>
          <p:cNvCxnSpPr>
            <a:endCxn id="22" idx="3"/>
          </p:cNvCxnSpPr>
          <p:nvPr/>
        </p:nvCxnSpPr>
        <p:spPr bwMode="auto">
          <a:xfrm flipV="1">
            <a:off x="1201432" y="5522565"/>
            <a:ext cx="1048241" cy="34873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1" name="Straight Connector 40"/>
          <p:cNvCxnSpPr/>
          <p:nvPr/>
        </p:nvCxnSpPr>
        <p:spPr bwMode="auto">
          <a:xfrm flipH="1">
            <a:off x="2266831" y="4528939"/>
            <a:ext cx="49366" cy="92896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2" name="TextBox 41"/>
          <p:cNvSpPr txBox="1"/>
          <p:nvPr/>
        </p:nvSpPr>
        <p:spPr>
          <a:xfrm>
            <a:off x="4348509" y="5888969"/>
            <a:ext cx="25571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Simple 2d example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4015323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</a:t>
            </a:r>
            <a:r>
              <a:rPr lang="en-US" dirty="0" smtClean="0"/>
              <a:t>roblem </a:t>
            </a:r>
            <a:r>
              <a:rPr lang="en-US" dirty="0"/>
              <a:t>D</a:t>
            </a:r>
            <a:r>
              <a:rPr lang="en-US" dirty="0" smtClean="0"/>
              <a:t>efinition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254501"/>
            <a:ext cx="7772400" cy="477409"/>
          </a:xfrm>
        </p:spPr>
        <p:txBody>
          <a:bodyPr/>
          <a:lstStyle/>
          <a:p>
            <a:pPr lvl="1"/>
            <a:r>
              <a:rPr lang="en-US" sz="1800" dirty="0" smtClean="0"/>
              <a:t>Voronoi seeds: </a:t>
            </a:r>
            <a:r>
              <a:rPr lang="en-US" sz="1600" dirty="0" smtClean="0"/>
              <a:t>refinement </a:t>
            </a:r>
            <a:r>
              <a:rPr lang="en-US" sz="1600" dirty="0"/>
              <a:t>of PLC appears as faces of Voronoi </a:t>
            </a:r>
            <a:r>
              <a:rPr lang="en-US" sz="1600" dirty="0" smtClean="0"/>
              <a:t>cells</a:t>
            </a:r>
          </a:p>
          <a:p>
            <a:pPr lvl="2"/>
            <a:r>
              <a:rPr lang="en-US" sz="1400" dirty="0" smtClean="0"/>
              <a:t>conforming, not constrained, not </a:t>
            </a:r>
            <a:r>
              <a:rPr lang="en-US" sz="1400" dirty="0" smtClean="0"/>
              <a:t>clipped, not restricted </a:t>
            </a:r>
            <a:endParaRPr lang="en-US" sz="1400" dirty="0"/>
          </a:p>
        </p:txBody>
      </p:sp>
      <p:grpSp>
        <p:nvGrpSpPr>
          <p:cNvPr id="6" name="Group 5"/>
          <p:cNvGrpSpPr/>
          <p:nvPr/>
        </p:nvGrpSpPr>
        <p:grpSpPr>
          <a:xfrm>
            <a:off x="157126" y="3893699"/>
            <a:ext cx="2374900" cy="2806700"/>
            <a:chOff x="1555340" y="1011334"/>
            <a:chExt cx="2374900" cy="2806700"/>
          </a:xfrm>
        </p:grpSpPr>
        <p:pic>
          <p:nvPicPr>
            <p:cNvPr id="7" name="Picture 6" descr="mesh_clipped_0-3.pdf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55340" y="1011334"/>
              <a:ext cx="2374900" cy="2806700"/>
            </a:xfrm>
            <a:prstGeom prst="rect">
              <a:avLst/>
            </a:prstGeom>
          </p:spPr>
        </p:pic>
        <p:sp>
          <p:nvSpPr>
            <p:cNvPr id="8" name="Oval 7"/>
            <p:cNvSpPr/>
            <p:nvPr/>
          </p:nvSpPr>
          <p:spPr>
            <a:xfrm rot="3540000">
              <a:off x="2683282" y="2631623"/>
              <a:ext cx="621040" cy="845415"/>
            </a:xfrm>
            <a:prstGeom prst="ellipse">
              <a:avLst/>
            </a:prstGeom>
            <a:noFill/>
            <a:ln w="508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2808378" y="1675059"/>
              <a:ext cx="505241" cy="560760"/>
            </a:xfrm>
            <a:prstGeom prst="ellipse">
              <a:avLst/>
            </a:prstGeom>
            <a:noFill/>
            <a:ln w="508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Arrow Connector 9"/>
            <p:cNvCxnSpPr/>
            <p:nvPr/>
          </p:nvCxnSpPr>
          <p:spPr>
            <a:xfrm flipV="1">
              <a:off x="2045167" y="3034752"/>
              <a:ext cx="405456" cy="453124"/>
            </a:xfrm>
            <a:prstGeom prst="straightConnector1">
              <a:avLst/>
            </a:prstGeom>
            <a:ln w="34925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>
              <a:off x="2295596" y="2438532"/>
              <a:ext cx="160990" cy="524672"/>
            </a:xfrm>
            <a:prstGeom prst="straightConnector1">
              <a:avLst/>
            </a:prstGeom>
            <a:ln w="34925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9673" y="2528106"/>
            <a:ext cx="2820458" cy="20828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1088" y="1832714"/>
            <a:ext cx="3010595" cy="1695286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79231" y="3436470"/>
            <a:ext cx="3062452" cy="1758636"/>
          </a:xfrm>
          <a:prstGeom prst="rect">
            <a:avLst/>
          </a:prstGeom>
        </p:spPr>
      </p:pic>
      <p:cxnSp>
        <p:nvCxnSpPr>
          <p:cNvPr id="15" name="Straight Connector 14"/>
          <p:cNvCxnSpPr/>
          <p:nvPr/>
        </p:nvCxnSpPr>
        <p:spPr bwMode="auto">
          <a:xfrm flipV="1">
            <a:off x="225602" y="2432175"/>
            <a:ext cx="3022600" cy="76200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6" name="Freeform 15"/>
          <p:cNvSpPr/>
          <p:nvPr/>
        </p:nvSpPr>
        <p:spPr>
          <a:xfrm>
            <a:off x="951564" y="2118579"/>
            <a:ext cx="1295400" cy="1320800"/>
          </a:xfrm>
          <a:custGeom>
            <a:avLst/>
            <a:gdLst>
              <a:gd name="connsiteX0" fmla="*/ 0 w 1295400"/>
              <a:gd name="connsiteY0" fmla="*/ 419100 h 1320800"/>
              <a:gd name="connsiteX1" fmla="*/ 317500 w 1295400"/>
              <a:gd name="connsiteY1" fmla="*/ 1231900 h 1320800"/>
              <a:gd name="connsiteX2" fmla="*/ 825500 w 1295400"/>
              <a:gd name="connsiteY2" fmla="*/ 1320800 h 1320800"/>
              <a:gd name="connsiteX3" fmla="*/ 1295400 w 1295400"/>
              <a:gd name="connsiteY3" fmla="*/ 889000 h 1320800"/>
              <a:gd name="connsiteX4" fmla="*/ 1181100 w 1295400"/>
              <a:gd name="connsiteY4" fmla="*/ 431800 h 1320800"/>
              <a:gd name="connsiteX5" fmla="*/ 673100 w 1295400"/>
              <a:gd name="connsiteY5" fmla="*/ 0 h 1320800"/>
              <a:gd name="connsiteX6" fmla="*/ 0 w 1295400"/>
              <a:gd name="connsiteY6" fmla="*/ 419100 h 132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95400" h="1320800">
                <a:moveTo>
                  <a:pt x="0" y="419100"/>
                </a:moveTo>
                <a:lnTo>
                  <a:pt x="317500" y="1231900"/>
                </a:lnTo>
                <a:lnTo>
                  <a:pt x="825500" y="1320800"/>
                </a:lnTo>
                <a:lnTo>
                  <a:pt x="1295400" y="889000"/>
                </a:lnTo>
                <a:lnTo>
                  <a:pt x="1181100" y="431800"/>
                </a:lnTo>
                <a:lnTo>
                  <a:pt x="673100" y="0"/>
                </a:lnTo>
                <a:lnTo>
                  <a:pt x="0" y="419100"/>
                </a:lnTo>
                <a:close/>
              </a:path>
            </a:pathLst>
          </a:custGeom>
          <a:ln w="25400">
            <a:solidFill>
              <a:schemeClr val="tx2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471989" y="2469987"/>
            <a:ext cx="38985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solidFill>
                  <a:schemeClr val="tx2"/>
                </a:solidFill>
                <a:latin typeface="+mn-lt"/>
              </a:rPr>
              <a:t>x</a:t>
            </a:r>
            <a:endParaRPr lang="en-US" sz="320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724138" y="4839368"/>
            <a:ext cx="42762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clipping = intersect Voronoi cell with domain </a:t>
            </a:r>
            <a:r>
              <a:rPr lang="en-US" sz="1600" dirty="0" err="1" smtClean="0"/>
              <a:t>bdy</a:t>
            </a:r>
            <a:endParaRPr lang="en-US" sz="1600" dirty="0" smtClean="0"/>
          </a:p>
          <a:p>
            <a:r>
              <a:rPr lang="en-US" sz="1600" dirty="0" smtClean="0"/>
              <a:t>may lose convexity, other Voronoi properties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625962329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solve it?</a:t>
            </a:r>
            <a:endParaRPr lang="en-US" dirty="0"/>
          </a:p>
        </p:txBody>
      </p:sp>
      <p:grpSp>
        <p:nvGrpSpPr>
          <p:cNvPr id="5" name="Group 4"/>
          <p:cNvGrpSpPr>
            <a:grpSpLocks noChangeAspect="1"/>
          </p:cNvGrpSpPr>
          <p:nvPr/>
        </p:nvGrpSpPr>
        <p:grpSpPr>
          <a:xfrm>
            <a:off x="493019" y="2032975"/>
            <a:ext cx="3125323" cy="2743200"/>
            <a:chOff x="152400" y="533400"/>
            <a:chExt cx="7417061" cy="6510207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2400" y="533400"/>
              <a:ext cx="6346874" cy="6510207"/>
            </a:xfrm>
            <a:prstGeom prst="rect">
              <a:avLst/>
            </a:prstGeom>
          </p:spPr>
        </p:pic>
        <p:sp>
          <p:nvSpPr>
            <p:cNvPr id="7" name="Freeform 6"/>
            <p:cNvSpPr/>
            <p:nvPr/>
          </p:nvSpPr>
          <p:spPr>
            <a:xfrm>
              <a:off x="833642" y="1497948"/>
              <a:ext cx="6695179" cy="4448257"/>
            </a:xfrm>
            <a:custGeom>
              <a:avLst/>
              <a:gdLst>
                <a:gd name="connsiteX0" fmla="*/ 6695179 w 6695179"/>
                <a:gd name="connsiteY0" fmla="*/ 4415692 h 4448257"/>
                <a:gd name="connsiteX1" fmla="*/ 91179 w 6695179"/>
                <a:gd name="connsiteY1" fmla="*/ 4448257 h 4448257"/>
                <a:gd name="connsiteX2" fmla="*/ 0 w 6695179"/>
                <a:gd name="connsiteY2" fmla="*/ 0 h 4448257"/>
                <a:gd name="connsiteX3" fmla="*/ 4435231 w 6695179"/>
                <a:gd name="connsiteY3" fmla="*/ 677333 h 4448257"/>
                <a:gd name="connsiteX4" fmla="*/ 4962769 w 6695179"/>
                <a:gd name="connsiteY4" fmla="*/ 1452359 h 4448257"/>
                <a:gd name="connsiteX5" fmla="*/ 2155744 w 6695179"/>
                <a:gd name="connsiteY5" fmla="*/ 2605128 h 4448257"/>
                <a:gd name="connsiteX6" fmla="*/ 6695179 w 6695179"/>
                <a:gd name="connsiteY6" fmla="*/ 4415692 h 4448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95179" h="4448257">
                  <a:moveTo>
                    <a:pt x="6695179" y="4415692"/>
                  </a:moveTo>
                  <a:lnTo>
                    <a:pt x="91179" y="4448257"/>
                  </a:lnTo>
                  <a:lnTo>
                    <a:pt x="0" y="0"/>
                  </a:lnTo>
                  <a:lnTo>
                    <a:pt x="4435231" y="677333"/>
                  </a:lnTo>
                  <a:lnTo>
                    <a:pt x="4962769" y="1452359"/>
                  </a:lnTo>
                  <a:lnTo>
                    <a:pt x="2155744" y="2605128"/>
                  </a:lnTo>
                  <a:lnTo>
                    <a:pt x="6695179" y="4415692"/>
                  </a:lnTo>
                  <a:close/>
                </a:path>
              </a:pathLst>
            </a:custGeom>
            <a:ln w="50800">
              <a:solidFill>
                <a:schemeClr val="tx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01077" y="1458873"/>
              <a:ext cx="91440" cy="91440"/>
            </a:xfrm>
            <a:prstGeom prst="ellipse">
              <a:avLst/>
            </a:prstGeom>
            <a:solidFill>
              <a:srgbClr val="008000"/>
            </a:solidFill>
            <a:ln>
              <a:solidFill>
                <a:srgbClr val="008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solidFill>
                  <a:srgbClr val="008000"/>
                </a:solidFill>
                <a:latin typeface="Times" pitchFamily="18" charset="0"/>
              </a:endParaRPr>
            </a:p>
          </p:txBody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2008553" y="1643838"/>
              <a:ext cx="91440" cy="91440"/>
            </a:xfrm>
            <a:prstGeom prst="ellipse">
              <a:avLst/>
            </a:prstGeom>
            <a:solidFill>
              <a:srgbClr val="008000"/>
            </a:solidFill>
            <a:ln>
              <a:solidFill>
                <a:srgbClr val="008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solidFill>
                  <a:srgbClr val="008000"/>
                </a:solidFill>
                <a:latin typeface="Times" pitchFamily="18" charset="0"/>
              </a:endParaRPr>
            </a:p>
          </p:txBody>
        </p:sp>
        <p:sp>
          <p:nvSpPr>
            <p:cNvPr id="10" name="Oval 9"/>
            <p:cNvSpPr>
              <a:spLocks noChangeAspect="1"/>
            </p:cNvSpPr>
            <p:nvPr/>
          </p:nvSpPr>
          <p:spPr>
            <a:xfrm>
              <a:off x="5736493" y="2909929"/>
              <a:ext cx="91440" cy="91440"/>
            </a:xfrm>
            <a:prstGeom prst="ellipse">
              <a:avLst/>
            </a:prstGeom>
            <a:solidFill>
              <a:srgbClr val="008000"/>
            </a:solidFill>
            <a:ln>
              <a:solidFill>
                <a:srgbClr val="008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solidFill>
                  <a:srgbClr val="008000"/>
                </a:solidFill>
                <a:latin typeface="Times" pitchFamily="18" charset="0"/>
              </a:endParaRPr>
            </a:p>
          </p:txBody>
        </p:sp>
        <p:sp>
          <p:nvSpPr>
            <p:cNvPr id="12" name="Oval 11"/>
            <p:cNvSpPr>
              <a:spLocks noChangeAspect="1"/>
            </p:cNvSpPr>
            <p:nvPr/>
          </p:nvSpPr>
          <p:spPr>
            <a:xfrm>
              <a:off x="5231098" y="2144022"/>
              <a:ext cx="91440" cy="91440"/>
            </a:xfrm>
            <a:prstGeom prst="ellipse">
              <a:avLst/>
            </a:prstGeom>
            <a:solidFill>
              <a:srgbClr val="008000"/>
            </a:solidFill>
            <a:ln>
              <a:solidFill>
                <a:srgbClr val="008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solidFill>
                  <a:srgbClr val="008000"/>
                </a:solidFill>
                <a:latin typeface="Times" pitchFamily="18" charset="0"/>
              </a:endParaRPr>
            </a:p>
          </p:txBody>
        </p:sp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10195" y="2470966"/>
              <a:ext cx="91440" cy="91440"/>
            </a:xfrm>
            <a:prstGeom prst="ellipse">
              <a:avLst/>
            </a:prstGeom>
            <a:solidFill>
              <a:srgbClr val="008000"/>
            </a:solidFill>
            <a:ln>
              <a:solidFill>
                <a:srgbClr val="008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solidFill>
                  <a:srgbClr val="008000"/>
                </a:solidFill>
                <a:latin typeface="Times" pitchFamily="18" charset="0"/>
              </a:endParaRPr>
            </a:p>
          </p:txBody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45364" y="4225520"/>
              <a:ext cx="91440" cy="91440"/>
            </a:xfrm>
            <a:prstGeom prst="ellipse">
              <a:avLst/>
            </a:prstGeom>
            <a:solidFill>
              <a:srgbClr val="008000"/>
            </a:solidFill>
            <a:ln>
              <a:solidFill>
                <a:srgbClr val="008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solidFill>
                  <a:srgbClr val="008000"/>
                </a:solidFill>
                <a:latin typeface="Times" pitchFamily="18" charset="0"/>
              </a:endParaRPr>
            </a:p>
          </p:txBody>
        </p:sp>
        <p:sp>
          <p:nvSpPr>
            <p:cNvPr id="15" name="Oval 14"/>
            <p:cNvSpPr>
              <a:spLocks noChangeAspect="1"/>
            </p:cNvSpPr>
            <p:nvPr/>
          </p:nvSpPr>
          <p:spPr>
            <a:xfrm>
              <a:off x="828431" y="3531252"/>
              <a:ext cx="91440" cy="91440"/>
            </a:xfrm>
            <a:prstGeom prst="ellipse">
              <a:avLst/>
            </a:prstGeom>
            <a:solidFill>
              <a:srgbClr val="008000"/>
            </a:solidFill>
            <a:ln>
              <a:solidFill>
                <a:srgbClr val="008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solidFill>
                  <a:srgbClr val="008000"/>
                </a:solidFill>
                <a:latin typeface="Times" pitchFamily="18" charset="0"/>
              </a:endParaRPr>
            </a:p>
          </p:txBody>
        </p:sp>
        <p:sp>
          <p:nvSpPr>
            <p:cNvPr id="16" name="Oval 15"/>
            <p:cNvSpPr>
              <a:spLocks noChangeAspect="1"/>
            </p:cNvSpPr>
            <p:nvPr/>
          </p:nvSpPr>
          <p:spPr>
            <a:xfrm>
              <a:off x="894862" y="5896709"/>
              <a:ext cx="91440" cy="91440"/>
            </a:xfrm>
            <a:prstGeom prst="ellipse">
              <a:avLst/>
            </a:prstGeom>
            <a:solidFill>
              <a:srgbClr val="008000"/>
            </a:solidFill>
            <a:ln>
              <a:solidFill>
                <a:srgbClr val="008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solidFill>
                  <a:srgbClr val="008000"/>
                </a:solidFill>
                <a:latin typeface="Times" pitchFamily="18" charset="0"/>
              </a:endParaRPr>
            </a:p>
          </p:txBody>
        </p:sp>
        <p:sp>
          <p:nvSpPr>
            <p:cNvPr id="17" name="Oval 16"/>
            <p:cNvSpPr>
              <a:spLocks noChangeAspect="1"/>
            </p:cNvSpPr>
            <p:nvPr/>
          </p:nvSpPr>
          <p:spPr>
            <a:xfrm>
              <a:off x="2968544" y="4049673"/>
              <a:ext cx="91440" cy="91440"/>
            </a:xfrm>
            <a:prstGeom prst="ellipse">
              <a:avLst/>
            </a:prstGeom>
            <a:solidFill>
              <a:srgbClr val="008000"/>
            </a:solidFill>
            <a:ln>
              <a:solidFill>
                <a:srgbClr val="008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solidFill>
                  <a:srgbClr val="008000"/>
                </a:solidFill>
                <a:latin typeface="Times" pitchFamily="18" charset="0"/>
              </a:endParaRPr>
            </a:p>
          </p:txBody>
        </p:sp>
        <p:sp>
          <p:nvSpPr>
            <p:cNvPr id="18" name="Oval 17"/>
            <p:cNvSpPr>
              <a:spLocks noChangeAspect="1"/>
            </p:cNvSpPr>
            <p:nvPr/>
          </p:nvSpPr>
          <p:spPr>
            <a:xfrm>
              <a:off x="1922585" y="5888894"/>
              <a:ext cx="91440" cy="91440"/>
            </a:xfrm>
            <a:prstGeom prst="ellipse">
              <a:avLst/>
            </a:prstGeom>
            <a:solidFill>
              <a:srgbClr val="008000"/>
            </a:solidFill>
            <a:ln>
              <a:solidFill>
                <a:srgbClr val="008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solidFill>
                  <a:srgbClr val="008000"/>
                </a:solidFill>
                <a:latin typeface="Times" pitchFamily="18" charset="0"/>
              </a:endParaRPr>
            </a:p>
          </p:txBody>
        </p:sp>
        <p:sp>
          <p:nvSpPr>
            <p:cNvPr id="19" name="Oval 18"/>
            <p:cNvSpPr>
              <a:spLocks noChangeAspect="1"/>
            </p:cNvSpPr>
            <p:nvPr/>
          </p:nvSpPr>
          <p:spPr>
            <a:xfrm>
              <a:off x="4996637" y="5882380"/>
              <a:ext cx="91440" cy="91440"/>
            </a:xfrm>
            <a:prstGeom prst="ellipse">
              <a:avLst/>
            </a:prstGeom>
            <a:solidFill>
              <a:srgbClr val="008000"/>
            </a:solidFill>
            <a:ln>
              <a:solidFill>
                <a:srgbClr val="008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solidFill>
                  <a:srgbClr val="008000"/>
                </a:solidFill>
                <a:latin typeface="Times" pitchFamily="18" charset="0"/>
              </a:endParaRPr>
            </a:p>
          </p:txBody>
        </p:sp>
        <p:sp>
          <p:nvSpPr>
            <p:cNvPr id="20" name="Oval 19"/>
            <p:cNvSpPr>
              <a:spLocks noChangeAspect="1"/>
            </p:cNvSpPr>
            <p:nvPr/>
          </p:nvSpPr>
          <p:spPr>
            <a:xfrm>
              <a:off x="3918113" y="4452165"/>
              <a:ext cx="91440" cy="91440"/>
            </a:xfrm>
            <a:prstGeom prst="ellipse">
              <a:avLst/>
            </a:prstGeom>
            <a:solidFill>
              <a:srgbClr val="008000"/>
            </a:solidFill>
            <a:ln>
              <a:solidFill>
                <a:srgbClr val="008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solidFill>
                  <a:srgbClr val="008000"/>
                </a:solidFill>
                <a:latin typeface="Times" pitchFamily="18" charset="0"/>
              </a:endParaRPr>
            </a:p>
          </p:txBody>
        </p:sp>
        <p:sp>
          <p:nvSpPr>
            <p:cNvPr id="21" name="Oval 20"/>
            <p:cNvSpPr>
              <a:spLocks noChangeAspect="1"/>
            </p:cNvSpPr>
            <p:nvPr/>
          </p:nvSpPr>
          <p:spPr>
            <a:xfrm>
              <a:off x="3189980" y="5892802"/>
              <a:ext cx="91440" cy="91440"/>
            </a:xfrm>
            <a:prstGeom prst="ellipse">
              <a:avLst/>
            </a:prstGeom>
            <a:solidFill>
              <a:srgbClr val="008000"/>
            </a:solidFill>
            <a:ln>
              <a:solidFill>
                <a:srgbClr val="008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solidFill>
                  <a:srgbClr val="008000"/>
                </a:solidFill>
                <a:latin typeface="Times" pitchFamily="18" charset="0"/>
              </a:endParaRPr>
            </a:p>
          </p:txBody>
        </p:sp>
        <p:sp>
          <p:nvSpPr>
            <p:cNvPr id="22" name="Oval 21"/>
            <p:cNvSpPr>
              <a:spLocks noChangeAspect="1"/>
            </p:cNvSpPr>
            <p:nvPr/>
          </p:nvSpPr>
          <p:spPr>
            <a:xfrm>
              <a:off x="7478021" y="5875868"/>
              <a:ext cx="91440" cy="91440"/>
            </a:xfrm>
            <a:prstGeom prst="ellipse">
              <a:avLst/>
            </a:prstGeom>
            <a:solidFill>
              <a:srgbClr val="008000"/>
            </a:solidFill>
            <a:ln>
              <a:solidFill>
                <a:srgbClr val="008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solidFill>
                  <a:srgbClr val="008000"/>
                </a:solidFill>
                <a:latin typeface="Times" pitchFamily="18" charset="0"/>
              </a:endParaRPr>
            </a:p>
          </p:txBody>
        </p:sp>
        <p:sp>
          <p:nvSpPr>
            <p:cNvPr id="23" name="Oval 22"/>
            <p:cNvSpPr>
              <a:spLocks noChangeAspect="1"/>
            </p:cNvSpPr>
            <p:nvPr/>
          </p:nvSpPr>
          <p:spPr>
            <a:xfrm>
              <a:off x="3205610" y="1811868"/>
              <a:ext cx="91440" cy="91440"/>
            </a:xfrm>
            <a:prstGeom prst="ellipse">
              <a:avLst/>
            </a:prstGeom>
            <a:solidFill>
              <a:srgbClr val="008000"/>
            </a:solidFill>
            <a:ln>
              <a:solidFill>
                <a:srgbClr val="008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solidFill>
                  <a:srgbClr val="008000"/>
                </a:solidFill>
                <a:latin typeface="Times" pitchFamily="18" charset="0"/>
              </a:endParaRPr>
            </a:p>
          </p:txBody>
        </p:sp>
        <p:sp>
          <p:nvSpPr>
            <p:cNvPr id="24" name="Oval 23"/>
            <p:cNvSpPr>
              <a:spLocks noChangeAspect="1"/>
            </p:cNvSpPr>
            <p:nvPr/>
          </p:nvSpPr>
          <p:spPr>
            <a:xfrm>
              <a:off x="3787857" y="3716216"/>
              <a:ext cx="91440" cy="91440"/>
            </a:xfrm>
            <a:prstGeom prst="ellipse">
              <a:avLst/>
            </a:prstGeom>
            <a:solidFill>
              <a:srgbClr val="008000"/>
            </a:solidFill>
            <a:ln>
              <a:solidFill>
                <a:srgbClr val="008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solidFill>
                  <a:srgbClr val="008000"/>
                </a:solidFill>
                <a:latin typeface="Times" pitchFamily="18" charset="0"/>
              </a:endParaRPr>
            </a:p>
          </p:txBody>
        </p:sp>
        <p:sp>
          <p:nvSpPr>
            <p:cNvPr id="25" name="Oval 24"/>
            <p:cNvSpPr>
              <a:spLocks noChangeAspect="1"/>
            </p:cNvSpPr>
            <p:nvPr/>
          </p:nvSpPr>
          <p:spPr>
            <a:xfrm>
              <a:off x="4760872" y="3308514"/>
              <a:ext cx="91440" cy="91440"/>
            </a:xfrm>
            <a:prstGeom prst="ellipse">
              <a:avLst/>
            </a:prstGeom>
            <a:solidFill>
              <a:srgbClr val="008000"/>
            </a:solidFill>
            <a:ln>
              <a:solidFill>
                <a:srgbClr val="008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solidFill>
                  <a:srgbClr val="008000"/>
                </a:solidFill>
                <a:latin typeface="Times" pitchFamily="18" charset="0"/>
              </a:endParaRPr>
            </a:p>
          </p:txBody>
        </p:sp>
        <p:sp>
          <p:nvSpPr>
            <p:cNvPr id="26" name="Oval 25"/>
            <p:cNvSpPr>
              <a:spLocks noChangeAspect="1"/>
            </p:cNvSpPr>
            <p:nvPr/>
          </p:nvSpPr>
          <p:spPr>
            <a:xfrm>
              <a:off x="4631918" y="2046330"/>
              <a:ext cx="91440" cy="91440"/>
            </a:xfrm>
            <a:prstGeom prst="ellipse">
              <a:avLst/>
            </a:prstGeom>
            <a:solidFill>
              <a:srgbClr val="008000"/>
            </a:solidFill>
            <a:ln>
              <a:solidFill>
                <a:srgbClr val="008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solidFill>
                  <a:srgbClr val="008000"/>
                </a:solidFill>
                <a:latin typeface="Times" pitchFamily="18" charset="0"/>
              </a:endParaRPr>
            </a:p>
          </p:txBody>
        </p:sp>
        <p:sp>
          <p:nvSpPr>
            <p:cNvPr id="27" name="Oval 26"/>
            <p:cNvSpPr>
              <a:spLocks noChangeAspect="1"/>
            </p:cNvSpPr>
            <p:nvPr/>
          </p:nvSpPr>
          <p:spPr>
            <a:xfrm>
              <a:off x="5184206" y="4936719"/>
              <a:ext cx="91440" cy="91440"/>
            </a:xfrm>
            <a:prstGeom prst="ellipse">
              <a:avLst/>
            </a:prstGeom>
            <a:solidFill>
              <a:srgbClr val="008000"/>
            </a:solidFill>
            <a:ln>
              <a:solidFill>
                <a:srgbClr val="008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solidFill>
                  <a:srgbClr val="008000"/>
                </a:solidFill>
                <a:latin typeface="Times" pitchFamily="18" charset="0"/>
              </a:endParaRPr>
            </a:p>
          </p:txBody>
        </p:sp>
        <p:sp>
          <p:nvSpPr>
            <p:cNvPr id="28" name="Oval 27"/>
            <p:cNvSpPr>
              <a:spLocks noChangeAspect="1"/>
            </p:cNvSpPr>
            <p:nvPr/>
          </p:nvSpPr>
          <p:spPr>
            <a:xfrm>
              <a:off x="4487334" y="4669693"/>
              <a:ext cx="91440" cy="91440"/>
            </a:xfrm>
            <a:prstGeom prst="ellipse">
              <a:avLst/>
            </a:prstGeom>
            <a:solidFill>
              <a:srgbClr val="008000"/>
            </a:solidFill>
            <a:ln>
              <a:solidFill>
                <a:srgbClr val="008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solidFill>
                  <a:srgbClr val="008000"/>
                </a:solidFill>
                <a:latin typeface="Times" pitchFamily="18" charset="0"/>
              </a:endParaRPr>
            </a:p>
          </p:txBody>
        </p:sp>
        <p:sp>
          <p:nvSpPr>
            <p:cNvPr id="29" name="Oval 28"/>
            <p:cNvSpPr>
              <a:spLocks noChangeAspect="1"/>
            </p:cNvSpPr>
            <p:nvPr/>
          </p:nvSpPr>
          <p:spPr>
            <a:xfrm>
              <a:off x="4431324" y="5883682"/>
              <a:ext cx="91440" cy="91440"/>
            </a:xfrm>
            <a:prstGeom prst="ellipse">
              <a:avLst/>
            </a:prstGeom>
            <a:solidFill>
              <a:srgbClr val="008000"/>
            </a:solidFill>
            <a:ln>
              <a:solidFill>
                <a:srgbClr val="008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solidFill>
                  <a:srgbClr val="008000"/>
                </a:solidFill>
                <a:latin typeface="Times" pitchFamily="18" charset="0"/>
              </a:endParaRPr>
            </a:p>
          </p:txBody>
        </p:sp>
        <p:sp>
          <p:nvSpPr>
            <p:cNvPr id="30" name="Oval 29"/>
            <p:cNvSpPr>
              <a:spLocks noChangeAspect="1"/>
            </p:cNvSpPr>
            <p:nvPr/>
          </p:nvSpPr>
          <p:spPr>
            <a:xfrm>
              <a:off x="2407138" y="2140113"/>
              <a:ext cx="91440" cy="91440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31" name="Oval 30"/>
            <p:cNvSpPr>
              <a:spLocks noChangeAspect="1"/>
            </p:cNvSpPr>
            <p:nvPr/>
          </p:nvSpPr>
          <p:spPr>
            <a:xfrm>
              <a:off x="2546513" y="1243949"/>
              <a:ext cx="91440" cy="9144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32" name="Oval 31"/>
            <p:cNvSpPr>
              <a:spLocks noChangeAspect="1"/>
            </p:cNvSpPr>
            <p:nvPr/>
          </p:nvSpPr>
          <p:spPr>
            <a:xfrm>
              <a:off x="1361179" y="1751949"/>
              <a:ext cx="91440" cy="91440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33" name="Oval 32"/>
            <p:cNvSpPr>
              <a:spLocks noChangeAspect="1"/>
            </p:cNvSpPr>
            <p:nvPr/>
          </p:nvSpPr>
          <p:spPr>
            <a:xfrm>
              <a:off x="1116297" y="1989015"/>
              <a:ext cx="91440" cy="91440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34" name="Oval 33"/>
            <p:cNvSpPr>
              <a:spLocks noChangeAspect="1"/>
            </p:cNvSpPr>
            <p:nvPr/>
          </p:nvSpPr>
          <p:spPr>
            <a:xfrm>
              <a:off x="962595" y="3007621"/>
              <a:ext cx="91440" cy="91440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35" name="Oval 34"/>
            <p:cNvSpPr>
              <a:spLocks noChangeAspect="1"/>
            </p:cNvSpPr>
            <p:nvPr/>
          </p:nvSpPr>
          <p:spPr>
            <a:xfrm>
              <a:off x="1180122" y="3928533"/>
              <a:ext cx="91440" cy="91440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36" name="Oval 35"/>
            <p:cNvSpPr>
              <a:spLocks noChangeAspect="1"/>
            </p:cNvSpPr>
            <p:nvPr/>
          </p:nvSpPr>
          <p:spPr>
            <a:xfrm>
              <a:off x="1026421" y="4654061"/>
              <a:ext cx="91440" cy="91440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37" name="Oval 36"/>
            <p:cNvSpPr>
              <a:spLocks noChangeAspect="1"/>
            </p:cNvSpPr>
            <p:nvPr/>
          </p:nvSpPr>
          <p:spPr>
            <a:xfrm>
              <a:off x="2461846" y="5379589"/>
              <a:ext cx="91440" cy="91440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38" name="Oval 37"/>
            <p:cNvSpPr>
              <a:spLocks noChangeAspect="1"/>
            </p:cNvSpPr>
            <p:nvPr/>
          </p:nvSpPr>
          <p:spPr>
            <a:xfrm>
              <a:off x="1858759" y="5154246"/>
              <a:ext cx="91440" cy="91440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39" name="Oval 38"/>
            <p:cNvSpPr>
              <a:spLocks noChangeAspect="1"/>
            </p:cNvSpPr>
            <p:nvPr/>
          </p:nvSpPr>
          <p:spPr>
            <a:xfrm>
              <a:off x="3997569" y="2173980"/>
              <a:ext cx="91440" cy="91440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40" name="Oval 39"/>
            <p:cNvSpPr>
              <a:spLocks noChangeAspect="1"/>
            </p:cNvSpPr>
            <p:nvPr/>
          </p:nvSpPr>
          <p:spPr>
            <a:xfrm>
              <a:off x="5113866" y="2554329"/>
              <a:ext cx="91440" cy="91440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41" name="Oval 40"/>
            <p:cNvSpPr>
              <a:spLocks noChangeAspect="1"/>
            </p:cNvSpPr>
            <p:nvPr/>
          </p:nvSpPr>
          <p:spPr>
            <a:xfrm>
              <a:off x="5370471" y="2563447"/>
              <a:ext cx="91440" cy="91440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42" name="Oval 41"/>
            <p:cNvSpPr>
              <a:spLocks noChangeAspect="1"/>
            </p:cNvSpPr>
            <p:nvPr/>
          </p:nvSpPr>
          <p:spPr>
            <a:xfrm>
              <a:off x="5249333" y="2833077"/>
              <a:ext cx="91440" cy="91440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43" name="Oval 42"/>
            <p:cNvSpPr>
              <a:spLocks noChangeAspect="1"/>
            </p:cNvSpPr>
            <p:nvPr/>
          </p:nvSpPr>
          <p:spPr>
            <a:xfrm>
              <a:off x="4079630" y="3473938"/>
              <a:ext cx="91440" cy="91440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44" name="Oval 43"/>
            <p:cNvSpPr>
              <a:spLocks noChangeAspect="1"/>
            </p:cNvSpPr>
            <p:nvPr/>
          </p:nvSpPr>
          <p:spPr>
            <a:xfrm>
              <a:off x="3548184" y="3365826"/>
              <a:ext cx="91440" cy="91440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45" name="Oval 44"/>
            <p:cNvSpPr>
              <a:spLocks noChangeAspect="1"/>
            </p:cNvSpPr>
            <p:nvPr/>
          </p:nvSpPr>
          <p:spPr>
            <a:xfrm>
              <a:off x="3563815" y="4657970"/>
              <a:ext cx="91440" cy="91440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46" name="Oval 45"/>
            <p:cNvSpPr>
              <a:spLocks noChangeAspect="1"/>
            </p:cNvSpPr>
            <p:nvPr/>
          </p:nvSpPr>
          <p:spPr>
            <a:xfrm>
              <a:off x="5572369" y="5513754"/>
              <a:ext cx="91440" cy="91440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47" name="Oval 46"/>
            <p:cNvSpPr>
              <a:spLocks noChangeAspect="1"/>
            </p:cNvSpPr>
            <p:nvPr/>
          </p:nvSpPr>
          <p:spPr>
            <a:xfrm>
              <a:off x="4233332" y="4702257"/>
              <a:ext cx="91440" cy="91440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48" name="Oval 47"/>
            <p:cNvSpPr>
              <a:spLocks noChangeAspect="1"/>
            </p:cNvSpPr>
            <p:nvPr/>
          </p:nvSpPr>
          <p:spPr>
            <a:xfrm>
              <a:off x="4515989" y="4913272"/>
              <a:ext cx="91440" cy="91440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49" name="Oval 48"/>
            <p:cNvSpPr>
              <a:spLocks noChangeAspect="1"/>
            </p:cNvSpPr>
            <p:nvPr/>
          </p:nvSpPr>
          <p:spPr>
            <a:xfrm>
              <a:off x="4062697" y="5671364"/>
              <a:ext cx="91440" cy="91440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50" name="Oval 49"/>
            <p:cNvSpPr>
              <a:spLocks noChangeAspect="1"/>
            </p:cNvSpPr>
            <p:nvPr/>
          </p:nvSpPr>
          <p:spPr>
            <a:xfrm>
              <a:off x="4443046" y="5472072"/>
              <a:ext cx="91440" cy="91440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51" name="Oval 50"/>
            <p:cNvSpPr>
              <a:spLocks noChangeAspect="1"/>
            </p:cNvSpPr>
            <p:nvPr/>
          </p:nvSpPr>
          <p:spPr>
            <a:xfrm>
              <a:off x="4614984" y="5305344"/>
              <a:ext cx="91440" cy="91440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52" name="Oval 51"/>
            <p:cNvSpPr>
              <a:spLocks noChangeAspect="1"/>
            </p:cNvSpPr>
            <p:nvPr/>
          </p:nvSpPr>
          <p:spPr>
            <a:xfrm>
              <a:off x="1422401" y="1331220"/>
              <a:ext cx="91440" cy="9144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53" name="Oval 52"/>
            <p:cNvSpPr>
              <a:spLocks noChangeAspect="1"/>
            </p:cNvSpPr>
            <p:nvPr/>
          </p:nvSpPr>
          <p:spPr>
            <a:xfrm>
              <a:off x="500185" y="1985108"/>
              <a:ext cx="91440" cy="9144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54" name="Oval 53"/>
            <p:cNvSpPr>
              <a:spLocks noChangeAspect="1"/>
            </p:cNvSpPr>
            <p:nvPr/>
          </p:nvSpPr>
          <p:spPr>
            <a:xfrm>
              <a:off x="685148" y="3016739"/>
              <a:ext cx="91440" cy="9144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55" name="Oval 54"/>
            <p:cNvSpPr>
              <a:spLocks noChangeAspect="1"/>
            </p:cNvSpPr>
            <p:nvPr/>
          </p:nvSpPr>
          <p:spPr>
            <a:xfrm>
              <a:off x="485857" y="3950678"/>
              <a:ext cx="91440" cy="9144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56" name="Oval 55"/>
            <p:cNvSpPr>
              <a:spLocks noChangeAspect="1"/>
            </p:cNvSpPr>
            <p:nvPr/>
          </p:nvSpPr>
          <p:spPr>
            <a:xfrm>
              <a:off x="690359" y="4656667"/>
              <a:ext cx="91440" cy="9144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57" name="Oval 56"/>
            <p:cNvSpPr>
              <a:spLocks noChangeAspect="1"/>
            </p:cNvSpPr>
            <p:nvPr/>
          </p:nvSpPr>
          <p:spPr>
            <a:xfrm>
              <a:off x="1858759" y="6632657"/>
              <a:ext cx="91440" cy="9144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58" name="Oval 57"/>
            <p:cNvSpPr>
              <a:spLocks noChangeAspect="1"/>
            </p:cNvSpPr>
            <p:nvPr/>
          </p:nvSpPr>
          <p:spPr>
            <a:xfrm>
              <a:off x="2454031" y="6420338"/>
              <a:ext cx="91440" cy="9144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59" name="Oval 58"/>
            <p:cNvSpPr>
              <a:spLocks noChangeAspect="1"/>
            </p:cNvSpPr>
            <p:nvPr/>
          </p:nvSpPr>
          <p:spPr>
            <a:xfrm>
              <a:off x="4065303" y="1733713"/>
              <a:ext cx="91440" cy="9144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60" name="Oval 59"/>
            <p:cNvSpPr>
              <a:spLocks noChangeAspect="1"/>
            </p:cNvSpPr>
            <p:nvPr/>
          </p:nvSpPr>
          <p:spPr>
            <a:xfrm>
              <a:off x="5214164" y="1677703"/>
              <a:ext cx="91440" cy="9144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61" name="Oval 60"/>
            <p:cNvSpPr>
              <a:spLocks noChangeAspect="1"/>
            </p:cNvSpPr>
            <p:nvPr/>
          </p:nvSpPr>
          <p:spPr>
            <a:xfrm>
              <a:off x="5588000" y="2429282"/>
              <a:ext cx="91440" cy="9144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62" name="Oval 61"/>
            <p:cNvSpPr>
              <a:spLocks noChangeAspect="1"/>
            </p:cNvSpPr>
            <p:nvPr/>
          </p:nvSpPr>
          <p:spPr>
            <a:xfrm>
              <a:off x="5434298" y="3317631"/>
              <a:ext cx="91440" cy="9144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63" name="Oval 62"/>
            <p:cNvSpPr>
              <a:spLocks noChangeAspect="1"/>
            </p:cNvSpPr>
            <p:nvPr/>
          </p:nvSpPr>
          <p:spPr>
            <a:xfrm>
              <a:off x="4147364" y="3671929"/>
              <a:ext cx="91440" cy="9144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64" name="Oval 63"/>
            <p:cNvSpPr>
              <a:spLocks noChangeAspect="1"/>
            </p:cNvSpPr>
            <p:nvPr/>
          </p:nvSpPr>
          <p:spPr>
            <a:xfrm>
              <a:off x="5849815" y="4814277"/>
              <a:ext cx="91440" cy="9144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65" name="Oval 64"/>
            <p:cNvSpPr>
              <a:spLocks noChangeAspect="1"/>
            </p:cNvSpPr>
            <p:nvPr/>
          </p:nvSpPr>
          <p:spPr>
            <a:xfrm>
              <a:off x="3820421" y="4074421"/>
              <a:ext cx="91440" cy="9144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66" name="Oval 65"/>
            <p:cNvSpPr>
              <a:spLocks noChangeAspect="1"/>
            </p:cNvSpPr>
            <p:nvPr/>
          </p:nvSpPr>
          <p:spPr>
            <a:xfrm>
              <a:off x="4676206" y="4513385"/>
              <a:ext cx="91440" cy="9144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67" name="Oval 66"/>
            <p:cNvSpPr>
              <a:spLocks noChangeAspect="1"/>
            </p:cNvSpPr>
            <p:nvPr/>
          </p:nvSpPr>
          <p:spPr>
            <a:xfrm>
              <a:off x="4294554" y="4496452"/>
              <a:ext cx="91440" cy="9144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68" name="Oval 67"/>
            <p:cNvSpPr>
              <a:spLocks noChangeAspect="1"/>
            </p:cNvSpPr>
            <p:nvPr/>
          </p:nvSpPr>
          <p:spPr>
            <a:xfrm>
              <a:off x="5558041" y="6209323"/>
              <a:ext cx="91440" cy="9144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69" name="Oval 68"/>
            <p:cNvSpPr>
              <a:spLocks noChangeAspect="1"/>
            </p:cNvSpPr>
            <p:nvPr/>
          </p:nvSpPr>
          <p:spPr>
            <a:xfrm>
              <a:off x="4453467" y="6296596"/>
              <a:ext cx="91440" cy="9144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70" name="Oval 69"/>
            <p:cNvSpPr>
              <a:spLocks noChangeAspect="1"/>
            </p:cNvSpPr>
            <p:nvPr/>
          </p:nvSpPr>
          <p:spPr>
            <a:xfrm>
              <a:off x="4058789" y="6110329"/>
              <a:ext cx="91440" cy="9144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</p:grpSp>
      <p:grpSp>
        <p:nvGrpSpPr>
          <p:cNvPr id="72" name="Group 71"/>
          <p:cNvGrpSpPr>
            <a:grpSpLocks noChangeAspect="1"/>
          </p:cNvGrpSpPr>
          <p:nvPr/>
        </p:nvGrpSpPr>
        <p:grpSpPr>
          <a:xfrm>
            <a:off x="581982" y="4335580"/>
            <a:ext cx="3705811" cy="2743200"/>
            <a:chOff x="347784" y="945711"/>
            <a:chExt cx="7881814" cy="5834458"/>
          </a:xfrm>
        </p:grpSpPr>
        <p:pic>
          <p:nvPicPr>
            <p:cNvPr id="73" name="Picture 7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7784" y="945711"/>
              <a:ext cx="7881814" cy="5834458"/>
            </a:xfrm>
            <a:prstGeom prst="rect">
              <a:avLst/>
            </a:prstGeom>
          </p:spPr>
        </p:pic>
        <p:sp>
          <p:nvSpPr>
            <p:cNvPr id="74" name="Freeform 73"/>
            <p:cNvSpPr/>
            <p:nvPr/>
          </p:nvSpPr>
          <p:spPr>
            <a:xfrm>
              <a:off x="833642" y="1497948"/>
              <a:ext cx="6687559" cy="4448257"/>
            </a:xfrm>
            <a:custGeom>
              <a:avLst/>
              <a:gdLst>
                <a:gd name="connsiteX0" fmla="*/ 6695179 w 6695179"/>
                <a:gd name="connsiteY0" fmla="*/ 4415692 h 4448257"/>
                <a:gd name="connsiteX1" fmla="*/ 91179 w 6695179"/>
                <a:gd name="connsiteY1" fmla="*/ 4448257 h 4448257"/>
                <a:gd name="connsiteX2" fmla="*/ 0 w 6695179"/>
                <a:gd name="connsiteY2" fmla="*/ 0 h 4448257"/>
                <a:gd name="connsiteX3" fmla="*/ 4435231 w 6695179"/>
                <a:gd name="connsiteY3" fmla="*/ 677333 h 4448257"/>
                <a:gd name="connsiteX4" fmla="*/ 4962769 w 6695179"/>
                <a:gd name="connsiteY4" fmla="*/ 1452359 h 4448257"/>
                <a:gd name="connsiteX5" fmla="*/ 2155744 w 6695179"/>
                <a:gd name="connsiteY5" fmla="*/ 2605128 h 4448257"/>
                <a:gd name="connsiteX6" fmla="*/ 6695179 w 6695179"/>
                <a:gd name="connsiteY6" fmla="*/ 4415692 h 4448257"/>
                <a:gd name="connsiteX0" fmla="*/ 6695179 w 6695179"/>
                <a:gd name="connsiteY0" fmla="*/ 4415692 h 4448257"/>
                <a:gd name="connsiteX1" fmla="*/ 91179 w 6695179"/>
                <a:gd name="connsiteY1" fmla="*/ 4448257 h 4448257"/>
                <a:gd name="connsiteX2" fmla="*/ 0 w 6695179"/>
                <a:gd name="connsiteY2" fmla="*/ 0 h 4448257"/>
                <a:gd name="connsiteX3" fmla="*/ 4435231 w 6695179"/>
                <a:gd name="connsiteY3" fmla="*/ 677333 h 4448257"/>
                <a:gd name="connsiteX4" fmla="*/ 4962769 w 6695179"/>
                <a:gd name="connsiteY4" fmla="*/ 1452359 h 4448257"/>
                <a:gd name="connsiteX5" fmla="*/ 2155744 w 6695179"/>
                <a:gd name="connsiteY5" fmla="*/ 2605128 h 4448257"/>
                <a:gd name="connsiteX6" fmla="*/ 6695179 w 6695179"/>
                <a:gd name="connsiteY6" fmla="*/ 4415692 h 4448257"/>
                <a:gd name="connsiteX0" fmla="*/ 6695179 w 6695179"/>
                <a:gd name="connsiteY0" fmla="*/ 4415692 h 4448257"/>
                <a:gd name="connsiteX1" fmla="*/ 91179 w 6695179"/>
                <a:gd name="connsiteY1" fmla="*/ 4448257 h 4448257"/>
                <a:gd name="connsiteX2" fmla="*/ 0 w 6695179"/>
                <a:gd name="connsiteY2" fmla="*/ 0 h 4448257"/>
                <a:gd name="connsiteX3" fmla="*/ 4435231 w 6695179"/>
                <a:gd name="connsiteY3" fmla="*/ 677333 h 4448257"/>
                <a:gd name="connsiteX4" fmla="*/ 4962769 w 6695179"/>
                <a:gd name="connsiteY4" fmla="*/ 1452359 h 4448257"/>
                <a:gd name="connsiteX5" fmla="*/ 2155744 w 6695179"/>
                <a:gd name="connsiteY5" fmla="*/ 2597508 h 4448257"/>
                <a:gd name="connsiteX6" fmla="*/ 6695179 w 6695179"/>
                <a:gd name="connsiteY6" fmla="*/ 4415692 h 4448257"/>
                <a:gd name="connsiteX0" fmla="*/ 6695179 w 6695179"/>
                <a:gd name="connsiteY0" fmla="*/ 4415692 h 4448257"/>
                <a:gd name="connsiteX1" fmla="*/ 91179 w 6695179"/>
                <a:gd name="connsiteY1" fmla="*/ 4448257 h 4448257"/>
                <a:gd name="connsiteX2" fmla="*/ 0 w 6695179"/>
                <a:gd name="connsiteY2" fmla="*/ 0 h 4448257"/>
                <a:gd name="connsiteX3" fmla="*/ 4435231 w 6695179"/>
                <a:gd name="connsiteY3" fmla="*/ 677333 h 4448257"/>
                <a:gd name="connsiteX4" fmla="*/ 4962769 w 6695179"/>
                <a:gd name="connsiteY4" fmla="*/ 1452359 h 4448257"/>
                <a:gd name="connsiteX5" fmla="*/ 2163364 w 6695179"/>
                <a:gd name="connsiteY5" fmla="*/ 2574648 h 4448257"/>
                <a:gd name="connsiteX6" fmla="*/ 6695179 w 6695179"/>
                <a:gd name="connsiteY6" fmla="*/ 4415692 h 4448257"/>
                <a:gd name="connsiteX0" fmla="*/ 6687559 w 6687559"/>
                <a:gd name="connsiteY0" fmla="*/ 4430932 h 4448257"/>
                <a:gd name="connsiteX1" fmla="*/ 91179 w 6687559"/>
                <a:gd name="connsiteY1" fmla="*/ 4448257 h 4448257"/>
                <a:gd name="connsiteX2" fmla="*/ 0 w 6687559"/>
                <a:gd name="connsiteY2" fmla="*/ 0 h 4448257"/>
                <a:gd name="connsiteX3" fmla="*/ 4435231 w 6687559"/>
                <a:gd name="connsiteY3" fmla="*/ 677333 h 4448257"/>
                <a:gd name="connsiteX4" fmla="*/ 4962769 w 6687559"/>
                <a:gd name="connsiteY4" fmla="*/ 1452359 h 4448257"/>
                <a:gd name="connsiteX5" fmla="*/ 2163364 w 6687559"/>
                <a:gd name="connsiteY5" fmla="*/ 2574648 h 4448257"/>
                <a:gd name="connsiteX6" fmla="*/ 6687559 w 6687559"/>
                <a:gd name="connsiteY6" fmla="*/ 4430932 h 4448257"/>
                <a:gd name="connsiteX0" fmla="*/ 6687559 w 6687559"/>
                <a:gd name="connsiteY0" fmla="*/ 4430932 h 4448257"/>
                <a:gd name="connsiteX1" fmla="*/ 91179 w 6687559"/>
                <a:gd name="connsiteY1" fmla="*/ 4448257 h 4448257"/>
                <a:gd name="connsiteX2" fmla="*/ 0 w 6687559"/>
                <a:gd name="connsiteY2" fmla="*/ 0 h 4448257"/>
                <a:gd name="connsiteX3" fmla="*/ 4435231 w 6687559"/>
                <a:gd name="connsiteY3" fmla="*/ 677333 h 4448257"/>
                <a:gd name="connsiteX4" fmla="*/ 4924669 w 6687559"/>
                <a:gd name="connsiteY4" fmla="*/ 1452359 h 4448257"/>
                <a:gd name="connsiteX5" fmla="*/ 2163364 w 6687559"/>
                <a:gd name="connsiteY5" fmla="*/ 2574648 h 4448257"/>
                <a:gd name="connsiteX6" fmla="*/ 6687559 w 6687559"/>
                <a:gd name="connsiteY6" fmla="*/ 4430932 h 4448257"/>
                <a:gd name="connsiteX0" fmla="*/ 6687559 w 6687559"/>
                <a:gd name="connsiteY0" fmla="*/ 4430932 h 4448257"/>
                <a:gd name="connsiteX1" fmla="*/ 91179 w 6687559"/>
                <a:gd name="connsiteY1" fmla="*/ 4448257 h 4448257"/>
                <a:gd name="connsiteX2" fmla="*/ 0 w 6687559"/>
                <a:gd name="connsiteY2" fmla="*/ 0 h 4448257"/>
                <a:gd name="connsiteX3" fmla="*/ 4435231 w 6687559"/>
                <a:gd name="connsiteY3" fmla="*/ 677333 h 4448257"/>
                <a:gd name="connsiteX4" fmla="*/ 4924669 w 6687559"/>
                <a:gd name="connsiteY4" fmla="*/ 1452359 h 4448257"/>
                <a:gd name="connsiteX5" fmla="*/ 2170984 w 6687559"/>
                <a:gd name="connsiteY5" fmla="*/ 2597508 h 4448257"/>
                <a:gd name="connsiteX6" fmla="*/ 6687559 w 6687559"/>
                <a:gd name="connsiteY6" fmla="*/ 4430932 h 4448257"/>
                <a:gd name="connsiteX0" fmla="*/ 6687559 w 6687559"/>
                <a:gd name="connsiteY0" fmla="*/ 4430932 h 4448257"/>
                <a:gd name="connsiteX1" fmla="*/ 91179 w 6687559"/>
                <a:gd name="connsiteY1" fmla="*/ 4448257 h 4448257"/>
                <a:gd name="connsiteX2" fmla="*/ 0 w 6687559"/>
                <a:gd name="connsiteY2" fmla="*/ 0 h 4448257"/>
                <a:gd name="connsiteX3" fmla="*/ 4435231 w 6687559"/>
                <a:gd name="connsiteY3" fmla="*/ 677333 h 4448257"/>
                <a:gd name="connsiteX4" fmla="*/ 4924669 w 6687559"/>
                <a:gd name="connsiteY4" fmla="*/ 1452359 h 4448257"/>
                <a:gd name="connsiteX5" fmla="*/ 2117644 w 6687559"/>
                <a:gd name="connsiteY5" fmla="*/ 2582268 h 4448257"/>
                <a:gd name="connsiteX6" fmla="*/ 6687559 w 6687559"/>
                <a:gd name="connsiteY6" fmla="*/ 4430932 h 4448257"/>
                <a:gd name="connsiteX0" fmla="*/ 6687559 w 6687559"/>
                <a:gd name="connsiteY0" fmla="*/ 4430932 h 4448257"/>
                <a:gd name="connsiteX1" fmla="*/ 91179 w 6687559"/>
                <a:gd name="connsiteY1" fmla="*/ 4448257 h 4448257"/>
                <a:gd name="connsiteX2" fmla="*/ 0 w 6687559"/>
                <a:gd name="connsiteY2" fmla="*/ 0 h 4448257"/>
                <a:gd name="connsiteX3" fmla="*/ 4435231 w 6687559"/>
                <a:gd name="connsiteY3" fmla="*/ 677333 h 4448257"/>
                <a:gd name="connsiteX4" fmla="*/ 4924669 w 6687559"/>
                <a:gd name="connsiteY4" fmla="*/ 1452359 h 4448257"/>
                <a:gd name="connsiteX5" fmla="*/ 2117644 w 6687559"/>
                <a:gd name="connsiteY5" fmla="*/ 2582268 h 4448257"/>
                <a:gd name="connsiteX6" fmla="*/ 6687559 w 6687559"/>
                <a:gd name="connsiteY6" fmla="*/ 4430932 h 4448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87559" h="4448257">
                  <a:moveTo>
                    <a:pt x="6687559" y="4430932"/>
                  </a:moveTo>
                  <a:lnTo>
                    <a:pt x="91179" y="4448257"/>
                  </a:lnTo>
                  <a:lnTo>
                    <a:pt x="0" y="0"/>
                  </a:lnTo>
                  <a:lnTo>
                    <a:pt x="4435231" y="677333"/>
                  </a:lnTo>
                  <a:lnTo>
                    <a:pt x="4924669" y="1452359"/>
                  </a:lnTo>
                  <a:lnTo>
                    <a:pt x="2117644" y="2582268"/>
                  </a:lnTo>
                  <a:lnTo>
                    <a:pt x="6687559" y="4430932"/>
                  </a:lnTo>
                  <a:close/>
                </a:path>
              </a:pathLst>
            </a:custGeom>
            <a:ln w="38100">
              <a:solidFill>
                <a:schemeClr val="tx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75" name="Oval 74"/>
            <p:cNvSpPr>
              <a:spLocks noChangeAspect="1"/>
            </p:cNvSpPr>
            <p:nvPr/>
          </p:nvSpPr>
          <p:spPr>
            <a:xfrm>
              <a:off x="801077" y="1458873"/>
              <a:ext cx="91440" cy="91440"/>
            </a:xfrm>
            <a:prstGeom prst="ellipse">
              <a:avLst/>
            </a:prstGeom>
            <a:solidFill>
              <a:srgbClr val="008000"/>
            </a:solidFill>
            <a:ln>
              <a:solidFill>
                <a:srgbClr val="008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solidFill>
                  <a:srgbClr val="008000"/>
                </a:solidFill>
                <a:latin typeface="Times" pitchFamily="18" charset="0"/>
              </a:endParaRPr>
            </a:p>
          </p:txBody>
        </p:sp>
        <p:sp>
          <p:nvSpPr>
            <p:cNvPr id="76" name="Oval 75"/>
            <p:cNvSpPr>
              <a:spLocks noChangeAspect="1"/>
            </p:cNvSpPr>
            <p:nvPr/>
          </p:nvSpPr>
          <p:spPr>
            <a:xfrm>
              <a:off x="2008553" y="1643838"/>
              <a:ext cx="91440" cy="91440"/>
            </a:xfrm>
            <a:prstGeom prst="ellipse">
              <a:avLst/>
            </a:prstGeom>
            <a:solidFill>
              <a:srgbClr val="008000"/>
            </a:solidFill>
            <a:ln>
              <a:solidFill>
                <a:srgbClr val="008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solidFill>
                  <a:srgbClr val="008000"/>
                </a:solidFill>
                <a:latin typeface="Times" pitchFamily="18" charset="0"/>
              </a:endParaRPr>
            </a:p>
          </p:txBody>
        </p:sp>
        <p:sp>
          <p:nvSpPr>
            <p:cNvPr id="77" name="Oval 76"/>
            <p:cNvSpPr>
              <a:spLocks noChangeAspect="1"/>
            </p:cNvSpPr>
            <p:nvPr/>
          </p:nvSpPr>
          <p:spPr>
            <a:xfrm>
              <a:off x="5736493" y="2909929"/>
              <a:ext cx="91440" cy="91440"/>
            </a:xfrm>
            <a:prstGeom prst="ellipse">
              <a:avLst/>
            </a:prstGeom>
            <a:solidFill>
              <a:srgbClr val="008000"/>
            </a:solidFill>
            <a:ln>
              <a:solidFill>
                <a:srgbClr val="008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solidFill>
                  <a:srgbClr val="008000"/>
                </a:solidFill>
                <a:latin typeface="Times" pitchFamily="18" charset="0"/>
              </a:endParaRPr>
            </a:p>
          </p:txBody>
        </p:sp>
        <p:sp>
          <p:nvSpPr>
            <p:cNvPr id="78" name="Oval 77"/>
            <p:cNvSpPr>
              <a:spLocks noChangeAspect="1"/>
            </p:cNvSpPr>
            <p:nvPr/>
          </p:nvSpPr>
          <p:spPr>
            <a:xfrm>
              <a:off x="5231098" y="2144022"/>
              <a:ext cx="91440" cy="91440"/>
            </a:xfrm>
            <a:prstGeom prst="ellipse">
              <a:avLst/>
            </a:prstGeom>
            <a:solidFill>
              <a:srgbClr val="008000"/>
            </a:solidFill>
            <a:ln>
              <a:solidFill>
                <a:srgbClr val="008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solidFill>
                  <a:srgbClr val="008000"/>
                </a:solidFill>
                <a:latin typeface="Times" pitchFamily="18" charset="0"/>
              </a:endParaRPr>
            </a:p>
          </p:txBody>
        </p:sp>
        <p:sp>
          <p:nvSpPr>
            <p:cNvPr id="79" name="Oval 78"/>
            <p:cNvSpPr>
              <a:spLocks noChangeAspect="1"/>
            </p:cNvSpPr>
            <p:nvPr/>
          </p:nvSpPr>
          <p:spPr>
            <a:xfrm>
              <a:off x="810195" y="2470966"/>
              <a:ext cx="91440" cy="91440"/>
            </a:xfrm>
            <a:prstGeom prst="ellipse">
              <a:avLst/>
            </a:prstGeom>
            <a:solidFill>
              <a:srgbClr val="008000"/>
            </a:solidFill>
            <a:ln>
              <a:solidFill>
                <a:srgbClr val="008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solidFill>
                  <a:srgbClr val="008000"/>
                </a:solidFill>
                <a:latin typeface="Times" pitchFamily="18" charset="0"/>
              </a:endParaRPr>
            </a:p>
          </p:txBody>
        </p:sp>
        <p:sp>
          <p:nvSpPr>
            <p:cNvPr id="80" name="Oval 79"/>
            <p:cNvSpPr>
              <a:spLocks noChangeAspect="1"/>
            </p:cNvSpPr>
            <p:nvPr/>
          </p:nvSpPr>
          <p:spPr>
            <a:xfrm>
              <a:off x="845364" y="4225520"/>
              <a:ext cx="91440" cy="91440"/>
            </a:xfrm>
            <a:prstGeom prst="ellipse">
              <a:avLst/>
            </a:prstGeom>
            <a:solidFill>
              <a:srgbClr val="008000"/>
            </a:solidFill>
            <a:ln>
              <a:solidFill>
                <a:srgbClr val="008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solidFill>
                  <a:srgbClr val="008000"/>
                </a:solidFill>
                <a:latin typeface="Times" pitchFamily="18" charset="0"/>
              </a:endParaRPr>
            </a:p>
          </p:txBody>
        </p:sp>
        <p:sp>
          <p:nvSpPr>
            <p:cNvPr id="81" name="Oval 80"/>
            <p:cNvSpPr>
              <a:spLocks noChangeAspect="1"/>
            </p:cNvSpPr>
            <p:nvPr/>
          </p:nvSpPr>
          <p:spPr>
            <a:xfrm>
              <a:off x="828431" y="3531252"/>
              <a:ext cx="91440" cy="91440"/>
            </a:xfrm>
            <a:prstGeom prst="ellipse">
              <a:avLst/>
            </a:prstGeom>
            <a:solidFill>
              <a:srgbClr val="008000"/>
            </a:solidFill>
            <a:ln>
              <a:solidFill>
                <a:srgbClr val="008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solidFill>
                  <a:srgbClr val="008000"/>
                </a:solidFill>
                <a:latin typeface="Times" pitchFamily="18" charset="0"/>
              </a:endParaRPr>
            </a:p>
          </p:txBody>
        </p:sp>
        <p:sp>
          <p:nvSpPr>
            <p:cNvPr id="82" name="Oval 81"/>
            <p:cNvSpPr>
              <a:spLocks noChangeAspect="1"/>
            </p:cNvSpPr>
            <p:nvPr/>
          </p:nvSpPr>
          <p:spPr>
            <a:xfrm>
              <a:off x="894862" y="5896709"/>
              <a:ext cx="91440" cy="91440"/>
            </a:xfrm>
            <a:prstGeom prst="ellipse">
              <a:avLst/>
            </a:prstGeom>
            <a:solidFill>
              <a:srgbClr val="008000"/>
            </a:solidFill>
            <a:ln>
              <a:solidFill>
                <a:srgbClr val="008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solidFill>
                  <a:srgbClr val="008000"/>
                </a:solidFill>
                <a:latin typeface="Times" pitchFamily="18" charset="0"/>
              </a:endParaRPr>
            </a:p>
          </p:txBody>
        </p:sp>
        <p:sp>
          <p:nvSpPr>
            <p:cNvPr id="83" name="Oval 82"/>
            <p:cNvSpPr>
              <a:spLocks noChangeAspect="1"/>
            </p:cNvSpPr>
            <p:nvPr/>
          </p:nvSpPr>
          <p:spPr>
            <a:xfrm>
              <a:off x="2938129" y="4034498"/>
              <a:ext cx="98995" cy="98995"/>
            </a:xfrm>
            <a:prstGeom prst="ellipse">
              <a:avLst/>
            </a:prstGeom>
            <a:solidFill>
              <a:srgbClr val="008000"/>
            </a:solidFill>
            <a:ln>
              <a:solidFill>
                <a:srgbClr val="008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solidFill>
                  <a:srgbClr val="008000"/>
                </a:solidFill>
                <a:latin typeface="Times" pitchFamily="18" charset="0"/>
              </a:endParaRPr>
            </a:p>
          </p:txBody>
        </p:sp>
        <p:sp>
          <p:nvSpPr>
            <p:cNvPr id="84" name="Oval 83"/>
            <p:cNvSpPr>
              <a:spLocks noChangeAspect="1"/>
            </p:cNvSpPr>
            <p:nvPr/>
          </p:nvSpPr>
          <p:spPr>
            <a:xfrm>
              <a:off x="1922585" y="5888894"/>
              <a:ext cx="91440" cy="91440"/>
            </a:xfrm>
            <a:prstGeom prst="ellipse">
              <a:avLst/>
            </a:prstGeom>
            <a:solidFill>
              <a:srgbClr val="008000"/>
            </a:solidFill>
            <a:ln>
              <a:solidFill>
                <a:srgbClr val="008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solidFill>
                  <a:srgbClr val="008000"/>
                </a:solidFill>
                <a:latin typeface="Times" pitchFamily="18" charset="0"/>
              </a:endParaRPr>
            </a:p>
          </p:txBody>
        </p:sp>
        <p:sp>
          <p:nvSpPr>
            <p:cNvPr id="85" name="Oval 84"/>
            <p:cNvSpPr>
              <a:spLocks noChangeAspect="1"/>
            </p:cNvSpPr>
            <p:nvPr/>
          </p:nvSpPr>
          <p:spPr>
            <a:xfrm>
              <a:off x="4996637" y="5882380"/>
              <a:ext cx="91440" cy="91440"/>
            </a:xfrm>
            <a:prstGeom prst="ellipse">
              <a:avLst/>
            </a:prstGeom>
            <a:solidFill>
              <a:srgbClr val="008000"/>
            </a:solidFill>
            <a:ln>
              <a:solidFill>
                <a:srgbClr val="008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solidFill>
                  <a:srgbClr val="008000"/>
                </a:solidFill>
                <a:latin typeface="Times" pitchFamily="18" charset="0"/>
              </a:endParaRPr>
            </a:p>
          </p:txBody>
        </p:sp>
        <p:sp>
          <p:nvSpPr>
            <p:cNvPr id="86" name="Oval 85"/>
            <p:cNvSpPr>
              <a:spLocks noChangeAspect="1"/>
            </p:cNvSpPr>
            <p:nvPr/>
          </p:nvSpPr>
          <p:spPr>
            <a:xfrm>
              <a:off x="3918113" y="4452165"/>
              <a:ext cx="91440" cy="91440"/>
            </a:xfrm>
            <a:prstGeom prst="ellipse">
              <a:avLst/>
            </a:prstGeom>
            <a:solidFill>
              <a:srgbClr val="008000"/>
            </a:solidFill>
            <a:ln>
              <a:solidFill>
                <a:srgbClr val="008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solidFill>
                  <a:srgbClr val="008000"/>
                </a:solidFill>
                <a:latin typeface="Times" pitchFamily="18" charset="0"/>
              </a:endParaRPr>
            </a:p>
          </p:txBody>
        </p:sp>
        <p:sp>
          <p:nvSpPr>
            <p:cNvPr id="87" name="Oval 86"/>
            <p:cNvSpPr>
              <a:spLocks noChangeAspect="1"/>
            </p:cNvSpPr>
            <p:nvPr/>
          </p:nvSpPr>
          <p:spPr>
            <a:xfrm>
              <a:off x="3189980" y="5892802"/>
              <a:ext cx="91440" cy="91440"/>
            </a:xfrm>
            <a:prstGeom prst="ellipse">
              <a:avLst/>
            </a:prstGeom>
            <a:solidFill>
              <a:srgbClr val="008000"/>
            </a:solidFill>
            <a:ln>
              <a:solidFill>
                <a:srgbClr val="008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solidFill>
                  <a:srgbClr val="008000"/>
                </a:solidFill>
                <a:latin typeface="Times" pitchFamily="18" charset="0"/>
              </a:endParaRPr>
            </a:p>
          </p:txBody>
        </p:sp>
        <p:sp>
          <p:nvSpPr>
            <p:cNvPr id="88" name="Oval 87"/>
            <p:cNvSpPr>
              <a:spLocks noChangeAspect="1"/>
            </p:cNvSpPr>
            <p:nvPr/>
          </p:nvSpPr>
          <p:spPr>
            <a:xfrm>
              <a:off x="7478021" y="5875868"/>
              <a:ext cx="91440" cy="91440"/>
            </a:xfrm>
            <a:prstGeom prst="ellipse">
              <a:avLst/>
            </a:prstGeom>
            <a:solidFill>
              <a:srgbClr val="008000"/>
            </a:solidFill>
            <a:ln>
              <a:solidFill>
                <a:srgbClr val="008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solidFill>
                  <a:srgbClr val="008000"/>
                </a:solidFill>
                <a:latin typeface="Times" pitchFamily="18" charset="0"/>
              </a:endParaRPr>
            </a:p>
          </p:txBody>
        </p:sp>
        <p:sp>
          <p:nvSpPr>
            <p:cNvPr id="89" name="Oval 88"/>
            <p:cNvSpPr>
              <a:spLocks noChangeAspect="1"/>
            </p:cNvSpPr>
            <p:nvPr/>
          </p:nvSpPr>
          <p:spPr>
            <a:xfrm>
              <a:off x="3205610" y="1811868"/>
              <a:ext cx="91440" cy="91440"/>
            </a:xfrm>
            <a:prstGeom prst="ellipse">
              <a:avLst/>
            </a:prstGeom>
            <a:solidFill>
              <a:srgbClr val="008000"/>
            </a:solidFill>
            <a:ln>
              <a:solidFill>
                <a:srgbClr val="008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solidFill>
                  <a:srgbClr val="008000"/>
                </a:solidFill>
                <a:latin typeface="Times" pitchFamily="18" charset="0"/>
              </a:endParaRPr>
            </a:p>
          </p:txBody>
        </p:sp>
        <p:sp>
          <p:nvSpPr>
            <p:cNvPr id="90" name="Oval 89"/>
            <p:cNvSpPr>
              <a:spLocks noChangeAspect="1"/>
            </p:cNvSpPr>
            <p:nvPr/>
          </p:nvSpPr>
          <p:spPr>
            <a:xfrm>
              <a:off x="3764610" y="3700718"/>
              <a:ext cx="91440" cy="91440"/>
            </a:xfrm>
            <a:prstGeom prst="ellipse">
              <a:avLst/>
            </a:prstGeom>
            <a:solidFill>
              <a:srgbClr val="008000"/>
            </a:solidFill>
            <a:ln>
              <a:solidFill>
                <a:srgbClr val="008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solidFill>
                  <a:srgbClr val="008000"/>
                </a:solidFill>
                <a:latin typeface="Times" pitchFamily="18" charset="0"/>
              </a:endParaRPr>
            </a:p>
          </p:txBody>
        </p:sp>
        <p:sp>
          <p:nvSpPr>
            <p:cNvPr id="91" name="Oval 90"/>
            <p:cNvSpPr>
              <a:spLocks noChangeAspect="1"/>
            </p:cNvSpPr>
            <p:nvPr/>
          </p:nvSpPr>
          <p:spPr>
            <a:xfrm>
              <a:off x="4737625" y="3308514"/>
              <a:ext cx="91440" cy="91440"/>
            </a:xfrm>
            <a:prstGeom prst="ellipse">
              <a:avLst/>
            </a:prstGeom>
            <a:solidFill>
              <a:srgbClr val="008000"/>
            </a:solidFill>
            <a:ln>
              <a:solidFill>
                <a:srgbClr val="008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solidFill>
                  <a:srgbClr val="008000"/>
                </a:solidFill>
                <a:latin typeface="Times" pitchFamily="18" charset="0"/>
              </a:endParaRPr>
            </a:p>
          </p:txBody>
        </p:sp>
        <p:sp>
          <p:nvSpPr>
            <p:cNvPr id="92" name="Oval 91"/>
            <p:cNvSpPr>
              <a:spLocks noChangeAspect="1"/>
            </p:cNvSpPr>
            <p:nvPr/>
          </p:nvSpPr>
          <p:spPr>
            <a:xfrm>
              <a:off x="4631918" y="2046330"/>
              <a:ext cx="91440" cy="91440"/>
            </a:xfrm>
            <a:prstGeom prst="ellipse">
              <a:avLst/>
            </a:prstGeom>
            <a:solidFill>
              <a:srgbClr val="008000"/>
            </a:solidFill>
            <a:ln>
              <a:solidFill>
                <a:srgbClr val="008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solidFill>
                  <a:srgbClr val="008000"/>
                </a:solidFill>
                <a:latin typeface="Times" pitchFamily="18" charset="0"/>
              </a:endParaRPr>
            </a:p>
          </p:txBody>
        </p:sp>
        <p:sp>
          <p:nvSpPr>
            <p:cNvPr id="93" name="Oval 92"/>
            <p:cNvSpPr>
              <a:spLocks noChangeAspect="1"/>
            </p:cNvSpPr>
            <p:nvPr/>
          </p:nvSpPr>
          <p:spPr>
            <a:xfrm>
              <a:off x="5184206" y="4936719"/>
              <a:ext cx="91440" cy="91440"/>
            </a:xfrm>
            <a:prstGeom prst="ellipse">
              <a:avLst/>
            </a:prstGeom>
            <a:solidFill>
              <a:srgbClr val="008000"/>
            </a:solidFill>
            <a:ln>
              <a:solidFill>
                <a:srgbClr val="008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solidFill>
                  <a:srgbClr val="008000"/>
                </a:solidFill>
                <a:latin typeface="Times" pitchFamily="18" charset="0"/>
              </a:endParaRPr>
            </a:p>
          </p:txBody>
        </p:sp>
        <p:sp>
          <p:nvSpPr>
            <p:cNvPr id="94" name="Oval 93"/>
            <p:cNvSpPr>
              <a:spLocks noChangeAspect="1"/>
            </p:cNvSpPr>
            <p:nvPr/>
          </p:nvSpPr>
          <p:spPr>
            <a:xfrm>
              <a:off x="4487334" y="4669693"/>
              <a:ext cx="91440" cy="91440"/>
            </a:xfrm>
            <a:prstGeom prst="ellipse">
              <a:avLst/>
            </a:prstGeom>
            <a:solidFill>
              <a:srgbClr val="008000"/>
            </a:solidFill>
            <a:ln>
              <a:solidFill>
                <a:srgbClr val="008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solidFill>
                  <a:srgbClr val="008000"/>
                </a:solidFill>
                <a:latin typeface="Times" pitchFamily="18" charset="0"/>
              </a:endParaRPr>
            </a:p>
          </p:txBody>
        </p:sp>
        <p:sp>
          <p:nvSpPr>
            <p:cNvPr id="95" name="Oval 94"/>
            <p:cNvSpPr>
              <a:spLocks noChangeAspect="1"/>
            </p:cNvSpPr>
            <p:nvPr/>
          </p:nvSpPr>
          <p:spPr>
            <a:xfrm>
              <a:off x="4431324" y="5883682"/>
              <a:ext cx="91440" cy="91440"/>
            </a:xfrm>
            <a:prstGeom prst="ellipse">
              <a:avLst/>
            </a:prstGeom>
            <a:solidFill>
              <a:srgbClr val="008000"/>
            </a:solidFill>
            <a:ln>
              <a:solidFill>
                <a:srgbClr val="008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solidFill>
                  <a:srgbClr val="008000"/>
                </a:solidFill>
                <a:latin typeface="Times" pitchFamily="18" charset="0"/>
              </a:endParaRPr>
            </a:p>
          </p:txBody>
        </p:sp>
        <p:sp>
          <p:nvSpPr>
            <p:cNvPr id="96" name="Oval 95"/>
            <p:cNvSpPr>
              <a:spLocks noChangeAspect="1"/>
            </p:cNvSpPr>
            <p:nvPr/>
          </p:nvSpPr>
          <p:spPr>
            <a:xfrm>
              <a:off x="2407138" y="2140113"/>
              <a:ext cx="91440" cy="91440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97" name="Oval 96"/>
            <p:cNvSpPr>
              <a:spLocks noChangeAspect="1"/>
            </p:cNvSpPr>
            <p:nvPr/>
          </p:nvSpPr>
          <p:spPr>
            <a:xfrm>
              <a:off x="2546513" y="1243949"/>
              <a:ext cx="91440" cy="9144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98" name="Oval 97"/>
            <p:cNvSpPr>
              <a:spLocks noChangeAspect="1"/>
            </p:cNvSpPr>
            <p:nvPr/>
          </p:nvSpPr>
          <p:spPr>
            <a:xfrm>
              <a:off x="1348153" y="1745436"/>
              <a:ext cx="91440" cy="91440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99" name="Oval 98"/>
            <p:cNvSpPr>
              <a:spLocks noChangeAspect="1"/>
            </p:cNvSpPr>
            <p:nvPr/>
          </p:nvSpPr>
          <p:spPr>
            <a:xfrm>
              <a:off x="1116297" y="1989015"/>
              <a:ext cx="91440" cy="91440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100" name="Oval 99"/>
            <p:cNvSpPr>
              <a:spLocks noChangeAspect="1"/>
            </p:cNvSpPr>
            <p:nvPr/>
          </p:nvSpPr>
          <p:spPr>
            <a:xfrm>
              <a:off x="962595" y="3007621"/>
              <a:ext cx="91440" cy="91440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101" name="Oval 100"/>
            <p:cNvSpPr>
              <a:spLocks noChangeAspect="1"/>
            </p:cNvSpPr>
            <p:nvPr/>
          </p:nvSpPr>
          <p:spPr>
            <a:xfrm>
              <a:off x="1180122" y="3928533"/>
              <a:ext cx="91440" cy="91440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102" name="Oval 101"/>
            <p:cNvSpPr>
              <a:spLocks noChangeAspect="1"/>
            </p:cNvSpPr>
            <p:nvPr/>
          </p:nvSpPr>
          <p:spPr>
            <a:xfrm>
              <a:off x="1026421" y="4654061"/>
              <a:ext cx="91440" cy="91440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103" name="Oval 102"/>
            <p:cNvSpPr>
              <a:spLocks noChangeAspect="1"/>
            </p:cNvSpPr>
            <p:nvPr/>
          </p:nvSpPr>
          <p:spPr>
            <a:xfrm>
              <a:off x="2461846" y="5379589"/>
              <a:ext cx="91440" cy="91440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104" name="Oval 103"/>
            <p:cNvSpPr>
              <a:spLocks noChangeAspect="1"/>
            </p:cNvSpPr>
            <p:nvPr/>
          </p:nvSpPr>
          <p:spPr>
            <a:xfrm>
              <a:off x="1858759" y="5154246"/>
              <a:ext cx="91440" cy="91440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105" name="Oval 104"/>
            <p:cNvSpPr>
              <a:spLocks noChangeAspect="1"/>
            </p:cNvSpPr>
            <p:nvPr/>
          </p:nvSpPr>
          <p:spPr>
            <a:xfrm>
              <a:off x="3997569" y="2173980"/>
              <a:ext cx="91440" cy="91440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106" name="Oval 105"/>
            <p:cNvSpPr>
              <a:spLocks noChangeAspect="1"/>
            </p:cNvSpPr>
            <p:nvPr/>
          </p:nvSpPr>
          <p:spPr>
            <a:xfrm>
              <a:off x="5113866" y="2554329"/>
              <a:ext cx="91440" cy="91440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107" name="Oval 106"/>
            <p:cNvSpPr>
              <a:spLocks noChangeAspect="1"/>
            </p:cNvSpPr>
            <p:nvPr/>
          </p:nvSpPr>
          <p:spPr>
            <a:xfrm>
              <a:off x="5370471" y="2563447"/>
              <a:ext cx="91440" cy="91440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108" name="Oval 107"/>
            <p:cNvSpPr>
              <a:spLocks noChangeAspect="1"/>
            </p:cNvSpPr>
            <p:nvPr/>
          </p:nvSpPr>
          <p:spPr>
            <a:xfrm>
              <a:off x="5249333" y="2833077"/>
              <a:ext cx="91440" cy="91440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109" name="Oval 108"/>
            <p:cNvSpPr>
              <a:spLocks noChangeAspect="1"/>
            </p:cNvSpPr>
            <p:nvPr/>
          </p:nvSpPr>
          <p:spPr>
            <a:xfrm>
              <a:off x="4079630" y="3473938"/>
              <a:ext cx="91440" cy="91440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110" name="Oval 109"/>
            <p:cNvSpPr>
              <a:spLocks noChangeAspect="1"/>
            </p:cNvSpPr>
            <p:nvPr/>
          </p:nvSpPr>
          <p:spPr>
            <a:xfrm>
              <a:off x="3548184" y="3365826"/>
              <a:ext cx="91440" cy="91440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111" name="Oval 110"/>
            <p:cNvSpPr>
              <a:spLocks noChangeAspect="1"/>
            </p:cNvSpPr>
            <p:nvPr/>
          </p:nvSpPr>
          <p:spPr>
            <a:xfrm>
              <a:off x="3563815" y="4657970"/>
              <a:ext cx="91440" cy="91440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112" name="Oval 111"/>
            <p:cNvSpPr>
              <a:spLocks noChangeAspect="1"/>
            </p:cNvSpPr>
            <p:nvPr/>
          </p:nvSpPr>
          <p:spPr>
            <a:xfrm>
              <a:off x="5572369" y="5513754"/>
              <a:ext cx="91440" cy="91440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113" name="Oval 112"/>
            <p:cNvSpPr>
              <a:spLocks noChangeAspect="1"/>
            </p:cNvSpPr>
            <p:nvPr/>
          </p:nvSpPr>
          <p:spPr>
            <a:xfrm>
              <a:off x="4233332" y="4702257"/>
              <a:ext cx="91440" cy="91440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114" name="Oval 113"/>
            <p:cNvSpPr>
              <a:spLocks noChangeAspect="1"/>
            </p:cNvSpPr>
            <p:nvPr/>
          </p:nvSpPr>
          <p:spPr>
            <a:xfrm>
              <a:off x="4515989" y="4913272"/>
              <a:ext cx="91440" cy="91440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115" name="Oval 114"/>
            <p:cNvSpPr>
              <a:spLocks noChangeAspect="1"/>
            </p:cNvSpPr>
            <p:nvPr/>
          </p:nvSpPr>
          <p:spPr>
            <a:xfrm>
              <a:off x="4062697" y="5671364"/>
              <a:ext cx="91440" cy="91440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116" name="Oval 115"/>
            <p:cNvSpPr>
              <a:spLocks noChangeAspect="1"/>
            </p:cNvSpPr>
            <p:nvPr/>
          </p:nvSpPr>
          <p:spPr>
            <a:xfrm>
              <a:off x="4443046" y="5472072"/>
              <a:ext cx="91440" cy="91440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117" name="Oval 116"/>
            <p:cNvSpPr>
              <a:spLocks noChangeAspect="1"/>
            </p:cNvSpPr>
            <p:nvPr/>
          </p:nvSpPr>
          <p:spPr>
            <a:xfrm>
              <a:off x="4614984" y="5305344"/>
              <a:ext cx="91440" cy="91440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118" name="Oval 117"/>
            <p:cNvSpPr>
              <a:spLocks noChangeAspect="1"/>
            </p:cNvSpPr>
            <p:nvPr/>
          </p:nvSpPr>
          <p:spPr>
            <a:xfrm>
              <a:off x="1422401" y="1331220"/>
              <a:ext cx="91440" cy="9144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119" name="Oval 118"/>
            <p:cNvSpPr>
              <a:spLocks noChangeAspect="1"/>
            </p:cNvSpPr>
            <p:nvPr/>
          </p:nvSpPr>
          <p:spPr>
            <a:xfrm>
              <a:off x="500185" y="1985108"/>
              <a:ext cx="91440" cy="9144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120" name="Oval 119"/>
            <p:cNvSpPr>
              <a:spLocks noChangeAspect="1"/>
            </p:cNvSpPr>
            <p:nvPr/>
          </p:nvSpPr>
          <p:spPr>
            <a:xfrm>
              <a:off x="685148" y="3016739"/>
              <a:ext cx="91440" cy="9144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121" name="Oval 120"/>
            <p:cNvSpPr>
              <a:spLocks noChangeAspect="1"/>
            </p:cNvSpPr>
            <p:nvPr/>
          </p:nvSpPr>
          <p:spPr>
            <a:xfrm>
              <a:off x="485857" y="3950678"/>
              <a:ext cx="91440" cy="9144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122" name="Oval 121"/>
            <p:cNvSpPr>
              <a:spLocks noChangeAspect="1"/>
            </p:cNvSpPr>
            <p:nvPr/>
          </p:nvSpPr>
          <p:spPr>
            <a:xfrm>
              <a:off x="690359" y="4656667"/>
              <a:ext cx="91440" cy="9144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123" name="Oval 122"/>
            <p:cNvSpPr>
              <a:spLocks noChangeAspect="1"/>
            </p:cNvSpPr>
            <p:nvPr/>
          </p:nvSpPr>
          <p:spPr>
            <a:xfrm>
              <a:off x="1858759" y="6632657"/>
              <a:ext cx="91440" cy="9144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124" name="Oval 123"/>
            <p:cNvSpPr>
              <a:spLocks noChangeAspect="1"/>
            </p:cNvSpPr>
            <p:nvPr/>
          </p:nvSpPr>
          <p:spPr>
            <a:xfrm>
              <a:off x="2454031" y="6420338"/>
              <a:ext cx="91440" cy="9144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125" name="Oval 124"/>
            <p:cNvSpPr>
              <a:spLocks noChangeAspect="1"/>
            </p:cNvSpPr>
            <p:nvPr/>
          </p:nvSpPr>
          <p:spPr>
            <a:xfrm>
              <a:off x="4065303" y="1733713"/>
              <a:ext cx="91440" cy="9144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126" name="Oval 125"/>
            <p:cNvSpPr>
              <a:spLocks noChangeAspect="1"/>
            </p:cNvSpPr>
            <p:nvPr/>
          </p:nvSpPr>
          <p:spPr>
            <a:xfrm>
              <a:off x="5214164" y="1677703"/>
              <a:ext cx="91440" cy="9144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127" name="Oval 126"/>
            <p:cNvSpPr>
              <a:spLocks noChangeAspect="1"/>
            </p:cNvSpPr>
            <p:nvPr/>
          </p:nvSpPr>
          <p:spPr>
            <a:xfrm>
              <a:off x="5588000" y="2429282"/>
              <a:ext cx="91440" cy="9144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128" name="Oval 127"/>
            <p:cNvSpPr>
              <a:spLocks noChangeAspect="1"/>
            </p:cNvSpPr>
            <p:nvPr/>
          </p:nvSpPr>
          <p:spPr>
            <a:xfrm>
              <a:off x="5434298" y="3317631"/>
              <a:ext cx="91440" cy="9144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129" name="Oval 128"/>
            <p:cNvSpPr>
              <a:spLocks noChangeAspect="1"/>
            </p:cNvSpPr>
            <p:nvPr/>
          </p:nvSpPr>
          <p:spPr>
            <a:xfrm>
              <a:off x="4147364" y="3671929"/>
              <a:ext cx="91440" cy="9144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130" name="Oval 129"/>
            <p:cNvSpPr>
              <a:spLocks noChangeAspect="1"/>
            </p:cNvSpPr>
            <p:nvPr/>
          </p:nvSpPr>
          <p:spPr>
            <a:xfrm>
              <a:off x="5849815" y="4814277"/>
              <a:ext cx="91440" cy="9144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131" name="Oval 130"/>
            <p:cNvSpPr>
              <a:spLocks noChangeAspect="1"/>
            </p:cNvSpPr>
            <p:nvPr/>
          </p:nvSpPr>
          <p:spPr>
            <a:xfrm>
              <a:off x="3820421" y="4074421"/>
              <a:ext cx="91440" cy="9144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132" name="Oval 131"/>
            <p:cNvSpPr>
              <a:spLocks noChangeAspect="1"/>
            </p:cNvSpPr>
            <p:nvPr/>
          </p:nvSpPr>
          <p:spPr>
            <a:xfrm>
              <a:off x="4676206" y="4513385"/>
              <a:ext cx="91440" cy="9144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133" name="Oval 132"/>
            <p:cNvSpPr>
              <a:spLocks noChangeAspect="1"/>
            </p:cNvSpPr>
            <p:nvPr/>
          </p:nvSpPr>
          <p:spPr>
            <a:xfrm>
              <a:off x="4294554" y="4496452"/>
              <a:ext cx="91440" cy="9144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134" name="Oval 133"/>
            <p:cNvSpPr>
              <a:spLocks noChangeAspect="1"/>
            </p:cNvSpPr>
            <p:nvPr/>
          </p:nvSpPr>
          <p:spPr>
            <a:xfrm>
              <a:off x="5558041" y="6209323"/>
              <a:ext cx="91440" cy="9144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135" name="Oval 134"/>
            <p:cNvSpPr>
              <a:spLocks noChangeAspect="1"/>
            </p:cNvSpPr>
            <p:nvPr/>
          </p:nvSpPr>
          <p:spPr>
            <a:xfrm>
              <a:off x="4453467" y="6296596"/>
              <a:ext cx="91440" cy="9144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136" name="Oval 135"/>
            <p:cNvSpPr>
              <a:spLocks noChangeAspect="1"/>
            </p:cNvSpPr>
            <p:nvPr/>
          </p:nvSpPr>
          <p:spPr>
            <a:xfrm>
              <a:off x="4058789" y="6110329"/>
              <a:ext cx="91440" cy="9144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137" name="Oval 136"/>
            <p:cNvSpPr>
              <a:spLocks noChangeAspect="1"/>
            </p:cNvSpPr>
            <p:nvPr/>
          </p:nvSpPr>
          <p:spPr>
            <a:xfrm>
              <a:off x="1490134" y="2245620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138" name="Oval 137"/>
            <p:cNvSpPr>
              <a:spLocks noChangeAspect="1"/>
            </p:cNvSpPr>
            <p:nvPr/>
          </p:nvSpPr>
          <p:spPr>
            <a:xfrm>
              <a:off x="1596944" y="2945097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139" name="Oval 138"/>
            <p:cNvSpPr>
              <a:spLocks noChangeAspect="1"/>
            </p:cNvSpPr>
            <p:nvPr/>
          </p:nvSpPr>
          <p:spPr>
            <a:xfrm>
              <a:off x="1475806" y="4491241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140" name="Oval 139"/>
            <p:cNvSpPr>
              <a:spLocks noChangeAspect="1"/>
            </p:cNvSpPr>
            <p:nvPr/>
          </p:nvSpPr>
          <p:spPr>
            <a:xfrm>
              <a:off x="2325077" y="2481384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141" name="Oval 140"/>
            <p:cNvSpPr>
              <a:spLocks noChangeAspect="1"/>
            </p:cNvSpPr>
            <p:nvPr/>
          </p:nvSpPr>
          <p:spPr>
            <a:xfrm>
              <a:off x="3981939" y="2666348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142" name="Oval 141"/>
            <p:cNvSpPr>
              <a:spLocks noChangeAspect="1"/>
            </p:cNvSpPr>
            <p:nvPr/>
          </p:nvSpPr>
          <p:spPr>
            <a:xfrm>
              <a:off x="2011160" y="4687927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143" name="Oval 142"/>
            <p:cNvSpPr>
              <a:spLocks noChangeAspect="1"/>
            </p:cNvSpPr>
            <p:nvPr/>
          </p:nvSpPr>
          <p:spPr>
            <a:xfrm>
              <a:off x="2404534" y="3160020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144" name="Oval 143"/>
            <p:cNvSpPr>
              <a:spLocks noChangeAspect="1"/>
            </p:cNvSpPr>
            <p:nvPr/>
          </p:nvSpPr>
          <p:spPr>
            <a:xfrm>
              <a:off x="1755857" y="3794368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145" name="Oval 144"/>
            <p:cNvSpPr>
              <a:spLocks noChangeAspect="1"/>
            </p:cNvSpPr>
            <p:nvPr/>
          </p:nvSpPr>
          <p:spPr>
            <a:xfrm>
              <a:off x="4135641" y="5112563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  <p:sp>
          <p:nvSpPr>
            <p:cNvPr id="146" name="Oval 145"/>
            <p:cNvSpPr>
              <a:spLocks noChangeAspect="1"/>
            </p:cNvSpPr>
            <p:nvPr/>
          </p:nvSpPr>
          <p:spPr>
            <a:xfrm>
              <a:off x="3141786" y="2894297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 w="12700" cmpd="sng">
                  <a:solidFill>
                    <a:schemeClr val="tx1"/>
                  </a:solidFill>
                </a:ln>
                <a:noFill/>
                <a:latin typeface="Times" pitchFamily="18" charset="0"/>
              </a:endParaRPr>
            </a:p>
          </p:txBody>
        </p:sp>
      </p:grpSp>
      <p:pic>
        <p:nvPicPr>
          <p:cNvPr id="148" name="Picture 5" descr="&#10;hilite.gif                                                     00028760Macintosh HD                   B839FA10: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6992" y="2092987"/>
            <a:ext cx="2555906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9" name="Picture 6" descr="nucurve.gif                                                    00028760Macintosh HD                   B839FA10: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4966" y="4546530"/>
            <a:ext cx="255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0" name="TextBox 149"/>
          <p:cNvSpPr txBox="1"/>
          <p:nvPr/>
        </p:nvSpPr>
        <p:spPr>
          <a:xfrm>
            <a:off x="68772" y="-56412"/>
            <a:ext cx="4404571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/>
            <a:r>
              <a:rPr lang="en-US" sz="1600" dirty="0"/>
              <a:t> power </a:t>
            </a:r>
            <a:r>
              <a:rPr lang="en-US" sz="1600" dirty="0" smtClean="0"/>
              <a:t>crust images </a:t>
            </a:r>
            <a:r>
              <a:rPr lang="en-US" sz="1600" dirty="0"/>
              <a:t>courtesy Nina </a:t>
            </a:r>
            <a:r>
              <a:rPr lang="en-US" sz="1600" dirty="0" err="1"/>
              <a:t>Amenta</a:t>
            </a:r>
            <a:r>
              <a:rPr lang="en-US" sz="1600" dirty="0" smtClean="0"/>
              <a:t>,</a:t>
            </a:r>
            <a:endParaRPr lang="en-US" sz="1600" dirty="0"/>
          </a:p>
          <a:p>
            <a:pPr marL="0" lvl="1"/>
            <a:r>
              <a:rPr lang="en-US" sz="1600" dirty="0"/>
              <a:t>https://</a:t>
            </a:r>
            <a:r>
              <a:rPr lang="en-US" sz="1600" dirty="0" err="1"/>
              <a:t>www.cs.utah.edu</a:t>
            </a:r>
            <a:r>
              <a:rPr lang="en-US" sz="1600" dirty="0"/>
              <a:t>/~</a:t>
            </a:r>
            <a:r>
              <a:rPr lang="en-US" sz="1600" dirty="0" err="1"/>
              <a:t>jeffp</a:t>
            </a:r>
            <a:r>
              <a:rPr lang="en-US" sz="1600" dirty="0"/>
              <a:t>/8F-CG/</a:t>
            </a:r>
            <a:r>
              <a:rPr lang="en-US" sz="1600" dirty="0" err="1"/>
              <a:t>namenta.ppt</a:t>
            </a:r>
            <a:endParaRPr lang="en-US" sz="1600" dirty="0"/>
          </a:p>
        </p:txBody>
      </p:sp>
      <p:sp>
        <p:nvSpPr>
          <p:cNvPr id="151" name="Content Placeholder 2"/>
          <p:cNvSpPr txBox="1">
            <a:spLocks/>
          </p:cNvSpPr>
          <p:nvPr/>
        </p:nvSpPr>
        <p:spPr bwMode="auto">
          <a:xfrm>
            <a:off x="5787191" y="1237103"/>
            <a:ext cx="4073467" cy="94547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>
            <a:lvl1pPr marL="34290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400" b="1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200" b="1">
                <a:solidFill>
                  <a:srgbClr val="000000"/>
                </a:solidFill>
                <a:latin typeface="+mn-lt"/>
              </a:defRPr>
            </a:lvl2pPr>
            <a:lvl3pPr marL="10858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rgbClr val="000000"/>
                </a:solidFill>
                <a:latin typeface="+mn-lt"/>
              </a:defRPr>
            </a:lvl3pPr>
            <a:lvl4pPr marL="15430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b="1">
                <a:solidFill>
                  <a:srgbClr val="000000"/>
                </a:solidFill>
                <a:latin typeface="+mn-lt"/>
              </a:defRPr>
            </a:lvl4pPr>
            <a:lvl5pPr marL="19431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5pPr>
            <a:lvl6pPr marL="24003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6pPr>
            <a:lvl7pPr marL="28575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7pPr>
            <a:lvl8pPr marL="33147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8pPr>
            <a:lvl9pPr marL="37719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9pPr>
          </a:lstStyle>
          <a:p>
            <a:r>
              <a:rPr lang="en-US" sz="2000" kern="0" dirty="0" err="1" smtClean="0"/>
              <a:t>Powercrust</a:t>
            </a:r>
            <a:r>
              <a:rPr lang="en-US" sz="2000" kern="0" dirty="0" smtClean="0"/>
              <a:t/>
            </a:r>
            <a:br>
              <a:rPr lang="en-US" sz="2000" kern="0" dirty="0" smtClean="0"/>
            </a:br>
            <a:r>
              <a:rPr lang="en-US" sz="2000" kern="0" dirty="0" smtClean="0"/>
              <a:t>weighted and non-local</a:t>
            </a:r>
          </a:p>
          <a:p>
            <a:endParaRPr lang="en-US" sz="2000" kern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254500"/>
            <a:ext cx="7772400" cy="945473"/>
          </a:xfrm>
        </p:spPr>
        <p:txBody>
          <a:bodyPr/>
          <a:lstStyle/>
          <a:p>
            <a:r>
              <a:rPr lang="en-US" sz="1800" dirty="0" smtClean="0"/>
              <a:t>Our approach</a:t>
            </a:r>
            <a:br>
              <a:rPr lang="en-US" sz="1800" dirty="0" smtClean="0"/>
            </a:br>
            <a:r>
              <a:rPr lang="en-US" sz="1800" dirty="0" smtClean="0"/>
              <a:t>unweighted output,</a:t>
            </a:r>
            <a:br>
              <a:rPr lang="en-US" sz="1800" dirty="0" smtClean="0"/>
            </a:br>
            <a:r>
              <a:rPr lang="en-US" sz="1800" dirty="0" smtClean="0"/>
              <a:t>polyhedral meshing </a:t>
            </a:r>
            <a:br>
              <a:rPr lang="en-US" sz="1800" dirty="0" smtClean="0"/>
            </a:br>
            <a:r>
              <a:rPr lang="en-US" sz="1800" dirty="0" smtClean="0"/>
              <a:t>  interior </a:t>
            </a:r>
            <a:r>
              <a:rPr lang="en-US" sz="1800" dirty="0"/>
              <a:t>seed freedom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95373497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solve it?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Voronoi meshing -&gt; polyhedral meshing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5803" y="-366868"/>
            <a:ext cx="1015437" cy="5399153"/>
          </a:xfrm>
          <a:prstGeom prst="rect">
            <a:avLst/>
          </a:prstGeom>
          <a:scene3d>
            <a:camera prst="orthographicFront">
              <a:rot lat="0" lon="0" rev="5400000"/>
            </a:camera>
            <a:lightRig rig="threePt" dir="t"/>
          </a:scene3d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210" y="4162111"/>
            <a:ext cx="2259301" cy="144871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273" y="5552942"/>
            <a:ext cx="4035699" cy="896822"/>
          </a:xfrm>
          <a:prstGeom prst="rect">
            <a:avLst/>
          </a:prstGeom>
        </p:spPr>
      </p:pic>
      <p:pic>
        <p:nvPicPr>
          <p:cNvPr id="10" name="test2.mpg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443521" y="2924869"/>
            <a:ext cx="4797316" cy="327089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98837" y="2831893"/>
            <a:ext cx="2052342" cy="1655671"/>
          </a:xfrm>
          <a:prstGeom prst="rect">
            <a:avLst/>
          </a:prstGeom>
        </p:spPr>
      </p:pic>
      <p:grpSp>
        <p:nvGrpSpPr>
          <p:cNvPr id="11" name="Group 10"/>
          <p:cNvGrpSpPr/>
          <p:nvPr/>
        </p:nvGrpSpPr>
        <p:grpSpPr>
          <a:xfrm>
            <a:off x="2011699" y="2919561"/>
            <a:ext cx="3032013" cy="1094270"/>
            <a:chOff x="1335970" y="3393294"/>
            <a:chExt cx="3032013" cy="1094270"/>
          </a:xfrm>
        </p:grpSpPr>
        <p:sp>
          <p:nvSpPr>
            <p:cNvPr id="9" name="TextBox 8"/>
            <p:cNvSpPr txBox="1"/>
            <p:nvPr/>
          </p:nvSpPr>
          <p:spPr>
            <a:xfrm>
              <a:off x="2708554" y="3748900"/>
              <a:ext cx="1659429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Courtesy of </a:t>
              </a:r>
              <a:br>
                <a:rPr lang="en-US" sz="1400" dirty="0"/>
              </a:br>
              <a:r>
                <a:rPr lang="en-US" sz="1400" dirty="0"/>
                <a:t>Joe </a:t>
              </a:r>
              <a:r>
                <a:rPr lang="en-US" sz="1400" dirty="0" smtClean="0"/>
                <a:t>Bishop</a:t>
              </a:r>
              <a:br>
                <a:rPr lang="en-US" sz="1400" dirty="0" smtClean="0"/>
              </a:br>
              <a:r>
                <a:rPr lang="en-US" sz="1400" dirty="0" smtClean="0"/>
                <a:t>(Sandia Nat’l Labs)</a:t>
              </a:r>
              <a:endParaRPr lang="en-US" sz="1400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335970" y="3393294"/>
              <a:ext cx="27576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Fracture Simulations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8025381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Problem</a:t>
            </a:r>
          </a:p>
          <a:p>
            <a:pPr lvl="1"/>
            <a:r>
              <a:rPr lang="en-US" sz="1800" dirty="0" smtClean="0"/>
              <a:t>Given </a:t>
            </a:r>
            <a:r>
              <a:rPr lang="en-US" sz="1800" dirty="0" smtClean="0"/>
              <a:t>PLC, in 3D</a:t>
            </a:r>
            <a:endParaRPr lang="en-US" sz="1800" dirty="0"/>
          </a:p>
          <a:p>
            <a:pPr lvl="2"/>
            <a:r>
              <a:rPr lang="en-US" sz="1800" dirty="0"/>
              <a:t>place Voronoi seeds </a:t>
            </a:r>
          </a:p>
          <a:p>
            <a:pPr lvl="3"/>
            <a:r>
              <a:rPr lang="en-US" sz="1600" dirty="0"/>
              <a:t>such that refinement of PLC appears as faces of Voronoi cells </a:t>
            </a:r>
          </a:p>
          <a:p>
            <a:r>
              <a:rPr lang="en-US" sz="2000" dirty="0" smtClean="0"/>
              <a:t>Solution</a:t>
            </a:r>
          </a:p>
          <a:p>
            <a:pPr lvl="1"/>
            <a:r>
              <a:rPr lang="en-US" sz="2000" dirty="0" smtClean="0"/>
              <a:t>Triangulate</a:t>
            </a:r>
          </a:p>
          <a:p>
            <a:pPr lvl="1"/>
            <a:r>
              <a:rPr lang="en-US" sz="2000" dirty="0" smtClean="0"/>
              <a:t>Place seeds </a:t>
            </a:r>
          </a:p>
          <a:p>
            <a:pPr lvl="2"/>
            <a:r>
              <a:rPr lang="en-US" sz="1800" dirty="0" smtClean="0"/>
              <a:t>co-spherical around input vertices</a:t>
            </a:r>
          </a:p>
          <a:p>
            <a:pPr lvl="2"/>
            <a:r>
              <a:rPr lang="en-US" sz="1800" dirty="0" smtClean="0"/>
              <a:t>co-circular around input edges</a:t>
            </a:r>
          </a:p>
          <a:p>
            <a:pPr lvl="2"/>
            <a:r>
              <a:rPr lang="en-US" sz="1800" dirty="0"/>
              <a:t>p</a:t>
            </a:r>
            <a:r>
              <a:rPr lang="en-US" sz="1800" dirty="0" smtClean="0"/>
              <a:t>airs symmetric </a:t>
            </a:r>
            <a:r>
              <a:rPr lang="en-US" sz="1800" dirty="0" smtClean="0"/>
              <a:t>to either side of input triangles</a:t>
            </a:r>
          </a:p>
          <a:p>
            <a:r>
              <a:rPr lang="en-US" sz="2000" dirty="0" smtClean="0"/>
              <a:t>Large number of output seeds</a:t>
            </a:r>
          </a:p>
          <a:p>
            <a:pPr lvl="1"/>
            <a:r>
              <a:rPr lang="en-US" sz="2000" dirty="0" smtClean="0"/>
              <a:t>mostly theoretical interest</a:t>
            </a:r>
          </a:p>
          <a:p>
            <a:pPr lvl="1"/>
            <a:r>
              <a:rPr lang="en-US" sz="2000" dirty="0"/>
              <a:t>r</a:t>
            </a:r>
            <a:r>
              <a:rPr lang="en-US" sz="2000" dirty="0" smtClean="0"/>
              <a:t>ules for fewer seeds</a:t>
            </a:r>
          </a:p>
          <a:p>
            <a:pPr lvl="1"/>
            <a:r>
              <a:rPr lang="en-US" sz="2000" dirty="0"/>
              <a:t>s</a:t>
            </a:r>
            <a:r>
              <a:rPr lang="en-US" sz="2000" dirty="0" smtClean="0"/>
              <a:t>ets stage for concurrent/future practical work</a:t>
            </a:r>
            <a:endParaRPr lang="en-US" sz="2000" dirty="0"/>
          </a:p>
        </p:txBody>
      </p:sp>
      <p:grpSp>
        <p:nvGrpSpPr>
          <p:cNvPr id="4" name="Group 3"/>
          <p:cNvGrpSpPr/>
          <p:nvPr/>
        </p:nvGrpSpPr>
        <p:grpSpPr>
          <a:xfrm>
            <a:off x="5575633" y="2660073"/>
            <a:ext cx="1220428" cy="1220428"/>
            <a:chOff x="3014015" y="436657"/>
            <a:chExt cx="5486400" cy="5486400"/>
          </a:xfrm>
        </p:grpSpPr>
        <p:sp>
          <p:nvSpPr>
            <p:cNvPr id="5" name="Oval 4"/>
            <p:cNvSpPr>
              <a:spLocks noChangeAspect="1"/>
            </p:cNvSpPr>
            <p:nvPr/>
          </p:nvSpPr>
          <p:spPr>
            <a:xfrm>
              <a:off x="3014015" y="436657"/>
              <a:ext cx="5486400" cy="5486400"/>
            </a:xfrm>
            <a:prstGeom prst="ellipse">
              <a:avLst/>
            </a:prstGeom>
            <a:solidFill>
              <a:srgbClr val="FFC000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threePt" dir="t"/>
            </a:scene3d>
            <a:sp3d>
              <a:bevelT w="762000" h="762000"/>
              <a:bevelB w="762000" h="7620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6" name="Oval 5"/>
            <p:cNvSpPr/>
            <p:nvPr/>
          </p:nvSpPr>
          <p:spPr>
            <a:xfrm>
              <a:off x="6418557" y="3835463"/>
              <a:ext cx="412505" cy="412505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3820633" y="4783621"/>
              <a:ext cx="412505" cy="412505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4515853" y="1787951"/>
              <a:ext cx="412505" cy="412505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5709846" y="3127089"/>
              <a:ext cx="412505" cy="412505"/>
            </a:xfrm>
            <a:prstGeom prst="ellipse">
              <a:avLst/>
            </a:prstGeom>
            <a:solidFill>
              <a:sysClr val="windowText" lastClr="000000">
                <a:alpha val="50000"/>
              </a:sysClr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7261733" y="1751061"/>
              <a:ext cx="412505" cy="412505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6839819" y="3330345"/>
            <a:ext cx="1555698" cy="1220428"/>
            <a:chOff x="-470421" y="1196677"/>
            <a:chExt cx="6993599" cy="5486400"/>
          </a:xfrm>
        </p:grpSpPr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1036778" y="1196677"/>
              <a:ext cx="5486400" cy="5486400"/>
            </a:xfrm>
            <a:prstGeom prst="ellipse">
              <a:avLst/>
            </a:prstGeom>
            <a:solidFill>
              <a:srgbClr val="FFC000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threePt" dir="t"/>
            </a:scene3d>
            <a:sp3d>
              <a:bevelT w="762000" h="762000"/>
              <a:bevelB w="762000" h="7620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cxnSp>
          <p:nvCxnSpPr>
            <p:cNvPr id="15" name="Straight Connector 14"/>
            <p:cNvCxnSpPr>
              <a:cxnSpLocks noChangeAspect="1"/>
            </p:cNvCxnSpPr>
            <p:nvPr/>
          </p:nvCxnSpPr>
          <p:spPr>
            <a:xfrm flipH="1" flipV="1">
              <a:off x="-464693" y="1200035"/>
              <a:ext cx="2859073" cy="1845906"/>
            </a:xfrm>
            <a:prstGeom prst="line">
              <a:avLst/>
            </a:pr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6" name="Straight Connector 15"/>
            <p:cNvCxnSpPr>
              <a:cxnSpLocks noChangeAspect="1"/>
            </p:cNvCxnSpPr>
            <p:nvPr/>
          </p:nvCxnSpPr>
          <p:spPr>
            <a:xfrm flipH="1" flipV="1">
              <a:off x="-470421" y="1201184"/>
              <a:ext cx="4240844" cy="2722926"/>
            </a:xfrm>
            <a:prstGeom prst="line">
              <a:avLst/>
            </a:prstGeom>
            <a:noFill/>
            <a:ln w="38100" cap="flat" cmpd="sng" algn="ctr">
              <a:solidFill>
                <a:sysClr val="windowText" lastClr="000000">
                  <a:alpha val="40000"/>
                </a:sysClr>
              </a:solidFill>
              <a:prstDash val="solid"/>
              <a:miter lim="800000"/>
            </a:ln>
            <a:effectLst/>
          </p:spPr>
        </p:cxnSp>
        <p:sp>
          <p:nvSpPr>
            <p:cNvPr id="17" name="Oval 16"/>
            <p:cNvSpPr>
              <a:spLocks noChangeAspect="1"/>
            </p:cNvSpPr>
            <p:nvPr/>
          </p:nvSpPr>
          <p:spPr>
            <a:xfrm>
              <a:off x="3732608" y="3887107"/>
              <a:ext cx="103128" cy="103128"/>
            </a:xfrm>
            <a:prstGeom prst="ellipse">
              <a:avLst/>
            </a:prstGeom>
            <a:solidFill>
              <a:sysClr val="windowText" lastClr="000000">
                <a:alpha val="50000"/>
              </a:sysClr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grpSp>
          <p:nvGrpSpPr>
            <p:cNvPr id="18" name="Group 17"/>
            <p:cNvGrpSpPr/>
            <p:nvPr/>
          </p:nvGrpSpPr>
          <p:grpSpPr>
            <a:xfrm>
              <a:off x="1543177" y="2234367"/>
              <a:ext cx="1862113" cy="1874399"/>
              <a:chOff x="3518904" y="1474027"/>
              <a:chExt cx="1862113" cy="1874399"/>
            </a:xfrm>
          </p:grpSpPr>
          <p:sp>
            <p:nvSpPr>
              <p:cNvPr id="19" name="Oval 18"/>
              <p:cNvSpPr/>
              <p:nvPr/>
            </p:nvSpPr>
            <p:spPr>
              <a:xfrm rot="1946261">
                <a:off x="3518904" y="1500271"/>
                <a:ext cx="1862113" cy="1687271"/>
              </a:xfrm>
              <a:prstGeom prst="ellipse">
                <a:avLst/>
              </a:prstGeom>
              <a:noFill/>
              <a:ln w="25400" cap="flat" cmpd="sng" algn="ctr">
                <a:solidFill>
                  <a:srgbClr val="5B9BD5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"/>
                  <a:cs typeface=""/>
                </a:endParaRPr>
              </a:p>
            </p:txBody>
          </p:sp>
          <p:sp>
            <p:nvSpPr>
              <p:cNvPr id="20" name="Oval 19"/>
              <p:cNvSpPr>
                <a:spLocks noChangeAspect="1"/>
              </p:cNvSpPr>
              <p:nvPr/>
            </p:nvSpPr>
            <p:spPr>
              <a:xfrm>
                <a:off x="4635808" y="2935922"/>
                <a:ext cx="412504" cy="412504"/>
              </a:xfrm>
              <a:prstGeom prst="ellipse">
                <a:avLst/>
              </a:prstGeom>
              <a:solidFill>
                <a:srgbClr val="FF0000"/>
              </a:solidFill>
              <a:ln w="25400" cap="flat" cmpd="sng" algn="ctr">
                <a:solidFill>
                  <a:srgbClr val="C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"/>
                  <a:cs typeface=""/>
                </a:endParaRPr>
              </a:p>
            </p:txBody>
          </p:sp>
          <p:sp>
            <p:nvSpPr>
              <p:cNvPr id="21" name="Oval 20"/>
              <p:cNvSpPr>
                <a:spLocks noChangeAspect="1"/>
              </p:cNvSpPr>
              <p:nvPr/>
            </p:nvSpPr>
            <p:spPr>
              <a:xfrm>
                <a:off x="3562447" y="2752632"/>
                <a:ext cx="412504" cy="412504"/>
              </a:xfrm>
              <a:prstGeom prst="ellipse">
                <a:avLst/>
              </a:prstGeom>
              <a:solidFill>
                <a:srgbClr val="FF0000"/>
              </a:solidFill>
              <a:ln w="25400" cap="flat" cmpd="sng" algn="ctr">
                <a:solidFill>
                  <a:srgbClr val="C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"/>
                  <a:cs typeface=""/>
                </a:endParaRPr>
              </a:p>
            </p:txBody>
          </p:sp>
          <p:sp>
            <p:nvSpPr>
              <p:cNvPr id="22" name="Oval 21"/>
              <p:cNvSpPr>
                <a:spLocks noChangeAspect="1"/>
              </p:cNvSpPr>
              <p:nvPr/>
            </p:nvSpPr>
            <p:spPr>
              <a:xfrm flipV="1">
                <a:off x="4607241" y="1474027"/>
                <a:ext cx="411057" cy="411057"/>
              </a:xfrm>
              <a:prstGeom prst="ellipse">
                <a:avLst/>
              </a:prstGeom>
              <a:solidFill>
                <a:srgbClr val="FF0000"/>
              </a:solidFill>
              <a:ln w="25400" cap="flat" cmpd="sng" algn="ctr">
                <a:solidFill>
                  <a:srgbClr val="C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"/>
                  <a:cs typeface=""/>
                </a:endParaRPr>
              </a:p>
            </p:txBody>
          </p:sp>
        </p:grpSp>
        <p:sp>
          <p:nvSpPr>
            <p:cNvPr id="23" name="Oval 22"/>
            <p:cNvSpPr/>
            <p:nvPr/>
          </p:nvSpPr>
          <p:spPr>
            <a:xfrm>
              <a:off x="5286978" y="2511083"/>
              <a:ext cx="103128" cy="103128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7389182" y="4712666"/>
            <a:ext cx="1601111" cy="1256054"/>
            <a:chOff x="-470421" y="1196677"/>
            <a:chExt cx="6993599" cy="5486400"/>
          </a:xfrm>
        </p:grpSpPr>
        <p:sp>
          <p:nvSpPr>
            <p:cNvPr id="28" name="Oval 27"/>
            <p:cNvSpPr>
              <a:spLocks noChangeAspect="1"/>
            </p:cNvSpPr>
            <p:nvPr/>
          </p:nvSpPr>
          <p:spPr>
            <a:xfrm>
              <a:off x="1036778" y="1196677"/>
              <a:ext cx="5486400" cy="5486400"/>
            </a:xfrm>
            <a:prstGeom prst="ellipse">
              <a:avLst/>
            </a:prstGeom>
            <a:solidFill>
              <a:srgbClr val="FFC000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threePt" dir="t"/>
            </a:scene3d>
            <a:sp3d>
              <a:bevelT w="762000" h="762000"/>
              <a:bevelB w="762000" h="7620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cxnSp>
          <p:nvCxnSpPr>
            <p:cNvPr id="29" name="Straight Connector 28"/>
            <p:cNvCxnSpPr>
              <a:cxnSpLocks noChangeAspect="1"/>
            </p:cNvCxnSpPr>
            <p:nvPr/>
          </p:nvCxnSpPr>
          <p:spPr>
            <a:xfrm flipH="1" flipV="1">
              <a:off x="-464693" y="1200035"/>
              <a:ext cx="2859073" cy="1845906"/>
            </a:xfrm>
            <a:prstGeom prst="line">
              <a:avLst/>
            </a:pr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30" name="Straight Connector 29"/>
            <p:cNvCxnSpPr>
              <a:cxnSpLocks noChangeAspect="1"/>
            </p:cNvCxnSpPr>
            <p:nvPr/>
          </p:nvCxnSpPr>
          <p:spPr>
            <a:xfrm flipH="1">
              <a:off x="-361567" y="3950109"/>
              <a:ext cx="4145739" cy="1828800"/>
            </a:xfrm>
            <a:prstGeom prst="line">
              <a:avLst/>
            </a:prstGeom>
            <a:noFill/>
            <a:ln w="38100" cap="flat" cmpd="sng" algn="ctr">
              <a:solidFill>
                <a:sysClr val="windowText" lastClr="000000">
                  <a:alpha val="39000"/>
                </a:sysClr>
              </a:solidFill>
              <a:prstDash val="solid"/>
              <a:miter lim="800000"/>
            </a:ln>
            <a:effectLst/>
          </p:spPr>
        </p:cxnSp>
        <p:cxnSp>
          <p:nvCxnSpPr>
            <p:cNvPr id="31" name="Straight Connector 30"/>
            <p:cNvCxnSpPr>
              <a:cxnSpLocks noChangeAspect="1"/>
            </p:cNvCxnSpPr>
            <p:nvPr/>
          </p:nvCxnSpPr>
          <p:spPr>
            <a:xfrm flipH="1">
              <a:off x="-361566" y="4431372"/>
              <a:ext cx="3054754" cy="1347537"/>
            </a:xfrm>
            <a:prstGeom prst="line">
              <a:avLst/>
            </a:pr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32" name="Oval 31"/>
            <p:cNvSpPr>
              <a:spLocks noChangeAspect="1"/>
            </p:cNvSpPr>
            <p:nvPr/>
          </p:nvSpPr>
          <p:spPr>
            <a:xfrm rot="1946261">
              <a:off x="1592976" y="2207319"/>
              <a:ext cx="1608713" cy="1457669"/>
            </a:xfrm>
            <a:prstGeom prst="ellipse">
              <a:avLst/>
            </a:prstGeom>
            <a:noFill/>
            <a:ln w="254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3" name="Oval 32"/>
            <p:cNvSpPr>
              <a:spLocks noChangeAspect="1"/>
            </p:cNvSpPr>
            <p:nvPr/>
          </p:nvSpPr>
          <p:spPr>
            <a:xfrm>
              <a:off x="2581285" y="3456933"/>
              <a:ext cx="299551" cy="299551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4" name="Oval 33"/>
            <p:cNvSpPr>
              <a:spLocks noChangeAspect="1"/>
            </p:cNvSpPr>
            <p:nvPr/>
          </p:nvSpPr>
          <p:spPr>
            <a:xfrm>
              <a:off x="1711300" y="3316328"/>
              <a:ext cx="299551" cy="299551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5" name="Oval 34"/>
            <p:cNvSpPr>
              <a:spLocks noChangeAspect="1"/>
            </p:cNvSpPr>
            <p:nvPr/>
          </p:nvSpPr>
          <p:spPr>
            <a:xfrm>
              <a:off x="2167944" y="2029220"/>
              <a:ext cx="299551" cy="299551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6" name="Oval 35"/>
            <p:cNvSpPr>
              <a:spLocks noChangeAspect="1"/>
            </p:cNvSpPr>
            <p:nvPr/>
          </p:nvSpPr>
          <p:spPr>
            <a:xfrm>
              <a:off x="2770793" y="2328771"/>
              <a:ext cx="299551" cy="299551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7" name="Arc 36"/>
            <p:cNvSpPr>
              <a:spLocks noChangeAspect="1"/>
            </p:cNvSpPr>
            <p:nvPr/>
          </p:nvSpPr>
          <p:spPr>
            <a:xfrm rot="12916606">
              <a:off x="2210362" y="2619765"/>
              <a:ext cx="2070756" cy="1982285"/>
            </a:xfrm>
            <a:prstGeom prst="arc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ysDot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8" name="Oval 37"/>
            <p:cNvSpPr>
              <a:spLocks noChangeAspect="1"/>
            </p:cNvSpPr>
            <p:nvPr/>
          </p:nvSpPr>
          <p:spPr>
            <a:xfrm>
              <a:off x="3732608" y="3887107"/>
              <a:ext cx="103128" cy="103128"/>
            </a:xfrm>
            <a:prstGeom prst="ellipse">
              <a:avLst/>
            </a:prstGeom>
            <a:solidFill>
              <a:sysClr val="windowText" lastClr="000000">
                <a:alpha val="50000"/>
              </a:sysClr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39" name="Oval 38"/>
            <p:cNvSpPr>
              <a:spLocks noChangeAspect="1"/>
            </p:cNvSpPr>
            <p:nvPr/>
          </p:nvSpPr>
          <p:spPr>
            <a:xfrm rot="20210323">
              <a:off x="1565021" y="4014940"/>
              <a:ext cx="1805909" cy="1718790"/>
            </a:xfrm>
            <a:prstGeom prst="ellipse">
              <a:avLst/>
            </a:prstGeom>
            <a:noFill/>
            <a:ln w="254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40" name="Oval 39"/>
            <p:cNvSpPr>
              <a:spLocks noChangeAspect="1"/>
            </p:cNvSpPr>
            <p:nvPr/>
          </p:nvSpPr>
          <p:spPr>
            <a:xfrm>
              <a:off x="1666087" y="4142197"/>
              <a:ext cx="299551" cy="299551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41" name="Oval 40"/>
            <p:cNvSpPr>
              <a:spLocks noChangeAspect="1"/>
            </p:cNvSpPr>
            <p:nvPr/>
          </p:nvSpPr>
          <p:spPr>
            <a:xfrm>
              <a:off x="2733884" y="3889842"/>
              <a:ext cx="299551" cy="299551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42" name="Oval 41"/>
            <p:cNvSpPr>
              <a:spLocks noChangeAspect="1"/>
            </p:cNvSpPr>
            <p:nvPr/>
          </p:nvSpPr>
          <p:spPr>
            <a:xfrm>
              <a:off x="2269644" y="5575370"/>
              <a:ext cx="299551" cy="299551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43" name="Oval 42"/>
            <p:cNvSpPr>
              <a:spLocks noChangeAspect="1"/>
            </p:cNvSpPr>
            <p:nvPr/>
          </p:nvSpPr>
          <p:spPr>
            <a:xfrm>
              <a:off x="2920571" y="5332223"/>
              <a:ext cx="299551" cy="299551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cxnSp>
          <p:nvCxnSpPr>
            <p:cNvPr id="44" name="Straight Connector 43"/>
            <p:cNvCxnSpPr>
              <a:cxnSpLocks noChangeAspect="1"/>
            </p:cNvCxnSpPr>
            <p:nvPr/>
          </p:nvCxnSpPr>
          <p:spPr>
            <a:xfrm flipH="1" flipV="1">
              <a:off x="-470421" y="1201184"/>
              <a:ext cx="4240844" cy="2722926"/>
            </a:xfrm>
            <a:prstGeom prst="line">
              <a:avLst/>
            </a:prstGeom>
            <a:noFill/>
            <a:ln w="38100" cap="flat" cmpd="sng" algn="ctr">
              <a:solidFill>
                <a:sysClr val="windowText" lastClr="000000">
                  <a:alpha val="40000"/>
                </a:sysClr>
              </a:solidFill>
              <a:prstDash val="solid"/>
              <a:miter lim="800000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1122230112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Construction </a:t>
            </a:r>
            <a:r>
              <a:rPr lang="en-US" dirty="0"/>
              <a:t>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Preprocess</a:t>
            </a:r>
          </a:p>
          <a:p>
            <a:pPr lvl="1"/>
            <a:r>
              <a:rPr lang="en-US" dirty="0" smtClean="0"/>
              <a:t>3D PLC </a:t>
            </a:r>
            <a:r>
              <a:rPr lang="en-US" dirty="0"/>
              <a:t>-&gt; triangulate every 2D facet</a:t>
            </a:r>
          </a:p>
          <a:p>
            <a:pPr lvl="2"/>
            <a:r>
              <a:rPr lang="en-US" dirty="0" smtClean="0"/>
              <a:t>possibly not simply-connected, not manifold, </a:t>
            </a:r>
            <a:br>
              <a:rPr lang="en-US" dirty="0" smtClean="0"/>
            </a:br>
            <a:r>
              <a:rPr lang="en-US" dirty="0" smtClean="0"/>
              <a:t>non-planar, </a:t>
            </a:r>
            <a:r>
              <a:rPr lang="en-US" dirty="0"/>
              <a:t>not-connected</a:t>
            </a:r>
          </a:p>
        </p:txBody>
      </p:sp>
      <p:grpSp>
        <p:nvGrpSpPr>
          <p:cNvPr id="41" name="Group 40"/>
          <p:cNvGrpSpPr/>
          <p:nvPr/>
        </p:nvGrpSpPr>
        <p:grpSpPr>
          <a:xfrm>
            <a:off x="2149434" y="3056887"/>
            <a:ext cx="3740727" cy="3209273"/>
            <a:chOff x="2149434" y="3056887"/>
            <a:chExt cx="2375057" cy="2037627"/>
          </a:xfrm>
        </p:grpSpPr>
        <p:cxnSp>
          <p:nvCxnSpPr>
            <p:cNvPr id="5" name="Straight Connector 4"/>
            <p:cNvCxnSpPr/>
            <p:nvPr/>
          </p:nvCxnSpPr>
          <p:spPr bwMode="auto">
            <a:xfrm flipV="1">
              <a:off x="2149434" y="3990109"/>
              <a:ext cx="1413163" cy="914400"/>
            </a:xfrm>
            <a:prstGeom prst="line">
              <a:avLst/>
            </a:prstGeom>
            <a:solidFill>
              <a:schemeClr val="accent1"/>
            </a:solidFill>
            <a:ln w="349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" name="Straight Connector 5"/>
            <p:cNvCxnSpPr/>
            <p:nvPr/>
          </p:nvCxnSpPr>
          <p:spPr bwMode="auto">
            <a:xfrm flipV="1">
              <a:off x="2149434" y="3610099"/>
              <a:ext cx="534389" cy="1294410"/>
            </a:xfrm>
            <a:prstGeom prst="line">
              <a:avLst/>
            </a:prstGeom>
            <a:solidFill>
              <a:schemeClr val="accent1"/>
            </a:solidFill>
            <a:ln w="349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" name="Straight Connector 8"/>
            <p:cNvCxnSpPr>
              <a:cxnSpLocks noChangeAspect="1"/>
            </p:cNvCxnSpPr>
            <p:nvPr/>
          </p:nvCxnSpPr>
          <p:spPr bwMode="auto">
            <a:xfrm flipH="1" flipV="1">
              <a:off x="2683823" y="3610099"/>
              <a:ext cx="242006" cy="104651"/>
            </a:xfrm>
            <a:prstGeom prst="line">
              <a:avLst/>
            </a:prstGeom>
            <a:solidFill>
              <a:schemeClr val="accent1"/>
            </a:solidFill>
            <a:ln w="349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" name="Straight Connector 11"/>
            <p:cNvCxnSpPr/>
            <p:nvPr/>
          </p:nvCxnSpPr>
          <p:spPr bwMode="auto">
            <a:xfrm flipV="1">
              <a:off x="3241964" y="3990109"/>
              <a:ext cx="320633" cy="1104405"/>
            </a:xfrm>
            <a:prstGeom prst="line">
              <a:avLst/>
            </a:prstGeom>
            <a:solidFill>
              <a:schemeClr val="accent1"/>
            </a:solidFill>
            <a:ln w="349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" name="Straight Connector 14"/>
            <p:cNvCxnSpPr/>
            <p:nvPr/>
          </p:nvCxnSpPr>
          <p:spPr bwMode="auto">
            <a:xfrm flipH="1" flipV="1">
              <a:off x="2149435" y="4904510"/>
              <a:ext cx="1092529" cy="190004"/>
            </a:xfrm>
            <a:prstGeom prst="line">
              <a:avLst/>
            </a:prstGeom>
            <a:solidFill>
              <a:schemeClr val="accent1"/>
            </a:solidFill>
            <a:ln w="349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" name="Straight Connector 18"/>
            <p:cNvCxnSpPr/>
            <p:nvPr/>
          </p:nvCxnSpPr>
          <p:spPr bwMode="auto">
            <a:xfrm flipV="1">
              <a:off x="2149434" y="3431969"/>
              <a:ext cx="1092530" cy="1472540"/>
            </a:xfrm>
            <a:prstGeom prst="line">
              <a:avLst/>
            </a:prstGeom>
            <a:solidFill>
              <a:schemeClr val="accent1"/>
            </a:solidFill>
            <a:ln w="349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" name="Straight Connector 21"/>
            <p:cNvCxnSpPr/>
            <p:nvPr/>
          </p:nvCxnSpPr>
          <p:spPr bwMode="auto">
            <a:xfrm flipH="1" flipV="1">
              <a:off x="3241964" y="3431969"/>
              <a:ext cx="320633" cy="558140"/>
            </a:xfrm>
            <a:prstGeom prst="line">
              <a:avLst/>
            </a:prstGeom>
            <a:solidFill>
              <a:schemeClr val="accent1"/>
            </a:solidFill>
            <a:ln w="349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" name="Straight Connector 24"/>
            <p:cNvCxnSpPr>
              <a:cxnSpLocks noChangeAspect="1"/>
            </p:cNvCxnSpPr>
            <p:nvPr/>
          </p:nvCxnSpPr>
          <p:spPr bwMode="auto">
            <a:xfrm flipH="1" flipV="1">
              <a:off x="3097810" y="3786087"/>
              <a:ext cx="471799" cy="204021"/>
            </a:xfrm>
            <a:prstGeom prst="line">
              <a:avLst/>
            </a:prstGeom>
            <a:solidFill>
              <a:schemeClr val="accent1"/>
            </a:solidFill>
            <a:ln w="349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" name="Straight Connector 27"/>
            <p:cNvCxnSpPr/>
            <p:nvPr/>
          </p:nvCxnSpPr>
          <p:spPr bwMode="auto">
            <a:xfrm flipH="1">
              <a:off x="3558100" y="3846383"/>
              <a:ext cx="905950" cy="143726"/>
            </a:xfrm>
            <a:prstGeom prst="line">
              <a:avLst/>
            </a:prstGeom>
            <a:solidFill>
              <a:schemeClr val="accent1"/>
            </a:solidFill>
            <a:ln w="349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" name="Straight Connector 30"/>
            <p:cNvCxnSpPr>
              <a:cxnSpLocks noChangeAspect="1"/>
            </p:cNvCxnSpPr>
            <p:nvPr/>
          </p:nvCxnSpPr>
          <p:spPr bwMode="auto">
            <a:xfrm flipH="1">
              <a:off x="4032575" y="3099431"/>
              <a:ext cx="334119" cy="746952"/>
            </a:xfrm>
            <a:prstGeom prst="line">
              <a:avLst/>
            </a:prstGeom>
            <a:solidFill>
              <a:schemeClr val="accent1"/>
            </a:solidFill>
            <a:ln w="349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4" name="Straight Connector 33"/>
            <p:cNvCxnSpPr>
              <a:cxnSpLocks noChangeAspect="1"/>
            </p:cNvCxnSpPr>
            <p:nvPr/>
          </p:nvCxnSpPr>
          <p:spPr bwMode="auto">
            <a:xfrm flipH="1">
              <a:off x="3718416" y="3990108"/>
              <a:ext cx="242857" cy="542931"/>
            </a:xfrm>
            <a:prstGeom prst="line">
              <a:avLst/>
            </a:prstGeom>
            <a:solidFill>
              <a:schemeClr val="accent1"/>
            </a:solidFill>
            <a:ln w="349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7" name="Oval 36"/>
            <p:cNvSpPr/>
            <p:nvPr/>
          </p:nvSpPr>
          <p:spPr>
            <a:xfrm>
              <a:off x="3683000" y="4529456"/>
              <a:ext cx="61594" cy="61594"/>
            </a:xfrm>
            <a:prstGeom prst="ellipse">
              <a:avLst/>
            </a:prstGeom>
            <a:solidFill>
              <a:schemeClr val="tx1"/>
            </a:solidFill>
            <a:ln w="3492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prstMaterial="matte"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38" name="Oval 37"/>
            <p:cNvSpPr/>
            <p:nvPr/>
          </p:nvSpPr>
          <p:spPr>
            <a:xfrm>
              <a:off x="4329547" y="3056887"/>
              <a:ext cx="61594" cy="61594"/>
            </a:xfrm>
            <a:prstGeom prst="ellipse">
              <a:avLst/>
            </a:prstGeom>
            <a:solidFill>
              <a:schemeClr val="tx1"/>
            </a:solidFill>
            <a:ln w="3492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prstMaterial="matte"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39" name="Oval 38"/>
            <p:cNvSpPr/>
            <p:nvPr/>
          </p:nvSpPr>
          <p:spPr>
            <a:xfrm>
              <a:off x="4462897" y="3806187"/>
              <a:ext cx="61594" cy="61594"/>
            </a:xfrm>
            <a:prstGeom prst="ellipse">
              <a:avLst/>
            </a:prstGeom>
            <a:solidFill>
              <a:schemeClr val="tx1"/>
            </a:solidFill>
            <a:ln w="3492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prstMaterial="matte"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40" name="Oval 39"/>
            <p:cNvSpPr/>
            <p:nvPr/>
          </p:nvSpPr>
          <p:spPr>
            <a:xfrm>
              <a:off x="2864235" y="3401171"/>
              <a:ext cx="61594" cy="61594"/>
            </a:xfrm>
            <a:prstGeom prst="ellipse">
              <a:avLst/>
            </a:prstGeom>
            <a:solidFill>
              <a:schemeClr val="tx1"/>
            </a:solidFill>
            <a:ln w="3492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prstMaterial="matte"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70821370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Reconstructing a Vertex</a:t>
            </a:r>
            <a:br>
              <a:rPr lang="en-US" dirty="0"/>
            </a:br>
            <a:r>
              <a:rPr lang="en-US" sz="2000" dirty="0"/>
              <a:t>Input vertex appears as Voronoi Vertex</a:t>
            </a:r>
          </a:p>
        </p:txBody>
      </p:sp>
      <p:sp>
        <p:nvSpPr>
          <p:cNvPr id="55" name="Oval 54"/>
          <p:cNvSpPr>
            <a:spLocks noChangeAspect="1"/>
          </p:cNvSpPr>
          <p:nvPr/>
        </p:nvSpPr>
        <p:spPr>
          <a:xfrm>
            <a:off x="3732608" y="3887107"/>
            <a:ext cx="103128" cy="103128"/>
          </a:xfrm>
          <a:prstGeom prst="ellipse">
            <a:avLst/>
          </a:prstGeom>
          <a:solidFill>
            <a:sysClr val="windowText" lastClr="000000">
              <a:alpha val="50000"/>
            </a:sys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6581932" y="3968485"/>
            <a:ext cx="25699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4+ seeds</a:t>
            </a:r>
          </a:p>
          <a:p>
            <a:r>
              <a:rPr lang="en-US" sz="1800" dirty="0" err="1"/>
              <a:t>cospherical around vertex</a:t>
            </a:r>
          </a:p>
        </p:txBody>
      </p:sp>
      <p:sp>
        <p:nvSpPr>
          <p:cNvPr id="120" name="Oval 119"/>
          <p:cNvSpPr/>
          <p:nvPr/>
        </p:nvSpPr>
        <p:spPr>
          <a:xfrm>
            <a:off x="7421807" y="1333439"/>
            <a:ext cx="103128" cy="103128"/>
          </a:xfrm>
          <a:prstGeom prst="ellipse">
            <a:avLst/>
          </a:prstGeom>
          <a:solidFill>
            <a:sysClr val="windowText" lastClr="000000">
              <a:alpha val="50000"/>
            </a:sys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134" name="Oval 133"/>
          <p:cNvSpPr/>
          <p:nvPr/>
        </p:nvSpPr>
        <p:spPr>
          <a:xfrm>
            <a:off x="3735089" y="3887107"/>
            <a:ext cx="103128" cy="103128"/>
          </a:xfrm>
          <a:prstGeom prst="ellipse">
            <a:avLst/>
          </a:prstGeom>
          <a:solidFill>
            <a:sysClr val="windowText" lastClr="000000">
              <a:alpha val="50000"/>
            </a:sys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1325387641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Reconstructing a Vertex</a:t>
            </a:r>
            <a:br>
              <a:rPr lang="en-US" dirty="0"/>
            </a:br>
            <a:r>
              <a:rPr lang="en-US" sz="2000" dirty="0"/>
              <a:t>Input vertex appears as Voronoi Vertex</a:t>
            </a:r>
          </a:p>
        </p:txBody>
      </p:sp>
      <p:sp>
        <p:nvSpPr>
          <p:cNvPr id="32" name="Oval 31"/>
          <p:cNvSpPr>
            <a:spLocks noChangeAspect="1"/>
          </p:cNvSpPr>
          <p:nvPr/>
        </p:nvSpPr>
        <p:spPr>
          <a:xfrm>
            <a:off x="1036778" y="1196677"/>
            <a:ext cx="5486400" cy="5486400"/>
          </a:xfrm>
          <a:prstGeom prst="ellipse">
            <a:avLst/>
          </a:prstGeom>
          <a:solidFill>
            <a:srgbClr val="FFC000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w="2743200" h="2743200"/>
            <a:bevelB w="2743200" h="27432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52" name="Oval 51"/>
          <p:cNvSpPr>
            <a:spLocks noChangeAspect="1"/>
          </p:cNvSpPr>
          <p:nvPr/>
        </p:nvSpPr>
        <p:spPr>
          <a:xfrm>
            <a:off x="7029817" y="1785639"/>
            <a:ext cx="103128" cy="103128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55" name="Oval 54"/>
          <p:cNvSpPr>
            <a:spLocks noChangeAspect="1"/>
          </p:cNvSpPr>
          <p:nvPr/>
        </p:nvSpPr>
        <p:spPr>
          <a:xfrm>
            <a:off x="3732608" y="3887107"/>
            <a:ext cx="103128" cy="103128"/>
          </a:xfrm>
          <a:prstGeom prst="ellipse">
            <a:avLst/>
          </a:prstGeom>
          <a:solidFill>
            <a:sysClr val="windowText" lastClr="000000">
              <a:alpha val="50000"/>
            </a:sys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grpSp>
        <p:nvGrpSpPr>
          <p:cNvPr id="67" name="Group 66"/>
          <p:cNvGrpSpPr/>
          <p:nvPr/>
        </p:nvGrpSpPr>
        <p:grpSpPr>
          <a:xfrm>
            <a:off x="1887642" y="2439901"/>
            <a:ext cx="1176945" cy="1161749"/>
            <a:chOff x="3863369" y="1679561"/>
            <a:chExt cx="1176945" cy="1161749"/>
          </a:xfrm>
        </p:grpSpPr>
        <p:sp>
          <p:nvSpPr>
            <p:cNvPr id="68" name="Oval 67"/>
            <p:cNvSpPr/>
            <p:nvPr/>
          </p:nvSpPr>
          <p:spPr>
            <a:xfrm rot="1946261">
              <a:off x="3863369" y="1757387"/>
              <a:ext cx="1176945" cy="1066438"/>
            </a:xfrm>
            <a:prstGeom prst="ellipse">
              <a:avLst/>
            </a:prstGeom>
            <a:noFill/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69" name="Oval 68"/>
            <p:cNvSpPr/>
            <p:nvPr/>
          </p:nvSpPr>
          <p:spPr>
            <a:xfrm>
              <a:off x="4640111" y="2738182"/>
              <a:ext cx="103128" cy="103128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70" name="Oval 69"/>
            <p:cNvSpPr/>
            <p:nvPr/>
          </p:nvSpPr>
          <p:spPr>
            <a:xfrm>
              <a:off x="3903136" y="2473557"/>
              <a:ext cx="103128" cy="103128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71" name="Oval 70"/>
            <p:cNvSpPr/>
            <p:nvPr/>
          </p:nvSpPr>
          <p:spPr>
            <a:xfrm>
              <a:off x="4400277" y="1679561"/>
              <a:ext cx="103128" cy="103128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</p:grpSp>
      <p:sp>
        <p:nvSpPr>
          <p:cNvPr id="93" name="TextBox 92"/>
          <p:cNvSpPr txBox="1"/>
          <p:nvPr/>
        </p:nvSpPr>
        <p:spPr>
          <a:xfrm>
            <a:off x="6581932" y="3968485"/>
            <a:ext cx="25699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4+ seeds</a:t>
            </a:r>
          </a:p>
          <a:p>
            <a:r>
              <a:rPr lang="en-US" sz="1800" dirty="0" err="1"/>
              <a:t>cospherical around vertex</a:t>
            </a:r>
          </a:p>
        </p:txBody>
      </p:sp>
      <p:grpSp>
        <p:nvGrpSpPr>
          <p:cNvPr id="116" name="Group 115"/>
          <p:cNvGrpSpPr/>
          <p:nvPr/>
        </p:nvGrpSpPr>
        <p:grpSpPr>
          <a:xfrm>
            <a:off x="6975575" y="887008"/>
            <a:ext cx="1130459" cy="1002865"/>
            <a:chOff x="9543271" y="1989679"/>
            <a:chExt cx="1130459" cy="1002865"/>
          </a:xfrm>
        </p:grpSpPr>
        <p:sp>
          <p:nvSpPr>
            <p:cNvPr id="117" name="Oval 116"/>
            <p:cNvSpPr/>
            <p:nvPr/>
          </p:nvSpPr>
          <p:spPr>
            <a:xfrm>
              <a:off x="10570602" y="1989679"/>
              <a:ext cx="103128" cy="103128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118" name="Oval 117"/>
            <p:cNvSpPr/>
            <p:nvPr/>
          </p:nvSpPr>
          <p:spPr>
            <a:xfrm>
              <a:off x="10279623" y="2706615"/>
              <a:ext cx="103128" cy="103128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119" name="Oval 118"/>
            <p:cNvSpPr/>
            <p:nvPr/>
          </p:nvSpPr>
          <p:spPr>
            <a:xfrm>
              <a:off x="9594835" y="2889416"/>
              <a:ext cx="103128" cy="103128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120" name="Oval 119"/>
            <p:cNvSpPr/>
            <p:nvPr/>
          </p:nvSpPr>
          <p:spPr>
            <a:xfrm>
              <a:off x="9989503" y="2436110"/>
              <a:ext cx="103128" cy="103128"/>
            </a:xfrm>
            <a:prstGeom prst="ellipse">
              <a:avLst/>
            </a:prstGeom>
            <a:solidFill>
              <a:sysClr val="windowText" lastClr="000000">
                <a:alpha val="50000"/>
              </a:sysClr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121" name="Oval 120"/>
            <p:cNvSpPr/>
            <p:nvPr/>
          </p:nvSpPr>
          <p:spPr>
            <a:xfrm>
              <a:off x="9543271" y="2092807"/>
              <a:ext cx="103128" cy="103128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</p:grpSp>
      <p:grpSp>
        <p:nvGrpSpPr>
          <p:cNvPr id="129" name="Group 128"/>
          <p:cNvGrpSpPr/>
          <p:nvPr/>
        </p:nvGrpSpPr>
        <p:grpSpPr>
          <a:xfrm>
            <a:off x="1039259" y="1196677"/>
            <a:ext cx="5486400" cy="5486400"/>
            <a:chOff x="3014015" y="436657"/>
            <a:chExt cx="5486400" cy="5486400"/>
          </a:xfrm>
        </p:grpSpPr>
        <p:sp>
          <p:nvSpPr>
            <p:cNvPr id="130" name="Oval 129"/>
            <p:cNvSpPr>
              <a:spLocks noChangeAspect="1"/>
            </p:cNvSpPr>
            <p:nvPr/>
          </p:nvSpPr>
          <p:spPr>
            <a:xfrm>
              <a:off x="3014015" y="436657"/>
              <a:ext cx="5486400" cy="5486400"/>
            </a:xfrm>
            <a:prstGeom prst="ellipse">
              <a:avLst/>
            </a:prstGeom>
            <a:solidFill>
              <a:srgbClr val="FFC000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threePt" dir="t"/>
            </a:scene3d>
            <a:sp3d>
              <a:bevelT w="2743200" h="2743200"/>
              <a:bevelB w="2743200" h="27432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131" name="Oval 130"/>
            <p:cNvSpPr/>
            <p:nvPr/>
          </p:nvSpPr>
          <p:spPr>
            <a:xfrm>
              <a:off x="6418556" y="3835462"/>
              <a:ext cx="103128" cy="103128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132" name="Oval 131"/>
            <p:cNvSpPr/>
            <p:nvPr/>
          </p:nvSpPr>
          <p:spPr>
            <a:xfrm>
              <a:off x="3820634" y="4783620"/>
              <a:ext cx="103128" cy="103128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133" name="Oval 132"/>
            <p:cNvSpPr/>
            <p:nvPr/>
          </p:nvSpPr>
          <p:spPr>
            <a:xfrm>
              <a:off x="4515853" y="1787951"/>
              <a:ext cx="103128" cy="103128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134" name="Oval 133"/>
            <p:cNvSpPr/>
            <p:nvPr/>
          </p:nvSpPr>
          <p:spPr>
            <a:xfrm>
              <a:off x="5709845" y="3127087"/>
              <a:ext cx="103128" cy="103128"/>
            </a:xfrm>
            <a:prstGeom prst="ellipse">
              <a:avLst/>
            </a:prstGeom>
            <a:solidFill>
              <a:sysClr val="windowText" lastClr="000000">
                <a:alpha val="50000"/>
              </a:sysClr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135" name="Oval 134"/>
            <p:cNvSpPr/>
            <p:nvPr/>
          </p:nvSpPr>
          <p:spPr>
            <a:xfrm>
              <a:off x="7261734" y="1751063"/>
              <a:ext cx="103128" cy="103128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9500409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Reconstructing a Edge</a:t>
            </a:r>
            <a:br>
              <a:rPr lang="en-US" dirty="0"/>
            </a:br>
            <a:r>
              <a:rPr lang="en-US" sz="2000" dirty="0"/>
              <a:t>Input edge appears as set of Voronoi edges</a:t>
            </a:r>
          </a:p>
        </p:txBody>
      </p:sp>
      <p:sp>
        <p:nvSpPr>
          <p:cNvPr id="32" name="Oval 31"/>
          <p:cNvSpPr>
            <a:spLocks noChangeAspect="1"/>
          </p:cNvSpPr>
          <p:nvPr/>
        </p:nvSpPr>
        <p:spPr>
          <a:xfrm>
            <a:off x="1036778" y="1196677"/>
            <a:ext cx="5486400" cy="5486400"/>
          </a:xfrm>
          <a:prstGeom prst="ellipse">
            <a:avLst/>
          </a:prstGeom>
          <a:solidFill>
            <a:srgbClr val="FFC000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w="2743200" h="2743200"/>
            <a:bevelB w="2743200" h="27432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cxnSp>
        <p:nvCxnSpPr>
          <p:cNvPr id="33" name="Straight Connector 32"/>
          <p:cNvCxnSpPr>
            <a:cxnSpLocks noChangeAspect="1"/>
          </p:cNvCxnSpPr>
          <p:nvPr/>
        </p:nvCxnSpPr>
        <p:spPr>
          <a:xfrm flipH="1" flipV="1">
            <a:off x="-464693" y="1200035"/>
            <a:ext cx="2859073" cy="1845906"/>
          </a:xfrm>
          <a:prstGeom prst="line">
            <a:avLst/>
          </a:prstGeom>
          <a:noFill/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38" name="Straight Connector 37"/>
          <p:cNvCxnSpPr>
            <a:cxnSpLocks noChangeAspect="1"/>
          </p:cNvCxnSpPr>
          <p:nvPr/>
        </p:nvCxnSpPr>
        <p:spPr>
          <a:xfrm flipH="1" flipV="1">
            <a:off x="-470421" y="1201184"/>
            <a:ext cx="4240844" cy="2722926"/>
          </a:xfrm>
          <a:prstGeom prst="line">
            <a:avLst/>
          </a:prstGeom>
          <a:noFill/>
          <a:ln w="38100" cap="flat" cmpd="sng" algn="ctr">
            <a:solidFill>
              <a:sysClr val="windowText" lastClr="000000">
                <a:alpha val="40000"/>
              </a:sysClr>
            </a:solidFill>
            <a:prstDash val="solid"/>
            <a:miter lim="800000"/>
          </a:ln>
          <a:effectLst/>
        </p:spPr>
      </p:cxnSp>
      <p:cxnSp>
        <p:nvCxnSpPr>
          <p:cNvPr id="46" name="Straight Connector 45"/>
          <p:cNvCxnSpPr>
            <a:cxnSpLocks noChangeAspect="1"/>
          </p:cNvCxnSpPr>
          <p:nvPr/>
        </p:nvCxnSpPr>
        <p:spPr>
          <a:xfrm>
            <a:off x="7469695" y="1383897"/>
            <a:ext cx="2665" cy="869666"/>
          </a:xfrm>
          <a:prstGeom prst="line">
            <a:avLst/>
          </a:prstGeom>
          <a:noFill/>
          <a:ln w="38100" cap="flat" cmpd="sng" algn="ctr">
            <a:gradFill>
              <a:gsLst>
                <a:gs pos="0">
                  <a:srgbClr val="4472C4">
                    <a:lumMod val="20000"/>
                    <a:lumOff val="80000"/>
                  </a:srgbClr>
                </a:gs>
                <a:gs pos="36000">
                  <a:srgbClr val="4472C4">
                    <a:lumMod val="40000"/>
                    <a:lumOff val="60000"/>
                  </a:srgbClr>
                </a:gs>
                <a:gs pos="62000">
                  <a:srgbClr val="4472C4">
                    <a:lumMod val="60000"/>
                    <a:lumOff val="40000"/>
                  </a:srgbClr>
                </a:gs>
                <a:gs pos="100000">
                  <a:srgbClr val="4472C4">
                    <a:lumMod val="5000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sp>
        <p:nvSpPr>
          <p:cNvPr id="50" name="Oval 49"/>
          <p:cNvSpPr>
            <a:spLocks noChangeAspect="1"/>
          </p:cNvSpPr>
          <p:nvPr/>
        </p:nvSpPr>
        <p:spPr>
          <a:xfrm>
            <a:off x="7943707" y="2384693"/>
            <a:ext cx="103128" cy="103128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52" name="Oval 51"/>
          <p:cNvSpPr>
            <a:spLocks noChangeAspect="1"/>
          </p:cNvSpPr>
          <p:nvPr/>
        </p:nvSpPr>
        <p:spPr>
          <a:xfrm>
            <a:off x="7029817" y="1785639"/>
            <a:ext cx="103128" cy="103128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55" name="Oval 54"/>
          <p:cNvSpPr>
            <a:spLocks noChangeAspect="1"/>
          </p:cNvSpPr>
          <p:nvPr/>
        </p:nvSpPr>
        <p:spPr>
          <a:xfrm>
            <a:off x="3732608" y="3887107"/>
            <a:ext cx="103128" cy="103128"/>
          </a:xfrm>
          <a:prstGeom prst="ellipse">
            <a:avLst/>
          </a:prstGeom>
          <a:solidFill>
            <a:sysClr val="windowText" lastClr="000000">
              <a:alpha val="50000"/>
            </a:sys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6909595" y="1337144"/>
            <a:ext cx="1135384" cy="1448895"/>
            <a:chOff x="9476469" y="2438131"/>
            <a:chExt cx="1135384" cy="1448895"/>
          </a:xfrm>
        </p:grpSpPr>
        <p:cxnSp>
          <p:nvCxnSpPr>
            <p:cNvPr id="87" name="Straight Connector 86"/>
            <p:cNvCxnSpPr>
              <a:cxnSpLocks/>
            </p:cNvCxnSpPr>
            <p:nvPr/>
          </p:nvCxnSpPr>
          <p:spPr>
            <a:xfrm>
              <a:off x="10034713" y="2487674"/>
              <a:ext cx="2665" cy="869666"/>
            </a:xfrm>
            <a:prstGeom prst="line">
              <a:avLst/>
            </a:prstGeom>
            <a:noFill/>
            <a:ln w="38100" cap="flat" cmpd="sng" algn="ctr">
              <a:gradFill>
                <a:gsLst>
                  <a:gs pos="0">
                    <a:srgbClr val="4472C4">
                      <a:lumMod val="20000"/>
                      <a:lumOff val="80000"/>
                    </a:srgbClr>
                  </a:gs>
                  <a:gs pos="36000">
                    <a:srgbClr val="4472C4">
                      <a:lumMod val="40000"/>
                      <a:lumOff val="60000"/>
                    </a:srgbClr>
                  </a:gs>
                  <a:gs pos="62000">
                    <a:srgbClr val="4472C4">
                      <a:lumMod val="60000"/>
                      <a:lumOff val="40000"/>
                    </a:srgbClr>
                  </a:gs>
                  <a:gs pos="100000">
                    <a:srgbClr val="4472C4">
                      <a:lumMod val="5000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</p:cxnSp>
        <p:sp>
          <p:nvSpPr>
            <p:cNvPr id="88" name="Oval 87"/>
            <p:cNvSpPr/>
            <p:nvPr/>
          </p:nvSpPr>
          <p:spPr>
            <a:xfrm>
              <a:off x="9492427" y="2789746"/>
              <a:ext cx="1097280" cy="1097280"/>
            </a:xfrm>
            <a:prstGeom prst="ellipse">
              <a:avLst/>
            </a:prstGeom>
            <a:noFill/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89" name="Oval 88"/>
            <p:cNvSpPr/>
            <p:nvPr/>
          </p:nvSpPr>
          <p:spPr>
            <a:xfrm>
              <a:off x="10508725" y="3488470"/>
              <a:ext cx="103128" cy="103128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90" name="Oval 89"/>
            <p:cNvSpPr/>
            <p:nvPr/>
          </p:nvSpPr>
          <p:spPr>
            <a:xfrm>
              <a:off x="9476469" y="3449135"/>
              <a:ext cx="103128" cy="103128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91" name="Oval 90"/>
            <p:cNvSpPr/>
            <p:nvPr/>
          </p:nvSpPr>
          <p:spPr>
            <a:xfrm>
              <a:off x="9594835" y="2889416"/>
              <a:ext cx="103128" cy="103128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92" name="Oval 91"/>
            <p:cNvSpPr>
              <a:spLocks noChangeAspect="1"/>
            </p:cNvSpPr>
            <p:nvPr/>
          </p:nvSpPr>
          <p:spPr>
            <a:xfrm>
              <a:off x="9989503" y="2438131"/>
              <a:ext cx="103128" cy="103128"/>
            </a:xfrm>
            <a:prstGeom prst="ellipse">
              <a:avLst/>
            </a:prstGeom>
            <a:solidFill>
              <a:sysClr val="windowText" lastClr="000000">
                <a:alpha val="50000"/>
              </a:sysClr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</p:grpSp>
      <p:sp>
        <p:nvSpPr>
          <p:cNvPr id="48" name="Oval 47"/>
          <p:cNvSpPr>
            <a:spLocks noChangeAspect="1"/>
          </p:cNvSpPr>
          <p:nvPr/>
        </p:nvSpPr>
        <p:spPr>
          <a:xfrm>
            <a:off x="6927409" y="1685969"/>
            <a:ext cx="1097280" cy="1097280"/>
          </a:xfrm>
          <a:prstGeom prst="ellipse">
            <a:avLst/>
          </a:prstGeom>
          <a:noFill/>
          <a:ln w="254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grpSp>
        <p:nvGrpSpPr>
          <p:cNvPr id="67" name="Group 66"/>
          <p:cNvGrpSpPr/>
          <p:nvPr/>
        </p:nvGrpSpPr>
        <p:grpSpPr>
          <a:xfrm>
            <a:off x="1887642" y="2439901"/>
            <a:ext cx="1176945" cy="1161749"/>
            <a:chOff x="3863369" y="1679561"/>
            <a:chExt cx="1176945" cy="1161749"/>
          </a:xfrm>
        </p:grpSpPr>
        <p:sp>
          <p:nvSpPr>
            <p:cNvPr id="68" name="Oval 67"/>
            <p:cNvSpPr/>
            <p:nvPr/>
          </p:nvSpPr>
          <p:spPr>
            <a:xfrm rot="1946261">
              <a:off x="3863369" y="1757387"/>
              <a:ext cx="1176945" cy="1066438"/>
            </a:xfrm>
            <a:prstGeom prst="ellipse">
              <a:avLst/>
            </a:prstGeom>
            <a:noFill/>
            <a:ln w="254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69" name="Oval 68"/>
            <p:cNvSpPr/>
            <p:nvPr/>
          </p:nvSpPr>
          <p:spPr>
            <a:xfrm>
              <a:off x="4640111" y="2738182"/>
              <a:ext cx="103128" cy="103128"/>
            </a:xfrm>
            <a:prstGeom prst="ellipse">
              <a:avLst/>
            </a:prstGeom>
            <a:solidFill>
              <a:srgbClr val="FF0000"/>
            </a:solidFill>
            <a:ln w="254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70" name="Oval 69"/>
            <p:cNvSpPr/>
            <p:nvPr/>
          </p:nvSpPr>
          <p:spPr>
            <a:xfrm>
              <a:off x="3903136" y="2473557"/>
              <a:ext cx="103128" cy="103128"/>
            </a:xfrm>
            <a:prstGeom prst="ellipse">
              <a:avLst/>
            </a:prstGeom>
            <a:solidFill>
              <a:srgbClr val="FF0000"/>
            </a:solidFill>
            <a:ln w="254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71" name="Oval 70"/>
            <p:cNvSpPr/>
            <p:nvPr/>
          </p:nvSpPr>
          <p:spPr>
            <a:xfrm>
              <a:off x="4400277" y="1679561"/>
              <a:ext cx="103128" cy="103128"/>
            </a:xfrm>
            <a:prstGeom prst="ellipse">
              <a:avLst/>
            </a:prstGeom>
            <a:solidFill>
              <a:srgbClr val="FF0000"/>
            </a:solidFill>
            <a:ln w="254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</p:grpSp>
      <p:sp>
        <p:nvSpPr>
          <p:cNvPr id="93" name="TextBox 92"/>
          <p:cNvSpPr txBox="1"/>
          <p:nvPr/>
        </p:nvSpPr>
        <p:spPr>
          <a:xfrm>
            <a:off x="6774496" y="3990235"/>
            <a:ext cx="230063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3+ seeds</a:t>
            </a:r>
          </a:p>
          <a:p>
            <a:r>
              <a:rPr lang="en-US" sz="1800" dirty="0" err="1"/>
              <a:t>cocircular around edge</a:t>
            </a:r>
          </a:p>
          <a:p>
            <a:r>
              <a:rPr lang="en-US" sz="1800" dirty="0" err="1"/>
              <a:t>(at each vertex)</a:t>
            </a:r>
            <a:endParaRPr lang="en-US" sz="1800" dirty="0"/>
          </a:p>
        </p:txBody>
      </p:sp>
      <p:sp>
        <p:nvSpPr>
          <p:cNvPr id="26" name="Oval 25"/>
          <p:cNvSpPr/>
          <p:nvPr/>
        </p:nvSpPr>
        <p:spPr>
          <a:xfrm>
            <a:off x="5286978" y="2511083"/>
            <a:ext cx="103128" cy="103128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7706052" y="1601138"/>
            <a:ext cx="103128" cy="103128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724050083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Reconstructing a Triangle</a:t>
            </a:r>
            <a:br>
              <a:rPr lang="en-US" dirty="0"/>
            </a:br>
            <a:r>
              <a:rPr lang="en-US" sz="2000" dirty="0"/>
              <a:t>Input Triangle appears as set of Voronoi faces</a:t>
            </a:r>
          </a:p>
        </p:txBody>
      </p:sp>
      <p:cxnSp>
        <p:nvCxnSpPr>
          <p:cNvPr id="45" name="Straight Connector 44"/>
          <p:cNvCxnSpPr>
            <a:cxnSpLocks noChangeAspect="1"/>
          </p:cNvCxnSpPr>
          <p:nvPr/>
        </p:nvCxnSpPr>
        <p:spPr>
          <a:xfrm flipH="1" flipV="1">
            <a:off x="7472362" y="2243296"/>
            <a:ext cx="1385958" cy="0"/>
          </a:xfrm>
          <a:prstGeom prst="line">
            <a:avLst/>
          </a:prstGeom>
          <a:noFill/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46" name="Straight Connector 45"/>
          <p:cNvCxnSpPr>
            <a:cxnSpLocks noChangeAspect="1"/>
          </p:cNvCxnSpPr>
          <p:nvPr/>
        </p:nvCxnSpPr>
        <p:spPr>
          <a:xfrm>
            <a:off x="7469695" y="1383897"/>
            <a:ext cx="2665" cy="869666"/>
          </a:xfrm>
          <a:prstGeom prst="line">
            <a:avLst/>
          </a:prstGeom>
          <a:noFill/>
          <a:ln w="38100" cap="flat" cmpd="sng" algn="ctr">
            <a:gradFill>
              <a:gsLst>
                <a:gs pos="0">
                  <a:srgbClr val="4472C4">
                    <a:lumMod val="20000"/>
                    <a:lumOff val="80000"/>
                  </a:srgbClr>
                </a:gs>
                <a:gs pos="36000">
                  <a:srgbClr val="4472C4">
                    <a:lumMod val="40000"/>
                    <a:lumOff val="60000"/>
                  </a:srgbClr>
                </a:gs>
                <a:gs pos="62000">
                  <a:srgbClr val="4472C4">
                    <a:lumMod val="60000"/>
                    <a:lumOff val="40000"/>
                  </a:srgbClr>
                </a:gs>
                <a:gs pos="100000">
                  <a:srgbClr val="4472C4">
                    <a:lumMod val="5000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cxnSp>
        <p:nvCxnSpPr>
          <p:cNvPr id="47" name="Straight Connector 46"/>
          <p:cNvCxnSpPr>
            <a:cxnSpLocks noChangeAspect="1"/>
          </p:cNvCxnSpPr>
          <p:nvPr/>
        </p:nvCxnSpPr>
        <p:spPr>
          <a:xfrm>
            <a:off x="7457493" y="1383897"/>
            <a:ext cx="1400827" cy="869666"/>
          </a:xfrm>
          <a:prstGeom prst="line">
            <a:avLst/>
          </a:prstGeom>
          <a:noFill/>
          <a:ln w="38100" cap="flat" cmpd="sng" algn="ctr">
            <a:gradFill>
              <a:gsLst>
                <a:gs pos="0">
                  <a:srgbClr val="4472C4">
                    <a:lumMod val="20000"/>
                    <a:lumOff val="80000"/>
                  </a:srgbClr>
                </a:gs>
                <a:gs pos="36000">
                  <a:srgbClr val="4472C4">
                    <a:lumMod val="40000"/>
                    <a:lumOff val="60000"/>
                  </a:srgbClr>
                </a:gs>
                <a:gs pos="62000">
                  <a:srgbClr val="4472C4">
                    <a:lumMod val="60000"/>
                    <a:lumOff val="40000"/>
                  </a:srgbClr>
                </a:gs>
                <a:gs pos="100000">
                  <a:srgbClr val="4472C4">
                    <a:lumMod val="5000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sp>
        <p:nvSpPr>
          <p:cNvPr id="48" name="Oval 47"/>
          <p:cNvSpPr>
            <a:spLocks noChangeAspect="1"/>
          </p:cNvSpPr>
          <p:nvPr/>
        </p:nvSpPr>
        <p:spPr>
          <a:xfrm>
            <a:off x="6927409" y="1685969"/>
            <a:ext cx="1097280" cy="1097280"/>
          </a:xfrm>
          <a:prstGeom prst="ellipse">
            <a:avLst/>
          </a:prstGeom>
          <a:noFill/>
          <a:ln w="254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49" name="Oval 48"/>
          <p:cNvSpPr>
            <a:spLocks noChangeAspect="1"/>
          </p:cNvSpPr>
          <p:nvPr/>
        </p:nvSpPr>
        <p:spPr>
          <a:xfrm>
            <a:off x="7949061" y="2005183"/>
            <a:ext cx="103128" cy="103128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50" name="Oval 49"/>
          <p:cNvSpPr>
            <a:spLocks noChangeAspect="1"/>
          </p:cNvSpPr>
          <p:nvPr/>
        </p:nvSpPr>
        <p:spPr>
          <a:xfrm>
            <a:off x="7943707" y="2384693"/>
            <a:ext cx="103128" cy="103128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51" name="Oval 50"/>
          <p:cNvSpPr>
            <a:spLocks noChangeAspect="1"/>
          </p:cNvSpPr>
          <p:nvPr/>
        </p:nvSpPr>
        <p:spPr>
          <a:xfrm>
            <a:off x="6886978" y="2110147"/>
            <a:ext cx="103128" cy="103128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52" name="Oval 51"/>
          <p:cNvSpPr>
            <a:spLocks noChangeAspect="1"/>
          </p:cNvSpPr>
          <p:nvPr/>
        </p:nvSpPr>
        <p:spPr>
          <a:xfrm>
            <a:off x="7029817" y="1785639"/>
            <a:ext cx="103128" cy="103128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cxnSp>
        <p:nvCxnSpPr>
          <p:cNvPr id="53" name="Straight Connector 52"/>
          <p:cNvCxnSpPr>
            <a:cxnSpLocks noChangeAspect="1"/>
          </p:cNvCxnSpPr>
          <p:nvPr/>
        </p:nvCxnSpPr>
        <p:spPr>
          <a:xfrm flipH="1">
            <a:off x="6659314" y="1379696"/>
            <a:ext cx="812938" cy="439034"/>
          </a:xfrm>
          <a:prstGeom prst="line">
            <a:avLst/>
          </a:prstGeom>
          <a:noFill/>
          <a:ln w="38100" cap="flat" cmpd="sng" algn="ctr">
            <a:gradFill>
              <a:gsLst>
                <a:gs pos="0">
                  <a:srgbClr val="4472C4">
                    <a:lumMod val="20000"/>
                    <a:lumOff val="80000"/>
                  </a:srgbClr>
                </a:gs>
                <a:gs pos="36000">
                  <a:srgbClr val="4472C4">
                    <a:lumMod val="40000"/>
                    <a:lumOff val="60000"/>
                  </a:srgbClr>
                </a:gs>
                <a:gs pos="62000">
                  <a:srgbClr val="4472C4">
                    <a:lumMod val="60000"/>
                    <a:lumOff val="40000"/>
                  </a:srgbClr>
                </a:gs>
                <a:gs pos="100000">
                  <a:srgbClr val="4472C4">
                    <a:lumMod val="5000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cxnSp>
        <p:nvCxnSpPr>
          <p:cNvPr id="54" name="Straight Connector 53"/>
          <p:cNvCxnSpPr>
            <a:cxnSpLocks noChangeAspect="1"/>
          </p:cNvCxnSpPr>
          <p:nvPr/>
        </p:nvCxnSpPr>
        <p:spPr>
          <a:xfrm flipH="1" flipV="1">
            <a:off x="6659314" y="1824668"/>
            <a:ext cx="816735" cy="421085"/>
          </a:xfrm>
          <a:prstGeom prst="line">
            <a:avLst/>
          </a:prstGeom>
          <a:noFill/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sp>
        <p:nvSpPr>
          <p:cNvPr id="61" name="TextBox 60"/>
          <p:cNvSpPr txBox="1"/>
          <p:nvPr/>
        </p:nvSpPr>
        <p:spPr>
          <a:xfrm>
            <a:off x="7029817" y="3990235"/>
            <a:ext cx="222368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2 seeds</a:t>
            </a:r>
          </a:p>
          <a:p>
            <a:r>
              <a:rPr lang="en-US" sz="1800" dirty="0" err="1"/>
              <a:t>across triangle</a:t>
            </a:r>
          </a:p>
          <a:p>
            <a:r>
              <a:rPr lang="en-US" sz="1800" dirty="0"/>
              <a:t>(at every </a:t>
            </a:r>
            <a:r>
              <a:rPr lang="en-US" sz="1800" dirty="0" smtClean="0"/>
              <a:t>edge-vertex)</a:t>
            </a:r>
          </a:p>
          <a:p>
            <a:r>
              <a:rPr lang="en-US" sz="1800" dirty="0" smtClean="0"/>
              <a:t>=</a:t>
            </a:r>
          </a:p>
          <a:p>
            <a:r>
              <a:rPr lang="en-US" sz="1800" dirty="0" smtClean="0"/>
              <a:t>6 pairs/ triangle</a:t>
            </a:r>
            <a:endParaRPr lang="en-US" sz="1800" dirty="0"/>
          </a:p>
        </p:txBody>
      </p:sp>
      <p:sp>
        <p:nvSpPr>
          <p:cNvPr id="62" name="Oval 61"/>
          <p:cNvSpPr>
            <a:spLocks noChangeAspect="1"/>
          </p:cNvSpPr>
          <p:nvPr/>
        </p:nvSpPr>
        <p:spPr>
          <a:xfrm>
            <a:off x="7422629" y="1337144"/>
            <a:ext cx="103128" cy="103128"/>
          </a:xfrm>
          <a:prstGeom prst="ellipse">
            <a:avLst/>
          </a:prstGeom>
          <a:solidFill>
            <a:sysClr val="windowText" lastClr="000000">
              <a:alpha val="50000"/>
            </a:sys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-470421" y="1196677"/>
            <a:ext cx="6993599" cy="5486400"/>
            <a:chOff x="-470421" y="1196677"/>
            <a:chExt cx="6993599" cy="5486400"/>
          </a:xfrm>
        </p:grpSpPr>
        <p:sp>
          <p:nvSpPr>
            <p:cNvPr id="32" name="Oval 31"/>
            <p:cNvSpPr>
              <a:spLocks noChangeAspect="1"/>
            </p:cNvSpPr>
            <p:nvPr/>
          </p:nvSpPr>
          <p:spPr>
            <a:xfrm>
              <a:off x="1036778" y="1196677"/>
              <a:ext cx="5486400" cy="5486400"/>
            </a:xfrm>
            <a:prstGeom prst="ellipse">
              <a:avLst/>
            </a:prstGeom>
            <a:solidFill>
              <a:srgbClr val="FFC000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threePt" dir="t"/>
            </a:scene3d>
            <a:sp3d>
              <a:bevelT w="2743200" h="2743200"/>
              <a:bevelB w="2743200" h="27432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cxnSp>
          <p:nvCxnSpPr>
            <p:cNvPr id="33" name="Straight Connector 32"/>
            <p:cNvCxnSpPr>
              <a:cxnSpLocks noChangeAspect="1"/>
            </p:cNvCxnSpPr>
            <p:nvPr/>
          </p:nvCxnSpPr>
          <p:spPr>
            <a:xfrm flipH="1" flipV="1">
              <a:off x="-464693" y="1200035"/>
              <a:ext cx="2859073" cy="1845906"/>
            </a:xfrm>
            <a:prstGeom prst="line">
              <a:avLst/>
            </a:pr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34" name="Straight Connector 33"/>
            <p:cNvCxnSpPr>
              <a:cxnSpLocks noChangeAspect="1"/>
            </p:cNvCxnSpPr>
            <p:nvPr/>
          </p:nvCxnSpPr>
          <p:spPr>
            <a:xfrm flipH="1">
              <a:off x="-361567" y="3950109"/>
              <a:ext cx="4145739" cy="1828800"/>
            </a:xfrm>
            <a:prstGeom prst="line">
              <a:avLst/>
            </a:prstGeom>
            <a:noFill/>
            <a:ln w="38100" cap="flat" cmpd="sng" algn="ctr">
              <a:solidFill>
                <a:sysClr val="windowText" lastClr="000000">
                  <a:alpha val="39000"/>
                </a:sysClr>
              </a:solidFill>
              <a:prstDash val="solid"/>
              <a:miter lim="800000"/>
            </a:ln>
            <a:effectLst/>
          </p:spPr>
        </p:cxnSp>
        <p:cxnSp>
          <p:nvCxnSpPr>
            <p:cNvPr id="35" name="Straight Connector 34"/>
            <p:cNvCxnSpPr>
              <a:cxnSpLocks noChangeAspect="1"/>
            </p:cNvCxnSpPr>
            <p:nvPr/>
          </p:nvCxnSpPr>
          <p:spPr>
            <a:xfrm flipH="1">
              <a:off x="-361566" y="4431372"/>
              <a:ext cx="3054754" cy="1347537"/>
            </a:xfrm>
            <a:prstGeom prst="line">
              <a:avLst/>
            </a:pr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39" name="Oval 38"/>
            <p:cNvSpPr>
              <a:spLocks noChangeAspect="1"/>
            </p:cNvSpPr>
            <p:nvPr/>
          </p:nvSpPr>
          <p:spPr>
            <a:xfrm rot="1946261">
              <a:off x="1886132" y="2517407"/>
              <a:ext cx="1176945" cy="1066438"/>
            </a:xfrm>
            <a:prstGeom prst="ellipse">
              <a:avLst/>
            </a:prstGeom>
            <a:noFill/>
            <a:ln w="254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40" name="Oval 39"/>
            <p:cNvSpPr>
              <a:spLocks noChangeAspect="1"/>
            </p:cNvSpPr>
            <p:nvPr/>
          </p:nvSpPr>
          <p:spPr>
            <a:xfrm>
              <a:off x="2319912" y="3524341"/>
              <a:ext cx="103128" cy="103128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41" name="Oval 40"/>
            <p:cNvSpPr>
              <a:spLocks noChangeAspect="1"/>
            </p:cNvSpPr>
            <p:nvPr/>
          </p:nvSpPr>
          <p:spPr>
            <a:xfrm>
              <a:off x="2035902" y="3384150"/>
              <a:ext cx="103128" cy="103128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42" name="Oval 41"/>
            <p:cNvSpPr>
              <a:spLocks noChangeAspect="1"/>
            </p:cNvSpPr>
            <p:nvPr/>
          </p:nvSpPr>
          <p:spPr>
            <a:xfrm>
              <a:off x="2423040" y="2439581"/>
              <a:ext cx="103128" cy="103128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43" name="Oval 42"/>
            <p:cNvSpPr>
              <a:spLocks noChangeAspect="1"/>
            </p:cNvSpPr>
            <p:nvPr/>
          </p:nvSpPr>
          <p:spPr>
            <a:xfrm>
              <a:off x="2920570" y="2766431"/>
              <a:ext cx="103128" cy="103128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44" name="Arc 43"/>
            <p:cNvSpPr>
              <a:spLocks noChangeAspect="1"/>
            </p:cNvSpPr>
            <p:nvPr/>
          </p:nvSpPr>
          <p:spPr>
            <a:xfrm rot="12916606">
              <a:off x="2210362" y="2619765"/>
              <a:ext cx="2070756" cy="1982285"/>
            </a:xfrm>
            <a:prstGeom prst="arc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ysDot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55" name="Oval 54"/>
            <p:cNvSpPr>
              <a:spLocks noChangeAspect="1"/>
            </p:cNvSpPr>
            <p:nvPr/>
          </p:nvSpPr>
          <p:spPr>
            <a:xfrm>
              <a:off x="3732608" y="3887107"/>
              <a:ext cx="103128" cy="103128"/>
            </a:xfrm>
            <a:prstGeom prst="ellipse">
              <a:avLst/>
            </a:prstGeom>
            <a:solidFill>
              <a:sysClr val="windowText" lastClr="000000">
                <a:alpha val="50000"/>
              </a:sysClr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56" name="Oval 55"/>
            <p:cNvSpPr>
              <a:spLocks noChangeAspect="1"/>
            </p:cNvSpPr>
            <p:nvPr/>
          </p:nvSpPr>
          <p:spPr>
            <a:xfrm rot="20210323">
              <a:off x="2094517" y="3906439"/>
              <a:ext cx="1120491" cy="1066438"/>
            </a:xfrm>
            <a:prstGeom prst="ellipse">
              <a:avLst/>
            </a:prstGeom>
            <a:noFill/>
            <a:ln w="254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57" name="Oval 56"/>
            <p:cNvSpPr>
              <a:spLocks noChangeAspect="1"/>
            </p:cNvSpPr>
            <p:nvPr/>
          </p:nvSpPr>
          <p:spPr>
            <a:xfrm>
              <a:off x="2185081" y="4056293"/>
              <a:ext cx="103128" cy="103128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58" name="Oval 57"/>
            <p:cNvSpPr>
              <a:spLocks noChangeAspect="1"/>
            </p:cNvSpPr>
            <p:nvPr/>
          </p:nvSpPr>
          <p:spPr>
            <a:xfrm>
              <a:off x="2423040" y="3880429"/>
              <a:ext cx="103128" cy="103128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59" name="Oval 58"/>
            <p:cNvSpPr>
              <a:spLocks noChangeAspect="1"/>
            </p:cNvSpPr>
            <p:nvPr/>
          </p:nvSpPr>
          <p:spPr>
            <a:xfrm>
              <a:off x="2716121" y="4914879"/>
              <a:ext cx="103128" cy="103128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60" name="Oval 59"/>
            <p:cNvSpPr>
              <a:spLocks noChangeAspect="1"/>
            </p:cNvSpPr>
            <p:nvPr/>
          </p:nvSpPr>
          <p:spPr>
            <a:xfrm>
              <a:off x="3029676" y="4705081"/>
              <a:ext cx="103128" cy="103128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cxnSp>
          <p:nvCxnSpPr>
            <p:cNvPr id="38" name="Straight Connector 37"/>
            <p:cNvCxnSpPr>
              <a:cxnSpLocks noChangeAspect="1"/>
            </p:cNvCxnSpPr>
            <p:nvPr/>
          </p:nvCxnSpPr>
          <p:spPr>
            <a:xfrm flipH="1" flipV="1">
              <a:off x="-470421" y="1201184"/>
              <a:ext cx="4240844" cy="2722926"/>
            </a:xfrm>
            <a:prstGeom prst="line">
              <a:avLst/>
            </a:prstGeom>
            <a:noFill/>
            <a:ln w="38100" cap="flat" cmpd="sng" algn="ctr">
              <a:solidFill>
                <a:sysClr val="windowText" lastClr="000000">
                  <a:alpha val="40000"/>
                </a:sysClr>
              </a:solidFill>
              <a:prstDash val="solid"/>
              <a:miter lim="800000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2011066454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Triangle Cases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666" y="3560454"/>
            <a:ext cx="2243470" cy="22860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2535" y="1199408"/>
            <a:ext cx="2223654" cy="22860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0307" y="1199408"/>
            <a:ext cx="2187466" cy="22860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0307" y="3560454"/>
            <a:ext cx="2209517" cy="22860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2535" y="3663570"/>
            <a:ext cx="2293697" cy="22860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596" y="1199408"/>
            <a:ext cx="2159000" cy="22860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39539" y="6079604"/>
            <a:ext cx="75362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</a:t>
            </a:r>
            <a:r>
              <a:rPr lang="en-US" dirty="0" smtClean="0"/>
              <a:t>nput </a:t>
            </a:r>
            <a:r>
              <a:rPr lang="en-US" dirty="0"/>
              <a:t>triangle appears as 6 Voronoi faces, quads or </a:t>
            </a:r>
            <a:r>
              <a:rPr lang="en-US" dirty="0" smtClean="0"/>
              <a:t>triangles</a:t>
            </a:r>
          </a:p>
          <a:p>
            <a:r>
              <a:rPr lang="en-US" dirty="0" smtClean="0"/>
              <a:t>3D cells per triangle: 12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96306" y="337485"/>
            <a:ext cx="3243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/>
              <a:t>Ahmed </a:t>
            </a:r>
            <a:r>
              <a:rPr lang="en-US" sz="1800" dirty="0" err="1" smtClean="0"/>
              <a:t>Abdelkader</a:t>
            </a:r>
            <a:r>
              <a:rPr lang="en-US" sz="1800" dirty="0" smtClean="0"/>
              <a:t> online applet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978464679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5268" y="160005"/>
            <a:ext cx="7772400" cy="1014412"/>
          </a:xfrm>
        </p:spPr>
        <p:txBody>
          <a:bodyPr/>
          <a:lstStyle/>
          <a:p>
            <a:r>
              <a:rPr lang="en-US" dirty="0"/>
              <a:t>What’s </a:t>
            </a:r>
            <a:r>
              <a:rPr lang="en-US" dirty="0" smtClean="0"/>
              <a:t>sufficient, using zero-radius?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8135" y="1254500"/>
            <a:ext cx="8697686" cy="4572000"/>
          </a:xfrm>
        </p:spPr>
        <p:txBody>
          <a:bodyPr/>
          <a:lstStyle/>
          <a:p>
            <a:r>
              <a:rPr lang="en-US" sz="1800" dirty="0"/>
              <a:t>Let radii of </a:t>
            </a:r>
            <a:r>
              <a:rPr lang="en-US" sz="1800" dirty="0" smtClean="0"/>
              <a:t>{vertex </a:t>
            </a:r>
            <a:r>
              <a:rPr lang="en-US" sz="1800" dirty="0"/>
              <a:t>spheres, edge </a:t>
            </a:r>
            <a:r>
              <a:rPr lang="en-US" sz="1800" dirty="0" smtClean="0"/>
              <a:t>circles} </a:t>
            </a:r>
            <a:r>
              <a:rPr lang="en-US" sz="1800" dirty="0"/>
              <a:t>-&gt; </a:t>
            </a:r>
            <a:r>
              <a:rPr lang="en-US" sz="1800" dirty="0" smtClean="0"/>
              <a:t>0 </a:t>
            </a:r>
            <a:br>
              <a:rPr lang="en-US" sz="1800" dirty="0" smtClean="0"/>
            </a:br>
            <a:r>
              <a:rPr lang="en-US" sz="1800" dirty="0" smtClean="0"/>
              <a:t>				        seeds </a:t>
            </a:r>
            <a:r>
              <a:rPr lang="en-US" sz="1800" dirty="0"/>
              <a:t>-&gt; vertices</a:t>
            </a:r>
          </a:p>
          <a:p>
            <a:pPr lvl="1"/>
            <a:r>
              <a:rPr lang="en-US" sz="1600" dirty="0"/>
              <a:t>works iff every point of every input face has closest vertices </a:t>
            </a:r>
            <a:r>
              <a:rPr lang="en-US" sz="1600" dirty="0" smtClean="0"/>
              <a:t>⊆ </a:t>
            </a:r>
            <a:r>
              <a:rPr lang="en-US" sz="1600" dirty="0"/>
              <a:t>face’s vertices</a:t>
            </a:r>
          </a:p>
          <a:p>
            <a:pPr lvl="1"/>
            <a:endParaRPr lang="en-US" sz="1600" dirty="0"/>
          </a:p>
          <a:p>
            <a:pPr lvl="1"/>
            <a:r>
              <a:rPr lang="en-US" sz="1600" dirty="0"/>
              <a:t>empty ball neighborhoods</a:t>
            </a:r>
          </a:p>
          <a:p>
            <a:pPr lvl="2"/>
            <a:r>
              <a:rPr lang="en-US" sz="1600" dirty="0" smtClean="0"/>
              <a:t>Union of spheres centered in triangle, excluding triangle vertex =</a:t>
            </a:r>
            <a:r>
              <a:rPr lang="en-US" sz="1600" dirty="0"/>
              <a:t> 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 smtClean="0"/>
              <a:t>union </a:t>
            </a:r>
            <a:r>
              <a:rPr lang="en-US" sz="1600" dirty="0"/>
              <a:t>of smallest enclosing spheres for input {edge, triangle</a:t>
            </a:r>
            <a:r>
              <a:rPr lang="en-US" sz="1600" dirty="0" smtClean="0"/>
              <a:t>}, </a:t>
            </a:r>
            <a:br>
              <a:rPr lang="en-US" sz="1600" dirty="0" smtClean="0"/>
            </a:br>
            <a:r>
              <a:rPr lang="en-US" sz="1600" dirty="0" smtClean="0"/>
              <a:t>is </a:t>
            </a:r>
            <a:r>
              <a:rPr lang="en-US" sz="1600" dirty="0"/>
              <a:t>empty of input {vertices}</a:t>
            </a:r>
            <a:br>
              <a:rPr lang="en-US" sz="1600" dirty="0"/>
            </a:br>
            <a:endParaRPr lang="en-US" sz="1600" dirty="0"/>
          </a:p>
        </p:txBody>
      </p:sp>
      <p:sp>
        <p:nvSpPr>
          <p:cNvPr id="55" name="Left-Right Arrow 54"/>
          <p:cNvSpPr/>
          <p:nvPr/>
        </p:nvSpPr>
        <p:spPr>
          <a:xfrm>
            <a:off x="3880674" y="2248576"/>
            <a:ext cx="973714" cy="272748"/>
          </a:xfrm>
          <a:prstGeom prst="leftRightArrow">
            <a:avLst/>
          </a:prstGeom>
          <a:ln w="1905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grpSp>
        <p:nvGrpSpPr>
          <p:cNvPr id="66" name="Group 65"/>
          <p:cNvGrpSpPr/>
          <p:nvPr/>
        </p:nvGrpSpPr>
        <p:grpSpPr>
          <a:xfrm>
            <a:off x="3231898" y="3711713"/>
            <a:ext cx="2843845" cy="2873257"/>
            <a:chOff x="3574100" y="3734390"/>
            <a:chExt cx="2843845" cy="2873257"/>
          </a:xfrm>
        </p:grpSpPr>
        <p:sp>
          <p:nvSpPr>
            <p:cNvPr id="56" name="Oval 55"/>
            <p:cNvSpPr/>
            <p:nvPr/>
          </p:nvSpPr>
          <p:spPr>
            <a:xfrm>
              <a:off x="3574100" y="4515622"/>
              <a:ext cx="1714793" cy="1714793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C000"/>
              </a:solidFill>
            </a:ln>
            <a:scene3d>
              <a:camera prst="orthographicFront"/>
              <a:lightRig rig="threePt" dir="t"/>
            </a:scene3d>
            <a:sp3d prstMaterial="clear">
              <a:bevelT w="1371600" h="1371600"/>
              <a:bevelB w="1371600" h="13716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57" name="Oval 56"/>
            <p:cNvSpPr/>
            <p:nvPr/>
          </p:nvSpPr>
          <p:spPr>
            <a:xfrm>
              <a:off x="4105584" y="3734390"/>
              <a:ext cx="2304041" cy="2304041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C000"/>
              </a:solidFill>
            </a:ln>
            <a:scene3d>
              <a:camera prst="orthographicFront"/>
              <a:lightRig rig="threePt" dir="t"/>
            </a:scene3d>
            <a:sp3d prstMaterial="clear">
              <a:bevelT w="1371600" h="1371600"/>
              <a:bevelB w="1371600" h="13716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58" name="Oval 57"/>
            <p:cNvSpPr/>
            <p:nvPr/>
          </p:nvSpPr>
          <p:spPr>
            <a:xfrm>
              <a:off x="4607245" y="4796946"/>
              <a:ext cx="1810700" cy="1810701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C000"/>
              </a:solidFill>
            </a:ln>
            <a:scene3d>
              <a:camera prst="orthographicFront"/>
              <a:lightRig rig="threePt" dir="t"/>
            </a:scene3d>
            <a:sp3d prstMaterial="clear">
              <a:bevelT w="1371600" h="1371600"/>
              <a:bevelB w="1371600" h="13716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59" name="Oval 58"/>
            <p:cNvSpPr/>
            <p:nvPr/>
          </p:nvSpPr>
          <p:spPr>
            <a:xfrm>
              <a:off x="4026962" y="3931566"/>
              <a:ext cx="2312804" cy="2312805"/>
            </a:xfrm>
            <a:prstGeom prst="ellipse">
              <a:avLst/>
            </a:prstGeom>
            <a:solidFill>
              <a:srgbClr val="7030A0">
                <a:alpha val="78000"/>
              </a:srgbClr>
            </a:solidFill>
            <a:ln w="19050">
              <a:solidFill>
                <a:srgbClr val="002060">
                  <a:alpha val="44000"/>
                </a:srgbClr>
              </a:solidFill>
            </a:ln>
            <a:scene3d>
              <a:camera prst="orthographicFront"/>
              <a:lightRig rig="threePt" dir="t"/>
            </a:scene3d>
            <a:sp3d prstMaterial="metal">
              <a:bevelT w="1016000" h="1016000"/>
              <a:bevelB w="1016000" h="10160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cxnSp>
          <p:nvCxnSpPr>
            <p:cNvPr id="60" name="Straight Connector 59"/>
            <p:cNvCxnSpPr>
              <a:cxnSpLocks/>
            </p:cNvCxnSpPr>
            <p:nvPr/>
          </p:nvCxnSpPr>
          <p:spPr>
            <a:xfrm>
              <a:off x="4147213" y="4561316"/>
              <a:ext cx="602960" cy="1614532"/>
            </a:xfrm>
            <a:prstGeom prst="line">
              <a:avLst/>
            </a:pr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61" name="Straight Connector 60"/>
            <p:cNvCxnSpPr>
              <a:cxnSpLocks/>
            </p:cNvCxnSpPr>
            <p:nvPr/>
          </p:nvCxnSpPr>
          <p:spPr>
            <a:xfrm flipH="1" flipV="1">
              <a:off x="4147212" y="4561316"/>
              <a:ext cx="2192554" cy="719235"/>
            </a:xfrm>
            <a:prstGeom prst="line">
              <a:avLst/>
            </a:pr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62" name="Straight Connector 61"/>
            <p:cNvCxnSpPr>
              <a:cxnSpLocks/>
            </p:cNvCxnSpPr>
            <p:nvPr/>
          </p:nvCxnSpPr>
          <p:spPr>
            <a:xfrm flipH="1">
              <a:off x="4750173" y="5280551"/>
              <a:ext cx="1589595" cy="895297"/>
            </a:xfrm>
            <a:prstGeom prst="line">
              <a:avLst/>
            </a:pr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</p:grpSp>
      <p:sp>
        <p:nvSpPr>
          <p:cNvPr id="68" name="Oval 67"/>
          <p:cNvSpPr/>
          <p:nvPr/>
        </p:nvSpPr>
        <p:spPr>
          <a:xfrm>
            <a:off x="6604148" y="4438378"/>
            <a:ext cx="1714793" cy="1714793"/>
          </a:xfrm>
          <a:prstGeom prst="ellipse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  <a:scene3d>
            <a:camera prst="orthographicFront"/>
            <a:lightRig rig="threePt" dir="t"/>
          </a:scene3d>
          <a:sp3d prstMaterial="clear">
            <a:bevelT w="1371600" h="1371600"/>
            <a:bevelB w="1371600" h="13716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69" name="Oval 68"/>
          <p:cNvSpPr/>
          <p:nvPr/>
        </p:nvSpPr>
        <p:spPr>
          <a:xfrm>
            <a:off x="6831639" y="3799357"/>
            <a:ext cx="2304041" cy="2304041"/>
          </a:xfrm>
          <a:prstGeom prst="ellipse">
            <a:avLst/>
          </a:prstGeom>
          <a:solidFill>
            <a:srgbClr val="7030A0">
              <a:alpha val="78000"/>
            </a:srgbClr>
          </a:solidFill>
          <a:ln w="19050">
            <a:solidFill>
              <a:srgbClr val="7030A0"/>
            </a:solidFill>
          </a:ln>
          <a:scene3d>
            <a:camera prst="orthographicFront"/>
            <a:lightRig rig="threePt" dir="t"/>
          </a:scene3d>
          <a:sp3d prstMaterial="metal">
            <a:bevelT w="1016000" h="1016000"/>
            <a:bevelB w="1016000" h="10160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70" name="Oval 69"/>
          <p:cNvSpPr/>
          <p:nvPr/>
        </p:nvSpPr>
        <p:spPr>
          <a:xfrm>
            <a:off x="7843652" y="4891215"/>
            <a:ext cx="1222169" cy="1222170"/>
          </a:xfrm>
          <a:prstGeom prst="ellipse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  <a:scene3d>
            <a:camera prst="orthographicFront"/>
            <a:lightRig rig="threePt" dir="t"/>
          </a:scene3d>
          <a:sp3d prstMaterial="clear">
            <a:bevelT w="1371600" h="1371600"/>
            <a:bevelB w="1371600" h="13716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cxnSp>
        <p:nvCxnSpPr>
          <p:cNvPr id="72" name="Straight Connector 71"/>
          <p:cNvCxnSpPr>
            <a:cxnSpLocks/>
          </p:cNvCxnSpPr>
          <p:nvPr/>
        </p:nvCxnSpPr>
        <p:spPr>
          <a:xfrm>
            <a:off x="6873268" y="4626283"/>
            <a:ext cx="985178" cy="1043471"/>
          </a:xfrm>
          <a:prstGeom prst="line">
            <a:avLst/>
          </a:prstGeom>
          <a:noFill/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73" name="Straight Connector 72"/>
          <p:cNvCxnSpPr>
            <a:cxnSpLocks/>
          </p:cNvCxnSpPr>
          <p:nvPr/>
        </p:nvCxnSpPr>
        <p:spPr>
          <a:xfrm flipH="1" flipV="1">
            <a:off x="6873267" y="4626283"/>
            <a:ext cx="2192554" cy="719235"/>
          </a:xfrm>
          <a:prstGeom prst="line">
            <a:avLst/>
          </a:prstGeom>
          <a:noFill/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74" name="Straight Connector 73"/>
          <p:cNvCxnSpPr>
            <a:cxnSpLocks/>
          </p:cNvCxnSpPr>
          <p:nvPr/>
        </p:nvCxnSpPr>
        <p:spPr>
          <a:xfrm flipH="1">
            <a:off x="7843652" y="5345518"/>
            <a:ext cx="1222172" cy="334101"/>
          </a:xfrm>
          <a:prstGeom prst="line">
            <a:avLst/>
          </a:prstGeom>
          <a:noFill/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grpSp>
        <p:nvGrpSpPr>
          <p:cNvPr id="85" name="Group 84"/>
          <p:cNvGrpSpPr/>
          <p:nvPr/>
        </p:nvGrpSpPr>
        <p:grpSpPr>
          <a:xfrm>
            <a:off x="261216" y="3799357"/>
            <a:ext cx="2716861" cy="2613774"/>
            <a:chOff x="-1151502" y="3652632"/>
            <a:chExt cx="2716861" cy="2613774"/>
          </a:xfrm>
        </p:grpSpPr>
        <p:sp>
          <p:nvSpPr>
            <p:cNvPr id="78" name="Oval 77"/>
            <p:cNvSpPr/>
            <p:nvPr/>
          </p:nvSpPr>
          <p:spPr>
            <a:xfrm>
              <a:off x="-214228" y="4481069"/>
              <a:ext cx="1779587" cy="1779588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C000"/>
              </a:solidFill>
            </a:ln>
            <a:scene3d>
              <a:camera prst="orthographicFront"/>
              <a:lightRig rig="threePt" dir="t"/>
            </a:scene3d>
            <a:sp3d prstMaterial="clear">
              <a:bevelT w="1371600" h="1371600"/>
              <a:bevelB w="1371600" h="13716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83" name="Oval 82"/>
            <p:cNvSpPr/>
            <p:nvPr/>
          </p:nvSpPr>
          <p:spPr>
            <a:xfrm>
              <a:off x="-1151502" y="4450254"/>
              <a:ext cx="1779587" cy="1779588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C000"/>
              </a:solidFill>
            </a:ln>
            <a:scene3d>
              <a:camera prst="orthographicFront"/>
              <a:lightRig rig="threePt" dir="t"/>
            </a:scene3d>
            <a:sp3d prstMaterial="clear">
              <a:bevelT w="1371600" h="1371600"/>
              <a:bevelB w="1371600" h="13716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84" name="Oval 83"/>
            <p:cNvSpPr/>
            <p:nvPr/>
          </p:nvSpPr>
          <p:spPr>
            <a:xfrm>
              <a:off x="-724647" y="3652632"/>
              <a:ext cx="1779587" cy="1779588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C000"/>
              </a:solidFill>
            </a:ln>
            <a:scene3d>
              <a:camera prst="orthographicFront"/>
              <a:lightRig rig="threePt" dir="t"/>
            </a:scene3d>
            <a:sp3d prstMaterial="clear">
              <a:bevelT w="1371600" h="1371600"/>
              <a:bevelB w="1371600" h="13716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79" name="Oval 78"/>
            <p:cNvSpPr/>
            <p:nvPr/>
          </p:nvSpPr>
          <p:spPr>
            <a:xfrm>
              <a:off x="-871383" y="4031703"/>
              <a:ext cx="2079405" cy="2079406"/>
            </a:xfrm>
            <a:prstGeom prst="ellipse">
              <a:avLst/>
            </a:prstGeom>
            <a:solidFill>
              <a:srgbClr val="7030A0">
                <a:alpha val="78000"/>
              </a:srgbClr>
            </a:solidFill>
            <a:ln w="19050">
              <a:solidFill>
                <a:srgbClr val="002060">
                  <a:alpha val="44000"/>
                </a:srgbClr>
              </a:solidFill>
            </a:ln>
            <a:scene3d>
              <a:camera prst="orthographicFront"/>
              <a:lightRig rig="threePt" dir="t"/>
            </a:scene3d>
            <a:sp3d prstMaterial="metal">
              <a:bevelT w="1016000" h="1016000"/>
              <a:bevelB w="1016000" h="10160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cxnSp>
          <p:nvCxnSpPr>
            <p:cNvPr id="80" name="Straight Connector 79"/>
            <p:cNvCxnSpPr>
              <a:cxnSpLocks/>
            </p:cNvCxnSpPr>
            <p:nvPr/>
          </p:nvCxnSpPr>
          <p:spPr>
            <a:xfrm>
              <a:off x="-745460" y="4559723"/>
              <a:ext cx="1828800" cy="0"/>
            </a:xfrm>
            <a:prstGeom prst="line">
              <a:avLst/>
            </a:pr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81" name="Straight Connector 80"/>
            <p:cNvCxnSpPr>
              <a:cxnSpLocks/>
            </p:cNvCxnSpPr>
            <p:nvPr/>
          </p:nvCxnSpPr>
          <p:spPr>
            <a:xfrm rot="18000000" flipH="1" flipV="1">
              <a:off x="-288260" y="5352006"/>
              <a:ext cx="1828800" cy="0"/>
            </a:xfrm>
            <a:prstGeom prst="line">
              <a:avLst/>
            </a:pr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82" name="Straight Connector 81"/>
            <p:cNvCxnSpPr>
              <a:cxnSpLocks/>
            </p:cNvCxnSpPr>
            <p:nvPr/>
          </p:nvCxnSpPr>
          <p:spPr>
            <a:xfrm rot="3600000" flipH="1">
              <a:off x="-1188467" y="5345518"/>
              <a:ext cx="1828800" cy="0"/>
            </a:xfrm>
            <a:prstGeom prst="line">
              <a:avLst/>
            </a:pr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709973014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5268" y="160005"/>
            <a:ext cx="7772400" cy="1014412"/>
          </a:xfrm>
        </p:spPr>
        <p:txBody>
          <a:bodyPr/>
          <a:lstStyle/>
          <a:p>
            <a:r>
              <a:rPr lang="en-US" dirty="0"/>
              <a:t>What’s </a:t>
            </a:r>
            <a:r>
              <a:rPr lang="en-US" dirty="0" smtClean="0"/>
              <a:t>sufficient, using zero radius?</a:t>
            </a:r>
            <a:endParaRPr lang="en-US" dirty="0"/>
          </a:p>
        </p:txBody>
      </p:sp>
      <p:sp>
        <p:nvSpPr>
          <p:cNvPr id="55" name="Left-Right Arrow 54"/>
          <p:cNvSpPr/>
          <p:nvPr/>
        </p:nvSpPr>
        <p:spPr>
          <a:xfrm>
            <a:off x="1926934" y="1561541"/>
            <a:ext cx="973714" cy="272748"/>
          </a:xfrm>
          <a:prstGeom prst="leftRightArrow">
            <a:avLst/>
          </a:prstGeom>
          <a:ln w="1905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102139" y="5558891"/>
            <a:ext cx="1371600" cy="1275311"/>
            <a:chOff x="6604148" y="3799357"/>
            <a:chExt cx="1371600" cy="1275311"/>
          </a:xfrm>
        </p:grpSpPr>
        <p:sp>
          <p:nvSpPr>
            <p:cNvPr id="28" name="Oval 27"/>
            <p:cNvSpPr/>
            <p:nvPr/>
          </p:nvSpPr>
          <p:spPr>
            <a:xfrm>
              <a:off x="6604148" y="4145583"/>
              <a:ext cx="929086" cy="929085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C000"/>
              </a:solidFill>
            </a:ln>
            <a:scene3d>
              <a:camera prst="orthographicFront"/>
              <a:lightRig rig="threePt" dir="t"/>
            </a:scene3d>
            <a:sp3d prstMaterial="clear">
              <a:bevelT w="1371600" h="1371600"/>
              <a:bevelB w="1371600" h="13716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30" name="Oval 29"/>
            <p:cNvSpPr/>
            <p:nvPr/>
          </p:nvSpPr>
          <p:spPr>
            <a:xfrm>
              <a:off x="7275719" y="4390932"/>
              <a:ext cx="662179" cy="6621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C000"/>
              </a:solidFill>
            </a:ln>
            <a:scene3d>
              <a:camera prst="orthographicFront"/>
              <a:lightRig rig="threePt" dir="t"/>
            </a:scene3d>
            <a:sp3d prstMaterial="clear">
              <a:bevelT w="1371600" h="1371600"/>
              <a:bevelB w="1371600" h="13716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29" name="Oval 28"/>
            <p:cNvSpPr/>
            <p:nvPr/>
          </p:nvSpPr>
          <p:spPr>
            <a:xfrm>
              <a:off x="6727404" y="3799357"/>
              <a:ext cx="1248344" cy="1248344"/>
            </a:xfrm>
            <a:prstGeom prst="ellipse">
              <a:avLst/>
            </a:prstGeom>
            <a:solidFill>
              <a:srgbClr val="7030A0">
                <a:alpha val="78000"/>
              </a:srgbClr>
            </a:solidFill>
            <a:ln w="19050">
              <a:solidFill>
                <a:srgbClr val="7030A0"/>
              </a:solidFill>
            </a:ln>
            <a:scene3d>
              <a:camera prst="orthographicFront"/>
              <a:lightRig rig="threePt" dir="t"/>
            </a:scene3d>
            <a:sp3d prstMaterial="metal">
              <a:bevelT w="635000" h="635000"/>
              <a:bevelB w="635000" h="6350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cxnSp>
          <p:nvCxnSpPr>
            <p:cNvPr id="31" name="Straight Connector 30"/>
            <p:cNvCxnSpPr>
              <a:cxnSpLocks/>
            </p:cNvCxnSpPr>
            <p:nvPr/>
          </p:nvCxnSpPr>
          <p:spPr>
            <a:xfrm>
              <a:off x="6749959" y="4247391"/>
              <a:ext cx="533776" cy="565359"/>
            </a:xfrm>
            <a:prstGeom prst="line">
              <a:avLst/>
            </a:pr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32" name="Straight Connector 31"/>
            <p:cNvCxnSpPr>
              <a:cxnSpLocks/>
            </p:cNvCxnSpPr>
            <p:nvPr/>
          </p:nvCxnSpPr>
          <p:spPr>
            <a:xfrm flipH="1" flipV="1">
              <a:off x="6749958" y="4247391"/>
              <a:ext cx="1187940" cy="389686"/>
            </a:xfrm>
            <a:prstGeom prst="line">
              <a:avLst/>
            </a:pr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33" name="Straight Connector 32"/>
            <p:cNvCxnSpPr>
              <a:cxnSpLocks/>
            </p:cNvCxnSpPr>
            <p:nvPr/>
          </p:nvCxnSpPr>
          <p:spPr>
            <a:xfrm flipH="1">
              <a:off x="7275719" y="4637077"/>
              <a:ext cx="662180" cy="181018"/>
            </a:xfrm>
            <a:prstGeom prst="line">
              <a:avLst/>
            </a:pr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</p:grpSp>
      <p:grpSp>
        <p:nvGrpSpPr>
          <p:cNvPr id="34" name="Group 33"/>
          <p:cNvGrpSpPr/>
          <p:nvPr/>
        </p:nvGrpSpPr>
        <p:grpSpPr>
          <a:xfrm rot="10800000" flipH="1">
            <a:off x="324248" y="3784842"/>
            <a:ext cx="3161893" cy="2309599"/>
            <a:chOff x="847725" y="2565876"/>
            <a:chExt cx="3178218" cy="2309599"/>
          </a:xfrm>
        </p:grpSpPr>
        <p:cxnSp>
          <p:nvCxnSpPr>
            <p:cNvPr id="35" name="Straight Connector 34"/>
            <p:cNvCxnSpPr/>
            <p:nvPr/>
          </p:nvCxnSpPr>
          <p:spPr>
            <a:xfrm>
              <a:off x="1064712" y="3392424"/>
              <a:ext cx="27432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1064712" y="3394552"/>
              <a:ext cx="1303838" cy="125682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flipV="1">
              <a:off x="2368550" y="3394552"/>
              <a:ext cx="1439362" cy="125682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flipH="1">
              <a:off x="1064712" y="2794000"/>
              <a:ext cx="2011863" cy="60055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3076575" y="2794000"/>
              <a:ext cx="731337" cy="60055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Oval 39"/>
            <p:cNvSpPr/>
            <p:nvPr/>
          </p:nvSpPr>
          <p:spPr>
            <a:xfrm>
              <a:off x="2953230" y="3303808"/>
              <a:ext cx="36576" cy="36576"/>
            </a:xfrm>
            <a:prstGeom prst="ellipse">
              <a:avLst/>
            </a:prstGeom>
            <a:solidFill>
              <a:srgbClr val="0070C0"/>
            </a:solidFill>
            <a:ln w="254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/>
            <p:cNvSpPr/>
            <p:nvPr/>
          </p:nvSpPr>
          <p:spPr>
            <a:xfrm>
              <a:off x="2953230" y="3438652"/>
              <a:ext cx="36576" cy="36576"/>
            </a:xfrm>
            <a:prstGeom prst="ellipse">
              <a:avLst/>
            </a:prstGeom>
            <a:solidFill>
              <a:srgbClr val="0070C0"/>
            </a:solidFill>
            <a:ln w="254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2" name="Group 41"/>
            <p:cNvGrpSpPr/>
            <p:nvPr/>
          </p:nvGrpSpPr>
          <p:grpSpPr>
            <a:xfrm>
              <a:off x="3554631" y="3161172"/>
              <a:ext cx="471312" cy="459374"/>
              <a:chOff x="3554631" y="3161172"/>
              <a:chExt cx="471312" cy="459374"/>
            </a:xfrm>
          </p:grpSpPr>
          <p:sp>
            <p:nvSpPr>
              <p:cNvPr id="105" name="Oval 104"/>
              <p:cNvSpPr/>
              <p:nvPr/>
            </p:nvSpPr>
            <p:spPr>
              <a:xfrm>
                <a:off x="3583249" y="3495455"/>
                <a:ext cx="36576" cy="36576"/>
              </a:xfrm>
              <a:prstGeom prst="ellipse">
                <a:avLst/>
              </a:prstGeom>
              <a:solidFill>
                <a:srgbClr val="C00000"/>
              </a:solidFill>
              <a:ln w="254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Oval 105"/>
              <p:cNvSpPr/>
              <p:nvPr/>
            </p:nvSpPr>
            <p:spPr>
              <a:xfrm>
                <a:off x="3572919" y="3261988"/>
                <a:ext cx="36576" cy="36576"/>
              </a:xfrm>
              <a:prstGeom prst="ellipse">
                <a:avLst/>
              </a:prstGeom>
              <a:solidFill>
                <a:srgbClr val="C00000"/>
              </a:solidFill>
              <a:ln w="254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" name="Oval 106"/>
              <p:cNvSpPr/>
              <p:nvPr/>
            </p:nvSpPr>
            <p:spPr>
              <a:xfrm>
                <a:off x="3635726" y="3186847"/>
                <a:ext cx="36576" cy="36576"/>
              </a:xfrm>
              <a:prstGeom prst="ellipse">
                <a:avLst/>
              </a:prstGeom>
              <a:solidFill>
                <a:srgbClr val="C00000"/>
              </a:solidFill>
              <a:ln w="254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" name="Oval 107"/>
              <p:cNvSpPr/>
              <p:nvPr/>
            </p:nvSpPr>
            <p:spPr>
              <a:xfrm>
                <a:off x="3643488" y="3565683"/>
                <a:ext cx="36576" cy="36576"/>
              </a:xfrm>
              <a:prstGeom prst="ellipse">
                <a:avLst/>
              </a:prstGeom>
              <a:solidFill>
                <a:srgbClr val="C00000"/>
              </a:solidFill>
              <a:ln w="254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" name="Oval 108"/>
              <p:cNvSpPr/>
              <p:nvPr/>
            </p:nvSpPr>
            <p:spPr>
              <a:xfrm>
                <a:off x="3566569" y="3161172"/>
                <a:ext cx="459374" cy="459374"/>
              </a:xfrm>
              <a:prstGeom prst="ellipse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" name="Oval 109"/>
              <p:cNvSpPr/>
              <p:nvPr/>
            </p:nvSpPr>
            <p:spPr>
              <a:xfrm>
                <a:off x="3554631" y="3329264"/>
                <a:ext cx="36576" cy="36576"/>
              </a:xfrm>
              <a:prstGeom prst="ellipse">
                <a:avLst/>
              </a:prstGeom>
              <a:solidFill>
                <a:srgbClr val="C00000"/>
              </a:solidFill>
              <a:ln w="254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" name="Oval 110"/>
              <p:cNvSpPr/>
              <p:nvPr/>
            </p:nvSpPr>
            <p:spPr>
              <a:xfrm>
                <a:off x="3554631" y="3423972"/>
                <a:ext cx="36576" cy="36576"/>
              </a:xfrm>
              <a:prstGeom prst="ellipse">
                <a:avLst/>
              </a:prstGeom>
              <a:solidFill>
                <a:srgbClr val="C00000"/>
              </a:solidFill>
              <a:ln w="254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3" name="Oval 42"/>
            <p:cNvSpPr/>
            <p:nvPr/>
          </p:nvSpPr>
          <p:spPr>
            <a:xfrm>
              <a:off x="847725" y="3163571"/>
              <a:ext cx="459374" cy="459374"/>
            </a:xfrm>
            <a:prstGeom prst="ellipse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/>
            <p:cNvSpPr/>
            <p:nvPr/>
          </p:nvSpPr>
          <p:spPr>
            <a:xfrm>
              <a:off x="1282461" y="3329264"/>
              <a:ext cx="36576" cy="36576"/>
            </a:xfrm>
            <a:prstGeom prst="ellipse">
              <a:avLst/>
            </a:prstGeom>
            <a:solidFill>
              <a:srgbClr val="C00000"/>
            </a:solidFill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/>
            <p:cNvSpPr/>
            <p:nvPr/>
          </p:nvSpPr>
          <p:spPr>
            <a:xfrm>
              <a:off x="1264173" y="3269406"/>
              <a:ext cx="36576" cy="36576"/>
            </a:xfrm>
            <a:prstGeom prst="ellipse">
              <a:avLst/>
            </a:prstGeom>
            <a:solidFill>
              <a:srgbClr val="C00000"/>
            </a:solidFill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/>
            <p:cNvSpPr/>
            <p:nvPr/>
          </p:nvSpPr>
          <p:spPr>
            <a:xfrm>
              <a:off x="1282461" y="3347896"/>
              <a:ext cx="36576" cy="36576"/>
            </a:xfrm>
            <a:prstGeom prst="ellipse">
              <a:avLst/>
            </a:prstGeom>
            <a:solidFill>
              <a:srgbClr val="C00000"/>
            </a:solidFill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/>
            <p:cNvSpPr/>
            <p:nvPr/>
          </p:nvSpPr>
          <p:spPr>
            <a:xfrm>
              <a:off x="1284663" y="3420549"/>
              <a:ext cx="36576" cy="36576"/>
            </a:xfrm>
            <a:prstGeom prst="ellipse">
              <a:avLst/>
            </a:prstGeom>
            <a:solidFill>
              <a:srgbClr val="C00000"/>
            </a:solidFill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/>
            <p:cNvSpPr/>
            <p:nvPr/>
          </p:nvSpPr>
          <p:spPr>
            <a:xfrm>
              <a:off x="1245885" y="3508453"/>
              <a:ext cx="36576" cy="36576"/>
            </a:xfrm>
            <a:prstGeom prst="ellipse">
              <a:avLst/>
            </a:prstGeom>
            <a:solidFill>
              <a:srgbClr val="C00000"/>
            </a:solidFill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/>
            <p:cNvSpPr/>
            <p:nvPr/>
          </p:nvSpPr>
          <p:spPr>
            <a:xfrm>
              <a:off x="1169101" y="3577112"/>
              <a:ext cx="36576" cy="36576"/>
            </a:xfrm>
            <a:prstGeom prst="ellipse">
              <a:avLst/>
            </a:prstGeom>
            <a:solidFill>
              <a:srgbClr val="C00000"/>
            </a:solidFill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/>
            <p:cNvSpPr/>
            <p:nvPr/>
          </p:nvSpPr>
          <p:spPr>
            <a:xfrm>
              <a:off x="3274312" y="2875921"/>
              <a:ext cx="36576" cy="36576"/>
            </a:xfrm>
            <a:prstGeom prst="ellipse">
              <a:avLst/>
            </a:prstGeom>
            <a:solidFill>
              <a:srgbClr val="C00000"/>
            </a:solidFill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/>
            <p:cNvSpPr/>
            <p:nvPr/>
          </p:nvSpPr>
          <p:spPr>
            <a:xfrm>
              <a:off x="2480231" y="4441776"/>
              <a:ext cx="36576" cy="36576"/>
            </a:xfrm>
            <a:prstGeom prst="ellipse">
              <a:avLst/>
            </a:prstGeom>
            <a:solidFill>
              <a:srgbClr val="C00000"/>
            </a:solidFill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/>
            <p:cNvSpPr/>
            <p:nvPr/>
          </p:nvSpPr>
          <p:spPr>
            <a:xfrm>
              <a:off x="2558573" y="4530344"/>
              <a:ext cx="36576" cy="36576"/>
            </a:xfrm>
            <a:prstGeom prst="ellipse">
              <a:avLst/>
            </a:prstGeom>
            <a:solidFill>
              <a:srgbClr val="C00000"/>
            </a:solidFill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/>
            <p:cNvSpPr/>
            <p:nvPr/>
          </p:nvSpPr>
          <p:spPr>
            <a:xfrm>
              <a:off x="3184731" y="2976737"/>
              <a:ext cx="36576" cy="36576"/>
            </a:xfrm>
            <a:prstGeom prst="ellipse">
              <a:avLst/>
            </a:prstGeom>
            <a:solidFill>
              <a:srgbClr val="C00000"/>
            </a:solidFill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/>
            <p:cNvSpPr/>
            <p:nvPr/>
          </p:nvSpPr>
          <p:spPr>
            <a:xfrm>
              <a:off x="2854200" y="2565876"/>
              <a:ext cx="459374" cy="459374"/>
            </a:xfrm>
            <a:prstGeom prst="ellipse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/>
            <p:cNvSpPr/>
            <p:nvPr/>
          </p:nvSpPr>
          <p:spPr>
            <a:xfrm>
              <a:off x="2835787" y="2771306"/>
              <a:ext cx="36576" cy="36576"/>
            </a:xfrm>
            <a:prstGeom prst="ellipse">
              <a:avLst/>
            </a:prstGeom>
            <a:solidFill>
              <a:srgbClr val="C00000"/>
            </a:solidFill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Oval 63"/>
            <p:cNvSpPr/>
            <p:nvPr/>
          </p:nvSpPr>
          <p:spPr>
            <a:xfrm>
              <a:off x="2872363" y="2901061"/>
              <a:ext cx="36576" cy="36576"/>
            </a:xfrm>
            <a:prstGeom prst="ellipse">
              <a:avLst/>
            </a:prstGeom>
            <a:solidFill>
              <a:srgbClr val="C00000"/>
            </a:solidFill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Oval 64"/>
            <p:cNvSpPr/>
            <p:nvPr/>
          </p:nvSpPr>
          <p:spPr>
            <a:xfrm>
              <a:off x="2154186" y="4516917"/>
              <a:ext cx="36576" cy="36576"/>
            </a:xfrm>
            <a:prstGeom prst="ellipse">
              <a:avLst/>
            </a:prstGeom>
            <a:solidFill>
              <a:srgbClr val="C00000"/>
            </a:solidFill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Oval 66"/>
            <p:cNvSpPr/>
            <p:nvPr/>
          </p:nvSpPr>
          <p:spPr>
            <a:xfrm>
              <a:off x="2216993" y="4441776"/>
              <a:ext cx="36576" cy="36576"/>
            </a:xfrm>
            <a:prstGeom prst="ellipse">
              <a:avLst/>
            </a:prstGeom>
            <a:solidFill>
              <a:srgbClr val="C00000"/>
            </a:solidFill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Oval 70"/>
            <p:cNvSpPr/>
            <p:nvPr/>
          </p:nvSpPr>
          <p:spPr>
            <a:xfrm>
              <a:off x="2147836" y="4416101"/>
              <a:ext cx="459374" cy="459374"/>
            </a:xfrm>
            <a:prstGeom prst="ellipse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5" name="Straight Connector 74"/>
            <p:cNvCxnSpPr/>
            <p:nvPr/>
          </p:nvCxnSpPr>
          <p:spPr>
            <a:xfrm>
              <a:off x="3284916" y="3219191"/>
              <a:ext cx="7684" cy="312840"/>
            </a:xfrm>
            <a:prstGeom prst="line">
              <a:avLst/>
            </a:prstGeom>
            <a:ln w="254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>
              <a:off x="2166604" y="3305982"/>
              <a:ext cx="2038" cy="273182"/>
            </a:xfrm>
            <a:prstGeom prst="line">
              <a:avLst/>
            </a:prstGeom>
            <a:ln w="254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>
              <a:cxnSpLocks noChangeAspect="1"/>
            </p:cNvCxnSpPr>
            <p:nvPr/>
          </p:nvCxnSpPr>
          <p:spPr>
            <a:xfrm flipH="1">
              <a:off x="3321180" y="2972804"/>
              <a:ext cx="211927" cy="258079"/>
            </a:xfrm>
            <a:prstGeom prst="line">
              <a:avLst/>
            </a:prstGeom>
            <a:ln w="254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>
              <a:cxnSpLocks noChangeAspect="1"/>
            </p:cNvCxnSpPr>
            <p:nvPr/>
          </p:nvCxnSpPr>
          <p:spPr>
            <a:xfrm flipH="1" flipV="1">
              <a:off x="2042745" y="2893163"/>
              <a:ext cx="123651" cy="414241"/>
            </a:xfrm>
            <a:prstGeom prst="line">
              <a:avLst/>
            </a:prstGeom>
            <a:ln w="254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/>
            <p:cNvCxnSpPr>
              <a:cxnSpLocks noChangeAspect="1"/>
            </p:cNvCxnSpPr>
            <p:nvPr/>
          </p:nvCxnSpPr>
          <p:spPr>
            <a:xfrm flipH="1">
              <a:off x="1593813" y="3575037"/>
              <a:ext cx="570699" cy="592049"/>
            </a:xfrm>
            <a:prstGeom prst="line">
              <a:avLst/>
            </a:prstGeom>
            <a:ln w="254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>
              <a:cxnSpLocks noChangeAspect="1"/>
            </p:cNvCxnSpPr>
            <p:nvPr/>
          </p:nvCxnSpPr>
          <p:spPr>
            <a:xfrm>
              <a:off x="3337630" y="3577112"/>
              <a:ext cx="235289" cy="269461"/>
            </a:xfrm>
            <a:prstGeom prst="line">
              <a:avLst/>
            </a:prstGeom>
            <a:ln w="254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>
              <a:cxnSpLocks noChangeAspect="1"/>
            </p:cNvCxnSpPr>
            <p:nvPr/>
          </p:nvCxnSpPr>
          <p:spPr>
            <a:xfrm flipH="1" flipV="1">
              <a:off x="2373264" y="3715543"/>
              <a:ext cx="307952" cy="177691"/>
            </a:xfrm>
            <a:prstGeom prst="line">
              <a:avLst/>
            </a:prstGeom>
            <a:ln w="254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/>
            <p:cNvCxnSpPr>
              <a:cxnSpLocks noChangeAspect="1"/>
            </p:cNvCxnSpPr>
            <p:nvPr/>
          </p:nvCxnSpPr>
          <p:spPr>
            <a:xfrm>
              <a:off x="3008258" y="3106438"/>
              <a:ext cx="272598" cy="110701"/>
            </a:xfrm>
            <a:prstGeom prst="line">
              <a:avLst/>
            </a:prstGeom>
            <a:ln w="254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/>
            <p:cNvCxnSpPr>
              <a:cxnSpLocks/>
            </p:cNvCxnSpPr>
            <p:nvPr/>
          </p:nvCxnSpPr>
          <p:spPr>
            <a:xfrm flipV="1">
              <a:off x="2167913" y="3109622"/>
              <a:ext cx="838180" cy="203353"/>
            </a:xfrm>
            <a:prstGeom prst="line">
              <a:avLst/>
            </a:prstGeom>
            <a:ln w="254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/>
            <p:cNvCxnSpPr>
              <a:cxnSpLocks/>
            </p:cNvCxnSpPr>
            <p:nvPr/>
          </p:nvCxnSpPr>
          <p:spPr>
            <a:xfrm flipH="1" flipV="1">
              <a:off x="2367415" y="3717670"/>
              <a:ext cx="568" cy="920767"/>
            </a:xfrm>
            <a:prstGeom prst="line">
              <a:avLst/>
            </a:prstGeom>
            <a:ln w="254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/>
            <p:cNvCxnSpPr>
              <a:cxnSpLocks/>
            </p:cNvCxnSpPr>
            <p:nvPr/>
          </p:nvCxnSpPr>
          <p:spPr>
            <a:xfrm flipH="1" flipV="1">
              <a:off x="1076116" y="3400322"/>
              <a:ext cx="906854" cy="359277"/>
            </a:xfrm>
            <a:prstGeom prst="line">
              <a:avLst/>
            </a:prstGeom>
            <a:ln w="254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>
              <a:cxnSpLocks/>
            </p:cNvCxnSpPr>
            <p:nvPr/>
          </p:nvCxnSpPr>
          <p:spPr>
            <a:xfrm flipH="1">
              <a:off x="1073322" y="3221430"/>
              <a:ext cx="1067155" cy="167242"/>
            </a:xfrm>
            <a:prstGeom prst="line">
              <a:avLst/>
            </a:prstGeom>
            <a:ln w="254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/>
            <p:cNvCxnSpPr>
              <a:cxnSpLocks noChangeAspect="1"/>
            </p:cNvCxnSpPr>
            <p:nvPr/>
          </p:nvCxnSpPr>
          <p:spPr>
            <a:xfrm rot="5400000" flipH="1" flipV="1">
              <a:off x="2889353" y="2918994"/>
              <a:ext cx="295378" cy="76031"/>
            </a:xfrm>
            <a:prstGeom prst="line">
              <a:avLst/>
            </a:prstGeom>
            <a:ln w="254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/>
            <p:cNvCxnSpPr>
              <a:cxnSpLocks/>
            </p:cNvCxnSpPr>
            <p:nvPr/>
          </p:nvCxnSpPr>
          <p:spPr>
            <a:xfrm flipH="1" flipV="1">
              <a:off x="3280856" y="3217139"/>
              <a:ext cx="501656" cy="163700"/>
            </a:xfrm>
            <a:prstGeom prst="line">
              <a:avLst/>
            </a:prstGeom>
            <a:ln w="254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/>
            <p:cNvCxnSpPr>
              <a:cxnSpLocks/>
            </p:cNvCxnSpPr>
            <p:nvPr/>
          </p:nvCxnSpPr>
          <p:spPr>
            <a:xfrm flipH="1">
              <a:off x="3335251" y="3394551"/>
              <a:ext cx="461007" cy="182560"/>
            </a:xfrm>
            <a:prstGeom prst="line">
              <a:avLst/>
            </a:prstGeom>
            <a:ln w="254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Oval 97"/>
            <p:cNvSpPr/>
            <p:nvPr/>
          </p:nvSpPr>
          <p:spPr>
            <a:xfrm>
              <a:off x="3169846" y="3824656"/>
              <a:ext cx="36576" cy="36576"/>
            </a:xfrm>
            <a:prstGeom prst="ellipse">
              <a:avLst/>
            </a:prstGeom>
            <a:solidFill>
              <a:srgbClr val="0070C0"/>
            </a:solidFill>
            <a:ln w="254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Oval 98"/>
            <p:cNvSpPr/>
            <p:nvPr/>
          </p:nvSpPr>
          <p:spPr>
            <a:xfrm>
              <a:off x="3261401" y="3942687"/>
              <a:ext cx="36576" cy="36576"/>
            </a:xfrm>
            <a:prstGeom prst="ellipse">
              <a:avLst/>
            </a:prstGeom>
            <a:solidFill>
              <a:srgbClr val="0070C0"/>
            </a:solidFill>
            <a:ln w="254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0" name="Straight Connector 99"/>
            <p:cNvCxnSpPr>
              <a:cxnSpLocks noChangeAspect="1"/>
            </p:cNvCxnSpPr>
            <p:nvPr/>
          </p:nvCxnSpPr>
          <p:spPr>
            <a:xfrm flipH="1">
              <a:off x="2675255" y="3525564"/>
              <a:ext cx="621010" cy="362954"/>
            </a:xfrm>
            <a:prstGeom prst="line">
              <a:avLst/>
            </a:prstGeom>
            <a:ln w="254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>
              <a:cxnSpLocks/>
            </p:cNvCxnSpPr>
            <p:nvPr/>
          </p:nvCxnSpPr>
          <p:spPr>
            <a:xfrm>
              <a:off x="3293022" y="3533400"/>
              <a:ext cx="50878" cy="45764"/>
            </a:xfrm>
            <a:prstGeom prst="line">
              <a:avLst/>
            </a:prstGeom>
            <a:ln w="254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>
              <a:cxnSpLocks noChangeAspect="1"/>
            </p:cNvCxnSpPr>
            <p:nvPr/>
          </p:nvCxnSpPr>
          <p:spPr>
            <a:xfrm>
              <a:off x="2681216" y="3891902"/>
              <a:ext cx="304544" cy="348774"/>
            </a:xfrm>
            <a:prstGeom prst="line">
              <a:avLst/>
            </a:prstGeom>
            <a:ln w="254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>
              <a:cxnSpLocks noChangeAspect="1"/>
            </p:cNvCxnSpPr>
            <p:nvPr/>
          </p:nvCxnSpPr>
          <p:spPr>
            <a:xfrm flipH="1" flipV="1">
              <a:off x="2169818" y="3567173"/>
              <a:ext cx="200545" cy="149248"/>
            </a:xfrm>
            <a:prstGeom prst="line">
              <a:avLst/>
            </a:prstGeom>
            <a:ln w="254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Freeform 103"/>
            <p:cNvSpPr/>
            <p:nvPr/>
          </p:nvSpPr>
          <p:spPr>
            <a:xfrm>
              <a:off x="2971755" y="2972803"/>
              <a:ext cx="545777" cy="1113422"/>
            </a:xfrm>
            <a:custGeom>
              <a:avLst/>
              <a:gdLst>
                <a:gd name="connsiteX0" fmla="*/ 46067 w 452467"/>
                <a:gd name="connsiteY0" fmla="*/ 0 h 971550"/>
                <a:gd name="connsiteX1" fmla="*/ 11142 w 452467"/>
                <a:gd name="connsiteY1" fmla="*/ 352425 h 971550"/>
                <a:gd name="connsiteX2" fmla="*/ 217517 w 452467"/>
                <a:gd name="connsiteY2" fmla="*/ 771525 h 971550"/>
                <a:gd name="connsiteX3" fmla="*/ 452467 w 452467"/>
                <a:gd name="connsiteY3" fmla="*/ 971550 h 971550"/>
                <a:gd name="connsiteX0" fmla="*/ 60119 w 466519"/>
                <a:gd name="connsiteY0" fmla="*/ 0 h 971550"/>
                <a:gd name="connsiteX1" fmla="*/ 8706 w 466519"/>
                <a:gd name="connsiteY1" fmla="*/ 396231 h 971550"/>
                <a:gd name="connsiteX2" fmla="*/ 231569 w 466519"/>
                <a:gd name="connsiteY2" fmla="*/ 771525 h 971550"/>
                <a:gd name="connsiteX3" fmla="*/ 466519 w 466519"/>
                <a:gd name="connsiteY3" fmla="*/ 971550 h 971550"/>
                <a:gd name="connsiteX0" fmla="*/ 53030 w 459430"/>
                <a:gd name="connsiteY0" fmla="*/ 0 h 971550"/>
                <a:gd name="connsiteX1" fmla="*/ 1617 w 459430"/>
                <a:gd name="connsiteY1" fmla="*/ 396231 h 971550"/>
                <a:gd name="connsiteX2" fmla="*/ 224480 w 459430"/>
                <a:gd name="connsiteY2" fmla="*/ 771525 h 971550"/>
                <a:gd name="connsiteX3" fmla="*/ 459430 w 459430"/>
                <a:gd name="connsiteY3" fmla="*/ 971550 h 971550"/>
                <a:gd name="connsiteX0" fmla="*/ 65795 w 472195"/>
                <a:gd name="connsiteY0" fmla="*/ 0 h 971550"/>
                <a:gd name="connsiteX1" fmla="*/ 1192 w 472195"/>
                <a:gd name="connsiteY1" fmla="*/ 387470 h 971550"/>
                <a:gd name="connsiteX2" fmla="*/ 237245 w 472195"/>
                <a:gd name="connsiteY2" fmla="*/ 771525 h 971550"/>
                <a:gd name="connsiteX3" fmla="*/ 472195 w 472195"/>
                <a:gd name="connsiteY3" fmla="*/ 971550 h 971550"/>
                <a:gd name="connsiteX0" fmla="*/ 70802 w 477202"/>
                <a:gd name="connsiteY0" fmla="*/ 0 h 971550"/>
                <a:gd name="connsiteX1" fmla="*/ 6199 w 477202"/>
                <a:gd name="connsiteY1" fmla="*/ 387470 h 971550"/>
                <a:gd name="connsiteX2" fmla="*/ 242252 w 477202"/>
                <a:gd name="connsiteY2" fmla="*/ 771525 h 971550"/>
                <a:gd name="connsiteX3" fmla="*/ 477202 w 477202"/>
                <a:gd name="connsiteY3" fmla="*/ 971550 h 971550"/>
                <a:gd name="connsiteX0" fmla="*/ 73609 w 480009"/>
                <a:gd name="connsiteY0" fmla="*/ 0 h 971550"/>
                <a:gd name="connsiteX1" fmla="*/ 9006 w 480009"/>
                <a:gd name="connsiteY1" fmla="*/ 387470 h 971550"/>
                <a:gd name="connsiteX2" fmla="*/ 271439 w 480009"/>
                <a:gd name="connsiteY2" fmla="*/ 844533 h 971550"/>
                <a:gd name="connsiteX3" fmla="*/ 480009 w 480009"/>
                <a:gd name="connsiteY3" fmla="*/ 971550 h 971550"/>
                <a:gd name="connsiteX0" fmla="*/ 73609 w 480009"/>
                <a:gd name="connsiteY0" fmla="*/ 0 h 971550"/>
                <a:gd name="connsiteX1" fmla="*/ 9006 w 480009"/>
                <a:gd name="connsiteY1" fmla="*/ 387470 h 971550"/>
                <a:gd name="connsiteX2" fmla="*/ 271439 w 480009"/>
                <a:gd name="connsiteY2" fmla="*/ 844533 h 971550"/>
                <a:gd name="connsiteX3" fmla="*/ 480009 w 480009"/>
                <a:gd name="connsiteY3" fmla="*/ 971550 h 971550"/>
                <a:gd name="connsiteX0" fmla="*/ 64813 w 471213"/>
                <a:gd name="connsiteY0" fmla="*/ 0 h 971550"/>
                <a:gd name="connsiteX1" fmla="*/ 210 w 471213"/>
                <a:gd name="connsiteY1" fmla="*/ 387470 h 971550"/>
                <a:gd name="connsiteX2" fmla="*/ 262643 w 471213"/>
                <a:gd name="connsiteY2" fmla="*/ 844533 h 971550"/>
                <a:gd name="connsiteX3" fmla="*/ 471213 w 471213"/>
                <a:gd name="connsiteY3" fmla="*/ 971550 h 971550"/>
                <a:gd name="connsiteX0" fmla="*/ 64813 w 500891"/>
                <a:gd name="connsiteY0" fmla="*/ 0 h 1006594"/>
                <a:gd name="connsiteX1" fmla="*/ 210 w 500891"/>
                <a:gd name="connsiteY1" fmla="*/ 387470 h 1006594"/>
                <a:gd name="connsiteX2" fmla="*/ 262643 w 500891"/>
                <a:gd name="connsiteY2" fmla="*/ 844533 h 1006594"/>
                <a:gd name="connsiteX3" fmla="*/ 500891 w 500891"/>
                <a:gd name="connsiteY3" fmla="*/ 1006594 h 1006594"/>
                <a:gd name="connsiteX0" fmla="*/ 64813 w 566842"/>
                <a:gd name="connsiteY0" fmla="*/ 0 h 1024116"/>
                <a:gd name="connsiteX1" fmla="*/ 210 w 566842"/>
                <a:gd name="connsiteY1" fmla="*/ 387470 h 1024116"/>
                <a:gd name="connsiteX2" fmla="*/ 262643 w 566842"/>
                <a:gd name="connsiteY2" fmla="*/ 844533 h 1024116"/>
                <a:gd name="connsiteX3" fmla="*/ 566842 w 566842"/>
                <a:gd name="connsiteY3" fmla="*/ 1024116 h 1024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842" h="1024116">
                  <a:moveTo>
                    <a:pt x="64813" y="0"/>
                  </a:moveTo>
                  <a:cubicBezTo>
                    <a:pt x="33063" y="111919"/>
                    <a:pt x="-3084" y="249635"/>
                    <a:pt x="210" y="387470"/>
                  </a:cubicBezTo>
                  <a:cubicBezTo>
                    <a:pt x="3504" y="525305"/>
                    <a:pt x="168204" y="738425"/>
                    <a:pt x="262643" y="844533"/>
                  </a:cubicBezTo>
                  <a:cubicBezTo>
                    <a:pt x="357082" y="950641"/>
                    <a:pt x="566842" y="1024116"/>
                    <a:pt x="566842" y="1024116"/>
                  </a:cubicBezTo>
                </a:path>
              </a:pathLst>
            </a:custGeom>
            <a:noFill/>
            <a:ln w="25400">
              <a:prstDash val="sysDot"/>
              <a:headEnd type="none" w="sm" len="sm"/>
              <a:tailEnd type="stealth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224" y="1254500"/>
            <a:ext cx="8642641" cy="4572000"/>
          </a:xfrm>
        </p:spPr>
        <p:txBody>
          <a:bodyPr/>
          <a:lstStyle/>
          <a:p>
            <a:pPr lvl="1"/>
            <a:r>
              <a:rPr lang="en-US" sz="1600" dirty="0"/>
              <a:t>E</a:t>
            </a:r>
            <a:r>
              <a:rPr lang="en-US" sz="1600" dirty="0" smtClean="0"/>
              <a:t>mpty </a:t>
            </a:r>
            <a:r>
              <a:rPr lang="en-US" sz="1600" dirty="0"/>
              <a:t>ball </a:t>
            </a:r>
            <a:r>
              <a:rPr lang="en-US" sz="1600" dirty="0" smtClean="0"/>
              <a:t>neighborhoods</a:t>
            </a:r>
          </a:p>
          <a:p>
            <a:pPr lvl="1"/>
            <a:endParaRPr lang="en-US" sz="1600" dirty="0"/>
          </a:p>
          <a:p>
            <a:pPr lvl="1"/>
            <a:r>
              <a:rPr lang="en-US" sz="1600" dirty="0"/>
              <a:t>F</a:t>
            </a:r>
            <a:r>
              <a:rPr lang="en-US" sz="1600" dirty="0" smtClean="0"/>
              <a:t>or </a:t>
            </a:r>
            <a:r>
              <a:rPr lang="en-US" sz="1600" dirty="0"/>
              <a:t>planar triangulations, </a:t>
            </a:r>
            <a:r>
              <a:rPr lang="en-US" sz="1600" dirty="0" smtClean="0"/>
              <a:t>refine into nonobtuse as preprocess</a:t>
            </a:r>
          </a:p>
          <a:p>
            <a:pPr lvl="2"/>
            <a:r>
              <a:rPr lang="en-US" sz="1400" dirty="0" smtClean="0"/>
              <a:t>Linear-size nonobtuse triangulation of </a:t>
            </a:r>
            <a:r>
              <a:rPr lang="en-US" sz="1400" dirty="0"/>
              <a:t>(2D) </a:t>
            </a:r>
            <a:r>
              <a:rPr lang="en-US" sz="1400" dirty="0" smtClean="0"/>
              <a:t>polygons [Bern, Mitchell, &amp; </a:t>
            </a:r>
            <a:r>
              <a:rPr lang="en-US" sz="1400" dirty="0" err="1" smtClean="0"/>
              <a:t>Ruppert</a:t>
            </a:r>
            <a:r>
              <a:rPr lang="en-US" sz="1400" dirty="0" smtClean="0"/>
              <a:t> 1994]</a:t>
            </a:r>
          </a:p>
          <a:p>
            <a:pPr lvl="2"/>
            <a:r>
              <a:rPr lang="en-US" sz="1400" dirty="0" smtClean="0"/>
              <a:t>Nonobtuse triangulations of </a:t>
            </a:r>
            <a:r>
              <a:rPr lang="en-US" sz="1400" dirty="0"/>
              <a:t>(2D) </a:t>
            </a:r>
            <a:r>
              <a:rPr lang="en-US" sz="1400" dirty="0" smtClean="0"/>
              <a:t>PSLG [</a:t>
            </a:r>
            <a:r>
              <a:rPr lang="en-US" sz="1400" dirty="0"/>
              <a:t>Bishop </a:t>
            </a:r>
            <a:r>
              <a:rPr lang="en-US" sz="1400" dirty="0" smtClean="0"/>
              <a:t>2016]</a:t>
            </a:r>
          </a:p>
          <a:p>
            <a:pPr lvl="1"/>
            <a:r>
              <a:rPr lang="en-US" sz="1600" dirty="0" smtClean="0"/>
              <a:t>3D PLSG, nonobtuse + </a:t>
            </a:r>
            <a:r>
              <a:rPr lang="en-US" sz="1600" dirty="0" smtClean="0"/>
              <a:t>extra refinement +</a:t>
            </a:r>
            <a:r>
              <a:rPr lang="en-US" sz="1600" dirty="0" smtClean="0"/>
              <a:t> extra seeds,</a:t>
            </a:r>
            <a:endParaRPr lang="en-US" sz="1600" dirty="0" smtClean="0"/>
          </a:p>
          <a:p>
            <a:pPr lvl="2"/>
            <a:r>
              <a:rPr lang="en-US" sz="1400" dirty="0" smtClean="0"/>
              <a:t>method in paper, #seeds depends </a:t>
            </a:r>
            <a:r>
              <a:rPr lang="en-US" sz="1400" dirty="0"/>
              <a:t>on angles, dihedrals, &amp; </a:t>
            </a:r>
            <a:r>
              <a:rPr lang="en-US" sz="1400" dirty="0" smtClean="0"/>
              <a:t>distances</a:t>
            </a:r>
          </a:p>
          <a:p>
            <a:pPr lvl="2"/>
            <a:r>
              <a:rPr lang="en-US" sz="1400" dirty="0" smtClean="0"/>
              <a:t>open: obtain polynomial-sized refinement giving empty ball neighborhoods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11968" y="3819058"/>
            <a:ext cx="212590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002060"/>
                </a:solidFill>
              </a:rPr>
              <a:t>(1) obtuse edge-edge angle</a:t>
            </a:r>
            <a:br>
              <a:rPr lang="en-US" sz="1400" dirty="0" smtClean="0">
                <a:solidFill>
                  <a:srgbClr val="002060"/>
                </a:solidFill>
              </a:rPr>
            </a:br>
            <a:r>
              <a:rPr lang="en-US" sz="1400" dirty="0" smtClean="0">
                <a:solidFill>
                  <a:srgbClr val="002060"/>
                </a:solidFill>
              </a:rPr>
              <a:t>-&gt; propagation path</a:t>
            </a:r>
            <a:br>
              <a:rPr lang="en-US" sz="1400" dirty="0" smtClean="0">
                <a:solidFill>
                  <a:srgbClr val="002060"/>
                </a:solidFill>
              </a:rPr>
            </a:br>
            <a:r>
              <a:rPr lang="en-US" sz="1400" dirty="0" smtClean="0">
                <a:solidFill>
                  <a:srgbClr val="002060"/>
                </a:solidFill>
              </a:rPr>
              <a:t>of inserted seed pairs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4715280" y="5919557"/>
            <a:ext cx="455765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002060"/>
                </a:solidFill>
              </a:rPr>
              <a:t>nonobtuse is sufficient if all dihedrals are flat,</a:t>
            </a:r>
            <a:br>
              <a:rPr lang="en-US" sz="1400" dirty="0" smtClean="0">
                <a:solidFill>
                  <a:srgbClr val="002060"/>
                </a:solidFill>
              </a:rPr>
            </a:br>
            <a:r>
              <a:rPr lang="en-US" sz="1400" dirty="0" smtClean="0">
                <a:solidFill>
                  <a:srgbClr val="002060"/>
                </a:solidFill>
              </a:rPr>
              <a:t>and triangles subdivided enough </a:t>
            </a:r>
            <a:br>
              <a:rPr lang="en-US" sz="1400" dirty="0" smtClean="0">
                <a:solidFill>
                  <a:srgbClr val="002060"/>
                </a:solidFill>
              </a:rPr>
            </a:br>
            <a:r>
              <a:rPr lang="en-US" sz="1400" dirty="0" smtClean="0">
                <a:solidFill>
                  <a:srgbClr val="002060"/>
                </a:solidFill>
              </a:rPr>
              <a:t>to avoid </a:t>
            </a:r>
            <a:r>
              <a:rPr lang="en-US" sz="1400" b="1" dirty="0" smtClean="0">
                <a:solidFill>
                  <a:srgbClr val="00B050"/>
                </a:solidFill>
              </a:rPr>
              <a:t>foreign</a:t>
            </a:r>
            <a:r>
              <a:rPr lang="en-US" sz="1400" dirty="0" smtClean="0">
                <a:solidFill>
                  <a:srgbClr val="00B050"/>
                </a:solidFill>
              </a:rPr>
              <a:t> </a:t>
            </a:r>
            <a:r>
              <a:rPr lang="en-US" sz="1400" dirty="0" smtClean="0">
                <a:solidFill>
                  <a:srgbClr val="002060"/>
                </a:solidFill>
              </a:rPr>
              <a:t>triangles or edges or vertices</a:t>
            </a:r>
          </a:p>
          <a:p>
            <a:r>
              <a:rPr lang="en-US" sz="1400" dirty="0" smtClean="0">
                <a:solidFill>
                  <a:srgbClr val="002060"/>
                </a:solidFill>
              </a:rPr>
              <a:t>(i.e. only faces sharing original vertex in ball neighborhood)</a:t>
            </a:r>
            <a:endParaRPr lang="en-US" sz="1400" dirty="0">
              <a:solidFill>
                <a:srgbClr val="002060"/>
              </a:solidFill>
            </a:endParaRPr>
          </a:p>
        </p:txBody>
      </p:sp>
      <p:grpSp>
        <p:nvGrpSpPr>
          <p:cNvPr id="70" name="Group 69"/>
          <p:cNvGrpSpPr>
            <a:grpSpLocks noChangeAspect="1"/>
          </p:cNvGrpSpPr>
          <p:nvPr/>
        </p:nvGrpSpPr>
        <p:grpSpPr>
          <a:xfrm>
            <a:off x="4537871" y="3862051"/>
            <a:ext cx="1840460" cy="1840460"/>
            <a:chOff x="5021198" y="3480566"/>
            <a:chExt cx="3186681" cy="3186681"/>
          </a:xfrm>
        </p:grpSpPr>
        <p:cxnSp>
          <p:nvCxnSpPr>
            <p:cNvPr id="125" name="Straight Connector 124"/>
            <p:cNvCxnSpPr>
              <a:cxnSpLocks noChangeAspect="1"/>
            </p:cNvCxnSpPr>
            <p:nvPr/>
          </p:nvCxnSpPr>
          <p:spPr>
            <a:xfrm>
              <a:off x="5224844" y="4194285"/>
              <a:ext cx="2813570" cy="1746729"/>
            </a:xfrm>
            <a:prstGeom prst="line">
              <a:avLst/>
            </a:prstGeom>
            <a:noFill/>
            <a:ln w="38100" cap="flat" cmpd="sng" algn="ctr">
              <a:gradFill>
                <a:gsLst>
                  <a:gs pos="0">
                    <a:srgbClr val="4472C4">
                      <a:lumMod val="20000"/>
                      <a:lumOff val="80000"/>
                    </a:srgbClr>
                  </a:gs>
                  <a:gs pos="36000">
                    <a:srgbClr val="4472C4">
                      <a:lumMod val="40000"/>
                      <a:lumOff val="60000"/>
                    </a:srgbClr>
                  </a:gs>
                  <a:gs pos="62000">
                    <a:srgbClr val="4472C4">
                      <a:lumMod val="60000"/>
                      <a:lumOff val="40000"/>
                    </a:srgbClr>
                  </a:gs>
                  <a:gs pos="100000">
                    <a:srgbClr val="4472C4">
                      <a:lumMod val="5000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</p:cxnSp>
        <p:cxnSp>
          <p:nvCxnSpPr>
            <p:cNvPr id="126" name="Straight Connector 125"/>
            <p:cNvCxnSpPr>
              <a:cxnSpLocks noChangeAspect="1"/>
            </p:cNvCxnSpPr>
            <p:nvPr/>
          </p:nvCxnSpPr>
          <p:spPr>
            <a:xfrm flipH="1">
              <a:off x="5254708" y="5920393"/>
              <a:ext cx="2783706" cy="0"/>
            </a:xfrm>
            <a:prstGeom prst="line">
              <a:avLst/>
            </a:pr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27" name="Straight Connector 126"/>
            <p:cNvCxnSpPr>
              <a:cxnSpLocks noChangeAspect="1"/>
            </p:cNvCxnSpPr>
            <p:nvPr/>
          </p:nvCxnSpPr>
          <p:spPr>
            <a:xfrm>
              <a:off x="5249352" y="4194285"/>
              <a:ext cx="5353" cy="1746729"/>
            </a:xfrm>
            <a:prstGeom prst="line">
              <a:avLst/>
            </a:prstGeom>
            <a:noFill/>
            <a:ln w="38100" cap="flat" cmpd="sng" algn="ctr">
              <a:gradFill>
                <a:gsLst>
                  <a:gs pos="0">
                    <a:srgbClr val="4472C4">
                      <a:lumMod val="20000"/>
                      <a:lumOff val="80000"/>
                    </a:srgbClr>
                  </a:gs>
                  <a:gs pos="36000">
                    <a:srgbClr val="4472C4">
                      <a:lumMod val="40000"/>
                      <a:lumOff val="60000"/>
                    </a:srgbClr>
                  </a:gs>
                  <a:gs pos="62000">
                    <a:srgbClr val="4472C4">
                      <a:lumMod val="60000"/>
                      <a:lumOff val="40000"/>
                    </a:srgbClr>
                  </a:gs>
                  <a:gs pos="100000">
                    <a:srgbClr val="4472C4">
                      <a:lumMod val="5000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</p:cxnSp>
        <p:cxnSp>
          <p:nvCxnSpPr>
            <p:cNvPr id="129" name="Straight Connector 128"/>
            <p:cNvCxnSpPr>
              <a:cxnSpLocks/>
            </p:cNvCxnSpPr>
            <p:nvPr/>
          </p:nvCxnSpPr>
          <p:spPr>
            <a:xfrm flipV="1">
              <a:off x="5249352" y="3566766"/>
              <a:ext cx="2489742" cy="651776"/>
            </a:xfrm>
            <a:prstGeom prst="line">
              <a:avLst/>
            </a:prstGeom>
            <a:noFill/>
            <a:ln w="38100" cap="flat" cmpd="sng" algn="ctr">
              <a:gradFill>
                <a:gsLst>
                  <a:gs pos="0">
                    <a:srgbClr val="4472C4">
                      <a:lumMod val="20000"/>
                      <a:lumOff val="80000"/>
                    </a:srgbClr>
                  </a:gs>
                  <a:gs pos="36000">
                    <a:srgbClr val="4472C4">
                      <a:lumMod val="40000"/>
                      <a:lumOff val="60000"/>
                    </a:srgbClr>
                  </a:gs>
                  <a:gs pos="62000">
                    <a:schemeClr val="tx2">
                      <a:lumMod val="20000"/>
                      <a:lumOff val="80000"/>
                    </a:schemeClr>
                  </a:gs>
                  <a:gs pos="100000">
                    <a:schemeClr val="accent5">
                      <a:lumMod val="75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</p:cxnSp>
        <p:cxnSp>
          <p:nvCxnSpPr>
            <p:cNvPr id="128" name="Straight Connector 127"/>
            <p:cNvCxnSpPr>
              <a:cxnSpLocks/>
            </p:cNvCxnSpPr>
            <p:nvPr/>
          </p:nvCxnSpPr>
          <p:spPr>
            <a:xfrm>
              <a:off x="7739094" y="3566766"/>
              <a:ext cx="260517" cy="2353627"/>
            </a:xfrm>
            <a:prstGeom prst="line">
              <a:avLst/>
            </a:prstGeom>
            <a:noFill/>
            <a:ln w="38100" cap="flat" cmpd="sng" algn="ctr">
              <a:gradFill>
                <a:gsLst>
                  <a:gs pos="0">
                    <a:schemeClr val="accent5">
                      <a:lumMod val="75000"/>
                    </a:schemeClr>
                  </a:gs>
                  <a:gs pos="36000">
                    <a:schemeClr val="tx2">
                      <a:lumMod val="48000"/>
                      <a:lumOff val="52000"/>
                    </a:schemeClr>
                  </a:gs>
                  <a:gs pos="62000">
                    <a:schemeClr val="accent5">
                      <a:lumMod val="50000"/>
                    </a:schemeClr>
                  </a:gs>
                  <a:gs pos="100000">
                    <a:srgbClr val="4472C4">
                      <a:lumMod val="5000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</p:cxnSp>
        <p:sp>
          <p:nvSpPr>
            <p:cNvPr id="143" name="Oval 142"/>
            <p:cNvSpPr/>
            <p:nvPr/>
          </p:nvSpPr>
          <p:spPr>
            <a:xfrm>
              <a:off x="5021198" y="3480566"/>
              <a:ext cx="3186681" cy="3186681"/>
            </a:xfrm>
            <a:prstGeom prst="ellipse">
              <a:avLst/>
            </a:prstGeom>
            <a:solidFill>
              <a:srgbClr val="7030A0">
                <a:alpha val="40000"/>
              </a:srgbClr>
            </a:solidFill>
            <a:ln w="19050">
              <a:solidFill>
                <a:srgbClr val="7030A0"/>
              </a:solidFill>
            </a:ln>
            <a:scene3d>
              <a:camera prst="orthographicFront"/>
              <a:lightRig rig="threePt" dir="t"/>
            </a:scene3d>
            <a:sp3d prstMaterial="metal">
              <a:bevelT w="889000" h="889000"/>
              <a:bevelB w="889000" h="8890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130" name="Arc 129"/>
            <p:cNvSpPr>
              <a:spLocks noChangeAspect="1"/>
            </p:cNvSpPr>
            <p:nvPr/>
          </p:nvSpPr>
          <p:spPr bwMode="auto">
            <a:xfrm>
              <a:off x="5981703" y="4419641"/>
              <a:ext cx="1754073" cy="1754073"/>
            </a:xfrm>
            <a:prstGeom prst="arc">
              <a:avLst>
                <a:gd name="adj1" fmla="val 10707910"/>
                <a:gd name="adj2" fmla="val 17036065"/>
              </a:avLst>
            </a:prstGeom>
            <a:noFill/>
            <a:ln w="222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cxnSp>
          <p:nvCxnSpPr>
            <p:cNvPr id="145" name="Straight Connector 144"/>
            <p:cNvCxnSpPr>
              <a:cxnSpLocks noChangeAspect="1"/>
            </p:cNvCxnSpPr>
            <p:nvPr/>
          </p:nvCxnSpPr>
          <p:spPr>
            <a:xfrm>
              <a:off x="7739305" y="3546146"/>
              <a:ext cx="47640" cy="430404"/>
            </a:xfrm>
            <a:prstGeom prst="line">
              <a:avLst/>
            </a:prstGeom>
            <a:noFill/>
            <a:ln w="3810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</p:cxnSp>
        <p:cxnSp>
          <p:nvCxnSpPr>
            <p:cNvPr id="146" name="Straight Connector 145"/>
            <p:cNvCxnSpPr>
              <a:cxnSpLocks noChangeAspect="1"/>
            </p:cNvCxnSpPr>
            <p:nvPr/>
          </p:nvCxnSpPr>
          <p:spPr>
            <a:xfrm flipV="1">
              <a:off x="7373747" y="3566765"/>
              <a:ext cx="364581" cy="95443"/>
            </a:xfrm>
            <a:prstGeom prst="line">
              <a:avLst/>
            </a:prstGeom>
            <a:noFill/>
            <a:ln w="3810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</p:cxnSp>
      </p:grpSp>
      <p:cxnSp>
        <p:nvCxnSpPr>
          <p:cNvPr id="148" name="Straight Connector 147"/>
          <p:cNvCxnSpPr>
            <a:cxnSpLocks noChangeAspect="1"/>
          </p:cNvCxnSpPr>
          <p:nvPr/>
        </p:nvCxnSpPr>
        <p:spPr>
          <a:xfrm>
            <a:off x="6802655" y="4239920"/>
            <a:ext cx="1624971" cy="1008819"/>
          </a:xfrm>
          <a:prstGeom prst="line">
            <a:avLst/>
          </a:prstGeom>
          <a:noFill/>
          <a:ln w="38100" cap="flat" cmpd="sng" algn="ctr">
            <a:gradFill>
              <a:gsLst>
                <a:gs pos="0">
                  <a:srgbClr val="4472C4">
                    <a:lumMod val="20000"/>
                    <a:lumOff val="80000"/>
                  </a:srgbClr>
                </a:gs>
                <a:gs pos="36000">
                  <a:srgbClr val="4472C4">
                    <a:lumMod val="40000"/>
                    <a:lumOff val="60000"/>
                  </a:srgbClr>
                </a:gs>
                <a:gs pos="62000">
                  <a:srgbClr val="4472C4">
                    <a:lumMod val="60000"/>
                    <a:lumOff val="40000"/>
                  </a:srgbClr>
                </a:gs>
                <a:gs pos="100000">
                  <a:srgbClr val="4472C4">
                    <a:lumMod val="5000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cxnSp>
        <p:nvCxnSpPr>
          <p:cNvPr id="149" name="Straight Connector 148"/>
          <p:cNvCxnSpPr>
            <a:cxnSpLocks noChangeAspect="1"/>
          </p:cNvCxnSpPr>
          <p:nvPr/>
        </p:nvCxnSpPr>
        <p:spPr>
          <a:xfrm flipH="1">
            <a:off x="6819903" y="5236829"/>
            <a:ext cx="1607723" cy="0"/>
          </a:xfrm>
          <a:prstGeom prst="line">
            <a:avLst/>
          </a:prstGeom>
          <a:noFill/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150" name="Straight Connector 149"/>
          <p:cNvCxnSpPr>
            <a:cxnSpLocks noChangeAspect="1"/>
          </p:cNvCxnSpPr>
          <p:nvPr/>
        </p:nvCxnSpPr>
        <p:spPr>
          <a:xfrm>
            <a:off x="6816810" y="4239920"/>
            <a:ext cx="3092" cy="1008819"/>
          </a:xfrm>
          <a:prstGeom prst="line">
            <a:avLst/>
          </a:prstGeom>
          <a:noFill/>
          <a:ln w="38100" cap="flat" cmpd="sng" algn="ctr">
            <a:gradFill>
              <a:gsLst>
                <a:gs pos="0">
                  <a:srgbClr val="4472C4">
                    <a:lumMod val="20000"/>
                    <a:lumOff val="80000"/>
                  </a:srgbClr>
                </a:gs>
                <a:gs pos="36000">
                  <a:srgbClr val="4472C4">
                    <a:lumMod val="40000"/>
                    <a:lumOff val="60000"/>
                  </a:srgbClr>
                </a:gs>
                <a:gs pos="62000">
                  <a:srgbClr val="4472C4">
                    <a:lumMod val="60000"/>
                    <a:lumOff val="40000"/>
                  </a:srgbClr>
                </a:gs>
                <a:gs pos="100000">
                  <a:srgbClr val="4472C4">
                    <a:lumMod val="5000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cxnSp>
        <p:nvCxnSpPr>
          <p:cNvPr id="151" name="Straight Connector 150"/>
          <p:cNvCxnSpPr>
            <a:cxnSpLocks/>
          </p:cNvCxnSpPr>
          <p:nvPr/>
        </p:nvCxnSpPr>
        <p:spPr>
          <a:xfrm flipV="1">
            <a:off x="6816810" y="3877498"/>
            <a:ext cx="1437945" cy="376432"/>
          </a:xfrm>
          <a:prstGeom prst="line">
            <a:avLst/>
          </a:prstGeom>
          <a:noFill/>
          <a:ln w="38100" cap="flat" cmpd="sng" algn="ctr">
            <a:gradFill>
              <a:gsLst>
                <a:gs pos="0">
                  <a:srgbClr val="4472C4">
                    <a:lumMod val="20000"/>
                    <a:lumOff val="80000"/>
                  </a:srgbClr>
                </a:gs>
                <a:gs pos="36000">
                  <a:srgbClr val="4472C4">
                    <a:lumMod val="40000"/>
                    <a:lumOff val="60000"/>
                  </a:srgbClr>
                </a:gs>
                <a:gs pos="62000">
                  <a:schemeClr val="tx2">
                    <a:lumMod val="20000"/>
                    <a:lumOff val="8000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cxnSp>
        <p:nvCxnSpPr>
          <p:cNvPr id="152" name="Straight Connector 151"/>
          <p:cNvCxnSpPr>
            <a:cxnSpLocks/>
          </p:cNvCxnSpPr>
          <p:nvPr/>
        </p:nvCxnSpPr>
        <p:spPr>
          <a:xfrm>
            <a:off x="8254754" y="3877498"/>
            <a:ext cx="150461" cy="1359332"/>
          </a:xfrm>
          <a:prstGeom prst="line">
            <a:avLst/>
          </a:prstGeom>
          <a:noFill/>
          <a:ln w="38100" cap="flat" cmpd="sng" algn="ctr">
            <a:gradFill>
              <a:gsLst>
                <a:gs pos="0">
                  <a:schemeClr val="accent5">
                    <a:lumMod val="75000"/>
                  </a:schemeClr>
                </a:gs>
                <a:gs pos="36000">
                  <a:schemeClr val="tx2">
                    <a:lumMod val="48000"/>
                    <a:lumOff val="52000"/>
                  </a:schemeClr>
                </a:gs>
                <a:gs pos="62000">
                  <a:schemeClr val="accent5">
                    <a:lumMod val="50000"/>
                  </a:schemeClr>
                </a:gs>
                <a:gs pos="100000">
                  <a:srgbClr val="4472C4">
                    <a:lumMod val="5000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cxnSp>
        <p:nvCxnSpPr>
          <p:cNvPr id="155" name="Straight Connector 154"/>
          <p:cNvCxnSpPr>
            <a:cxnSpLocks noChangeAspect="1"/>
          </p:cNvCxnSpPr>
          <p:nvPr/>
        </p:nvCxnSpPr>
        <p:spPr>
          <a:xfrm>
            <a:off x="8254876" y="3865589"/>
            <a:ext cx="27514" cy="248579"/>
          </a:xfrm>
          <a:prstGeom prst="line">
            <a:avLst/>
          </a:prstGeom>
          <a:noFill/>
          <a:ln w="38100" cap="flat" cmpd="sng" algn="ctr">
            <a:solidFill>
              <a:srgbClr val="0070C0"/>
            </a:solidFill>
            <a:prstDash val="solid"/>
            <a:miter lim="800000"/>
          </a:ln>
          <a:effectLst/>
        </p:spPr>
      </p:cxnSp>
      <p:cxnSp>
        <p:nvCxnSpPr>
          <p:cNvPr id="156" name="Straight Connector 155"/>
          <p:cNvCxnSpPr>
            <a:cxnSpLocks noChangeAspect="1"/>
          </p:cNvCxnSpPr>
          <p:nvPr/>
        </p:nvCxnSpPr>
        <p:spPr>
          <a:xfrm flipV="1">
            <a:off x="8043749" y="3877497"/>
            <a:ext cx="210563" cy="55123"/>
          </a:xfrm>
          <a:prstGeom prst="line">
            <a:avLst/>
          </a:prstGeom>
          <a:noFill/>
          <a:ln w="38100" cap="flat" cmpd="sng" algn="ctr">
            <a:solidFill>
              <a:srgbClr val="0070C0"/>
            </a:solidFill>
            <a:prstDash val="solid"/>
            <a:miter lim="800000"/>
          </a:ln>
          <a:effectLst/>
        </p:spPr>
      </p:cxnSp>
      <p:cxnSp>
        <p:nvCxnSpPr>
          <p:cNvPr id="157" name="Straight Connector 156"/>
          <p:cNvCxnSpPr>
            <a:cxnSpLocks noChangeAspect="1"/>
          </p:cNvCxnSpPr>
          <p:nvPr/>
        </p:nvCxnSpPr>
        <p:spPr>
          <a:xfrm>
            <a:off x="6806376" y="4744329"/>
            <a:ext cx="812486" cy="50441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</p:cxnSp>
      <p:cxnSp>
        <p:nvCxnSpPr>
          <p:cNvPr id="158" name="Straight Connector 157"/>
          <p:cNvCxnSpPr>
            <a:cxnSpLocks noChangeAspect="1"/>
          </p:cNvCxnSpPr>
          <p:nvPr/>
        </p:nvCxnSpPr>
        <p:spPr>
          <a:xfrm flipH="1">
            <a:off x="6801228" y="4744329"/>
            <a:ext cx="768114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159" name="Straight Connector 158"/>
          <p:cNvCxnSpPr>
            <a:cxnSpLocks noChangeAspect="1"/>
          </p:cNvCxnSpPr>
          <p:nvPr/>
        </p:nvCxnSpPr>
        <p:spPr>
          <a:xfrm>
            <a:off x="7569342" y="4751230"/>
            <a:ext cx="0" cy="503544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</p:cxnSp>
      <p:cxnSp>
        <p:nvCxnSpPr>
          <p:cNvPr id="160" name="Straight Connector 159"/>
          <p:cNvCxnSpPr>
            <a:cxnSpLocks noChangeAspect="1"/>
          </p:cNvCxnSpPr>
          <p:nvPr/>
        </p:nvCxnSpPr>
        <p:spPr>
          <a:xfrm>
            <a:off x="7963970" y="4972196"/>
            <a:ext cx="0" cy="271934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</p:cxnSp>
      <p:cxnSp>
        <p:nvCxnSpPr>
          <p:cNvPr id="161" name="Straight Connector 160"/>
          <p:cNvCxnSpPr>
            <a:cxnSpLocks noChangeAspect="1"/>
          </p:cNvCxnSpPr>
          <p:nvPr/>
        </p:nvCxnSpPr>
        <p:spPr>
          <a:xfrm flipH="1">
            <a:off x="7569342" y="4979309"/>
            <a:ext cx="404388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162" name="Straight Connector 161"/>
          <p:cNvCxnSpPr>
            <a:cxnSpLocks noChangeAspect="1"/>
          </p:cNvCxnSpPr>
          <p:nvPr/>
        </p:nvCxnSpPr>
        <p:spPr>
          <a:xfrm>
            <a:off x="7566302" y="4988032"/>
            <a:ext cx="407428" cy="252941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</p:cxnSp>
      <p:cxnSp>
        <p:nvCxnSpPr>
          <p:cNvPr id="165" name="Straight Connector 164"/>
          <p:cNvCxnSpPr>
            <a:cxnSpLocks noChangeAspect="1"/>
          </p:cNvCxnSpPr>
          <p:nvPr/>
        </p:nvCxnSpPr>
        <p:spPr>
          <a:xfrm>
            <a:off x="6816806" y="4496892"/>
            <a:ext cx="407428" cy="252941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</p:cxnSp>
      <p:cxnSp>
        <p:nvCxnSpPr>
          <p:cNvPr id="166" name="Straight Connector 165"/>
          <p:cNvCxnSpPr>
            <a:cxnSpLocks noChangeAspect="1"/>
          </p:cNvCxnSpPr>
          <p:nvPr/>
        </p:nvCxnSpPr>
        <p:spPr>
          <a:xfrm>
            <a:off x="7212619" y="4496892"/>
            <a:ext cx="0" cy="245494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</p:cxnSp>
      <p:cxnSp>
        <p:nvCxnSpPr>
          <p:cNvPr id="167" name="Straight Connector 166"/>
          <p:cNvCxnSpPr>
            <a:cxnSpLocks noChangeAspect="1"/>
          </p:cNvCxnSpPr>
          <p:nvPr/>
        </p:nvCxnSpPr>
        <p:spPr>
          <a:xfrm flipH="1">
            <a:off x="6819846" y="4488388"/>
            <a:ext cx="404388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169" name="Straight Connector 168"/>
          <p:cNvCxnSpPr>
            <a:cxnSpLocks noChangeAspect="1"/>
          </p:cNvCxnSpPr>
          <p:nvPr/>
        </p:nvCxnSpPr>
        <p:spPr>
          <a:xfrm>
            <a:off x="7203058" y="4973832"/>
            <a:ext cx="0" cy="27668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</p:cxnSp>
      <p:cxnSp>
        <p:nvCxnSpPr>
          <p:cNvPr id="171" name="Straight Connector 170"/>
          <p:cNvCxnSpPr>
            <a:cxnSpLocks noChangeAspect="1"/>
          </p:cNvCxnSpPr>
          <p:nvPr/>
        </p:nvCxnSpPr>
        <p:spPr>
          <a:xfrm flipH="1">
            <a:off x="6796068" y="4992897"/>
            <a:ext cx="404388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172" name="Straight Connector 171"/>
          <p:cNvCxnSpPr>
            <a:cxnSpLocks noChangeAspect="1"/>
          </p:cNvCxnSpPr>
          <p:nvPr/>
        </p:nvCxnSpPr>
        <p:spPr>
          <a:xfrm>
            <a:off x="6810290" y="4989319"/>
            <a:ext cx="381051" cy="236566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</p:cxnSp>
      <p:cxnSp>
        <p:nvCxnSpPr>
          <p:cNvPr id="174" name="Straight Connector 173"/>
          <p:cNvCxnSpPr>
            <a:cxnSpLocks noChangeAspect="1"/>
          </p:cNvCxnSpPr>
          <p:nvPr/>
        </p:nvCxnSpPr>
        <p:spPr>
          <a:xfrm>
            <a:off x="7192262" y="4741409"/>
            <a:ext cx="381051" cy="236566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</p:cxnSp>
      <p:cxnSp>
        <p:nvCxnSpPr>
          <p:cNvPr id="175" name="Straight Connector 174"/>
          <p:cNvCxnSpPr>
            <a:cxnSpLocks noChangeAspect="1"/>
          </p:cNvCxnSpPr>
          <p:nvPr/>
        </p:nvCxnSpPr>
        <p:spPr>
          <a:xfrm flipH="1">
            <a:off x="7180593" y="4985784"/>
            <a:ext cx="404388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176" name="Straight Connector 175"/>
          <p:cNvCxnSpPr>
            <a:cxnSpLocks noChangeAspect="1"/>
          </p:cNvCxnSpPr>
          <p:nvPr/>
        </p:nvCxnSpPr>
        <p:spPr>
          <a:xfrm>
            <a:off x="7206729" y="4752598"/>
            <a:ext cx="0" cy="245494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</p:cxnSp>
      <p:cxnSp>
        <p:nvCxnSpPr>
          <p:cNvPr id="177" name="Straight Connector 176"/>
          <p:cNvCxnSpPr>
            <a:cxnSpLocks noChangeAspect="1"/>
          </p:cNvCxnSpPr>
          <p:nvPr/>
        </p:nvCxnSpPr>
        <p:spPr>
          <a:xfrm flipH="1">
            <a:off x="4731917" y="3629070"/>
            <a:ext cx="270414" cy="2328730"/>
          </a:xfrm>
          <a:prstGeom prst="line">
            <a:avLst/>
          </a:prstGeom>
          <a:noFill/>
          <a:ln w="31750" cap="flat" cmpd="sng" algn="ctr">
            <a:solidFill>
              <a:srgbClr val="00B050"/>
            </a:solidFill>
            <a:prstDash val="solid"/>
            <a:miter lim="800000"/>
          </a:ln>
          <a:effectLst/>
        </p:spPr>
      </p:cxnSp>
      <p:sp>
        <p:nvSpPr>
          <p:cNvPr id="178" name="Oval 177"/>
          <p:cNvSpPr>
            <a:spLocks/>
          </p:cNvSpPr>
          <p:nvPr/>
        </p:nvSpPr>
        <p:spPr>
          <a:xfrm>
            <a:off x="5148289" y="3956023"/>
            <a:ext cx="103128" cy="103128"/>
          </a:xfrm>
          <a:prstGeom prst="ellipse">
            <a:avLst/>
          </a:prstGeom>
          <a:solidFill>
            <a:schemeClr val="accent6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cxnSp>
        <p:nvCxnSpPr>
          <p:cNvPr id="183" name="Straight Connector 182"/>
          <p:cNvCxnSpPr>
            <a:cxnSpLocks noChangeAspect="1"/>
          </p:cNvCxnSpPr>
          <p:nvPr/>
        </p:nvCxnSpPr>
        <p:spPr>
          <a:xfrm flipH="1">
            <a:off x="4834906" y="4010088"/>
            <a:ext cx="128897" cy="1110013"/>
          </a:xfrm>
          <a:prstGeom prst="line">
            <a:avLst/>
          </a:prstGeom>
          <a:noFill/>
          <a:ln w="38100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/>
        </p:spPr>
      </p:cxnSp>
      <p:cxnSp>
        <p:nvCxnSpPr>
          <p:cNvPr id="188" name="Straight Connector 187"/>
          <p:cNvCxnSpPr>
            <a:cxnSpLocks noChangeAspect="1"/>
          </p:cNvCxnSpPr>
          <p:nvPr/>
        </p:nvCxnSpPr>
        <p:spPr>
          <a:xfrm flipV="1">
            <a:off x="7584394" y="4554350"/>
            <a:ext cx="725461" cy="189915"/>
          </a:xfrm>
          <a:prstGeom prst="line">
            <a:avLst/>
          </a:prstGeom>
          <a:noFill/>
          <a:ln w="12700" cap="flat" cmpd="sng" algn="ctr">
            <a:solidFill>
              <a:srgbClr val="002060"/>
            </a:solidFill>
            <a:prstDash val="solid"/>
            <a:miter lim="800000"/>
          </a:ln>
          <a:effectLst/>
        </p:spPr>
      </p:cxnSp>
      <p:cxnSp>
        <p:nvCxnSpPr>
          <p:cNvPr id="189" name="Straight Connector 188"/>
          <p:cNvCxnSpPr>
            <a:cxnSpLocks noChangeAspect="1"/>
          </p:cNvCxnSpPr>
          <p:nvPr/>
        </p:nvCxnSpPr>
        <p:spPr>
          <a:xfrm>
            <a:off x="7505010" y="4075138"/>
            <a:ext cx="72306" cy="653252"/>
          </a:xfrm>
          <a:prstGeom prst="line">
            <a:avLst/>
          </a:prstGeom>
          <a:noFill/>
          <a:ln w="12700" cap="flat" cmpd="sng" algn="ctr">
            <a:solidFill>
              <a:srgbClr val="002060"/>
            </a:solidFill>
            <a:prstDash val="solid"/>
            <a:miter lim="800000"/>
          </a:ln>
          <a:effectLst/>
        </p:spPr>
      </p:cxnSp>
      <p:cxnSp>
        <p:nvCxnSpPr>
          <p:cNvPr id="190" name="Straight Connector 189"/>
          <p:cNvCxnSpPr>
            <a:cxnSpLocks noChangeAspect="1"/>
          </p:cNvCxnSpPr>
          <p:nvPr/>
        </p:nvCxnSpPr>
        <p:spPr>
          <a:xfrm>
            <a:off x="7529724" y="4071723"/>
            <a:ext cx="797085" cy="494849"/>
          </a:xfrm>
          <a:prstGeom prst="line">
            <a:avLst/>
          </a:prstGeom>
          <a:noFill/>
          <a:ln w="12700" cap="flat" cmpd="sng" algn="ctr">
            <a:solidFill>
              <a:srgbClr val="002060"/>
            </a:solidFill>
            <a:prstDash val="solid"/>
            <a:miter lim="800000"/>
          </a:ln>
          <a:effectLst/>
        </p:spPr>
      </p:cxnSp>
      <p:cxnSp>
        <p:nvCxnSpPr>
          <p:cNvPr id="191" name="Straight Connector 190"/>
          <p:cNvCxnSpPr>
            <a:cxnSpLocks noChangeAspect="1"/>
          </p:cNvCxnSpPr>
          <p:nvPr/>
        </p:nvCxnSpPr>
        <p:spPr>
          <a:xfrm flipV="1">
            <a:off x="7210163" y="4213757"/>
            <a:ext cx="1060097" cy="277520"/>
          </a:xfrm>
          <a:prstGeom prst="line">
            <a:avLst/>
          </a:prstGeom>
          <a:noFill/>
          <a:ln w="12700" cap="flat" cmpd="sng" algn="ctr">
            <a:solidFill>
              <a:srgbClr val="002060"/>
            </a:solidFill>
            <a:prstDash val="solid"/>
            <a:miter lim="800000"/>
          </a:ln>
          <a:effectLst/>
        </p:spPr>
      </p:cxnSp>
      <p:cxnSp>
        <p:nvCxnSpPr>
          <p:cNvPr id="192" name="Straight Connector 191"/>
          <p:cNvCxnSpPr>
            <a:cxnSpLocks noChangeAspect="1"/>
          </p:cNvCxnSpPr>
          <p:nvPr/>
        </p:nvCxnSpPr>
        <p:spPr>
          <a:xfrm>
            <a:off x="7858598" y="3972134"/>
            <a:ext cx="110533" cy="998607"/>
          </a:xfrm>
          <a:prstGeom prst="line">
            <a:avLst/>
          </a:prstGeom>
          <a:noFill/>
          <a:ln w="12700" cap="flat" cmpd="sng" algn="ctr">
            <a:solidFill>
              <a:srgbClr val="002060"/>
            </a:solidFill>
            <a:prstDash val="solid"/>
            <a:miter lim="800000"/>
          </a:ln>
          <a:effectLst/>
        </p:spPr>
      </p:cxnSp>
      <p:cxnSp>
        <p:nvCxnSpPr>
          <p:cNvPr id="193" name="Straight Connector 192"/>
          <p:cNvCxnSpPr>
            <a:cxnSpLocks noChangeAspect="1"/>
          </p:cNvCxnSpPr>
          <p:nvPr/>
        </p:nvCxnSpPr>
        <p:spPr>
          <a:xfrm>
            <a:off x="7877199" y="3970470"/>
            <a:ext cx="404159" cy="250911"/>
          </a:xfrm>
          <a:prstGeom prst="line">
            <a:avLst/>
          </a:prstGeom>
          <a:noFill/>
          <a:ln w="12700" cap="flat" cmpd="sng" algn="ctr">
            <a:solidFill>
              <a:srgbClr val="002060"/>
            </a:solidFill>
            <a:prstDash val="solid"/>
            <a:miter lim="800000"/>
          </a:ln>
          <a:effectLst/>
        </p:spPr>
      </p:cxnSp>
      <p:cxnSp>
        <p:nvCxnSpPr>
          <p:cNvPr id="195" name="Straight Connector 194"/>
          <p:cNvCxnSpPr>
            <a:cxnSpLocks noChangeAspect="1"/>
          </p:cNvCxnSpPr>
          <p:nvPr/>
        </p:nvCxnSpPr>
        <p:spPr>
          <a:xfrm>
            <a:off x="7180025" y="4185739"/>
            <a:ext cx="1204589" cy="747836"/>
          </a:xfrm>
          <a:prstGeom prst="line">
            <a:avLst/>
          </a:prstGeom>
          <a:noFill/>
          <a:ln w="12700" cap="flat" cmpd="sng" algn="ctr">
            <a:solidFill>
              <a:srgbClr val="002060"/>
            </a:solidFill>
            <a:prstDash val="solid"/>
            <a:miter lim="800000"/>
          </a:ln>
          <a:effectLst/>
        </p:spPr>
      </p:cxnSp>
      <p:cxnSp>
        <p:nvCxnSpPr>
          <p:cNvPr id="200" name="Straight Connector 199"/>
          <p:cNvCxnSpPr>
            <a:cxnSpLocks noChangeAspect="1"/>
          </p:cNvCxnSpPr>
          <p:nvPr/>
        </p:nvCxnSpPr>
        <p:spPr>
          <a:xfrm>
            <a:off x="7173909" y="4181960"/>
            <a:ext cx="33401" cy="301763"/>
          </a:xfrm>
          <a:prstGeom prst="line">
            <a:avLst/>
          </a:prstGeom>
          <a:noFill/>
          <a:ln w="12700" cap="flat" cmpd="sng" algn="ctr">
            <a:solidFill>
              <a:srgbClr val="002060"/>
            </a:solidFill>
            <a:prstDash val="solid"/>
            <a:miter lim="800000"/>
          </a:ln>
          <a:effectLst/>
        </p:spPr>
      </p:cxnSp>
      <p:sp>
        <p:nvSpPr>
          <p:cNvPr id="153" name="Oval 152"/>
          <p:cNvSpPr/>
          <p:nvPr/>
        </p:nvSpPr>
        <p:spPr>
          <a:xfrm>
            <a:off x="7151003" y="4386972"/>
            <a:ext cx="443053" cy="443053"/>
          </a:xfrm>
          <a:prstGeom prst="ellipse">
            <a:avLst/>
          </a:prstGeom>
          <a:solidFill>
            <a:srgbClr val="7030A0">
              <a:alpha val="88000"/>
            </a:srgbClr>
          </a:solidFill>
          <a:ln w="19050">
            <a:solidFill>
              <a:srgbClr val="7030A0"/>
            </a:solidFill>
          </a:ln>
          <a:scene3d>
            <a:camera prst="orthographicFront"/>
            <a:lightRig rig="threePt" dir="t"/>
          </a:scene3d>
          <a:sp3d prstMaterial="metal">
            <a:bevelT w="254000" h="254000"/>
            <a:bevelB w="254000" h="2540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209" name="Oval 208"/>
          <p:cNvSpPr>
            <a:spLocks/>
          </p:cNvSpPr>
          <p:nvPr/>
        </p:nvSpPr>
        <p:spPr>
          <a:xfrm>
            <a:off x="7256499" y="3837984"/>
            <a:ext cx="103128" cy="103128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cxnSp>
        <p:nvCxnSpPr>
          <p:cNvPr id="210" name="Straight Connector 209"/>
          <p:cNvCxnSpPr>
            <a:cxnSpLocks noChangeAspect="1"/>
          </p:cNvCxnSpPr>
          <p:nvPr/>
        </p:nvCxnSpPr>
        <p:spPr>
          <a:xfrm flipH="1">
            <a:off x="6888445" y="3498897"/>
            <a:ext cx="270414" cy="2328730"/>
          </a:xfrm>
          <a:prstGeom prst="line">
            <a:avLst/>
          </a:prstGeom>
          <a:noFill/>
          <a:ln w="31750" cap="flat" cmpd="sng" algn="ctr">
            <a:solidFill>
              <a:srgbClr val="00B05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705829274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6848895" y="5641184"/>
            <a:ext cx="1271240" cy="1026404"/>
            <a:chOff x="6848895" y="5641184"/>
            <a:chExt cx="1271240" cy="1026404"/>
          </a:xfrm>
        </p:grpSpPr>
        <p:sp>
          <p:nvSpPr>
            <p:cNvPr id="150" name="Oval 149"/>
            <p:cNvSpPr/>
            <p:nvPr/>
          </p:nvSpPr>
          <p:spPr>
            <a:xfrm>
              <a:off x="7089854" y="5827726"/>
              <a:ext cx="285901" cy="285901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C000"/>
              </a:solidFill>
            </a:ln>
            <a:scene3d>
              <a:camera prst="orthographicFront"/>
              <a:lightRig rig="threePt" dir="t"/>
            </a:scene3d>
            <a:sp3d prstMaterial="clear">
              <a:bevelT w="1371600" h="1371600"/>
              <a:bevelB w="1371600" h="13716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151" name="Oval 150"/>
            <p:cNvSpPr/>
            <p:nvPr/>
          </p:nvSpPr>
          <p:spPr>
            <a:xfrm>
              <a:off x="6848895" y="5641184"/>
              <a:ext cx="285901" cy="285901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C000">
                  <a:alpha val="39000"/>
                </a:srgbClr>
              </a:solidFill>
            </a:ln>
            <a:scene3d>
              <a:camera prst="orthographicFront"/>
              <a:lightRig rig="threePt" dir="t"/>
            </a:scene3d>
            <a:sp3d prstMaterial="clear">
              <a:bevelT w="1371600" h="1371600"/>
              <a:bevelB w="1371600" h="13716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152" name="Oval 151"/>
            <p:cNvSpPr/>
            <p:nvPr/>
          </p:nvSpPr>
          <p:spPr>
            <a:xfrm>
              <a:off x="7338384" y="6008723"/>
              <a:ext cx="285901" cy="285901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C000"/>
              </a:solidFill>
            </a:ln>
            <a:scene3d>
              <a:camera prst="orthographicFront"/>
              <a:lightRig rig="threePt" dir="t"/>
            </a:scene3d>
            <a:sp3d prstMaterial="clear">
              <a:bevelT w="1371600" h="1371600"/>
              <a:bevelB w="1371600" h="13716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155" name="Oval 154"/>
            <p:cNvSpPr/>
            <p:nvPr/>
          </p:nvSpPr>
          <p:spPr>
            <a:xfrm>
              <a:off x="7582878" y="6205037"/>
              <a:ext cx="285901" cy="285901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C000"/>
              </a:solidFill>
            </a:ln>
            <a:scene3d>
              <a:camera prst="orthographicFront"/>
              <a:lightRig rig="threePt" dir="t"/>
            </a:scene3d>
            <a:sp3d prstMaterial="clear">
              <a:bevelT w="1371600" h="1371600"/>
              <a:bevelB w="1371600" h="13716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156" name="Oval 155"/>
            <p:cNvSpPr/>
            <p:nvPr/>
          </p:nvSpPr>
          <p:spPr>
            <a:xfrm>
              <a:off x="7834234" y="6381687"/>
              <a:ext cx="285901" cy="285901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C000"/>
              </a:solidFill>
            </a:ln>
            <a:scene3d>
              <a:camera prst="orthographicFront"/>
              <a:lightRig rig="threePt" dir="t"/>
            </a:scene3d>
            <a:sp3d prstMaterial="clear">
              <a:bevelT w="1371600" h="1371600"/>
              <a:bevelB w="1371600" h="13716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5268" y="160005"/>
            <a:ext cx="7772400" cy="1014412"/>
          </a:xfrm>
        </p:spPr>
        <p:txBody>
          <a:bodyPr/>
          <a:lstStyle/>
          <a:p>
            <a:r>
              <a:rPr lang="en-US" dirty="0"/>
              <a:t>What’s </a:t>
            </a:r>
            <a:r>
              <a:rPr lang="en-US" dirty="0" smtClean="0"/>
              <a:t>sufficient, using zero radius?</a:t>
            </a:r>
            <a:endParaRPr lang="en-US" dirty="0"/>
          </a:p>
        </p:txBody>
      </p:sp>
      <p:cxnSp>
        <p:nvCxnSpPr>
          <p:cNvPr id="23" name="Straight Connector 22"/>
          <p:cNvCxnSpPr>
            <a:stCxn id="122" idx="5"/>
          </p:cNvCxnSpPr>
          <p:nvPr/>
        </p:nvCxnSpPr>
        <p:spPr bwMode="auto">
          <a:xfrm>
            <a:off x="929176" y="4164942"/>
            <a:ext cx="802734" cy="150594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grpSp>
        <p:nvGrpSpPr>
          <p:cNvPr id="4" name="Group 3"/>
          <p:cNvGrpSpPr/>
          <p:nvPr/>
        </p:nvGrpSpPr>
        <p:grpSpPr>
          <a:xfrm>
            <a:off x="-1104781" y="2127593"/>
            <a:ext cx="4740753" cy="3901433"/>
            <a:chOff x="3297661" y="2239831"/>
            <a:chExt cx="4740753" cy="3901433"/>
          </a:xfrm>
        </p:grpSpPr>
        <p:grpSp>
          <p:nvGrpSpPr>
            <p:cNvPr id="21" name="Group 20"/>
            <p:cNvGrpSpPr/>
            <p:nvPr/>
          </p:nvGrpSpPr>
          <p:grpSpPr>
            <a:xfrm>
              <a:off x="3297661" y="2239831"/>
              <a:ext cx="4740753" cy="3901433"/>
              <a:chOff x="4178384" y="2609976"/>
              <a:chExt cx="4740753" cy="3901433"/>
            </a:xfrm>
          </p:grpSpPr>
          <p:grpSp>
            <p:nvGrpSpPr>
              <p:cNvPr id="19" name="Group 18"/>
              <p:cNvGrpSpPr/>
              <p:nvPr/>
            </p:nvGrpSpPr>
            <p:grpSpPr>
              <a:xfrm>
                <a:off x="4513640" y="2946250"/>
                <a:ext cx="4405497" cy="3565159"/>
                <a:chOff x="4513640" y="2946250"/>
                <a:chExt cx="4405497" cy="3565159"/>
              </a:xfrm>
            </p:grpSpPr>
            <p:cxnSp>
              <p:nvCxnSpPr>
                <p:cNvPr id="113" name="Straight Connector 112"/>
                <p:cNvCxnSpPr>
                  <a:cxnSpLocks noChangeAspect="1"/>
                </p:cNvCxnSpPr>
                <p:nvPr/>
              </p:nvCxnSpPr>
              <p:spPr>
                <a:xfrm>
                  <a:off x="6130075" y="4564430"/>
                  <a:ext cx="5353" cy="1746729"/>
                </a:xfrm>
                <a:prstGeom prst="line">
                  <a:avLst/>
                </a:prstGeom>
                <a:noFill/>
                <a:ln w="38100" cap="flat" cmpd="sng" algn="ctr">
                  <a:gradFill>
                    <a:gsLst>
                      <a:gs pos="0">
                        <a:srgbClr val="4472C4">
                          <a:lumMod val="20000"/>
                          <a:lumOff val="80000"/>
                        </a:srgbClr>
                      </a:gs>
                      <a:gs pos="36000">
                        <a:srgbClr val="4472C4">
                          <a:lumMod val="40000"/>
                          <a:lumOff val="60000"/>
                        </a:srgbClr>
                      </a:gs>
                      <a:gs pos="62000">
                        <a:srgbClr val="4472C4">
                          <a:lumMod val="60000"/>
                          <a:lumOff val="40000"/>
                        </a:srgbClr>
                      </a:gs>
                      <a:gs pos="100000">
                        <a:srgbClr val="4472C4">
                          <a:lumMod val="50000"/>
                        </a:srgbClr>
                      </a:gs>
                    </a:gsLst>
                    <a:lin ang="5400000" scaled="1"/>
                  </a:gradFill>
                  <a:prstDash val="solid"/>
                  <a:miter lim="800000"/>
                </a:ln>
                <a:effectLst/>
              </p:spPr>
            </p:cxnSp>
            <p:cxnSp>
              <p:nvCxnSpPr>
                <p:cNvPr id="114" name="Straight Connector 113"/>
                <p:cNvCxnSpPr>
                  <a:cxnSpLocks noChangeAspect="1"/>
                </p:cNvCxnSpPr>
                <p:nvPr/>
              </p:nvCxnSpPr>
              <p:spPr>
                <a:xfrm>
                  <a:off x="6105567" y="4564430"/>
                  <a:ext cx="2813570" cy="1746729"/>
                </a:xfrm>
                <a:prstGeom prst="line">
                  <a:avLst/>
                </a:prstGeom>
                <a:noFill/>
                <a:ln w="38100" cap="flat" cmpd="sng" algn="ctr">
                  <a:gradFill>
                    <a:gsLst>
                      <a:gs pos="0">
                        <a:srgbClr val="4472C4">
                          <a:lumMod val="20000"/>
                          <a:lumOff val="80000"/>
                        </a:srgbClr>
                      </a:gs>
                      <a:gs pos="36000">
                        <a:srgbClr val="4472C4">
                          <a:lumMod val="40000"/>
                          <a:lumOff val="60000"/>
                        </a:srgbClr>
                      </a:gs>
                      <a:gs pos="62000">
                        <a:srgbClr val="4472C4">
                          <a:lumMod val="60000"/>
                          <a:lumOff val="40000"/>
                        </a:srgbClr>
                      </a:gs>
                      <a:gs pos="100000">
                        <a:srgbClr val="4472C4">
                          <a:lumMod val="50000"/>
                        </a:srgbClr>
                      </a:gs>
                    </a:gsLst>
                    <a:lin ang="5400000" scaled="1"/>
                  </a:gradFill>
                  <a:prstDash val="solid"/>
                  <a:miter lim="800000"/>
                </a:ln>
                <a:effectLst/>
              </p:spPr>
            </p:cxnSp>
            <p:sp>
              <p:nvSpPr>
                <p:cNvPr id="131" name="Oval 130"/>
                <p:cNvSpPr>
                  <a:spLocks noChangeAspect="1"/>
                </p:cNvSpPr>
                <p:nvPr/>
              </p:nvSpPr>
              <p:spPr>
                <a:xfrm>
                  <a:off x="4513640" y="2946250"/>
                  <a:ext cx="3255684" cy="3255684"/>
                </a:xfrm>
                <a:prstGeom prst="ellipse">
                  <a:avLst/>
                </a:prstGeom>
                <a:solidFill>
                  <a:srgbClr val="FFC000">
                    <a:lumMod val="60000"/>
                    <a:lumOff val="40000"/>
                    <a:alpha val="50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  <a:scene3d>
                  <a:camera prst="orthographicFront"/>
                  <a:lightRig rig="threePt" dir="t"/>
                </a:scene3d>
                <a:sp3d>
                  <a:bevelT w="2743200" h="2743200"/>
                  <a:bevelB w="2743200" h="2743200"/>
                </a:sp3d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"/>
                    <a:cs typeface=""/>
                  </a:endParaRPr>
                </a:p>
              </p:txBody>
            </p:sp>
            <p:cxnSp>
              <p:nvCxnSpPr>
                <p:cNvPr id="112" name="Straight Connector 111"/>
                <p:cNvCxnSpPr>
                  <a:cxnSpLocks noChangeAspect="1"/>
                </p:cNvCxnSpPr>
                <p:nvPr/>
              </p:nvCxnSpPr>
              <p:spPr>
                <a:xfrm flipH="1">
                  <a:off x="6135431" y="6290538"/>
                  <a:ext cx="2783706" cy="0"/>
                </a:xfrm>
                <a:prstGeom prst="line">
                  <a:avLst/>
                </a:prstGeom>
                <a:no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116" name="Oval 115"/>
                <p:cNvSpPr>
                  <a:spLocks noChangeAspect="1"/>
                </p:cNvSpPr>
                <p:nvPr/>
              </p:nvSpPr>
              <p:spPr>
                <a:xfrm>
                  <a:off x="6827743" y="5542028"/>
                  <a:ext cx="207133" cy="207133"/>
                </a:xfrm>
                <a:prstGeom prst="ellipse">
                  <a:avLst/>
                </a:prstGeom>
                <a:solidFill>
                  <a:srgbClr val="0070C0"/>
                </a:solidFill>
                <a:ln w="12700" cap="flat" cmpd="sng" algn="ctr">
                  <a:solidFill>
                    <a:srgbClr val="5B9BD5">
                      <a:shade val="50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"/>
                    <a:cs typeface=""/>
                  </a:endParaRPr>
                </a:p>
              </p:txBody>
            </p:sp>
            <p:sp>
              <p:nvSpPr>
                <p:cNvPr id="117" name="Oval 116"/>
                <p:cNvSpPr>
                  <a:spLocks noChangeAspect="1"/>
                </p:cNvSpPr>
                <p:nvPr/>
              </p:nvSpPr>
              <p:spPr>
                <a:xfrm>
                  <a:off x="6816989" y="6304276"/>
                  <a:ext cx="207133" cy="207133"/>
                </a:xfrm>
                <a:prstGeom prst="ellipse">
                  <a:avLst/>
                </a:prstGeom>
                <a:solidFill>
                  <a:srgbClr val="0070C0"/>
                </a:solidFill>
                <a:ln w="12700" cap="flat" cmpd="sng" algn="ctr">
                  <a:solidFill>
                    <a:srgbClr val="5B9BD5">
                      <a:shade val="50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"/>
                    <a:cs typeface=""/>
                  </a:endParaRPr>
                </a:p>
              </p:txBody>
            </p:sp>
            <p:cxnSp>
              <p:nvCxnSpPr>
                <p:cNvPr id="120" name="Straight Connector 119"/>
                <p:cNvCxnSpPr>
                  <a:cxnSpLocks/>
                </p:cNvCxnSpPr>
                <p:nvPr/>
              </p:nvCxnSpPr>
              <p:spPr>
                <a:xfrm>
                  <a:off x="6135211" y="4555992"/>
                  <a:ext cx="2593607" cy="1108630"/>
                </a:xfrm>
                <a:prstGeom prst="line">
                  <a:avLst/>
                </a:prstGeom>
                <a:noFill/>
                <a:ln w="38100" cap="flat" cmpd="sng" algn="ctr">
                  <a:gradFill>
                    <a:gsLst>
                      <a:gs pos="0">
                        <a:srgbClr val="4472C4">
                          <a:lumMod val="20000"/>
                          <a:lumOff val="80000"/>
                        </a:srgbClr>
                      </a:gs>
                      <a:gs pos="36000">
                        <a:srgbClr val="4472C4">
                          <a:lumMod val="40000"/>
                          <a:lumOff val="60000"/>
                        </a:srgbClr>
                      </a:gs>
                      <a:gs pos="62000">
                        <a:srgbClr val="4472C4">
                          <a:lumMod val="60000"/>
                          <a:lumOff val="40000"/>
                        </a:srgbClr>
                      </a:gs>
                      <a:gs pos="100000">
                        <a:srgbClr val="4472C4">
                          <a:lumMod val="50000"/>
                        </a:srgbClr>
                      </a:gs>
                    </a:gsLst>
                    <a:lin ang="5400000" scaled="1"/>
                  </a:gradFill>
                  <a:prstDash val="solid"/>
                  <a:miter lim="800000"/>
                </a:ln>
                <a:effectLst/>
              </p:spPr>
            </p:cxnSp>
            <p:sp>
              <p:nvSpPr>
                <p:cNvPr id="122" name="Oval 121"/>
                <p:cNvSpPr>
                  <a:spLocks noChangeAspect="1"/>
                </p:cNvSpPr>
                <p:nvPr/>
              </p:nvSpPr>
              <p:spPr>
                <a:xfrm>
                  <a:off x="6035542" y="4470526"/>
                  <a:ext cx="207133" cy="207133"/>
                </a:xfrm>
                <a:prstGeom prst="ellipse">
                  <a:avLst/>
                </a:prstGeom>
                <a:solidFill>
                  <a:sysClr val="windowText" lastClr="000000">
                    <a:alpha val="50000"/>
                  </a:sysClr>
                </a:solidFill>
                <a:ln w="12700" cap="flat" cmpd="sng" algn="ctr">
                  <a:solidFill>
                    <a:srgbClr val="5B9BD5">
                      <a:shade val="50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"/>
                    <a:cs typeface=""/>
                  </a:endParaRPr>
                </a:p>
              </p:txBody>
            </p:sp>
            <p:sp>
              <p:nvSpPr>
                <p:cNvPr id="13" name="Arc 12"/>
                <p:cNvSpPr>
                  <a:spLocks noChangeAspect="1"/>
                </p:cNvSpPr>
                <p:nvPr/>
              </p:nvSpPr>
              <p:spPr bwMode="auto">
                <a:xfrm>
                  <a:off x="4514060" y="2955108"/>
                  <a:ext cx="3255264" cy="3255264"/>
                </a:xfrm>
                <a:prstGeom prst="arc">
                  <a:avLst>
                    <a:gd name="adj1" fmla="val 1343783"/>
                    <a:gd name="adj2" fmla="val 3629183"/>
                  </a:avLst>
                </a:prstGeom>
                <a:noFill/>
                <a:ln w="222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" pitchFamily="18" charset="0"/>
                  </a:endParaRPr>
                </a:p>
              </p:txBody>
            </p:sp>
            <p:cxnSp>
              <p:nvCxnSpPr>
                <p:cNvPr id="15" name="Straight Connector 14"/>
                <p:cNvCxnSpPr/>
                <p:nvPr/>
              </p:nvCxnSpPr>
              <p:spPr bwMode="auto">
                <a:xfrm flipH="1">
                  <a:off x="6932719" y="5749161"/>
                  <a:ext cx="0" cy="555115"/>
                </a:xfrm>
                <a:prstGeom prst="line">
                  <a:avLst/>
                </a:prstGeom>
                <a:solidFill>
                  <a:schemeClr val="accent1"/>
                </a:solidFill>
                <a:ln w="12700" cap="flat" cmpd="sng" algn="ctr">
                  <a:solidFill>
                    <a:srgbClr val="0070C0"/>
                  </a:solidFill>
                  <a:prstDash val="sysDot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123" name="Oval 122"/>
                <p:cNvSpPr>
                  <a:spLocks noChangeAspect="1"/>
                </p:cNvSpPr>
                <p:nvPr/>
              </p:nvSpPr>
              <p:spPr>
                <a:xfrm>
                  <a:off x="6907342" y="5980577"/>
                  <a:ext cx="55097" cy="55097"/>
                </a:xfrm>
                <a:prstGeom prst="ellipse">
                  <a:avLst/>
                </a:prstGeom>
                <a:solidFill>
                  <a:srgbClr val="0070C0"/>
                </a:solidFill>
                <a:ln w="12700" cap="flat" cmpd="sng" algn="ctr">
                  <a:solidFill>
                    <a:srgbClr val="5B9BD5">
                      <a:shade val="50000"/>
                    </a:srgbClr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"/>
                    <a:cs typeface=""/>
                  </a:endParaRPr>
                </a:p>
              </p:txBody>
            </p:sp>
          </p:grpSp>
          <p:sp>
            <p:nvSpPr>
              <p:cNvPr id="20" name="Rectangle 19"/>
              <p:cNvSpPr/>
              <p:nvPr/>
            </p:nvSpPr>
            <p:spPr>
              <a:xfrm>
                <a:off x="4178384" y="2609976"/>
                <a:ext cx="4426665" cy="151513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bg1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" pitchFamily="18" charset="0"/>
                </a:endParaRPr>
              </a:p>
            </p:txBody>
          </p:sp>
          <p:sp>
            <p:nvSpPr>
              <p:cNvPr id="138" name="Rectangle 137"/>
              <p:cNvSpPr/>
              <p:nvPr/>
            </p:nvSpPr>
            <p:spPr>
              <a:xfrm>
                <a:off x="4330785" y="2762375"/>
                <a:ext cx="1322952" cy="3749033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bg1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" pitchFamily="18" charset="0"/>
                </a:endParaRPr>
              </a:p>
            </p:txBody>
          </p:sp>
        </p:grpSp>
        <p:sp>
          <p:nvSpPr>
            <p:cNvPr id="139" name="Oval 138"/>
            <p:cNvSpPr>
              <a:spLocks noChangeAspect="1"/>
            </p:cNvSpPr>
            <p:nvPr/>
          </p:nvSpPr>
          <p:spPr>
            <a:xfrm>
              <a:off x="6529786" y="4842996"/>
              <a:ext cx="103128" cy="103128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140" name="Oval 139"/>
            <p:cNvSpPr>
              <a:spLocks noChangeAspect="1"/>
            </p:cNvSpPr>
            <p:nvPr/>
          </p:nvSpPr>
          <p:spPr>
            <a:xfrm>
              <a:off x="6648587" y="4551786"/>
              <a:ext cx="103128" cy="103128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25" name="Arc 24"/>
            <p:cNvSpPr>
              <a:spLocks noChangeAspect="1"/>
            </p:cNvSpPr>
            <p:nvPr/>
          </p:nvSpPr>
          <p:spPr bwMode="auto">
            <a:xfrm>
              <a:off x="6550766" y="4577328"/>
              <a:ext cx="457200" cy="457200"/>
            </a:xfrm>
            <a:prstGeom prst="arc">
              <a:avLst>
                <a:gd name="adj1" fmla="val 6896622"/>
                <a:gd name="adj2" fmla="val 17020500"/>
              </a:avLst>
            </a:prstGeom>
            <a:noFill/>
            <a:ln w="1905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</p:grpSp>
      <p:sp>
        <p:nvSpPr>
          <p:cNvPr id="144" name="TextBox 143"/>
          <p:cNvSpPr txBox="1"/>
          <p:nvPr/>
        </p:nvSpPr>
        <p:spPr>
          <a:xfrm>
            <a:off x="904952" y="6006134"/>
            <a:ext cx="301076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solidFill>
                  <a:srgbClr val="002060"/>
                </a:solidFill>
              </a:rPr>
              <a:t>-&gt; seed pair above/below triangle</a:t>
            </a:r>
            <a:br>
              <a:rPr lang="en-US" sz="1600" dirty="0" smtClean="0">
                <a:solidFill>
                  <a:srgbClr val="002060"/>
                </a:solidFill>
              </a:rPr>
            </a:br>
            <a:r>
              <a:rPr lang="en-US" sz="1600" dirty="0" smtClean="0">
                <a:solidFill>
                  <a:srgbClr val="002060"/>
                </a:solidFill>
              </a:rPr>
              <a:t>on vertex sphere, below red seeds </a:t>
            </a:r>
          </a:p>
          <a:p>
            <a:r>
              <a:rPr lang="en-US" sz="1600" dirty="0">
                <a:solidFill>
                  <a:srgbClr val="002060"/>
                </a:solidFill>
              </a:rPr>
              <a:t>(</a:t>
            </a:r>
            <a:r>
              <a:rPr lang="en-US" sz="1600" dirty="0" smtClean="0">
                <a:solidFill>
                  <a:srgbClr val="002060"/>
                </a:solidFill>
              </a:rPr>
              <a:t>propagation possible)</a:t>
            </a:r>
            <a:br>
              <a:rPr lang="en-US" sz="1600" dirty="0" smtClean="0">
                <a:solidFill>
                  <a:srgbClr val="002060"/>
                </a:solidFill>
              </a:rPr>
            </a:br>
            <a:endParaRPr lang="en-US" sz="1600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224" y="1254500"/>
            <a:ext cx="8642641" cy="1144247"/>
          </a:xfrm>
        </p:spPr>
        <p:txBody>
          <a:bodyPr/>
          <a:lstStyle/>
          <a:p>
            <a:pPr lvl="1"/>
            <a:r>
              <a:rPr lang="en-US" sz="1600" dirty="0" smtClean="0"/>
              <a:t>3D PLSG, “refine” by extra seeds</a:t>
            </a:r>
          </a:p>
          <a:p>
            <a:pPr lvl="2"/>
            <a:r>
              <a:rPr lang="en-US" sz="1400" dirty="0" smtClean="0"/>
              <a:t>method in paper, #seeds depends </a:t>
            </a:r>
            <a:r>
              <a:rPr lang="en-US" sz="1400" dirty="0"/>
              <a:t>on angles, dihedrals, &amp; </a:t>
            </a:r>
            <a:r>
              <a:rPr lang="en-US" sz="1400" dirty="0" smtClean="0"/>
              <a:t>distances</a:t>
            </a:r>
          </a:p>
          <a:p>
            <a:pPr lvl="2"/>
            <a:r>
              <a:rPr lang="en-US" sz="1400" dirty="0" smtClean="0"/>
              <a:t>open: obtain polynomial-sized refinement giving empty ball neighborhoods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296388" y="2841086"/>
            <a:ext cx="304442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solidFill>
                  <a:srgbClr val="002060"/>
                </a:solidFill>
              </a:rPr>
              <a:t>(2) if non-flat, then </a:t>
            </a:r>
            <a:br>
              <a:rPr lang="en-US" sz="1600" dirty="0" smtClean="0">
                <a:solidFill>
                  <a:srgbClr val="002060"/>
                </a:solidFill>
              </a:rPr>
            </a:br>
            <a:r>
              <a:rPr lang="en-US" sz="1600" dirty="0" smtClean="0">
                <a:solidFill>
                  <a:srgbClr val="002060"/>
                </a:solidFill>
              </a:rPr>
              <a:t>      sharp edge-triangle or </a:t>
            </a:r>
            <a:br>
              <a:rPr lang="en-US" sz="1600" dirty="0" smtClean="0">
                <a:solidFill>
                  <a:srgbClr val="002060"/>
                </a:solidFill>
              </a:rPr>
            </a:br>
            <a:r>
              <a:rPr lang="en-US" sz="1600" dirty="0" smtClean="0">
                <a:solidFill>
                  <a:srgbClr val="002060"/>
                </a:solidFill>
              </a:rPr>
              <a:t>      triangle-triangle dihedral angle</a:t>
            </a:r>
            <a:endParaRPr lang="en-US" sz="1600" dirty="0">
              <a:solidFill>
                <a:srgbClr val="002060"/>
              </a:solidFill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5502918" y="6264206"/>
            <a:ext cx="285902" cy="596157"/>
            <a:chOff x="5502918" y="6264206"/>
            <a:chExt cx="285902" cy="596157"/>
          </a:xfrm>
        </p:grpSpPr>
        <p:sp>
          <p:nvSpPr>
            <p:cNvPr id="153" name="Oval 152"/>
            <p:cNvSpPr/>
            <p:nvPr/>
          </p:nvSpPr>
          <p:spPr>
            <a:xfrm>
              <a:off x="5502918" y="6574462"/>
              <a:ext cx="285901" cy="285901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C000"/>
              </a:solidFill>
            </a:ln>
            <a:scene3d>
              <a:camera prst="orthographicFront"/>
              <a:lightRig rig="threePt" dir="t"/>
            </a:scene3d>
            <a:sp3d prstMaterial="clear">
              <a:bevelT w="1371600" h="1371600"/>
              <a:bevelB w="1371600" h="13716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154" name="Oval 153"/>
            <p:cNvSpPr/>
            <p:nvPr/>
          </p:nvSpPr>
          <p:spPr>
            <a:xfrm>
              <a:off x="5502919" y="6264206"/>
              <a:ext cx="285901" cy="285901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C000"/>
              </a:solidFill>
            </a:ln>
            <a:scene3d>
              <a:camera prst="orthographicFront"/>
              <a:lightRig rig="threePt" dir="t"/>
            </a:scene3d>
            <a:sp3d prstMaterial="clear">
              <a:bevelT w="1371600" h="1371600"/>
              <a:bevelB w="1371600" h="13716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</p:grpSp>
      <p:grpSp>
        <p:nvGrpSpPr>
          <p:cNvPr id="119" name="Group 118"/>
          <p:cNvGrpSpPr/>
          <p:nvPr/>
        </p:nvGrpSpPr>
        <p:grpSpPr>
          <a:xfrm>
            <a:off x="3685146" y="2780041"/>
            <a:ext cx="5561990" cy="4077959"/>
            <a:chOff x="4178384" y="2609976"/>
            <a:chExt cx="5561990" cy="4077959"/>
          </a:xfrm>
        </p:grpSpPr>
        <p:grpSp>
          <p:nvGrpSpPr>
            <p:cNvPr id="126" name="Group 125"/>
            <p:cNvGrpSpPr/>
            <p:nvPr/>
          </p:nvGrpSpPr>
          <p:grpSpPr>
            <a:xfrm>
              <a:off x="4513640" y="2946250"/>
              <a:ext cx="5226734" cy="3741685"/>
              <a:chOff x="4513640" y="2946250"/>
              <a:chExt cx="5226734" cy="3741685"/>
            </a:xfrm>
          </p:grpSpPr>
          <p:cxnSp>
            <p:nvCxnSpPr>
              <p:cNvPr id="129" name="Straight Connector 128"/>
              <p:cNvCxnSpPr>
                <a:cxnSpLocks noChangeAspect="1"/>
              </p:cNvCxnSpPr>
              <p:nvPr/>
            </p:nvCxnSpPr>
            <p:spPr>
              <a:xfrm>
                <a:off x="6130075" y="4564430"/>
                <a:ext cx="0" cy="2123505"/>
              </a:xfrm>
              <a:prstGeom prst="line">
                <a:avLst/>
              </a:prstGeom>
              <a:noFill/>
              <a:ln w="38100" cap="flat" cmpd="sng" algn="ctr">
                <a:gradFill>
                  <a:gsLst>
                    <a:gs pos="0">
                      <a:srgbClr val="4472C4">
                        <a:lumMod val="20000"/>
                        <a:lumOff val="80000"/>
                      </a:srgbClr>
                    </a:gs>
                    <a:gs pos="36000">
                      <a:srgbClr val="4472C4">
                        <a:lumMod val="40000"/>
                        <a:lumOff val="60000"/>
                      </a:srgbClr>
                    </a:gs>
                    <a:gs pos="62000">
                      <a:srgbClr val="4472C4">
                        <a:lumMod val="60000"/>
                        <a:lumOff val="40000"/>
                      </a:srgbClr>
                    </a:gs>
                    <a:gs pos="100000">
                      <a:srgbClr val="4472C4">
                        <a:lumMod val="50000"/>
                      </a:srgb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</p:cxnSp>
          <p:cxnSp>
            <p:nvCxnSpPr>
              <p:cNvPr id="130" name="Straight Connector 129"/>
              <p:cNvCxnSpPr>
                <a:cxnSpLocks/>
              </p:cNvCxnSpPr>
              <p:nvPr/>
            </p:nvCxnSpPr>
            <p:spPr>
              <a:xfrm>
                <a:off x="6105567" y="4564430"/>
                <a:ext cx="2447713" cy="1860085"/>
              </a:xfrm>
              <a:prstGeom prst="line">
                <a:avLst/>
              </a:prstGeom>
              <a:noFill/>
              <a:ln w="38100" cap="flat" cmpd="sng" algn="ctr">
                <a:gradFill>
                  <a:gsLst>
                    <a:gs pos="0">
                      <a:srgbClr val="4472C4">
                        <a:lumMod val="20000"/>
                        <a:lumOff val="80000"/>
                      </a:srgbClr>
                    </a:gs>
                    <a:gs pos="36000">
                      <a:srgbClr val="4472C4">
                        <a:lumMod val="40000"/>
                        <a:lumOff val="60000"/>
                      </a:srgbClr>
                    </a:gs>
                    <a:gs pos="62000">
                      <a:srgbClr val="4472C4">
                        <a:lumMod val="60000"/>
                        <a:lumOff val="40000"/>
                      </a:srgbClr>
                    </a:gs>
                    <a:gs pos="100000">
                      <a:srgbClr val="4472C4">
                        <a:lumMod val="50000"/>
                      </a:srgb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</p:cxnSp>
          <p:sp>
            <p:nvSpPr>
              <p:cNvPr id="132" name="Oval 131"/>
              <p:cNvSpPr>
                <a:spLocks noChangeAspect="1"/>
              </p:cNvSpPr>
              <p:nvPr/>
            </p:nvSpPr>
            <p:spPr>
              <a:xfrm>
                <a:off x="4513640" y="2946250"/>
                <a:ext cx="3255684" cy="3255684"/>
              </a:xfrm>
              <a:prstGeom prst="ellipse">
                <a:avLst/>
              </a:prstGeom>
              <a:solidFill>
                <a:srgbClr val="FFC000">
                  <a:lumMod val="60000"/>
                  <a:lumOff val="40000"/>
                  <a:alpha val="5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  <a:scene3d>
                <a:camera prst="orthographicFront"/>
                <a:lightRig rig="threePt" dir="t"/>
              </a:scene3d>
              <a:sp3d>
                <a:bevelT w="2743200" h="2743200"/>
                <a:bevelB w="2743200" h="2743200"/>
              </a:sp3d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"/>
                  <a:cs typeface=""/>
                </a:endParaRPr>
              </a:p>
            </p:txBody>
          </p:sp>
          <p:cxnSp>
            <p:nvCxnSpPr>
              <p:cNvPr id="136" name="Straight Connector 135"/>
              <p:cNvCxnSpPr>
                <a:cxnSpLocks/>
              </p:cNvCxnSpPr>
              <p:nvPr/>
            </p:nvCxnSpPr>
            <p:spPr>
              <a:xfrm>
                <a:off x="6135211" y="4555992"/>
                <a:ext cx="3605163" cy="1528296"/>
              </a:xfrm>
              <a:prstGeom prst="line">
                <a:avLst/>
              </a:prstGeom>
              <a:noFill/>
              <a:ln w="38100" cap="flat" cmpd="sng" algn="ctr">
                <a:gradFill>
                  <a:gsLst>
                    <a:gs pos="0">
                      <a:srgbClr val="4472C4">
                        <a:lumMod val="20000"/>
                        <a:lumOff val="80000"/>
                      </a:srgbClr>
                    </a:gs>
                    <a:gs pos="36000">
                      <a:srgbClr val="4472C4">
                        <a:lumMod val="40000"/>
                        <a:lumOff val="60000"/>
                      </a:srgbClr>
                    </a:gs>
                    <a:gs pos="62000">
                      <a:srgbClr val="4472C4">
                        <a:lumMod val="60000"/>
                        <a:lumOff val="40000"/>
                      </a:srgbClr>
                    </a:gs>
                    <a:gs pos="100000">
                      <a:srgbClr val="4472C4">
                        <a:lumMod val="50000"/>
                      </a:srgb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</p:cxnSp>
          <p:sp>
            <p:nvSpPr>
              <p:cNvPr id="141" name="Oval 140"/>
              <p:cNvSpPr>
                <a:spLocks noChangeAspect="1"/>
              </p:cNvSpPr>
              <p:nvPr/>
            </p:nvSpPr>
            <p:spPr>
              <a:xfrm>
                <a:off x="6035542" y="4470526"/>
                <a:ext cx="207133" cy="207133"/>
              </a:xfrm>
              <a:prstGeom prst="ellipse">
                <a:avLst/>
              </a:prstGeom>
              <a:solidFill>
                <a:sysClr val="windowText" lastClr="000000">
                  <a:alpha val="50000"/>
                </a:sysClr>
              </a:solidFill>
              <a:ln w="12700" cap="flat" cmpd="sng" algn="ctr">
                <a:solidFill>
                  <a:srgbClr val="5B9BD5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"/>
                  <a:cs typeface=""/>
                </a:endParaRPr>
              </a:p>
            </p:txBody>
          </p:sp>
        </p:grpSp>
        <p:sp>
          <p:nvSpPr>
            <p:cNvPr id="127" name="Rectangle 126"/>
            <p:cNvSpPr/>
            <p:nvPr/>
          </p:nvSpPr>
          <p:spPr>
            <a:xfrm>
              <a:off x="4178384" y="2609976"/>
              <a:ext cx="4426665" cy="151513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128" name="Rectangle 127"/>
            <p:cNvSpPr/>
            <p:nvPr/>
          </p:nvSpPr>
          <p:spPr>
            <a:xfrm>
              <a:off x="4330785" y="2762375"/>
              <a:ext cx="1322952" cy="374903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7077954" y="5245579"/>
            <a:ext cx="1417533" cy="768017"/>
            <a:chOff x="7077954" y="5245579"/>
            <a:chExt cx="1417533" cy="768017"/>
          </a:xfrm>
        </p:grpSpPr>
        <p:sp>
          <p:nvSpPr>
            <p:cNvPr id="146" name="Oval 145"/>
            <p:cNvSpPr/>
            <p:nvPr/>
          </p:nvSpPr>
          <p:spPr>
            <a:xfrm>
              <a:off x="7077954" y="5245579"/>
              <a:ext cx="285901" cy="285901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C000"/>
              </a:solidFill>
            </a:ln>
            <a:scene3d>
              <a:camera prst="orthographicFront"/>
              <a:lightRig rig="threePt" dir="t"/>
            </a:scene3d>
            <a:sp3d prstMaterial="clear">
              <a:bevelT w="1371600" h="1371600"/>
              <a:bevelB w="1371600" h="13716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147" name="Oval 146"/>
            <p:cNvSpPr/>
            <p:nvPr/>
          </p:nvSpPr>
          <p:spPr>
            <a:xfrm>
              <a:off x="7357869" y="5378636"/>
              <a:ext cx="285901" cy="285901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C000"/>
              </a:solidFill>
            </a:ln>
            <a:scene3d>
              <a:camera prst="orthographicFront"/>
              <a:lightRig rig="threePt" dir="t"/>
            </a:scene3d>
            <a:sp3d prstMaterial="clear">
              <a:bevelT w="1371600" h="1371600"/>
              <a:bevelB w="1371600" h="13716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148" name="Oval 147"/>
            <p:cNvSpPr/>
            <p:nvPr/>
          </p:nvSpPr>
          <p:spPr>
            <a:xfrm>
              <a:off x="7643770" y="5488993"/>
              <a:ext cx="285901" cy="285901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C000"/>
              </a:solidFill>
            </a:ln>
            <a:scene3d>
              <a:camera prst="orthographicFront"/>
              <a:lightRig rig="threePt" dir="t"/>
            </a:scene3d>
            <a:sp3d prstMaterial="clear">
              <a:bevelT w="1371600" h="1371600"/>
              <a:bevelB w="1371600" h="13716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149" name="Oval 148"/>
            <p:cNvSpPr/>
            <p:nvPr/>
          </p:nvSpPr>
          <p:spPr>
            <a:xfrm>
              <a:off x="7929671" y="5620703"/>
              <a:ext cx="285901" cy="285901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C000"/>
              </a:solidFill>
            </a:ln>
            <a:scene3d>
              <a:camera prst="orthographicFront"/>
              <a:lightRig rig="threePt" dir="t"/>
            </a:scene3d>
            <a:sp3d prstMaterial="clear">
              <a:bevelT w="1371600" h="1371600"/>
              <a:bevelB w="1371600" h="13716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157" name="Oval 156"/>
            <p:cNvSpPr/>
            <p:nvPr/>
          </p:nvSpPr>
          <p:spPr>
            <a:xfrm>
              <a:off x="8209586" y="5727695"/>
              <a:ext cx="285901" cy="285901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C000"/>
              </a:solidFill>
            </a:ln>
            <a:scene3d>
              <a:camera prst="orthographicFront"/>
              <a:lightRig rig="threePt" dir="t"/>
            </a:scene3d>
            <a:sp3d prstMaterial="clear">
              <a:bevelT w="1371600" h="1371600"/>
              <a:bevelB w="1371600" h="13716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</p:grpSp>
      <p:sp>
        <p:nvSpPr>
          <p:cNvPr id="115" name="TextBox 114"/>
          <p:cNvSpPr txBox="1"/>
          <p:nvPr/>
        </p:nvSpPr>
        <p:spPr>
          <a:xfrm>
            <a:off x="3872074" y="2529738"/>
            <a:ext cx="509466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solidFill>
                  <a:srgbClr val="002060"/>
                </a:solidFill>
              </a:rPr>
              <a:t>(3) additional refinements to make</a:t>
            </a:r>
            <a:br>
              <a:rPr lang="en-US" sz="1600" dirty="0" smtClean="0">
                <a:solidFill>
                  <a:srgbClr val="002060"/>
                </a:solidFill>
              </a:rPr>
            </a:br>
            <a:r>
              <a:rPr lang="en-US" sz="1600" dirty="0" smtClean="0">
                <a:solidFill>
                  <a:srgbClr val="002060"/>
                </a:solidFill>
              </a:rPr>
              <a:t>all edge lengths small compared to</a:t>
            </a:r>
            <a:br>
              <a:rPr lang="en-US" sz="1600" dirty="0" smtClean="0">
                <a:solidFill>
                  <a:srgbClr val="002060"/>
                </a:solidFill>
              </a:rPr>
            </a:br>
            <a:r>
              <a:rPr lang="en-US" sz="1600" dirty="0" smtClean="0">
                <a:solidFill>
                  <a:srgbClr val="002060"/>
                </a:solidFill>
              </a:rPr>
              <a:t>edge-circle radii may be needed</a:t>
            </a:r>
            <a:r>
              <a:rPr lang="mr-IN" sz="1600" dirty="0" smtClean="0">
                <a:solidFill>
                  <a:srgbClr val="002060"/>
                </a:solidFill>
              </a:rPr>
              <a:t>…</a:t>
            </a:r>
            <a:endParaRPr lang="en-US" sz="1600" dirty="0" smtClean="0">
              <a:solidFill>
                <a:srgbClr val="002060"/>
              </a:solidFill>
            </a:endParaRPr>
          </a:p>
          <a:p>
            <a:r>
              <a:rPr lang="en-US" sz="1600" dirty="0" smtClean="0">
                <a:solidFill>
                  <a:srgbClr val="002060"/>
                </a:solidFill>
              </a:rPr>
              <a:t>Analogous to triangle subdivision last page</a:t>
            </a:r>
            <a:r>
              <a:rPr lang="mr-IN" sz="1600" dirty="0" smtClean="0">
                <a:solidFill>
                  <a:srgbClr val="002060"/>
                </a:solidFill>
              </a:rPr>
              <a:t>…</a:t>
            </a:r>
            <a:endParaRPr lang="en-US" sz="1600" dirty="0" smtClean="0">
              <a:solidFill>
                <a:srgbClr val="002060"/>
              </a:solidFill>
            </a:endParaRPr>
          </a:p>
          <a:p>
            <a:r>
              <a:rPr lang="en-US" sz="1600" dirty="0" smtClean="0">
                <a:solidFill>
                  <a:srgbClr val="002060"/>
                </a:solidFill>
              </a:rPr>
              <a:t>Analogous to “Collars and intestines: Practical conforming </a:t>
            </a:r>
            <a:br>
              <a:rPr lang="en-US" sz="1600" dirty="0" smtClean="0">
                <a:solidFill>
                  <a:srgbClr val="002060"/>
                </a:solidFill>
              </a:rPr>
            </a:br>
            <a:r>
              <a:rPr lang="en-US" sz="1600" dirty="0" smtClean="0">
                <a:solidFill>
                  <a:srgbClr val="002060"/>
                </a:solidFill>
              </a:rPr>
              <a:t>Delaunay refinement Rand &amp; </a:t>
            </a:r>
            <a:r>
              <a:rPr lang="en-US" sz="1600" dirty="0" err="1" smtClean="0">
                <a:solidFill>
                  <a:srgbClr val="002060"/>
                </a:solidFill>
              </a:rPr>
              <a:t>Walkington</a:t>
            </a:r>
            <a:r>
              <a:rPr lang="en-US" sz="1600" dirty="0" smtClean="0">
                <a:solidFill>
                  <a:srgbClr val="002060"/>
                </a:solidFill>
              </a:rPr>
              <a:t> 2009</a:t>
            </a:r>
            <a:endParaRPr lang="en-US" sz="1600" dirty="0">
              <a:solidFill>
                <a:srgbClr val="002060"/>
              </a:solidFill>
            </a:endParaRPr>
          </a:p>
        </p:txBody>
      </p:sp>
      <p:sp>
        <p:nvSpPr>
          <p:cNvPr id="158" name="Oval 157"/>
          <p:cNvSpPr>
            <a:spLocks noChangeAspect="1"/>
          </p:cNvSpPr>
          <p:nvPr/>
        </p:nvSpPr>
        <p:spPr>
          <a:xfrm>
            <a:off x="8361474" y="4863096"/>
            <a:ext cx="3255684" cy="3255684"/>
          </a:xfrm>
          <a:prstGeom prst="ellipse">
            <a:avLst/>
          </a:prstGeom>
          <a:solidFill>
            <a:srgbClr val="FFC000">
              <a:lumMod val="60000"/>
              <a:lumOff val="40000"/>
              <a:alpha val="50000"/>
            </a:srgbClr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w="2743200" h="2743200"/>
            <a:bevelB w="2743200" h="27432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117389291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Oval 47"/>
          <p:cNvSpPr/>
          <p:nvPr/>
        </p:nvSpPr>
        <p:spPr>
          <a:xfrm>
            <a:off x="6522200" y="4961912"/>
            <a:ext cx="1149627" cy="1149621"/>
          </a:xfrm>
          <a:prstGeom prst="ellipse">
            <a:avLst/>
          </a:prstGeom>
          <a:solidFill>
            <a:srgbClr val="FF0000"/>
          </a:solidFill>
          <a:ln w="19050">
            <a:solidFill>
              <a:srgbClr val="FF0000"/>
            </a:solidFill>
          </a:ln>
          <a:scene3d>
            <a:camera prst="orthographicFront"/>
            <a:lightRig rig="threePt" dir="t"/>
          </a:scene3d>
          <a:sp3d prstMaterial="clear">
            <a:bevelT w="1371600" h="1371600"/>
            <a:bevelB w="1371600" h="13716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47" name="Oval 46"/>
          <p:cNvSpPr/>
          <p:nvPr/>
        </p:nvSpPr>
        <p:spPr>
          <a:xfrm>
            <a:off x="7528840" y="4970000"/>
            <a:ext cx="1127018" cy="1127015"/>
          </a:xfrm>
          <a:prstGeom prst="ellipse">
            <a:avLst/>
          </a:prstGeom>
          <a:solidFill>
            <a:srgbClr val="FF0000"/>
          </a:solidFill>
          <a:ln w="19050">
            <a:solidFill>
              <a:srgbClr val="FF0000"/>
            </a:solidFill>
          </a:ln>
          <a:scene3d>
            <a:camera prst="orthographicFront"/>
            <a:lightRig rig="threePt" dir="t"/>
          </a:scene3d>
          <a:sp3d prstMaterial="clear">
            <a:bevelT w="1371600" h="1371600"/>
            <a:bevelB w="1371600" h="13716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49" name="Oval 48"/>
          <p:cNvSpPr/>
          <p:nvPr/>
        </p:nvSpPr>
        <p:spPr>
          <a:xfrm>
            <a:off x="7056543" y="4190680"/>
            <a:ext cx="1098877" cy="1098871"/>
          </a:xfrm>
          <a:prstGeom prst="ellipse">
            <a:avLst/>
          </a:prstGeom>
          <a:solidFill>
            <a:srgbClr val="FF0000"/>
          </a:solidFill>
          <a:ln w="19050">
            <a:solidFill>
              <a:srgbClr val="FF0000"/>
            </a:solidFill>
          </a:ln>
          <a:scene3d>
            <a:camera prst="orthographicFront"/>
            <a:lightRig rig="threePt" dir="t"/>
          </a:scene3d>
          <a:sp3d prstMaterial="clear">
            <a:bevelT w="1371600" h="1371600"/>
            <a:bevelB w="1371600" h="13716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Positive</a:t>
            </a:r>
            <a:r>
              <a:rPr lang="en-US" dirty="0"/>
              <a:t>-</a:t>
            </a:r>
            <a:r>
              <a:rPr lang="en-US" dirty="0" smtClean="0"/>
              <a:t>radius </a:t>
            </a:r>
            <a:br>
              <a:rPr lang="en-US" dirty="0" smtClean="0"/>
            </a:br>
            <a:r>
              <a:rPr lang="en-US" dirty="0" smtClean="0"/>
              <a:t>vertex spheres &amp; edge circles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254500"/>
            <a:ext cx="7772400" cy="2511384"/>
          </a:xfrm>
        </p:spPr>
        <p:txBody>
          <a:bodyPr/>
          <a:lstStyle/>
          <a:p>
            <a:r>
              <a:rPr lang="en-US" sz="1400" dirty="0" smtClean="0"/>
              <a:t>Theorem: strictly positive radius always possible</a:t>
            </a:r>
          </a:p>
          <a:p>
            <a:pPr lvl="1"/>
            <a:r>
              <a:rPr lang="en-US" sz="1400" dirty="0" smtClean="0"/>
              <a:t>Refinement needed, depending on geometry</a:t>
            </a:r>
          </a:p>
          <a:p>
            <a:pPr lvl="2"/>
            <a:r>
              <a:rPr lang="en-US" sz="1200" dirty="0" smtClean="0"/>
              <a:t>Bad case: vertex just outside and above triangle’s purple enclosing sphere </a:t>
            </a:r>
          </a:p>
          <a:p>
            <a:pPr lvl="3"/>
            <a:r>
              <a:rPr lang="en-US" sz="1000" dirty="0" smtClean="0"/>
              <a:t>Extra refinement and propagation paths</a:t>
            </a:r>
          </a:p>
          <a:p>
            <a:pPr lvl="2"/>
            <a:r>
              <a:rPr lang="en-US" sz="1200" dirty="0" smtClean="0"/>
              <a:t>Details in paper. Open: can be avoided by modifying the construction?</a:t>
            </a:r>
            <a:endParaRPr lang="en-US" sz="1200" dirty="0"/>
          </a:p>
          <a:p>
            <a:r>
              <a:rPr lang="en-US" sz="1400" dirty="0" smtClean="0"/>
              <a:t>Empty ball neighborhoods, changed</a:t>
            </a:r>
          </a:p>
          <a:p>
            <a:pPr lvl="1"/>
            <a:r>
              <a:rPr lang="en-US" sz="1400" dirty="0" smtClean="0"/>
              <a:t>Exclude seeds (only), </a:t>
            </a:r>
            <a:r>
              <a:rPr lang="en-US" sz="1400" dirty="0"/>
              <a:t>not input vertices</a:t>
            </a:r>
          </a:p>
          <a:p>
            <a:pPr lvl="1"/>
            <a:r>
              <a:rPr lang="en-US" sz="1400" dirty="0" smtClean="0"/>
              <a:t>Larger vertex spheres -&gt; smaller ball  neighborhood</a:t>
            </a:r>
          </a:p>
          <a:p>
            <a:pPr lvl="1"/>
            <a:r>
              <a:rPr lang="en-US" sz="1400" dirty="0" smtClean="0"/>
              <a:t>Larger edge circles -&gt; larger ball neighborhoods</a:t>
            </a:r>
          </a:p>
        </p:txBody>
      </p:sp>
      <p:grpSp>
        <p:nvGrpSpPr>
          <p:cNvPr id="31" name="Group 30"/>
          <p:cNvGrpSpPr>
            <a:grpSpLocks noChangeAspect="1"/>
          </p:cNvGrpSpPr>
          <p:nvPr/>
        </p:nvGrpSpPr>
        <p:grpSpPr>
          <a:xfrm>
            <a:off x="3386150" y="4201997"/>
            <a:ext cx="2541547" cy="2431018"/>
            <a:chOff x="3558345" y="3636677"/>
            <a:chExt cx="3071479" cy="2937905"/>
          </a:xfrm>
        </p:grpSpPr>
        <p:grpSp>
          <p:nvGrpSpPr>
            <p:cNvPr id="4" name="Group 3"/>
            <p:cNvGrpSpPr/>
            <p:nvPr/>
          </p:nvGrpSpPr>
          <p:grpSpPr>
            <a:xfrm>
              <a:off x="3929087" y="3636677"/>
              <a:ext cx="2338474" cy="2643524"/>
              <a:chOff x="-804109" y="4059794"/>
              <a:chExt cx="1951978" cy="2206612"/>
            </a:xfrm>
          </p:grpSpPr>
          <p:sp>
            <p:nvSpPr>
              <p:cNvPr id="5" name="Oval 4"/>
              <p:cNvSpPr/>
              <p:nvPr/>
            </p:nvSpPr>
            <p:spPr>
              <a:xfrm>
                <a:off x="133365" y="4829214"/>
                <a:ext cx="1014504" cy="1014505"/>
              </a:xfrm>
              <a:prstGeom prst="ellipse">
                <a:avLst/>
              </a:prstGeom>
              <a:solidFill>
                <a:srgbClr val="FF0000"/>
              </a:solidFill>
              <a:ln w="19050">
                <a:solidFill>
                  <a:srgbClr val="FF0000"/>
                </a:solidFill>
              </a:ln>
              <a:scene3d>
                <a:camera prst="orthographicFront"/>
                <a:lightRig rig="threePt" dir="t"/>
              </a:scene3d>
              <a:sp3d prstMaterial="clear">
                <a:bevelT w="1371600" h="1371600"/>
                <a:bevelB w="1371600" h="1371600"/>
              </a:sp3d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" pitchFamily="18" charset="0"/>
                </a:endParaRPr>
              </a:p>
            </p:txBody>
          </p:sp>
          <p:sp>
            <p:nvSpPr>
              <p:cNvPr id="6" name="Oval 5"/>
              <p:cNvSpPr/>
              <p:nvPr/>
            </p:nvSpPr>
            <p:spPr>
              <a:xfrm>
                <a:off x="-804109" y="4860159"/>
                <a:ext cx="991798" cy="991799"/>
              </a:xfrm>
              <a:prstGeom prst="ellipse">
                <a:avLst/>
              </a:prstGeom>
              <a:solidFill>
                <a:srgbClr val="FF0000"/>
              </a:solidFill>
              <a:ln w="19050">
                <a:solidFill>
                  <a:srgbClr val="FF0000"/>
                </a:solidFill>
              </a:ln>
              <a:scene3d>
                <a:camera prst="orthographicFront"/>
                <a:lightRig rig="threePt" dir="t"/>
              </a:scene3d>
              <a:sp3d prstMaterial="clear">
                <a:bevelT w="1371600" h="1371600"/>
                <a:bevelB w="1371600" h="1371600"/>
              </a:sp3d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" pitchFamily="18" charset="0"/>
                </a:endParaRPr>
              </a:p>
            </p:txBody>
          </p:sp>
          <p:sp>
            <p:nvSpPr>
              <p:cNvPr id="7" name="Oval 6"/>
              <p:cNvSpPr/>
              <p:nvPr/>
            </p:nvSpPr>
            <p:spPr>
              <a:xfrm>
                <a:off x="-325394" y="4059794"/>
                <a:ext cx="983496" cy="983495"/>
              </a:xfrm>
              <a:prstGeom prst="ellipse">
                <a:avLst/>
              </a:prstGeom>
              <a:solidFill>
                <a:srgbClr val="FF0000"/>
              </a:solidFill>
              <a:ln w="19050">
                <a:solidFill>
                  <a:srgbClr val="FF0000"/>
                </a:solidFill>
              </a:ln>
              <a:scene3d>
                <a:camera prst="orthographicFront"/>
                <a:lightRig rig="threePt" dir="t"/>
              </a:scene3d>
              <a:sp3d prstMaterial="clear">
                <a:bevelT w="1371600" h="1371600"/>
                <a:bevelB w="1371600" h="1371600"/>
              </a:sp3d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" pitchFamily="18" charset="0"/>
                </a:endParaRPr>
              </a:p>
            </p:txBody>
          </p:sp>
          <p:sp>
            <p:nvSpPr>
              <p:cNvPr id="8" name="Oval 7"/>
              <p:cNvSpPr/>
              <p:nvPr/>
            </p:nvSpPr>
            <p:spPr>
              <a:xfrm>
                <a:off x="-551619" y="4387014"/>
                <a:ext cx="1426442" cy="1426443"/>
              </a:xfrm>
              <a:prstGeom prst="ellipse">
                <a:avLst/>
              </a:prstGeom>
              <a:solidFill>
                <a:srgbClr val="7030A0">
                  <a:alpha val="78000"/>
                </a:srgbClr>
              </a:solidFill>
              <a:ln w="19050">
                <a:solidFill>
                  <a:srgbClr val="002060">
                    <a:alpha val="44000"/>
                  </a:srgbClr>
                </a:solidFill>
              </a:ln>
              <a:scene3d>
                <a:camera prst="orthographicFront"/>
                <a:lightRig rig="threePt" dir="t"/>
              </a:scene3d>
              <a:sp3d prstMaterial="metal">
                <a:bevelT w="812800" h="812800"/>
                <a:bevelB w="889000" h="889000"/>
              </a:sp3d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" pitchFamily="18" charset="0"/>
                </a:endParaRPr>
              </a:p>
            </p:txBody>
          </p:sp>
          <p:cxnSp>
            <p:nvCxnSpPr>
              <p:cNvPr id="9" name="Straight Connector 8"/>
              <p:cNvCxnSpPr>
                <a:cxnSpLocks/>
              </p:cNvCxnSpPr>
              <p:nvPr/>
            </p:nvCxnSpPr>
            <p:spPr>
              <a:xfrm>
                <a:off x="-745460" y="4559723"/>
                <a:ext cx="1828800" cy="0"/>
              </a:xfrm>
              <a:prstGeom prst="line">
                <a:avLst/>
              </a:pr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0" name="Straight Connector 9"/>
              <p:cNvCxnSpPr>
                <a:cxnSpLocks/>
              </p:cNvCxnSpPr>
              <p:nvPr/>
            </p:nvCxnSpPr>
            <p:spPr>
              <a:xfrm rot="18000000" flipH="1" flipV="1">
                <a:off x="-288260" y="5352006"/>
                <a:ext cx="1828800" cy="0"/>
              </a:xfrm>
              <a:prstGeom prst="line">
                <a:avLst/>
              </a:pr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1" name="Straight Connector 10"/>
              <p:cNvCxnSpPr>
                <a:cxnSpLocks/>
              </p:cNvCxnSpPr>
              <p:nvPr/>
            </p:nvCxnSpPr>
            <p:spPr>
              <a:xfrm rot="3600000" flipH="1">
                <a:off x="-1188467" y="5345518"/>
                <a:ext cx="1828800" cy="0"/>
              </a:xfrm>
              <a:prstGeom prst="line">
                <a:avLst/>
              </a:pr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</p:grpSp>
        <p:sp>
          <p:nvSpPr>
            <p:cNvPr id="19" name="Oval 18"/>
            <p:cNvSpPr>
              <a:spLocks noChangeAspect="1"/>
            </p:cNvSpPr>
            <p:nvPr/>
          </p:nvSpPr>
          <p:spPr>
            <a:xfrm>
              <a:off x="3558345" y="3767867"/>
              <a:ext cx="935452" cy="935452"/>
            </a:xfrm>
            <a:prstGeom prst="ellipse">
              <a:avLst/>
            </a:prstGeom>
            <a:solidFill>
              <a:srgbClr val="FFC000">
                <a:lumMod val="60000"/>
                <a:lumOff val="40000"/>
                <a:alpha val="74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threePt" dir="t"/>
            </a:scene3d>
            <a:sp3d>
              <a:bevelT w="812800" h="812800"/>
              <a:bevelB w="812800" h="8128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20" name="Oval 19"/>
            <p:cNvSpPr>
              <a:spLocks noChangeAspect="1"/>
            </p:cNvSpPr>
            <p:nvPr/>
          </p:nvSpPr>
          <p:spPr>
            <a:xfrm>
              <a:off x="5694372" y="3749875"/>
              <a:ext cx="935452" cy="935452"/>
            </a:xfrm>
            <a:prstGeom prst="ellipse">
              <a:avLst/>
            </a:prstGeom>
            <a:solidFill>
              <a:srgbClr val="FFC000">
                <a:lumMod val="60000"/>
                <a:lumOff val="40000"/>
                <a:alpha val="62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threePt" dir="t"/>
            </a:scene3d>
            <a:sp3d>
              <a:bevelT w="812800" h="812800"/>
              <a:bevelB w="812800" h="8128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  <p:sp>
          <p:nvSpPr>
            <p:cNvPr id="21" name="Oval 20"/>
            <p:cNvSpPr>
              <a:spLocks noChangeAspect="1"/>
            </p:cNvSpPr>
            <p:nvPr/>
          </p:nvSpPr>
          <p:spPr>
            <a:xfrm>
              <a:off x="4631384" y="5639130"/>
              <a:ext cx="935452" cy="935452"/>
            </a:xfrm>
            <a:prstGeom prst="ellipse">
              <a:avLst/>
            </a:prstGeom>
            <a:solidFill>
              <a:srgbClr val="FFC000">
                <a:lumMod val="60000"/>
                <a:lumOff val="40000"/>
                <a:alpha val="62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threePt" dir="t"/>
            </a:scene3d>
            <a:sp3d>
              <a:bevelT w="812800" h="812800"/>
              <a:bevelB w="812800" h="8128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"/>
                <a:cs typeface=""/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56418" y="3749875"/>
            <a:ext cx="2936113" cy="2824707"/>
            <a:chOff x="-1151502" y="3652632"/>
            <a:chExt cx="2716861" cy="2613774"/>
          </a:xfrm>
        </p:grpSpPr>
        <p:sp>
          <p:nvSpPr>
            <p:cNvPr id="23" name="Oval 22"/>
            <p:cNvSpPr/>
            <p:nvPr/>
          </p:nvSpPr>
          <p:spPr>
            <a:xfrm>
              <a:off x="-214228" y="4481069"/>
              <a:ext cx="1779587" cy="1779588"/>
            </a:xfrm>
            <a:prstGeom prst="ellipse">
              <a:avLst/>
            </a:prstGeom>
            <a:solidFill>
              <a:srgbClr val="FF0000"/>
            </a:solidFill>
            <a:ln w="19050">
              <a:solidFill>
                <a:srgbClr val="FFC000"/>
              </a:solidFill>
            </a:ln>
            <a:scene3d>
              <a:camera prst="orthographicFront"/>
              <a:lightRig rig="threePt" dir="t"/>
            </a:scene3d>
            <a:sp3d prstMaterial="clear">
              <a:bevelT w="1371600" h="1371600"/>
              <a:bevelB w="1371600" h="13716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24" name="Oval 23"/>
            <p:cNvSpPr/>
            <p:nvPr/>
          </p:nvSpPr>
          <p:spPr>
            <a:xfrm>
              <a:off x="-1151502" y="4450254"/>
              <a:ext cx="1779587" cy="1779588"/>
            </a:xfrm>
            <a:prstGeom prst="ellipse">
              <a:avLst/>
            </a:prstGeom>
            <a:solidFill>
              <a:srgbClr val="FF0000"/>
            </a:solidFill>
            <a:ln w="19050">
              <a:solidFill>
                <a:srgbClr val="FFC000"/>
              </a:solidFill>
            </a:ln>
            <a:scene3d>
              <a:camera prst="orthographicFront"/>
              <a:lightRig rig="threePt" dir="t"/>
            </a:scene3d>
            <a:sp3d prstMaterial="clear">
              <a:bevelT w="1371600" h="1371600"/>
              <a:bevelB w="1371600" h="13716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25" name="Oval 24"/>
            <p:cNvSpPr/>
            <p:nvPr/>
          </p:nvSpPr>
          <p:spPr>
            <a:xfrm>
              <a:off x="-724647" y="3652632"/>
              <a:ext cx="1779587" cy="1779588"/>
            </a:xfrm>
            <a:prstGeom prst="ellipse">
              <a:avLst/>
            </a:prstGeom>
            <a:solidFill>
              <a:srgbClr val="FF0000"/>
            </a:solidFill>
            <a:ln w="19050">
              <a:solidFill>
                <a:srgbClr val="FFC000"/>
              </a:solidFill>
            </a:ln>
            <a:scene3d>
              <a:camera prst="orthographicFront"/>
              <a:lightRig rig="threePt" dir="t"/>
            </a:scene3d>
            <a:sp3d prstMaterial="clear">
              <a:bevelT w="1371600" h="1371600"/>
              <a:bevelB w="1371600" h="13716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26" name="Oval 25"/>
            <p:cNvSpPr/>
            <p:nvPr/>
          </p:nvSpPr>
          <p:spPr>
            <a:xfrm>
              <a:off x="-871383" y="4031703"/>
              <a:ext cx="2079405" cy="2079406"/>
            </a:xfrm>
            <a:prstGeom prst="ellipse">
              <a:avLst/>
            </a:prstGeom>
            <a:solidFill>
              <a:srgbClr val="7030A0">
                <a:alpha val="78000"/>
              </a:srgbClr>
            </a:solidFill>
            <a:ln w="19050">
              <a:solidFill>
                <a:srgbClr val="002060">
                  <a:alpha val="44000"/>
                </a:srgbClr>
              </a:solidFill>
            </a:ln>
            <a:scene3d>
              <a:camera prst="orthographicFront"/>
              <a:lightRig rig="threePt" dir="t"/>
            </a:scene3d>
            <a:sp3d prstMaterial="metal">
              <a:bevelT w="1016000" h="1016000"/>
              <a:bevelB w="1016000" h="1016000"/>
            </a:sp3d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cxnSp>
          <p:nvCxnSpPr>
            <p:cNvPr id="27" name="Straight Connector 26"/>
            <p:cNvCxnSpPr>
              <a:cxnSpLocks/>
            </p:cNvCxnSpPr>
            <p:nvPr/>
          </p:nvCxnSpPr>
          <p:spPr>
            <a:xfrm>
              <a:off x="-745460" y="4559723"/>
              <a:ext cx="1828800" cy="0"/>
            </a:xfrm>
            <a:prstGeom prst="line">
              <a:avLst/>
            </a:pr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28" name="Straight Connector 27"/>
            <p:cNvCxnSpPr>
              <a:cxnSpLocks/>
            </p:cNvCxnSpPr>
            <p:nvPr/>
          </p:nvCxnSpPr>
          <p:spPr>
            <a:xfrm rot="18000000" flipH="1" flipV="1">
              <a:off x="-288260" y="5352006"/>
              <a:ext cx="1828800" cy="0"/>
            </a:xfrm>
            <a:prstGeom prst="line">
              <a:avLst/>
            </a:pr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29" name="Straight Connector 28"/>
            <p:cNvCxnSpPr>
              <a:cxnSpLocks/>
            </p:cNvCxnSpPr>
            <p:nvPr/>
          </p:nvCxnSpPr>
          <p:spPr>
            <a:xfrm rot="3600000" flipH="1">
              <a:off x="-1188467" y="5345518"/>
              <a:ext cx="1828800" cy="0"/>
            </a:xfrm>
            <a:prstGeom prst="line">
              <a:avLst/>
            </a:pr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</p:grpSp>
      <p:sp>
        <p:nvSpPr>
          <p:cNvPr id="30" name="Oval 29"/>
          <p:cNvSpPr>
            <a:spLocks noChangeAspect="1"/>
          </p:cNvSpPr>
          <p:nvPr/>
        </p:nvSpPr>
        <p:spPr>
          <a:xfrm>
            <a:off x="2409211" y="4671702"/>
            <a:ext cx="103128" cy="103128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201011" y="3622452"/>
            <a:ext cx="294503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 smtClean="0">
                <a:solidFill>
                  <a:srgbClr val="002060"/>
                </a:solidFill>
              </a:rPr>
              <a:t>Positive vertex spheres</a:t>
            </a:r>
          </a:p>
          <a:p>
            <a:pPr algn="ctr"/>
            <a:r>
              <a:rPr lang="en-US" sz="1400" dirty="0" smtClean="0">
                <a:solidFill>
                  <a:srgbClr val="002060"/>
                </a:solidFill>
              </a:rPr>
              <a:t>(more purple balls for non-equilateral)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17720" y="3759008"/>
            <a:ext cx="21675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rgbClr val="002060"/>
                </a:solidFill>
              </a:rPr>
              <a:t>z</a:t>
            </a:r>
            <a:r>
              <a:rPr lang="en-US" sz="2000" dirty="0" smtClean="0">
                <a:solidFill>
                  <a:srgbClr val="002060"/>
                </a:solidFill>
              </a:rPr>
              <a:t>ero-radius spheres</a:t>
            </a:r>
          </a:p>
        </p:txBody>
      </p:sp>
      <p:sp>
        <p:nvSpPr>
          <p:cNvPr id="34" name="Oval 33"/>
          <p:cNvSpPr>
            <a:spLocks noChangeAspect="1"/>
          </p:cNvSpPr>
          <p:nvPr/>
        </p:nvSpPr>
        <p:spPr>
          <a:xfrm>
            <a:off x="451967" y="4678605"/>
            <a:ext cx="103128" cy="103128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35" name="Oval 34"/>
          <p:cNvSpPr>
            <a:spLocks noChangeAspect="1"/>
          </p:cNvSpPr>
          <p:nvPr/>
        </p:nvSpPr>
        <p:spPr>
          <a:xfrm>
            <a:off x="1435103" y="6369401"/>
            <a:ext cx="103128" cy="103128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36" name="Oval 35"/>
          <p:cNvSpPr>
            <a:spLocks noChangeAspect="1"/>
          </p:cNvSpPr>
          <p:nvPr/>
        </p:nvSpPr>
        <p:spPr>
          <a:xfrm>
            <a:off x="4110311" y="4639969"/>
            <a:ext cx="103128" cy="103128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37" name="Oval 36"/>
          <p:cNvSpPr>
            <a:spLocks noChangeAspect="1"/>
          </p:cNvSpPr>
          <p:nvPr/>
        </p:nvSpPr>
        <p:spPr>
          <a:xfrm>
            <a:off x="3916711" y="4989458"/>
            <a:ext cx="103128" cy="103128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38" name="Oval 37"/>
          <p:cNvSpPr>
            <a:spLocks noChangeAspect="1"/>
          </p:cNvSpPr>
          <p:nvPr/>
        </p:nvSpPr>
        <p:spPr>
          <a:xfrm>
            <a:off x="4398922" y="5839804"/>
            <a:ext cx="103128" cy="103128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39" name="Oval 38"/>
          <p:cNvSpPr>
            <a:spLocks noChangeAspect="1"/>
          </p:cNvSpPr>
          <p:nvPr/>
        </p:nvSpPr>
        <p:spPr>
          <a:xfrm>
            <a:off x="4826388" y="5839804"/>
            <a:ext cx="103128" cy="103128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40" name="Oval 39"/>
          <p:cNvSpPr>
            <a:spLocks noChangeAspect="1"/>
          </p:cNvSpPr>
          <p:nvPr/>
        </p:nvSpPr>
        <p:spPr>
          <a:xfrm>
            <a:off x="5110060" y="4647344"/>
            <a:ext cx="103128" cy="103128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41" name="Oval 40"/>
          <p:cNvSpPr>
            <a:spLocks noChangeAspect="1"/>
          </p:cNvSpPr>
          <p:nvPr/>
        </p:nvSpPr>
        <p:spPr>
          <a:xfrm>
            <a:off x="5325960" y="4971194"/>
            <a:ext cx="103128" cy="103128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cxnSp>
        <p:nvCxnSpPr>
          <p:cNvPr id="51" name="Straight Connector 50"/>
          <p:cNvCxnSpPr>
            <a:cxnSpLocks/>
          </p:cNvCxnSpPr>
          <p:nvPr/>
        </p:nvCxnSpPr>
        <p:spPr>
          <a:xfrm>
            <a:off x="6683280" y="4735281"/>
            <a:ext cx="1812910" cy="0"/>
          </a:xfrm>
          <a:prstGeom prst="line">
            <a:avLst/>
          </a:prstGeom>
          <a:noFill/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52" name="Straight Connector 51"/>
          <p:cNvCxnSpPr>
            <a:cxnSpLocks/>
          </p:cNvCxnSpPr>
          <p:nvPr/>
        </p:nvCxnSpPr>
        <p:spPr>
          <a:xfrm rot="18000000" flipH="1" flipV="1">
            <a:off x="7136512" y="5520677"/>
            <a:ext cx="1812902" cy="0"/>
          </a:xfrm>
          <a:prstGeom prst="line">
            <a:avLst/>
          </a:prstGeom>
          <a:noFill/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53" name="Straight Connector 52"/>
          <p:cNvCxnSpPr>
            <a:cxnSpLocks/>
          </p:cNvCxnSpPr>
          <p:nvPr/>
        </p:nvCxnSpPr>
        <p:spPr>
          <a:xfrm rot="3600000" flipH="1">
            <a:off x="6244126" y="5514245"/>
            <a:ext cx="1812902" cy="0"/>
          </a:xfrm>
          <a:prstGeom prst="line">
            <a:avLst/>
          </a:prstGeom>
          <a:noFill/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sp>
        <p:nvSpPr>
          <p:cNvPr id="44" name="Oval 43"/>
          <p:cNvSpPr>
            <a:spLocks noChangeAspect="1"/>
          </p:cNvSpPr>
          <p:nvPr/>
        </p:nvSpPr>
        <p:spPr>
          <a:xfrm>
            <a:off x="6318367" y="4348247"/>
            <a:ext cx="774056" cy="774054"/>
          </a:xfrm>
          <a:prstGeom prst="ellipse">
            <a:avLst/>
          </a:prstGeom>
          <a:solidFill>
            <a:srgbClr val="FFC000">
              <a:lumMod val="60000"/>
              <a:lumOff val="40000"/>
              <a:alpha val="74000"/>
            </a:srgbClr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w="812800" h="812800"/>
            <a:bevelB w="812800" h="8128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45" name="Oval 44"/>
          <p:cNvSpPr>
            <a:spLocks noChangeAspect="1"/>
          </p:cNvSpPr>
          <p:nvPr/>
        </p:nvSpPr>
        <p:spPr>
          <a:xfrm>
            <a:off x="8085858" y="4333359"/>
            <a:ext cx="774056" cy="774054"/>
          </a:xfrm>
          <a:prstGeom prst="ellipse">
            <a:avLst/>
          </a:prstGeom>
          <a:solidFill>
            <a:srgbClr val="FFC000">
              <a:lumMod val="60000"/>
              <a:lumOff val="40000"/>
              <a:alpha val="62000"/>
            </a:srgbClr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w="812800" h="812800"/>
            <a:bevelB w="812800" h="8128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46" name="Oval 45"/>
          <p:cNvSpPr>
            <a:spLocks noChangeAspect="1"/>
          </p:cNvSpPr>
          <p:nvPr/>
        </p:nvSpPr>
        <p:spPr>
          <a:xfrm>
            <a:off x="7206271" y="5896653"/>
            <a:ext cx="774056" cy="774054"/>
          </a:xfrm>
          <a:prstGeom prst="ellipse">
            <a:avLst/>
          </a:prstGeom>
          <a:solidFill>
            <a:srgbClr val="FFC000">
              <a:lumMod val="60000"/>
              <a:lumOff val="40000"/>
              <a:alpha val="62000"/>
            </a:srgbClr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w="812800" h="812800"/>
            <a:bevelB w="812800" h="8128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353698" y="3323183"/>
            <a:ext cx="254428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 smtClean="0">
                <a:solidFill>
                  <a:srgbClr val="002060"/>
                </a:solidFill>
              </a:rPr>
              <a:t>Positive vertex spheres</a:t>
            </a:r>
            <a:br>
              <a:rPr lang="en-US" sz="2000" dirty="0" smtClean="0">
                <a:solidFill>
                  <a:srgbClr val="002060"/>
                </a:solidFill>
              </a:rPr>
            </a:br>
            <a:r>
              <a:rPr lang="en-US" sz="2000" dirty="0" smtClean="0">
                <a:solidFill>
                  <a:srgbClr val="002060"/>
                </a:solidFill>
              </a:rPr>
              <a:t>&amp; positive edge circles</a:t>
            </a:r>
          </a:p>
          <a:p>
            <a:pPr algn="ctr"/>
            <a:r>
              <a:rPr lang="en-US" sz="1400" dirty="0" smtClean="0">
                <a:solidFill>
                  <a:srgbClr val="002060"/>
                </a:solidFill>
              </a:rPr>
              <a:t>(more purple balls, not shown)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55" name="Oval 54"/>
          <p:cNvSpPr>
            <a:spLocks noChangeAspect="1"/>
          </p:cNvSpPr>
          <p:nvPr/>
        </p:nvSpPr>
        <p:spPr>
          <a:xfrm>
            <a:off x="7010778" y="4518911"/>
            <a:ext cx="103128" cy="103128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56" name="Oval 55"/>
          <p:cNvSpPr>
            <a:spLocks noChangeAspect="1"/>
          </p:cNvSpPr>
          <p:nvPr/>
        </p:nvSpPr>
        <p:spPr>
          <a:xfrm>
            <a:off x="6613978" y="5065250"/>
            <a:ext cx="103128" cy="103128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57" name="Oval 56"/>
          <p:cNvSpPr>
            <a:spLocks noChangeAspect="1"/>
          </p:cNvSpPr>
          <p:nvPr/>
        </p:nvSpPr>
        <p:spPr>
          <a:xfrm>
            <a:off x="7223189" y="6029896"/>
            <a:ext cx="103128" cy="103128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58" name="Oval 57"/>
          <p:cNvSpPr>
            <a:spLocks noChangeAspect="1"/>
          </p:cNvSpPr>
          <p:nvPr/>
        </p:nvSpPr>
        <p:spPr>
          <a:xfrm>
            <a:off x="7650655" y="5864796"/>
            <a:ext cx="103128" cy="103128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59" name="Oval 58"/>
          <p:cNvSpPr>
            <a:spLocks noChangeAspect="1"/>
          </p:cNvSpPr>
          <p:nvPr/>
        </p:nvSpPr>
        <p:spPr>
          <a:xfrm>
            <a:off x="8074027" y="4507236"/>
            <a:ext cx="103128" cy="103128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60" name="Oval 59"/>
          <p:cNvSpPr>
            <a:spLocks noChangeAspect="1"/>
          </p:cNvSpPr>
          <p:nvPr/>
        </p:nvSpPr>
        <p:spPr>
          <a:xfrm>
            <a:off x="8423277" y="5059686"/>
            <a:ext cx="103128" cy="103128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61" name="Oval 60"/>
          <p:cNvSpPr>
            <a:spLocks noChangeAspect="1"/>
          </p:cNvSpPr>
          <p:nvPr/>
        </p:nvSpPr>
        <p:spPr>
          <a:xfrm>
            <a:off x="6959531" y="4913426"/>
            <a:ext cx="103128" cy="103128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62" name="Oval 61"/>
          <p:cNvSpPr>
            <a:spLocks noChangeAspect="1"/>
          </p:cNvSpPr>
          <p:nvPr/>
        </p:nvSpPr>
        <p:spPr>
          <a:xfrm>
            <a:off x="7009515" y="4805105"/>
            <a:ext cx="103128" cy="103128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63" name="Oval 62"/>
          <p:cNvSpPr>
            <a:spLocks noChangeAspect="1"/>
          </p:cNvSpPr>
          <p:nvPr/>
        </p:nvSpPr>
        <p:spPr>
          <a:xfrm>
            <a:off x="8074027" y="4818386"/>
            <a:ext cx="103128" cy="103128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64" name="Oval 63"/>
          <p:cNvSpPr>
            <a:spLocks noChangeAspect="1"/>
          </p:cNvSpPr>
          <p:nvPr/>
        </p:nvSpPr>
        <p:spPr>
          <a:xfrm>
            <a:off x="8169277" y="4945386"/>
            <a:ext cx="103128" cy="103128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65" name="Oval 64"/>
          <p:cNvSpPr>
            <a:spLocks noChangeAspect="1"/>
          </p:cNvSpPr>
          <p:nvPr/>
        </p:nvSpPr>
        <p:spPr>
          <a:xfrm>
            <a:off x="7841155" y="6004496"/>
            <a:ext cx="103128" cy="103128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66" name="Oval 65"/>
          <p:cNvSpPr>
            <a:spLocks noChangeAspect="1"/>
          </p:cNvSpPr>
          <p:nvPr/>
        </p:nvSpPr>
        <p:spPr>
          <a:xfrm>
            <a:off x="7470839" y="5864796"/>
            <a:ext cx="103128" cy="103128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1636117458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Reducing the number of Steiner points</a:t>
            </a:r>
            <a:br>
              <a:rPr lang="en-US" dirty="0"/>
            </a:br>
            <a:r>
              <a:rPr lang="en-US" sz="2000" dirty="0"/>
              <a:t>R</a:t>
            </a:r>
            <a:r>
              <a:rPr lang="en-US" sz="2000" dirty="0" smtClean="0"/>
              <a:t>ecall 2 seed pairs per triangle vertex. (Zero radius case.)</a:t>
            </a:r>
            <a:endParaRPr lang="en-US" sz="2000" dirty="0"/>
          </a:p>
        </p:txBody>
      </p:sp>
      <p:sp>
        <p:nvSpPr>
          <p:cNvPr id="32" name="Oval 31"/>
          <p:cNvSpPr>
            <a:spLocks noChangeAspect="1"/>
          </p:cNvSpPr>
          <p:nvPr/>
        </p:nvSpPr>
        <p:spPr>
          <a:xfrm>
            <a:off x="1037896" y="1207995"/>
            <a:ext cx="5486400" cy="5486400"/>
          </a:xfrm>
          <a:prstGeom prst="ellipse">
            <a:avLst/>
          </a:prstGeom>
          <a:solidFill>
            <a:srgbClr val="FFC000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w="2743200" h="2743200"/>
            <a:bevelB w="2743200" h="27432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cxnSp>
        <p:nvCxnSpPr>
          <p:cNvPr id="33" name="Straight Connector 32"/>
          <p:cNvCxnSpPr>
            <a:cxnSpLocks noChangeAspect="1"/>
          </p:cNvCxnSpPr>
          <p:nvPr/>
        </p:nvCxnSpPr>
        <p:spPr>
          <a:xfrm flipH="1" flipV="1">
            <a:off x="-464693" y="1200035"/>
            <a:ext cx="2859073" cy="1845906"/>
          </a:xfrm>
          <a:prstGeom prst="line">
            <a:avLst/>
          </a:prstGeom>
          <a:noFill/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34" name="Straight Connector 33"/>
          <p:cNvCxnSpPr>
            <a:cxnSpLocks noChangeAspect="1"/>
          </p:cNvCxnSpPr>
          <p:nvPr/>
        </p:nvCxnSpPr>
        <p:spPr>
          <a:xfrm flipH="1">
            <a:off x="-361567" y="3950109"/>
            <a:ext cx="4145739" cy="1828800"/>
          </a:xfrm>
          <a:prstGeom prst="line">
            <a:avLst/>
          </a:prstGeom>
          <a:noFill/>
          <a:ln w="38100" cap="flat" cmpd="sng" algn="ctr">
            <a:solidFill>
              <a:sysClr val="windowText" lastClr="000000">
                <a:alpha val="39000"/>
              </a:sysClr>
            </a:solidFill>
            <a:prstDash val="solid"/>
            <a:miter lim="800000"/>
          </a:ln>
          <a:effectLst/>
        </p:spPr>
      </p:cxnSp>
      <p:cxnSp>
        <p:nvCxnSpPr>
          <p:cNvPr id="35" name="Straight Connector 34"/>
          <p:cNvCxnSpPr>
            <a:cxnSpLocks noChangeAspect="1"/>
          </p:cNvCxnSpPr>
          <p:nvPr/>
        </p:nvCxnSpPr>
        <p:spPr>
          <a:xfrm flipH="1">
            <a:off x="-361566" y="4431372"/>
            <a:ext cx="3054754" cy="1347537"/>
          </a:xfrm>
          <a:prstGeom prst="line">
            <a:avLst/>
          </a:prstGeom>
          <a:noFill/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sp>
        <p:nvSpPr>
          <p:cNvPr id="39" name="Oval 38"/>
          <p:cNvSpPr>
            <a:spLocks noChangeAspect="1"/>
          </p:cNvSpPr>
          <p:nvPr/>
        </p:nvSpPr>
        <p:spPr>
          <a:xfrm rot="1946261">
            <a:off x="1886132" y="2517407"/>
            <a:ext cx="1176945" cy="1066438"/>
          </a:xfrm>
          <a:prstGeom prst="ellipse">
            <a:avLst/>
          </a:prstGeom>
          <a:noFill/>
          <a:ln w="254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40" name="Oval 39"/>
          <p:cNvSpPr>
            <a:spLocks noChangeAspect="1"/>
          </p:cNvSpPr>
          <p:nvPr/>
        </p:nvSpPr>
        <p:spPr>
          <a:xfrm>
            <a:off x="2319912" y="3524341"/>
            <a:ext cx="103128" cy="103128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41" name="Oval 40"/>
          <p:cNvSpPr>
            <a:spLocks noChangeAspect="1"/>
          </p:cNvSpPr>
          <p:nvPr/>
        </p:nvSpPr>
        <p:spPr>
          <a:xfrm>
            <a:off x="2035902" y="3384150"/>
            <a:ext cx="103128" cy="103128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42" name="Oval 41"/>
          <p:cNvSpPr>
            <a:spLocks noChangeAspect="1"/>
          </p:cNvSpPr>
          <p:nvPr/>
        </p:nvSpPr>
        <p:spPr>
          <a:xfrm>
            <a:off x="2423040" y="2439581"/>
            <a:ext cx="103128" cy="103128"/>
          </a:xfrm>
          <a:prstGeom prst="ellipse">
            <a:avLst/>
          </a:prstGeom>
          <a:solidFill>
            <a:srgbClr val="FF0000">
              <a:alpha val="50000"/>
            </a:srgb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43" name="Oval 42"/>
          <p:cNvSpPr>
            <a:spLocks noChangeAspect="1"/>
          </p:cNvSpPr>
          <p:nvPr/>
        </p:nvSpPr>
        <p:spPr>
          <a:xfrm>
            <a:off x="2920570" y="2766431"/>
            <a:ext cx="103128" cy="103128"/>
          </a:xfrm>
          <a:prstGeom prst="ellipse">
            <a:avLst/>
          </a:prstGeom>
          <a:solidFill>
            <a:srgbClr val="FF0000">
              <a:alpha val="50000"/>
            </a:srgb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44" name="Arc 43"/>
          <p:cNvSpPr>
            <a:spLocks noChangeAspect="1"/>
          </p:cNvSpPr>
          <p:nvPr/>
        </p:nvSpPr>
        <p:spPr>
          <a:xfrm rot="12916606">
            <a:off x="2210362" y="2619765"/>
            <a:ext cx="2070756" cy="1982285"/>
          </a:xfrm>
          <a:prstGeom prst="arc">
            <a:avLst/>
          </a:prstGeom>
          <a:noFill/>
          <a:ln w="25400" cap="flat" cmpd="sng" algn="ctr">
            <a:solidFill>
              <a:sysClr val="windowText" lastClr="000000"/>
            </a:solidFill>
            <a:prstDash val="sysDot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cxnSp>
        <p:nvCxnSpPr>
          <p:cNvPr id="45" name="Straight Connector 44"/>
          <p:cNvCxnSpPr>
            <a:cxnSpLocks noChangeAspect="1"/>
          </p:cNvCxnSpPr>
          <p:nvPr/>
        </p:nvCxnSpPr>
        <p:spPr>
          <a:xfrm flipH="1" flipV="1">
            <a:off x="7472362" y="2243296"/>
            <a:ext cx="1385958" cy="0"/>
          </a:xfrm>
          <a:prstGeom prst="line">
            <a:avLst/>
          </a:prstGeom>
          <a:noFill/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46" name="Straight Connector 45"/>
          <p:cNvCxnSpPr>
            <a:cxnSpLocks noChangeAspect="1"/>
          </p:cNvCxnSpPr>
          <p:nvPr/>
        </p:nvCxnSpPr>
        <p:spPr>
          <a:xfrm>
            <a:off x="7469695" y="1383897"/>
            <a:ext cx="2665" cy="869666"/>
          </a:xfrm>
          <a:prstGeom prst="line">
            <a:avLst/>
          </a:prstGeom>
          <a:noFill/>
          <a:ln w="38100" cap="flat" cmpd="sng" algn="ctr">
            <a:gradFill>
              <a:gsLst>
                <a:gs pos="0">
                  <a:srgbClr val="4472C4">
                    <a:lumMod val="20000"/>
                    <a:lumOff val="80000"/>
                  </a:srgbClr>
                </a:gs>
                <a:gs pos="36000">
                  <a:srgbClr val="4472C4">
                    <a:lumMod val="40000"/>
                    <a:lumOff val="60000"/>
                  </a:srgbClr>
                </a:gs>
                <a:gs pos="62000">
                  <a:srgbClr val="4472C4">
                    <a:lumMod val="60000"/>
                    <a:lumOff val="40000"/>
                  </a:srgbClr>
                </a:gs>
                <a:gs pos="100000">
                  <a:srgbClr val="4472C4">
                    <a:lumMod val="5000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cxnSp>
        <p:nvCxnSpPr>
          <p:cNvPr id="47" name="Straight Connector 46"/>
          <p:cNvCxnSpPr>
            <a:cxnSpLocks noChangeAspect="1"/>
          </p:cNvCxnSpPr>
          <p:nvPr/>
        </p:nvCxnSpPr>
        <p:spPr>
          <a:xfrm>
            <a:off x="7457493" y="1383897"/>
            <a:ext cx="1400827" cy="869666"/>
          </a:xfrm>
          <a:prstGeom prst="line">
            <a:avLst/>
          </a:prstGeom>
          <a:noFill/>
          <a:ln w="38100" cap="flat" cmpd="sng" algn="ctr">
            <a:gradFill>
              <a:gsLst>
                <a:gs pos="0">
                  <a:srgbClr val="4472C4">
                    <a:lumMod val="20000"/>
                    <a:lumOff val="80000"/>
                  </a:srgbClr>
                </a:gs>
                <a:gs pos="36000">
                  <a:srgbClr val="4472C4">
                    <a:lumMod val="40000"/>
                    <a:lumOff val="60000"/>
                  </a:srgbClr>
                </a:gs>
                <a:gs pos="62000">
                  <a:srgbClr val="4472C4">
                    <a:lumMod val="60000"/>
                    <a:lumOff val="40000"/>
                  </a:srgbClr>
                </a:gs>
                <a:gs pos="100000">
                  <a:srgbClr val="4472C4">
                    <a:lumMod val="5000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sp>
        <p:nvSpPr>
          <p:cNvPr id="48" name="Oval 47"/>
          <p:cNvSpPr>
            <a:spLocks noChangeAspect="1"/>
          </p:cNvSpPr>
          <p:nvPr/>
        </p:nvSpPr>
        <p:spPr>
          <a:xfrm>
            <a:off x="6927409" y="1685969"/>
            <a:ext cx="1097280" cy="1097280"/>
          </a:xfrm>
          <a:prstGeom prst="ellipse">
            <a:avLst/>
          </a:prstGeom>
          <a:noFill/>
          <a:ln w="254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49" name="Oval 48"/>
          <p:cNvSpPr>
            <a:spLocks noChangeAspect="1"/>
          </p:cNvSpPr>
          <p:nvPr/>
        </p:nvSpPr>
        <p:spPr>
          <a:xfrm>
            <a:off x="7949061" y="1993151"/>
            <a:ext cx="103128" cy="103128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50" name="Oval 49"/>
          <p:cNvSpPr>
            <a:spLocks noChangeAspect="1"/>
          </p:cNvSpPr>
          <p:nvPr/>
        </p:nvSpPr>
        <p:spPr>
          <a:xfrm>
            <a:off x="7943707" y="2384693"/>
            <a:ext cx="103128" cy="103128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51" name="Oval 50"/>
          <p:cNvSpPr>
            <a:spLocks noChangeAspect="1"/>
          </p:cNvSpPr>
          <p:nvPr/>
        </p:nvSpPr>
        <p:spPr>
          <a:xfrm>
            <a:off x="6886978" y="2110147"/>
            <a:ext cx="103128" cy="103128"/>
          </a:xfrm>
          <a:prstGeom prst="ellipse">
            <a:avLst/>
          </a:prstGeom>
          <a:solidFill>
            <a:srgbClr val="FF0000">
              <a:alpha val="50000"/>
            </a:srgb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52" name="Oval 51"/>
          <p:cNvSpPr>
            <a:spLocks noChangeAspect="1"/>
          </p:cNvSpPr>
          <p:nvPr/>
        </p:nvSpPr>
        <p:spPr>
          <a:xfrm>
            <a:off x="7029817" y="1785639"/>
            <a:ext cx="103128" cy="103128"/>
          </a:xfrm>
          <a:prstGeom prst="ellipse">
            <a:avLst/>
          </a:prstGeom>
          <a:solidFill>
            <a:srgbClr val="FF0000">
              <a:alpha val="50000"/>
            </a:srgb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cxnSp>
        <p:nvCxnSpPr>
          <p:cNvPr id="53" name="Straight Connector 52"/>
          <p:cNvCxnSpPr>
            <a:cxnSpLocks noChangeAspect="1"/>
          </p:cNvCxnSpPr>
          <p:nvPr/>
        </p:nvCxnSpPr>
        <p:spPr>
          <a:xfrm flipH="1">
            <a:off x="6659314" y="1379696"/>
            <a:ext cx="812938" cy="439034"/>
          </a:xfrm>
          <a:prstGeom prst="line">
            <a:avLst/>
          </a:prstGeom>
          <a:noFill/>
          <a:ln w="38100" cap="flat" cmpd="sng" algn="ctr">
            <a:gradFill>
              <a:gsLst>
                <a:gs pos="0">
                  <a:srgbClr val="4472C4">
                    <a:lumMod val="20000"/>
                    <a:lumOff val="80000"/>
                  </a:srgbClr>
                </a:gs>
                <a:gs pos="36000">
                  <a:srgbClr val="4472C4">
                    <a:lumMod val="40000"/>
                    <a:lumOff val="60000"/>
                  </a:srgbClr>
                </a:gs>
                <a:gs pos="62000">
                  <a:srgbClr val="4472C4">
                    <a:lumMod val="60000"/>
                    <a:lumOff val="40000"/>
                  </a:srgbClr>
                </a:gs>
                <a:gs pos="100000">
                  <a:srgbClr val="4472C4">
                    <a:lumMod val="5000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cxnSp>
        <p:nvCxnSpPr>
          <p:cNvPr id="54" name="Straight Connector 53"/>
          <p:cNvCxnSpPr>
            <a:cxnSpLocks noChangeAspect="1"/>
          </p:cNvCxnSpPr>
          <p:nvPr/>
        </p:nvCxnSpPr>
        <p:spPr>
          <a:xfrm flipH="1" flipV="1">
            <a:off x="6659314" y="1824668"/>
            <a:ext cx="816735" cy="421085"/>
          </a:xfrm>
          <a:prstGeom prst="line">
            <a:avLst/>
          </a:prstGeom>
          <a:noFill/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sp>
        <p:nvSpPr>
          <p:cNvPr id="55" name="Oval 54"/>
          <p:cNvSpPr>
            <a:spLocks noChangeAspect="1"/>
          </p:cNvSpPr>
          <p:nvPr/>
        </p:nvSpPr>
        <p:spPr>
          <a:xfrm>
            <a:off x="3732608" y="3887107"/>
            <a:ext cx="103128" cy="103128"/>
          </a:xfrm>
          <a:prstGeom prst="ellipse">
            <a:avLst/>
          </a:prstGeom>
          <a:solidFill>
            <a:sysClr val="windowText" lastClr="000000">
              <a:alpha val="50000"/>
            </a:sys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56" name="Oval 55"/>
          <p:cNvSpPr>
            <a:spLocks noChangeAspect="1"/>
          </p:cNvSpPr>
          <p:nvPr/>
        </p:nvSpPr>
        <p:spPr>
          <a:xfrm rot="20210323">
            <a:off x="2094517" y="3906439"/>
            <a:ext cx="1120491" cy="1066438"/>
          </a:xfrm>
          <a:prstGeom prst="ellipse">
            <a:avLst/>
          </a:prstGeom>
          <a:noFill/>
          <a:ln w="254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57" name="Oval 56"/>
          <p:cNvSpPr>
            <a:spLocks noChangeAspect="1"/>
          </p:cNvSpPr>
          <p:nvPr/>
        </p:nvSpPr>
        <p:spPr>
          <a:xfrm>
            <a:off x="2185081" y="4056293"/>
            <a:ext cx="103128" cy="103128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58" name="Oval 57"/>
          <p:cNvSpPr>
            <a:spLocks noChangeAspect="1"/>
          </p:cNvSpPr>
          <p:nvPr/>
        </p:nvSpPr>
        <p:spPr>
          <a:xfrm>
            <a:off x="2423040" y="3880429"/>
            <a:ext cx="103128" cy="103128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59" name="Oval 58"/>
          <p:cNvSpPr>
            <a:spLocks noChangeAspect="1"/>
          </p:cNvSpPr>
          <p:nvPr/>
        </p:nvSpPr>
        <p:spPr>
          <a:xfrm>
            <a:off x="2716121" y="4914879"/>
            <a:ext cx="103128" cy="103128"/>
          </a:xfrm>
          <a:prstGeom prst="ellipse">
            <a:avLst/>
          </a:prstGeom>
          <a:solidFill>
            <a:srgbClr val="FF0000">
              <a:alpha val="50000"/>
            </a:srgb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60" name="Oval 59"/>
          <p:cNvSpPr>
            <a:spLocks noChangeAspect="1"/>
          </p:cNvSpPr>
          <p:nvPr/>
        </p:nvSpPr>
        <p:spPr>
          <a:xfrm>
            <a:off x="3029676" y="4705081"/>
            <a:ext cx="103128" cy="103128"/>
          </a:xfrm>
          <a:prstGeom prst="ellipse">
            <a:avLst/>
          </a:prstGeom>
          <a:solidFill>
            <a:srgbClr val="FF0000">
              <a:alpha val="50000"/>
            </a:srgb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7839817" y="2888571"/>
            <a:ext cx="1101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smtClean="0"/>
              <a:t>Side view</a:t>
            </a:r>
            <a:endParaRPr lang="en-US" sz="1800" dirty="0"/>
          </a:p>
        </p:txBody>
      </p:sp>
      <p:sp>
        <p:nvSpPr>
          <p:cNvPr id="62" name="Oval 61"/>
          <p:cNvSpPr>
            <a:spLocks noChangeAspect="1"/>
          </p:cNvSpPr>
          <p:nvPr/>
        </p:nvSpPr>
        <p:spPr>
          <a:xfrm>
            <a:off x="7422629" y="1337144"/>
            <a:ext cx="103128" cy="103128"/>
          </a:xfrm>
          <a:prstGeom prst="ellipse">
            <a:avLst/>
          </a:prstGeom>
          <a:solidFill>
            <a:sysClr val="windowText" lastClr="000000">
              <a:alpha val="50000"/>
            </a:sys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cxnSp>
        <p:nvCxnSpPr>
          <p:cNvPr id="38" name="Straight Connector 37"/>
          <p:cNvCxnSpPr>
            <a:cxnSpLocks noChangeAspect="1"/>
          </p:cNvCxnSpPr>
          <p:nvPr/>
        </p:nvCxnSpPr>
        <p:spPr>
          <a:xfrm flipH="1" flipV="1">
            <a:off x="-470421" y="1201184"/>
            <a:ext cx="4240844" cy="2722926"/>
          </a:xfrm>
          <a:prstGeom prst="line">
            <a:avLst/>
          </a:prstGeom>
          <a:noFill/>
          <a:ln w="38100" cap="flat" cmpd="sng" algn="ctr">
            <a:solidFill>
              <a:sysClr val="windowText" lastClr="000000">
                <a:alpha val="40000"/>
              </a:sysClr>
            </a:solidFill>
            <a:prstDash val="solid"/>
            <a:miter lim="800000"/>
          </a:ln>
          <a:effectLst/>
        </p:spPr>
      </p:cxnSp>
      <p:grpSp>
        <p:nvGrpSpPr>
          <p:cNvPr id="25" name="Group 24"/>
          <p:cNvGrpSpPr>
            <a:grpSpLocks noChangeAspect="1"/>
          </p:cNvGrpSpPr>
          <p:nvPr/>
        </p:nvGrpSpPr>
        <p:grpSpPr>
          <a:xfrm>
            <a:off x="6601460" y="4004609"/>
            <a:ext cx="2476714" cy="2760147"/>
            <a:chOff x="6807060" y="4705081"/>
            <a:chExt cx="1651140" cy="1840098"/>
          </a:xfrm>
        </p:grpSpPr>
        <p:cxnSp>
          <p:nvCxnSpPr>
            <p:cNvPr id="5" name="Straight Connector 4"/>
            <p:cNvCxnSpPr/>
            <p:nvPr/>
          </p:nvCxnSpPr>
          <p:spPr bwMode="auto">
            <a:xfrm flipH="1">
              <a:off x="6938543" y="5357712"/>
              <a:ext cx="531152" cy="838551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6" name="Straight Connector 35"/>
            <p:cNvCxnSpPr/>
            <p:nvPr/>
          </p:nvCxnSpPr>
          <p:spPr bwMode="auto">
            <a:xfrm>
              <a:off x="7476049" y="5342021"/>
              <a:ext cx="390078" cy="1203158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3" name="Straight Connector 62"/>
            <p:cNvCxnSpPr/>
            <p:nvPr/>
          </p:nvCxnSpPr>
          <p:spPr bwMode="auto">
            <a:xfrm>
              <a:off x="7476049" y="5342021"/>
              <a:ext cx="982151" cy="245298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4" name="Straight Connector 63"/>
            <p:cNvCxnSpPr/>
            <p:nvPr/>
          </p:nvCxnSpPr>
          <p:spPr bwMode="auto">
            <a:xfrm flipH="1" flipV="1">
              <a:off x="6807060" y="5018007"/>
              <a:ext cx="668989" cy="324014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5" name="Straight Connector 64"/>
            <p:cNvCxnSpPr/>
            <p:nvPr/>
          </p:nvCxnSpPr>
          <p:spPr bwMode="auto">
            <a:xfrm flipV="1">
              <a:off x="7476049" y="4705081"/>
              <a:ext cx="519222" cy="63694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6" name="Straight Connector 65"/>
            <p:cNvCxnSpPr/>
            <p:nvPr/>
          </p:nvCxnSpPr>
          <p:spPr bwMode="auto">
            <a:xfrm flipV="1">
              <a:off x="7866127" y="5587319"/>
              <a:ext cx="592073" cy="95786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7" name="Straight Connector 66"/>
            <p:cNvCxnSpPr/>
            <p:nvPr/>
          </p:nvCxnSpPr>
          <p:spPr bwMode="auto">
            <a:xfrm>
              <a:off x="7995271" y="4705081"/>
              <a:ext cx="462929" cy="88223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8" name="Straight Connector 67"/>
            <p:cNvCxnSpPr/>
            <p:nvPr/>
          </p:nvCxnSpPr>
          <p:spPr bwMode="auto">
            <a:xfrm flipV="1">
              <a:off x="6807060" y="4705081"/>
              <a:ext cx="1194565" cy="320736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9" name="Straight Connector 68"/>
            <p:cNvCxnSpPr/>
            <p:nvPr/>
          </p:nvCxnSpPr>
          <p:spPr bwMode="auto">
            <a:xfrm>
              <a:off x="6807060" y="5018007"/>
              <a:ext cx="125128" cy="1178256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0" name="Straight Connector 69"/>
            <p:cNvCxnSpPr/>
            <p:nvPr/>
          </p:nvCxnSpPr>
          <p:spPr bwMode="auto">
            <a:xfrm>
              <a:off x="6938542" y="6196263"/>
              <a:ext cx="927585" cy="332796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71" name="TextBox 70"/>
          <p:cNvSpPr txBox="1"/>
          <p:nvPr/>
        </p:nvSpPr>
        <p:spPr>
          <a:xfrm>
            <a:off x="6933686" y="3346509"/>
            <a:ext cx="20185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/>
              <a:t>Top view</a:t>
            </a:r>
          </a:p>
          <a:p>
            <a:r>
              <a:rPr lang="en-US" sz="1800" dirty="0" smtClean="0"/>
              <a:t>Each dot is one pair</a:t>
            </a:r>
            <a:endParaRPr lang="en-US" sz="1800" dirty="0"/>
          </a:p>
        </p:txBody>
      </p:sp>
      <p:sp>
        <p:nvSpPr>
          <p:cNvPr id="72" name="TextBox 71"/>
          <p:cNvSpPr txBox="1"/>
          <p:nvPr/>
        </p:nvSpPr>
        <p:spPr>
          <a:xfrm>
            <a:off x="679139" y="1467871"/>
            <a:ext cx="973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smtClean="0"/>
              <a:t>3D view</a:t>
            </a:r>
            <a:endParaRPr lang="en-US" sz="1800" dirty="0"/>
          </a:p>
        </p:txBody>
      </p:sp>
      <p:sp>
        <p:nvSpPr>
          <p:cNvPr id="27" name="Oval 26"/>
          <p:cNvSpPr/>
          <p:nvPr/>
        </p:nvSpPr>
        <p:spPr>
          <a:xfrm>
            <a:off x="7232366" y="4632253"/>
            <a:ext cx="792283" cy="792283"/>
          </a:xfrm>
          <a:prstGeom prst="ellipse">
            <a:avLst/>
          </a:prstGeom>
          <a:solidFill>
            <a:srgbClr val="FFC000">
              <a:alpha val="53000"/>
            </a:srgbClr>
          </a:solidFill>
          <a:ln w="19050">
            <a:solidFill>
              <a:srgbClr val="FFC000"/>
            </a:solidFill>
          </a:ln>
          <a:scene3d>
            <a:camera prst="orthographicFront"/>
            <a:lightRig rig="threePt" dir="t"/>
          </a:scene3d>
          <a:sp3d prstMaterial="clear">
            <a:bevelT w="1371600" h="1371600"/>
            <a:bevelB w="1371600" h="13716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73" name="Oval 72"/>
          <p:cNvSpPr>
            <a:spLocks noChangeAspect="1"/>
          </p:cNvSpPr>
          <p:nvPr/>
        </p:nvSpPr>
        <p:spPr>
          <a:xfrm>
            <a:off x="7201794" y="4869163"/>
            <a:ext cx="103128" cy="103128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74" name="Oval 73"/>
          <p:cNvSpPr>
            <a:spLocks noChangeAspect="1"/>
          </p:cNvSpPr>
          <p:nvPr/>
        </p:nvSpPr>
        <p:spPr>
          <a:xfrm>
            <a:off x="7253838" y="5213070"/>
            <a:ext cx="103128" cy="103128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75" name="Oval 74"/>
          <p:cNvSpPr>
            <a:spLocks noChangeAspect="1"/>
          </p:cNvSpPr>
          <p:nvPr/>
        </p:nvSpPr>
        <p:spPr>
          <a:xfrm>
            <a:off x="7390618" y="5326323"/>
            <a:ext cx="103128" cy="103128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76" name="Oval 75"/>
          <p:cNvSpPr>
            <a:spLocks noChangeAspect="1"/>
          </p:cNvSpPr>
          <p:nvPr/>
        </p:nvSpPr>
        <p:spPr>
          <a:xfrm>
            <a:off x="7595339" y="5372972"/>
            <a:ext cx="103128" cy="103128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77" name="Oval 76"/>
          <p:cNvSpPr>
            <a:spLocks noChangeAspect="1"/>
          </p:cNvSpPr>
          <p:nvPr/>
        </p:nvSpPr>
        <p:spPr>
          <a:xfrm>
            <a:off x="7788857" y="5326819"/>
            <a:ext cx="103128" cy="103128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78" name="Oval 77"/>
          <p:cNvSpPr>
            <a:spLocks noChangeAspect="1"/>
          </p:cNvSpPr>
          <p:nvPr/>
        </p:nvSpPr>
        <p:spPr>
          <a:xfrm>
            <a:off x="7942937" y="5129417"/>
            <a:ext cx="103128" cy="103128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79" name="Oval 78"/>
          <p:cNvSpPr>
            <a:spLocks noChangeAspect="1"/>
          </p:cNvSpPr>
          <p:nvPr/>
        </p:nvSpPr>
        <p:spPr>
          <a:xfrm>
            <a:off x="7979436" y="4898124"/>
            <a:ext cx="103128" cy="103128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80" name="Oval 79"/>
          <p:cNvSpPr>
            <a:spLocks noChangeAspect="1"/>
          </p:cNvSpPr>
          <p:nvPr/>
        </p:nvSpPr>
        <p:spPr>
          <a:xfrm>
            <a:off x="7857060" y="4684542"/>
            <a:ext cx="103128" cy="103128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81" name="Oval 80"/>
          <p:cNvSpPr>
            <a:spLocks noChangeAspect="1"/>
          </p:cNvSpPr>
          <p:nvPr/>
        </p:nvSpPr>
        <p:spPr>
          <a:xfrm>
            <a:off x="7321021" y="4667999"/>
            <a:ext cx="103128" cy="103128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82" name="Oval 81"/>
          <p:cNvSpPr>
            <a:spLocks noChangeAspect="1"/>
          </p:cNvSpPr>
          <p:nvPr/>
        </p:nvSpPr>
        <p:spPr>
          <a:xfrm>
            <a:off x="7702171" y="4592244"/>
            <a:ext cx="103128" cy="103128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cxnSp>
        <p:nvCxnSpPr>
          <p:cNvPr id="83" name="Straight Connector 82"/>
          <p:cNvCxnSpPr>
            <a:cxnSpLocks noChangeAspect="1"/>
            <a:stCxn id="55" idx="7"/>
          </p:cNvCxnSpPr>
          <p:nvPr/>
        </p:nvCxnSpPr>
        <p:spPr>
          <a:xfrm flipV="1">
            <a:off x="3820633" y="1337144"/>
            <a:ext cx="1954525" cy="2565066"/>
          </a:xfrm>
          <a:prstGeom prst="line">
            <a:avLst/>
          </a:prstGeom>
          <a:noFill/>
          <a:ln w="38100" cap="flat" cmpd="sng" algn="ctr">
            <a:solidFill>
              <a:sysClr val="windowText" lastClr="000000">
                <a:alpha val="40000"/>
              </a:sysClr>
            </a:solidFill>
            <a:prstDash val="solid"/>
            <a:miter lim="800000"/>
          </a:ln>
          <a:effectLst/>
        </p:spPr>
      </p:cxnSp>
      <p:cxnSp>
        <p:nvCxnSpPr>
          <p:cNvPr id="84" name="Straight Connector 83"/>
          <p:cNvCxnSpPr>
            <a:cxnSpLocks noChangeAspect="1"/>
            <a:stCxn id="55" idx="6"/>
          </p:cNvCxnSpPr>
          <p:nvPr/>
        </p:nvCxnSpPr>
        <p:spPr>
          <a:xfrm>
            <a:off x="3835736" y="3938671"/>
            <a:ext cx="2601159" cy="976208"/>
          </a:xfrm>
          <a:prstGeom prst="line">
            <a:avLst/>
          </a:prstGeom>
          <a:noFill/>
          <a:ln w="38100" cap="flat" cmpd="sng" algn="ctr">
            <a:solidFill>
              <a:sysClr val="windowText" lastClr="000000">
                <a:alpha val="40000"/>
              </a:sysClr>
            </a:solidFill>
            <a:prstDash val="solid"/>
            <a:miter lim="800000"/>
          </a:ln>
          <a:effectLst/>
        </p:spPr>
      </p:cxnSp>
      <p:cxnSp>
        <p:nvCxnSpPr>
          <p:cNvPr id="87" name="Straight Connector 86"/>
          <p:cNvCxnSpPr>
            <a:cxnSpLocks noChangeAspect="1"/>
            <a:stCxn id="55" idx="4"/>
          </p:cNvCxnSpPr>
          <p:nvPr/>
        </p:nvCxnSpPr>
        <p:spPr>
          <a:xfrm>
            <a:off x="3784172" y="3990235"/>
            <a:ext cx="727670" cy="2774521"/>
          </a:xfrm>
          <a:prstGeom prst="line">
            <a:avLst/>
          </a:prstGeom>
          <a:noFill/>
          <a:ln w="38100" cap="flat" cmpd="sng" algn="ctr">
            <a:solidFill>
              <a:sysClr val="windowText" lastClr="000000">
                <a:alpha val="40000"/>
              </a:sysClr>
            </a:solidFill>
            <a:prstDash val="solid"/>
            <a:miter lim="800000"/>
          </a:ln>
          <a:effectLst/>
        </p:spPr>
      </p:cxnSp>
      <p:cxnSp>
        <p:nvCxnSpPr>
          <p:cNvPr id="91" name="Straight Connector 90"/>
          <p:cNvCxnSpPr>
            <a:cxnSpLocks noChangeAspect="1"/>
            <a:stCxn id="105" idx="0"/>
          </p:cNvCxnSpPr>
          <p:nvPr/>
        </p:nvCxnSpPr>
        <p:spPr>
          <a:xfrm flipV="1">
            <a:off x="4550960" y="1337145"/>
            <a:ext cx="1234005" cy="1614208"/>
          </a:xfrm>
          <a:prstGeom prst="line">
            <a:avLst/>
          </a:prstGeom>
          <a:noFill/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93" name="Straight Connector 92"/>
          <p:cNvCxnSpPr>
            <a:cxnSpLocks noChangeAspect="1"/>
          </p:cNvCxnSpPr>
          <p:nvPr/>
        </p:nvCxnSpPr>
        <p:spPr>
          <a:xfrm>
            <a:off x="5132917" y="4423791"/>
            <a:ext cx="1357688" cy="509536"/>
          </a:xfrm>
          <a:prstGeom prst="line">
            <a:avLst/>
          </a:prstGeom>
          <a:noFill/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95" name="Straight Connector 94"/>
          <p:cNvCxnSpPr>
            <a:cxnSpLocks noChangeAspect="1"/>
          </p:cNvCxnSpPr>
          <p:nvPr/>
        </p:nvCxnSpPr>
        <p:spPr>
          <a:xfrm>
            <a:off x="4104007" y="5213070"/>
            <a:ext cx="402879" cy="1536132"/>
          </a:xfrm>
          <a:prstGeom prst="line">
            <a:avLst/>
          </a:prstGeom>
          <a:noFill/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sp>
        <p:nvSpPr>
          <p:cNvPr id="97" name="Oval 96"/>
          <p:cNvSpPr>
            <a:spLocks noChangeAspect="1"/>
          </p:cNvSpPr>
          <p:nvPr/>
        </p:nvSpPr>
        <p:spPr>
          <a:xfrm rot="2202551">
            <a:off x="4134526" y="2351794"/>
            <a:ext cx="928397" cy="1066438"/>
          </a:xfrm>
          <a:prstGeom prst="ellipse">
            <a:avLst/>
          </a:prstGeom>
          <a:noFill/>
          <a:ln w="254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98" name="Oval 97"/>
          <p:cNvSpPr>
            <a:spLocks noChangeAspect="1"/>
          </p:cNvSpPr>
          <p:nvPr/>
        </p:nvSpPr>
        <p:spPr>
          <a:xfrm rot="6585230">
            <a:off x="4843358" y="4022885"/>
            <a:ext cx="732557" cy="854121"/>
          </a:xfrm>
          <a:prstGeom prst="ellipse">
            <a:avLst/>
          </a:prstGeom>
          <a:noFill/>
          <a:ln w="254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99" name="Oval 98"/>
          <p:cNvSpPr>
            <a:spLocks noChangeAspect="1"/>
          </p:cNvSpPr>
          <p:nvPr/>
        </p:nvSpPr>
        <p:spPr>
          <a:xfrm rot="9966278">
            <a:off x="3762414" y="4873515"/>
            <a:ext cx="732557" cy="854121"/>
          </a:xfrm>
          <a:prstGeom prst="ellipse">
            <a:avLst/>
          </a:prstGeom>
          <a:noFill/>
          <a:ln w="254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100" name="Oval 99"/>
          <p:cNvSpPr>
            <a:spLocks noChangeAspect="1"/>
          </p:cNvSpPr>
          <p:nvPr/>
        </p:nvSpPr>
        <p:spPr>
          <a:xfrm>
            <a:off x="3739138" y="5063974"/>
            <a:ext cx="103128" cy="103128"/>
          </a:xfrm>
          <a:prstGeom prst="ellipse">
            <a:avLst/>
          </a:prstGeom>
          <a:solidFill>
            <a:srgbClr val="FF0000">
              <a:alpha val="50000"/>
            </a:srgb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101" name="Oval 100"/>
          <p:cNvSpPr>
            <a:spLocks noChangeAspect="1"/>
          </p:cNvSpPr>
          <p:nvPr/>
        </p:nvSpPr>
        <p:spPr>
          <a:xfrm>
            <a:off x="3720122" y="5366321"/>
            <a:ext cx="103128" cy="103128"/>
          </a:xfrm>
          <a:prstGeom prst="ellipse">
            <a:avLst/>
          </a:prstGeom>
          <a:solidFill>
            <a:srgbClr val="FF0000">
              <a:alpha val="50000"/>
            </a:srgb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103" name="Arc 102"/>
          <p:cNvSpPr>
            <a:spLocks noChangeAspect="1"/>
          </p:cNvSpPr>
          <p:nvPr/>
        </p:nvSpPr>
        <p:spPr>
          <a:xfrm rot="9486624">
            <a:off x="2681078" y="3273473"/>
            <a:ext cx="2070756" cy="1982285"/>
          </a:xfrm>
          <a:prstGeom prst="arc">
            <a:avLst>
              <a:gd name="adj1" fmla="val 16200000"/>
              <a:gd name="adj2" fmla="val 682334"/>
            </a:avLst>
          </a:prstGeom>
          <a:noFill/>
          <a:ln w="25400" cap="flat" cmpd="sng" algn="ctr">
            <a:solidFill>
              <a:sysClr val="windowText" lastClr="000000"/>
            </a:solidFill>
            <a:prstDash val="sysDot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104" name="Arc 103"/>
          <p:cNvSpPr>
            <a:spLocks noChangeAspect="1"/>
          </p:cNvSpPr>
          <p:nvPr/>
        </p:nvSpPr>
        <p:spPr>
          <a:xfrm rot="4991542">
            <a:off x="3145853" y="3161267"/>
            <a:ext cx="2070756" cy="1982285"/>
          </a:xfrm>
          <a:prstGeom prst="arc">
            <a:avLst>
              <a:gd name="adj1" fmla="val 17544848"/>
              <a:gd name="adj2" fmla="val 682334"/>
            </a:avLst>
          </a:prstGeom>
          <a:noFill/>
          <a:ln w="25400" cap="flat" cmpd="sng" algn="ctr">
            <a:solidFill>
              <a:sysClr val="windowText" lastClr="000000"/>
            </a:solidFill>
            <a:prstDash val="sysDot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105" name="Arc 104"/>
          <p:cNvSpPr>
            <a:spLocks noChangeAspect="1"/>
          </p:cNvSpPr>
          <p:nvPr/>
        </p:nvSpPr>
        <p:spPr>
          <a:xfrm rot="1870241">
            <a:off x="3006844" y="2866676"/>
            <a:ext cx="2246982" cy="2150982"/>
          </a:xfrm>
          <a:prstGeom prst="arc">
            <a:avLst>
              <a:gd name="adj1" fmla="val 15709904"/>
              <a:gd name="adj2" fmla="val 21209519"/>
            </a:avLst>
          </a:prstGeom>
          <a:noFill/>
          <a:ln w="25400" cap="flat" cmpd="sng" algn="ctr">
            <a:solidFill>
              <a:sysClr val="windowText" lastClr="000000"/>
            </a:solidFill>
            <a:prstDash val="sysDot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106" name="Arc 105"/>
          <p:cNvSpPr>
            <a:spLocks noChangeAspect="1"/>
          </p:cNvSpPr>
          <p:nvPr/>
        </p:nvSpPr>
        <p:spPr>
          <a:xfrm rot="19172688">
            <a:off x="1989878" y="2525420"/>
            <a:ext cx="2968796" cy="2841957"/>
          </a:xfrm>
          <a:prstGeom prst="arc">
            <a:avLst>
              <a:gd name="adj1" fmla="val 15709904"/>
              <a:gd name="adj2" fmla="val 21408001"/>
            </a:avLst>
          </a:prstGeom>
          <a:noFill/>
          <a:ln w="25400" cap="flat" cmpd="sng" algn="ctr">
            <a:solidFill>
              <a:sysClr val="windowText" lastClr="000000"/>
            </a:solidFill>
            <a:prstDash val="sysDot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110" name="Oval 109"/>
          <p:cNvSpPr>
            <a:spLocks noChangeAspect="1"/>
          </p:cNvSpPr>
          <p:nvPr/>
        </p:nvSpPr>
        <p:spPr>
          <a:xfrm>
            <a:off x="4356966" y="4966443"/>
            <a:ext cx="103128" cy="103128"/>
          </a:xfrm>
          <a:prstGeom prst="ellipse">
            <a:avLst/>
          </a:prstGeom>
          <a:solidFill>
            <a:srgbClr val="FF0000">
              <a:alpha val="50000"/>
            </a:srgb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111" name="Oval 110"/>
          <p:cNvSpPr>
            <a:spLocks noChangeAspect="1"/>
          </p:cNvSpPr>
          <p:nvPr/>
        </p:nvSpPr>
        <p:spPr>
          <a:xfrm>
            <a:off x="4444807" y="5238496"/>
            <a:ext cx="103128" cy="103128"/>
          </a:xfrm>
          <a:prstGeom prst="ellipse">
            <a:avLst/>
          </a:prstGeom>
          <a:solidFill>
            <a:srgbClr val="FF0000">
              <a:alpha val="50000"/>
            </a:srgb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112" name="Oval 111"/>
          <p:cNvSpPr>
            <a:spLocks noChangeAspect="1"/>
          </p:cNvSpPr>
          <p:nvPr/>
        </p:nvSpPr>
        <p:spPr>
          <a:xfrm>
            <a:off x="4964975" y="3068080"/>
            <a:ext cx="103128" cy="103128"/>
          </a:xfrm>
          <a:prstGeom prst="ellipse">
            <a:avLst/>
          </a:prstGeom>
          <a:solidFill>
            <a:srgbClr val="FF0000">
              <a:alpha val="50000"/>
            </a:srgb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113" name="Oval 112"/>
          <p:cNvSpPr>
            <a:spLocks noChangeAspect="1"/>
          </p:cNvSpPr>
          <p:nvPr/>
        </p:nvSpPr>
        <p:spPr>
          <a:xfrm>
            <a:off x="4786450" y="3241143"/>
            <a:ext cx="103128" cy="103128"/>
          </a:xfrm>
          <a:prstGeom prst="ellipse">
            <a:avLst/>
          </a:prstGeom>
          <a:solidFill>
            <a:srgbClr val="FF0000">
              <a:alpha val="50000"/>
            </a:srgb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114" name="Oval 113"/>
          <p:cNvSpPr>
            <a:spLocks noChangeAspect="1"/>
          </p:cNvSpPr>
          <p:nvPr/>
        </p:nvSpPr>
        <p:spPr>
          <a:xfrm>
            <a:off x="4857880" y="4625211"/>
            <a:ext cx="103128" cy="103128"/>
          </a:xfrm>
          <a:prstGeom prst="ellipse">
            <a:avLst/>
          </a:prstGeom>
          <a:solidFill>
            <a:srgbClr val="FF0000">
              <a:alpha val="50000"/>
            </a:srgb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115" name="Oval 114"/>
          <p:cNvSpPr>
            <a:spLocks noChangeAspect="1"/>
          </p:cNvSpPr>
          <p:nvPr/>
        </p:nvSpPr>
        <p:spPr>
          <a:xfrm>
            <a:off x="4221761" y="2496384"/>
            <a:ext cx="103128" cy="103128"/>
          </a:xfrm>
          <a:prstGeom prst="ellipse">
            <a:avLst/>
          </a:prstGeom>
          <a:solidFill>
            <a:srgbClr val="FF0000">
              <a:alpha val="50000"/>
            </a:srgb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116" name="Oval 115"/>
          <p:cNvSpPr>
            <a:spLocks noChangeAspect="1"/>
          </p:cNvSpPr>
          <p:nvPr/>
        </p:nvSpPr>
        <p:spPr>
          <a:xfrm>
            <a:off x="5068103" y="4754587"/>
            <a:ext cx="103128" cy="103128"/>
          </a:xfrm>
          <a:prstGeom prst="ellipse">
            <a:avLst/>
          </a:prstGeom>
          <a:solidFill>
            <a:srgbClr val="FF0000">
              <a:alpha val="50000"/>
            </a:srgb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117" name="Oval 116"/>
          <p:cNvSpPr>
            <a:spLocks noChangeAspect="1"/>
          </p:cNvSpPr>
          <p:nvPr/>
        </p:nvSpPr>
        <p:spPr>
          <a:xfrm>
            <a:off x="4064532" y="2781885"/>
            <a:ext cx="103128" cy="103128"/>
          </a:xfrm>
          <a:prstGeom prst="ellipse">
            <a:avLst/>
          </a:prstGeom>
          <a:solidFill>
            <a:srgbClr val="FF0000">
              <a:alpha val="50000"/>
            </a:srgb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118" name="Oval 117"/>
          <p:cNvSpPr>
            <a:spLocks noChangeAspect="1"/>
          </p:cNvSpPr>
          <p:nvPr/>
        </p:nvSpPr>
        <p:spPr>
          <a:xfrm>
            <a:off x="5081353" y="4033644"/>
            <a:ext cx="103128" cy="103128"/>
          </a:xfrm>
          <a:prstGeom prst="ellipse">
            <a:avLst/>
          </a:prstGeom>
          <a:solidFill>
            <a:srgbClr val="FF0000">
              <a:alpha val="50000"/>
            </a:srgb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119" name="Oval 118"/>
          <p:cNvSpPr>
            <a:spLocks noChangeAspect="1"/>
          </p:cNvSpPr>
          <p:nvPr/>
        </p:nvSpPr>
        <p:spPr>
          <a:xfrm>
            <a:off x="5301802" y="4051511"/>
            <a:ext cx="103128" cy="103128"/>
          </a:xfrm>
          <a:prstGeom prst="ellipse">
            <a:avLst/>
          </a:prstGeom>
          <a:solidFill>
            <a:srgbClr val="FF0000">
              <a:alpha val="50000"/>
            </a:srgb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120" name="Oval 119"/>
          <p:cNvSpPr>
            <a:spLocks noChangeAspect="1"/>
          </p:cNvSpPr>
          <p:nvPr/>
        </p:nvSpPr>
        <p:spPr>
          <a:xfrm>
            <a:off x="8379586" y="1691865"/>
            <a:ext cx="1097280" cy="1097280"/>
          </a:xfrm>
          <a:prstGeom prst="ellipse">
            <a:avLst/>
          </a:prstGeom>
          <a:noFill/>
          <a:ln w="254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121" name="Oval 120"/>
          <p:cNvSpPr>
            <a:spLocks noChangeAspect="1"/>
          </p:cNvSpPr>
          <p:nvPr/>
        </p:nvSpPr>
        <p:spPr>
          <a:xfrm>
            <a:off x="8331503" y="2310022"/>
            <a:ext cx="103128" cy="103128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122" name="Oval 121"/>
          <p:cNvSpPr>
            <a:spLocks noChangeAspect="1"/>
          </p:cNvSpPr>
          <p:nvPr/>
        </p:nvSpPr>
        <p:spPr>
          <a:xfrm>
            <a:off x="8332553" y="2065228"/>
            <a:ext cx="103128" cy="103128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1356737316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Reducing the number of Steiner points</a:t>
            </a:r>
            <a:br>
              <a:rPr lang="en-US" dirty="0"/>
            </a:br>
            <a:r>
              <a:rPr lang="en-US" sz="2000" dirty="0" smtClean="0"/>
              <a:t>Overlap edge-circles = </a:t>
            </a:r>
            <a:r>
              <a:rPr lang="en-US" sz="2000" dirty="0"/>
              <a:t>1</a:t>
            </a:r>
            <a:r>
              <a:rPr lang="en-US" sz="2000" dirty="0" smtClean="0"/>
              <a:t> seed pairs per triangle vertex</a:t>
            </a:r>
            <a:endParaRPr lang="en-US" sz="2000" dirty="0"/>
          </a:p>
        </p:txBody>
      </p:sp>
      <p:sp>
        <p:nvSpPr>
          <p:cNvPr id="32" name="Oval 31"/>
          <p:cNvSpPr>
            <a:spLocks noChangeAspect="1"/>
          </p:cNvSpPr>
          <p:nvPr/>
        </p:nvSpPr>
        <p:spPr>
          <a:xfrm>
            <a:off x="1037896" y="1207995"/>
            <a:ext cx="5486400" cy="5486400"/>
          </a:xfrm>
          <a:prstGeom prst="ellipse">
            <a:avLst/>
          </a:prstGeom>
          <a:solidFill>
            <a:srgbClr val="FFC000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w="2743200" h="2743200"/>
            <a:bevelB w="2743200" h="274320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cxnSp>
        <p:nvCxnSpPr>
          <p:cNvPr id="33" name="Straight Connector 32"/>
          <p:cNvCxnSpPr>
            <a:cxnSpLocks noChangeAspect="1"/>
          </p:cNvCxnSpPr>
          <p:nvPr/>
        </p:nvCxnSpPr>
        <p:spPr>
          <a:xfrm flipH="1" flipV="1">
            <a:off x="-464693" y="1200035"/>
            <a:ext cx="2859073" cy="1845906"/>
          </a:xfrm>
          <a:prstGeom prst="line">
            <a:avLst/>
          </a:prstGeom>
          <a:noFill/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34" name="Straight Connector 33"/>
          <p:cNvCxnSpPr>
            <a:cxnSpLocks noChangeAspect="1"/>
          </p:cNvCxnSpPr>
          <p:nvPr/>
        </p:nvCxnSpPr>
        <p:spPr>
          <a:xfrm flipH="1">
            <a:off x="-361567" y="3950109"/>
            <a:ext cx="4145739" cy="1828800"/>
          </a:xfrm>
          <a:prstGeom prst="line">
            <a:avLst/>
          </a:prstGeom>
          <a:noFill/>
          <a:ln w="38100" cap="flat" cmpd="sng" algn="ctr">
            <a:solidFill>
              <a:sysClr val="windowText" lastClr="000000">
                <a:alpha val="39000"/>
              </a:sysClr>
            </a:solidFill>
            <a:prstDash val="solid"/>
            <a:miter lim="800000"/>
          </a:ln>
          <a:effectLst/>
        </p:spPr>
      </p:cxnSp>
      <p:cxnSp>
        <p:nvCxnSpPr>
          <p:cNvPr id="35" name="Straight Connector 34"/>
          <p:cNvCxnSpPr>
            <a:cxnSpLocks noChangeAspect="1"/>
          </p:cNvCxnSpPr>
          <p:nvPr/>
        </p:nvCxnSpPr>
        <p:spPr>
          <a:xfrm flipH="1">
            <a:off x="-361566" y="4431372"/>
            <a:ext cx="3054754" cy="1347537"/>
          </a:xfrm>
          <a:prstGeom prst="line">
            <a:avLst/>
          </a:prstGeom>
          <a:noFill/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sp>
        <p:nvSpPr>
          <p:cNvPr id="44" name="Arc 43"/>
          <p:cNvSpPr>
            <a:spLocks noChangeAspect="1"/>
          </p:cNvSpPr>
          <p:nvPr/>
        </p:nvSpPr>
        <p:spPr>
          <a:xfrm rot="12916606">
            <a:off x="2210362" y="2619765"/>
            <a:ext cx="2070756" cy="1982285"/>
          </a:xfrm>
          <a:prstGeom prst="arc">
            <a:avLst/>
          </a:prstGeom>
          <a:noFill/>
          <a:ln w="25400" cap="flat" cmpd="sng" algn="ctr">
            <a:solidFill>
              <a:sysClr val="windowText" lastClr="000000"/>
            </a:solidFill>
            <a:prstDash val="sysDot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cxnSp>
        <p:nvCxnSpPr>
          <p:cNvPr id="45" name="Straight Connector 44"/>
          <p:cNvCxnSpPr>
            <a:cxnSpLocks noChangeAspect="1"/>
          </p:cNvCxnSpPr>
          <p:nvPr/>
        </p:nvCxnSpPr>
        <p:spPr>
          <a:xfrm flipH="1" flipV="1">
            <a:off x="7472362" y="2243296"/>
            <a:ext cx="1385958" cy="0"/>
          </a:xfrm>
          <a:prstGeom prst="line">
            <a:avLst/>
          </a:prstGeom>
          <a:noFill/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46" name="Straight Connector 45"/>
          <p:cNvCxnSpPr>
            <a:cxnSpLocks noChangeAspect="1"/>
          </p:cNvCxnSpPr>
          <p:nvPr/>
        </p:nvCxnSpPr>
        <p:spPr>
          <a:xfrm>
            <a:off x="7469695" y="1383897"/>
            <a:ext cx="2665" cy="869666"/>
          </a:xfrm>
          <a:prstGeom prst="line">
            <a:avLst/>
          </a:prstGeom>
          <a:noFill/>
          <a:ln w="38100" cap="flat" cmpd="sng" algn="ctr">
            <a:gradFill>
              <a:gsLst>
                <a:gs pos="0">
                  <a:srgbClr val="4472C4">
                    <a:lumMod val="20000"/>
                    <a:lumOff val="80000"/>
                  </a:srgbClr>
                </a:gs>
                <a:gs pos="36000">
                  <a:srgbClr val="4472C4">
                    <a:lumMod val="40000"/>
                    <a:lumOff val="60000"/>
                  </a:srgbClr>
                </a:gs>
                <a:gs pos="62000">
                  <a:srgbClr val="4472C4">
                    <a:lumMod val="60000"/>
                    <a:lumOff val="40000"/>
                  </a:srgbClr>
                </a:gs>
                <a:gs pos="100000">
                  <a:srgbClr val="4472C4">
                    <a:lumMod val="5000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cxnSp>
        <p:nvCxnSpPr>
          <p:cNvPr id="47" name="Straight Connector 46"/>
          <p:cNvCxnSpPr>
            <a:cxnSpLocks noChangeAspect="1"/>
          </p:cNvCxnSpPr>
          <p:nvPr/>
        </p:nvCxnSpPr>
        <p:spPr>
          <a:xfrm>
            <a:off x="7457493" y="1383897"/>
            <a:ext cx="1400827" cy="869666"/>
          </a:xfrm>
          <a:prstGeom prst="line">
            <a:avLst/>
          </a:prstGeom>
          <a:noFill/>
          <a:ln w="38100" cap="flat" cmpd="sng" algn="ctr">
            <a:gradFill>
              <a:gsLst>
                <a:gs pos="0">
                  <a:srgbClr val="4472C4">
                    <a:lumMod val="20000"/>
                    <a:lumOff val="80000"/>
                  </a:srgbClr>
                </a:gs>
                <a:gs pos="36000">
                  <a:srgbClr val="4472C4">
                    <a:lumMod val="40000"/>
                    <a:lumOff val="60000"/>
                  </a:srgbClr>
                </a:gs>
                <a:gs pos="62000">
                  <a:srgbClr val="4472C4">
                    <a:lumMod val="60000"/>
                    <a:lumOff val="40000"/>
                  </a:srgbClr>
                </a:gs>
                <a:gs pos="100000">
                  <a:srgbClr val="4472C4">
                    <a:lumMod val="5000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sp>
        <p:nvSpPr>
          <p:cNvPr id="48" name="Oval 47"/>
          <p:cNvSpPr>
            <a:spLocks noChangeAspect="1"/>
          </p:cNvSpPr>
          <p:nvPr/>
        </p:nvSpPr>
        <p:spPr>
          <a:xfrm>
            <a:off x="6795057" y="1571662"/>
            <a:ext cx="1404094" cy="1404094"/>
          </a:xfrm>
          <a:prstGeom prst="ellipse">
            <a:avLst/>
          </a:prstGeom>
          <a:noFill/>
          <a:ln w="254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51" name="Oval 50"/>
          <p:cNvSpPr>
            <a:spLocks noChangeAspect="1"/>
          </p:cNvSpPr>
          <p:nvPr/>
        </p:nvSpPr>
        <p:spPr>
          <a:xfrm>
            <a:off x="6778691" y="2086083"/>
            <a:ext cx="103128" cy="103128"/>
          </a:xfrm>
          <a:prstGeom prst="ellipse">
            <a:avLst/>
          </a:prstGeom>
          <a:solidFill>
            <a:srgbClr val="FF0000">
              <a:alpha val="50000"/>
            </a:srgb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52" name="Oval 51"/>
          <p:cNvSpPr>
            <a:spLocks noChangeAspect="1"/>
          </p:cNvSpPr>
          <p:nvPr/>
        </p:nvSpPr>
        <p:spPr>
          <a:xfrm>
            <a:off x="6957625" y="1737511"/>
            <a:ext cx="103128" cy="103128"/>
          </a:xfrm>
          <a:prstGeom prst="ellipse">
            <a:avLst/>
          </a:prstGeom>
          <a:solidFill>
            <a:srgbClr val="FF0000">
              <a:alpha val="50000"/>
            </a:srgb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cxnSp>
        <p:nvCxnSpPr>
          <p:cNvPr id="53" name="Straight Connector 52"/>
          <p:cNvCxnSpPr>
            <a:cxnSpLocks noChangeAspect="1"/>
          </p:cNvCxnSpPr>
          <p:nvPr/>
        </p:nvCxnSpPr>
        <p:spPr>
          <a:xfrm flipH="1">
            <a:off x="6659314" y="1379696"/>
            <a:ext cx="812938" cy="439034"/>
          </a:xfrm>
          <a:prstGeom prst="line">
            <a:avLst/>
          </a:prstGeom>
          <a:noFill/>
          <a:ln w="38100" cap="flat" cmpd="sng" algn="ctr">
            <a:gradFill>
              <a:gsLst>
                <a:gs pos="0">
                  <a:srgbClr val="4472C4">
                    <a:lumMod val="20000"/>
                    <a:lumOff val="80000"/>
                  </a:srgbClr>
                </a:gs>
                <a:gs pos="36000">
                  <a:srgbClr val="4472C4">
                    <a:lumMod val="40000"/>
                    <a:lumOff val="60000"/>
                  </a:srgbClr>
                </a:gs>
                <a:gs pos="62000">
                  <a:srgbClr val="4472C4">
                    <a:lumMod val="60000"/>
                    <a:lumOff val="40000"/>
                  </a:srgbClr>
                </a:gs>
                <a:gs pos="100000">
                  <a:srgbClr val="4472C4">
                    <a:lumMod val="5000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cxnSp>
        <p:nvCxnSpPr>
          <p:cNvPr id="54" name="Straight Connector 53"/>
          <p:cNvCxnSpPr>
            <a:cxnSpLocks noChangeAspect="1"/>
          </p:cNvCxnSpPr>
          <p:nvPr/>
        </p:nvCxnSpPr>
        <p:spPr>
          <a:xfrm flipH="1" flipV="1">
            <a:off x="6659314" y="1824668"/>
            <a:ext cx="816735" cy="421085"/>
          </a:xfrm>
          <a:prstGeom prst="line">
            <a:avLst/>
          </a:prstGeom>
          <a:noFill/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sp>
        <p:nvSpPr>
          <p:cNvPr id="55" name="Oval 54"/>
          <p:cNvSpPr>
            <a:spLocks noChangeAspect="1"/>
          </p:cNvSpPr>
          <p:nvPr/>
        </p:nvSpPr>
        <p:spPr>
          <a:xfrm>
            <a:off x="3732608" y="3887107"/>
            <a:ext cx="103128" cy="103128"/>
          </a:xfrm>
          <a:prstGeom prst="ellipse">
            <a:avLst/>
          </a:prstGeom>
          <a:solidFill>
            <a:sysClr val="windowText" lastClr="000000">
              <a:alpha val="50000"/>
            </a:sys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56" name="Oval 55"/>
          <p:cNvSpPr>
            <a:spLocks noChangeAspect="1"/>
          </p:cNvSpPr>
          <p:nvPr/>
        </p:nvSpPr>
        <p:spPr>
          <a:xfrm rot="20210323">
            <a:off x="1206299" y="3675964"/>
            <a:ext cx="2006133" cy="1909357"/>
          </a:xfrm>
          <a:prstGeom prst="ellipse">
            <a:avLst/>
          </a:prstGeom>
          <a:noFill/>
          <a:ln w="254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7839817" y="2900601"/>
            <a:ext cx="1101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smtClean="0"/>
              <a:t>Side view</a:t>
            </a:r>
            <a:endParaRPr lang="en-US" sz="1800" dirty="0"/>
          </a:p>
        </p:txBody>
      </p:sp>
      <p:sp>
        <p:nvSpPr>
          <p:cNvPr id="62" name="Oval 61"/>
          <p:cNvSpPr>
            <a:spLocks noChangeAspect="1"/>
          </p:cNvSpPr>
          <p:nvPr/>
        </p:nvSpPr>
        <p:spPr>
          <a:xfrm>
            <a:off x="7422629" y="1337144"/>
            <a:ext cx="103128" cy="103128"/>
          </a:xfrm>
          <a:prstGeom prst="ellipse">
            <a:avLst/>
          </a:prstGeom>
          <a:solidFill>
            <a:sysClr val="windowText" lastClr="000000">
              <a:alpha val="50000"/>
            </a:sysClr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cxnSp>
        <p:nvCxnSpPr>
          <p:cNvPr id="38" name="Straight Connector 37"/>
          <p:cNvCxnSpPr>
            <a:cxnSpLocks noChangeAspect="1"/>
          </p:cNvCxnSpPr>
          <p:nvPr/>
        </p:nvCxnSpPr>
        <p:spPr>
          <a:xfrm flipH="1" flipV="1">
            <a:off x="-470421" y="1201184"/>
            <a:ext cx="4240844" cy="2722926"/>
          </a:xfrm>
          <a:prstGeom prst="line">
            <a:avLst/>
          </a:prstGeom>
          <a:noFill/>
          <a:ln w="38100" cap="flat" cmpd="sng" algn="ctr">
            <a:solidFill>
              <a:sysClr val="windowText" lastClr="000000">
                <a:alpha val="40000"/>
              </a:sysClr>
            </a:solidFill>
            <a:prstDash val="solid"/>
            <a:miter lim="800000"/>
          </a:ln>
          <a:effectLst/>
        </p:spPr>
      </p:cxnSp>
      <p:grpSp>
        <p:nvGrpSpPr>
          <p:cNvPr id="25" name="Group 24"/>
          <p:cNvGrpSpPr>
            <a:grpSpLocks noChangeAspect="1"/>
          </p:cNvGrpSpPr>
          <p:nvPr/>
        </p:nvGrpSpPr>
        <p:grpSpPr>
          <a:xfrm>
            <a:off x="6601460" y="4004609"/>
            <a:ext cx="2476714" cy="2760147"/>
            <a:chOff x="6807060" y="4705081"/>
            <a:chExt cx="1651140" cy="1840098"/>
          </a:xfrm>
        </p:grpSpPr>
        <p:cxnSp>
          <p:nvCxnSpPr>
            <p:cNvPr id="5" name="Straight Connector 4"/>
            <p:cNvCxnSpPr/>
            <p:nvPr/>
          </p:nvCxnSpPr>
          <p:spPr bwMode="auto">
            <a:xfrm flipH="1">
              <a:off x="6938543" y="5357712"/>
              <a:ext cx="531152" cy="838551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6" name="Straight Connector 35"/>
            <p:cNvCxnSpPr/>
            <p:nvPr/>
          </p:nvCxnSpPr>
          <p:spPr bwMode="auto">
            <a:xfrm>
              <a:off x="7476049" y="5342021"/>
              <a:ext cx="390078" cy="1203158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3" name="Straight Connector 62"/>
            <p:cNvCxnSpPr/>
            <p:nvPr/>
          </p:nvCxnSpPr>
          <p:spPr bwMode="auto">
            <a:xfrm>
              <a:off x="7476049" y="5342021"/>
              <a:ext cx="982151" cy="245298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4" name="Straight Connector 63"/>
            <p:cNvCxnSpPr/>
            <p:nvPr/>
          </p:nvCxnSpPr>
          <p:spPr bwMode="auto">
            <a:xfrm flipH="1" flipV="1">
              <a:off x="6807060" y="5018007"/>
              <a:ext cx="668989" cy="324014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5" name="Straight Connector 64"/>
            <p:cNvCxnSpPr/>
            <p:nvPr/>
          </p:nvCxnSpPr>
          <p:spPr bwMode="auto">
            <a:xfrm flipV="1">
              <a:off x="7476049" y="4705081"/>
              <a:ext cx="519222" cy="63694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6" name="Straight Connector 65"/>
            <p:cNvCxnSpPr/>
            <p:nvPr/>
          </p:nvCxnSpPr>
          <p:spPr bwMode="auto">
            <a:xfrm flipV="1">
              <a:off x="7866127" y="5587319"/>
              <a:ext cx="592073" cy="95786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7" name="Straight Connector 66"/>
            <p:cNvCxnSpPr/>
            <p:nvPr/>
          </p:nvCxnSpPr>
          <p:spPr bwMode="auto">
            <a:xfrm>
              <a:off x="7995271" y="4705081"/>
              <a:ext cx="462929" cy="88223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8" name="Straight Connector 67"/>
            <p:cNvCxnSpPr/>
            <p:nvPr/>
          </p:nvCxnSpPr>
          <p:spPr bwMode="auto">
            <a:xfrm flipV="1">
              <a:off x="6807060" y="4705081"/>
              <a:ext cx="1194565" cy="320736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9" name="Straight Connector 68"/>
            <p:cNvCxnSpPr/>
            <p:nvPr/>
          </p:nvCxnSpPr>
          <p:spPr bwMode="auto">
            <a:xfrm>
              <a:off x="6807060" y="5018007"/>
              <a:ext cx="125128" cy="1178256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0" name="Straight Connector 69"/>
            <p:cNvCxnSpPr/>
            <p:nvPr/>
          </p:nvCxnSpPr>
          <p:spPr bwMode="auto">
            <a:xfrm>
              <a:off x="6938542" y="6196263"/>
              <a:ext cx="927585" cy="332796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71" name="TextBox 70"/>
          <p:cNvSpPr txBox="1"/>
          <p:nvPr/>
        </p:nvSpPr>
        <p:spPr>
          <a:xfrm>
            <a:off x="6933686" y="3346509"/>
            <a:ext cx="20185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/>
              <a:t>Top view</a:t>
            </a:r>
          </a:p>
          <a:p>
            <a:r>
              <a:rPr lang="en-US" sz="1800" dirty="0" smtClean="0"/>
              <a:t>Each dot is one pair</a:t>
            </a:r>
            <a:endParaRPr lang="en-US" sz="1800" dirty="0"/>
          </a:p>
        </p:txBody>
      </p:sp>
      <p:sp>
        <p:nvSpPr>
          <p:cNvPr id="27" name="Oval 26"/>
          <p:cNvSpPr/>
          <p:nvPr/>
        </p:nvSpPr>
        <p:spPr>
          <a:xfrm>
            <a:off x="7232366" y="4632253"/>
            <a:ext cx="792283" cy="792283"/>
          </a:xfrm>
          <a:prstGeom prst="ellipse">
            <a:avLst/>
          </a:prstGeom>
          <a:solidFill>
            <a:srgbClr val="FFC000">
              <a:alpha val="53000"/>
            </a:srgbClr>
          </a:solidFill>
          <a:ln w="19050">
            <a:solidFill>
              <a:srgbClr val="FFC000"/>
            </a:solidFill>
          </a:ln>
          <a:scene3d>
            <a:camera prst="orthographicFront"/>
            <a:lightRig rig="threePt" dir="t"/>
          </a:scene3d>
          <a:sp3d prstMaterial="clear">
            <a:bevelT w="1371600" h="1371600"/>
            <a:bevelB w="1371600" h="13716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73" name="Oval 72"/>
          <p:cNvSpPr>
            <a:spLocks noChangeAspect="1"/>
          </p:cNvSpPr>
          <p:nvPr/>
        </p:nvSpPr>
        <p:spPr>
          <a:xfrm>
            <a:off x="7201387" y="5126000"/>
            <a:ext cx="103128" cy="103128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75" name="Oval 74"/>
          <p:cNvSpPr>
            <a:spLocks noChangeAspect="1"/>
          </p:cNvSpPr>
          <p:nvPr/>
        </p:nvSpPr>
        <p:spPr>
          <a:xfrm>
            <a:off x="7479518" y="5358073"/>
            <a:ext cx="103128" cy="103128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77" name="Oval 76"/>
          <p:cNvSpPr>
            <a:spLocks noChangeAspect="1"/>
          </p:cNvSpPr>
          <p:nvPr/>
        </p:nvSpPr>
        <p:spPr>
          <a:xfrm>
            <a:off x="7896807" y="5237919"/>
            <a:ext cx="103128" cy="103128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79" name="Oval 78"/>
          <p:cNvSpPr>
            <a:spLocks noChangeAspect="1"/>
          </p:cNvSpPr>
          <p:nvPr/>
        </p:nvSpPr>
        <p:spPr>
          <a:xfrm>
            <a:off x="7966736" y="4840974"/>
            <a:ext cx="103128" cy="103128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82" name="Oval 81"/>
          <p:cNvSpPr>
            <a:spLocks noChangeAspect="1"/>
          </p:cNvSpPr>
          <p:nvPr/>
        </p:nvSpPr>
        <p:spPr>
          <a:xfrm>
            <a:off x="7543419" y="4579544"/>
            <a:ext cx="103128" cy="103128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cxnSp>
        <p:nvCxnSpPr>
          <p:cNvPr id="83" name="Straight Connector 82"/>
          <p:cNvCxnSpPr>
            <a:cxnSpLocks noChangeAspect="1"/>
            <a:stCxn id="55" idx="7"/>
          </p:cNvCxnSpPr>
          <p:nvPr/>
        </p:nvCxnSpPr>
        <p:spPr>
          <a:xfrm flipV="1">
            <a:off x="3820633" y="1337144"/>
            <a:ext cx="1954525" cy="2565066"/>
          </a:xfrm>
          <a:prstGeom prst="line">
            <a:avLst/>
          </a:prstGeom>
          <a:noFill/>
          <a:ln w="38100" cap="flat" cmpd="sng" algn="ctr">
            <a:solidFill>
              <a:sysClr val="windowText" lastClr="000000">
                <a:alpha val="40000"/>
              </a:sysClr>
            </a:solidFill>
            <a:prstDash val="solid"/>
            <a:miter lim="800000"/>
          </a:ln>
          <a:effectLst/>
        </p:spPr>
      </p:cxnSp>
      <p:cxnSp>
        <p:nvCxnSpPr>
          <p:cNvPr id="84" name="Straight Connector 83"/>
          <p:cNvCxnSpPr>
            <a:cxnSpLocks noChangeAspect="1"/>
            <a:stCxn id="55" idx="6"/>
          </p:cNvCxnSpPr>
          <p:nvPr/>
        </p:nvCxnSpPr>
        <p:spPr>
          <a:xfrm>
            <a:off x="3835736" y="3938671"/>
            <a:ext cx="2601159" cy="976208"/>
          </a:xfrm>
          <a:prstGeom prst="line">
            <a:avLst/>
          </a:prstGeom>
          <a:noFill/>
          <a:ln w="38100" cap="flat" cmpd="sng" algn="ctr">
            <a:solidFill>
              <a:sysClr val="windowText" lastClr="000000">
                <a:alpha val="40000"/>
              </a:sysClr>
            </a:solidFill>
            <a:prstDash val="solid"/>
            <a:miter lim="800000"/>
          </a:ln>
          <a:effectLst/>
        </p:spPr>
      </p:cxnSp>
      <p:cxnSp>
        <p:nvCxnSpPr>
          <p:cNvPr id="87" name="Straight Connector 86"/>
          <p:cNvCxnSpPr>
            <a:cxnSpLocks noChangeAspect="1"/>
            <a:stCxn id="55" idx="4"/>
          </p:cNvCxnSpPr>
          <p:nvPr/>
        </p:nvCxnSpPr>
        <p:spPr>
          <a:xfrm>
            <a:off x="3784172" y="3990235"/>
            <a:ext cx="727670" cy="2774521"/>
          </a:xfrm>
          <a:prstGeom prst="line">
            <a:avLst/>
          </a:prstGeom>
          <a:noFill/>
          <a:ln w="38100" cap="flat" cmpd="sng" algn="ctr">
            <a:solidFill>
              <a:sysClr val="windowText" lastClr="000000">
                <a:alpha val="40000"/>
              </a:sysClr>
            </a:solidFill>
            <a:prstDash val="solid"/>
            <a:miter lim="800000"/>
          </a:ln>
          <a:effectLst/>
        </p:spPr>
      </p:cxnSp>
      <p:cxnSp>
        <p:nvCxnSpPr>
          <p:cNvPr id="91" name="Straight Connector 90"/>
          <p:cNvCxnSpPr>
            <a:cxnSpLocks noChangeAspect="1"/>
            <a:stCxn id="105" idx="0"/>
          </p:cNvCxnSpPr>
          <p:nvPr/>
        </p:nvCxnSpPr>
        <p:spPr>
          <a:xfrm flipV="1">
            <a:off x="4550960" y="1337145"/>
            <a:ext cx="1234005" cy="1614208"/>
          </a:xfrm>
          <a:prstGeom prst="line">
            <a:avLst/>
          </a:prstGeom>
          <a:noFill/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93" name="Straight Connector 92"/>
          <p:cNvCxnSpPr>
            <a:cxnSpLocks noChangeAspect="1"/>
          </p:cNvCxnSpPr>
          <p:nvPr/>
        </p:nvCxnSpPr>
        <p:spPr>
          <a:xfrm>
            <a:off x="5132917" y="4423791"/>
            <a:ext cx="1357688" cy="509536"/>
          </a:xfrm>
          <a:prstGeom prst="line">
            <a:avLst/>
          </a:prstGeom>
          <a:noFill/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95" name="Straight Connector 94"/>
          <p:cNvCxnSpPr>
            <a:cxnSpLocks noChangeAspect="1"/>
          </p:cNvCxnSpPr>
          <p:nvPr/>
        </p:nvCxnSpPr>
        <p:spPr>
          <a:xfrm>
            <a:off x="4104007" y="5213070"/>
            <a:ext cx="402879" cy="1536132"/>
          </a:xfrm>
          <a:prstGeom prst="line">
            <a:avLst/>
          </a:prstGeom>
          <a:noFill/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sp>
        <p:nvSpPr>
          <p:cNvPr id="97" name="Oval 96"/>
          <p:cNvSpPr>
            <a:spLocks noChangeAspect="1"/>
          </p:cNvSpPr>
          <p:nvPr/>
        </p:nvSpPr>
        <p:spPr>
          <a:xfrm rot="2202551">
            <a:off x="3471270" y="1772983"/>
            <a:ext cx="2641782" cy="1708202"/>
          </a:xfrm>
          <a:prstGeom prst="ellipse">
            <a:avLst/>
          </a:prstGeom>
          <a:noFill/>
          <a:ln w="254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98" name="Oval 97"/>
          <p:cNvSpPr>
            <a:spLocks noChangeAspect="1"/>
          </p:cNvSpPr>
          <p:nvPr/>
        </p:nvSpPr>
        <p:spPr>
          <a:xfrm rot="6585230">
            <a:off x="4394820" y="3511903"/>
            <a:ext cx="1576504" cy="1414952"/>
          </a:xfrm>
          <a:prstGeom prst="ellipse">
            <a:avLst/>
          </a:prstGeom>
          <a:noFill/>
          <a:ln w="254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99" name="Oval 98"/>
          <p:cNvSpPr>
            <a:spLocks noChangeAspect="1"/>
          </p:cNvSpPr>
          <p:nvPr/>
        </p:nvSpPr>
        <p:spPr>
          <a:xfrm rot="9966278">
            <a:off x="2933579" y="4493389"/>
            <a:ext cx="2179221" cy="1668957"/>
          </a:xfrm>
          <a:prstGeom prst="ellipse">
            <a:avLst/>
          </a:prstGeom>
          <a:noFill/>
          <a:ln w="254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103" name="Arc 102"/>
          <p:cNvSpPr>
            <a:spLocks noChangeAspect="1"/>
          </p:cNvSpPr>
          <p:nvPr/>
        </p:nvSpPr>
        <p:spPr>
          <a:xfrm rot="9486624">
            <a:off x="2681078" y="3273473"/>
            <a:ext cx="2070756" cy="1982285"/>
          </a:xfrm>
          <a:prstGeom prst="arc">
            <a:avLst>
              <a:gd name="adj1" fmla="val 16200000"/>
              <a:gd name="adj2" fmla="val 682334"/>
            </a:avLst>
          </a:prstGeom>
          <a:noFill/>
          <a:ln w="25400" cap="flat" cmpd="sng" algn="ctr">
            <a:solidFill>
              <a:sysClr val="windowText" lastClr="000000"/>
            </a:solidFill>
            <a:prstDash val="sysDot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104" name="Arc 103"/>
          <p:cNvSpPr>
            <a:spLocks noChangeAspect="1"/>
          </p:cNvSpPr>
          <p:nvPr/>
        </p:nvSpPr>
        <p:spPr>
          <a:xfrm rot="4991542">
            <a:off x="3145853" y="3161267"/>
            <a:ext cx="2070756" cy="1982285"/>
          </a:xfrm>
          <a:prstGeom prst="arc">
            <a:avLst>
              <a:gd name="adj1" fmla="val 17544848"/>
              <a:gd name="adj2" fmla="val 682334"/>
            </a:avLst>
          </a:prstGeom>
          <a:noFill/>
          <a:ln w="25400" cap="flat" cmpd="sng" algn="ctr">
            <a:solidFill>
              <a:sysClr val="windowText" lastClr="000000"/>
            </a:solidFill>
            <a:prstDash val="sysDot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105" name="Arc 104"/>
          <p:cNvSpPr>
            <a:spLocks noChangeAspect="1"/>
          </p:cNvSpPr>
          <p:nvPr/>
        </p:nvSpPr>
        <p:spPr>
          <a:xfrm rot="1870241">
            <a:off x="3006844" y="2866676"/>
            <a:ext cx="2246982" cy="2150982"/>
          </a:xfrm>
          <a:prstGeom prst="arc">
            <a:avLst>
              <a:gd name="adj1" fmla="val 15709904"/>
              <a:gd name="adj2" fmla="val 21209519"/>
            </a:avLst>
          </a:prstGeom>
          <a:noFill/>
          <a:ln w="25400" cap="flat" cmpd="sng" algn="ctr">
            <a:solidFill>
              <a:sysClr val="windowText" lastClr="000000"/>
            </a:solidFill>
            <a:prstDash val="sysDot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106" name="Arc 105"/>
          <p:cNvSpPr>
            <a:spLocks noChangeAspect="1"/>
          </p:cNvSpPr>
          <p:nvPr/>
        </p:nvSpPr>
        <p:spPr>
          <a:xfrm rot="19172688">
            <a:off x="1989878" y="2525420"/>
            <a:ext cx="2968796" cy="2841957"/>
          </a:xfrm>
          <a:prstGeom prst="arc">
            <a:avLst>
              <a:gd name="adj1" fmla="val 15709904"/>
              <a:gd name="adj2" fmla="val 21408001"/>
            </a:avLst>
          </a:prstGeom>
          <a:noFill/>
          <a:ln w="25400" cap="flat" cmpd="sng" algn="ctr">
            <a:solidFill>
              <a:sysClr val="windowText" lastClr="000000"/>
            </a:solidFill>
            <a:prstDash val="sysDot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120" name="Oval 119"/>
          <p:cNvSpPr>
            <a:spLocks noChangeAspect="1"/>
          </p:cNvSpPr>
          <p:nvPr/>
        </p:nvSpPr>
        <p:spPr>
          <a:xfrm>
            <a:off x="8002336" y="1531185"/>
            <a:ext cx="1474530" cy="1474530"/>
          </a:xfrm>
          <a:prstGeom prst="ellipse">
            <a:avLst/>
          </a:prstGeom>
          <a:noFill/>
          <a:ln w="254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3" name="Arc 2"/>
          <p:cNvSpPr/>
          <p:nvPr/>
        </p:nvSpPr>
        <p:spPr bwMode="auto">
          <a:xfrm rot="2052669">
            <a:off x="124184" y="824598"/>
            <a:ext cx="3657146" cy="3466178"/>
          </a:xfrm>
          <a:prstGeom prst="arc">
            <a:avLst>
              <a:gd name="adj1" fmla="val 16779307"/>
              <a:gd name="adj2" fmla="val 5217301"/>
            </a:avLst>
          </a:prstGeom>
          <a:noFill/>
          <a:ln w="254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40" name="Oval 39"/>
          <p:cNvSpPr>
            <a:spLocks noChangeAspect="1"/>
          </p:cNvSpPr>
          <p:nvPr/>
        </p:nvSpPr>
        <p:spPr>
          <a:xfrm>
            <a:off x="2955657" y="3991913"/>
            <a:ext cx="103128" cy="103128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41" name="Oval 40"/>
          <p:cNvSpPr>
            <a:spLocks noChangeAspect="1"/>
          </p:cNvSpPr>
          <p:nvPr/>
        </p:nvSpPr>
        <p:spPr>
          <a:xfrm>
            <a:off x="1275549" y="4142670"/>
            <a:ext cx="103128" cy="103128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57" name="Oval 56"/>
          <p:cNvSpPr>
            <a:spLocks noChangeAspect="1"/>
          </p:cNvSpPr>
          <p:nvPr/>
        </p:nvSpPr>
        <p:spPr>
          <a:xfrm>
            <a:off x="3579257" y="1976686"/>
            <a:ext cx="103128" cy="103128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58" name="Oval 57"/>
          <p:cNvSpPr>
            <a:spLocks noChangeAspect="1"/>
          </p:cNvSpPr>
          <p:nvPr/>
        </p:nvSpPr>
        <p:spPr>
          <a:xfrm>
            <a:off x="3710503" y="2689082"/>
            <a:ext cx="103128" cy="103128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179001" y="6268314"/>
            <a:ext cx="1973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/>
              <a:t>Half as many seeds</a:t>
            </a:r>
          </a:p>
        </p:txBody>
      </p:sp>
      <p:sp>
        <p:nvSpPr>
          <p:cNvPr id="86" name="Oval 85"/>
          <p:cNvSpPr>
            <a:spLocks noChangeAspect="1"/>
          </p:cNvSpPr>
          <p:nvPr/>
        </p:nvSpPr>
        <p:spPr>
          <a:xfrm>
            <a:off x="4718266" y="3552458"/>
            <a:ext cx="103128" cy="103128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88" name="Oval 87"/>
          <p:cNvSpPr>
            <a:spLocks noChangeAspect="1"/>
          </p:cNvSpPr>
          <p:nvPr/>
        </p:nvSpPr>
        <p:spPr>
          <a:xfrm>
            <a:off x="5570995" y="3525038"/>
            <a:ext cx="103128" cy="103128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89" name="Oval 88"/>
          <p:cNvSpPr>
            <a:spLocks noChangeAspect="1"/>
          </p:cNvSpPr>
          <p:nvPr/>
        </p:nvSpPr>
        <p:spPr>
          <a:xfrm>
            <a:off x="4439354" y="4467065"/>
            <a:ext cx="103128" cy="103128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90" name="Oval 89"/>
          <p:cNvSpPr>
            <a:spLocks noChangeAspect="1"/>
          </p:cNvSpPr>
          <p:nvPr/>
        </p:nvSpPr>
        <p:spPr>
          <a:xfrm>
            <a:off x="5006930" y="4933327"/>
            <a:ext cx="103128" cy="103128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92" name="Oval 91"/>
          <p:cNvSpPr>
            <a:spLocks noChangeAspect="1"/>
          </p:cNvSpPr>
          <p:nvPr/>
        </p:nvSpPr>
        <p:spPr>
          <a:xfrm>
            <a:off x="3116028" y="4830199"/>
            <a:ext cx="103128" cy="103128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94" name="Oval 93"/>
          <p:cNvSpPr>
            <a:spLocks noChangeAspect="1"/>
          </p:cNvSpPr>
          <p:nvPr/>
        </p:nvSpPr>
        <p:spPr>
          <a:xfrm>
            <a:off x="2889132" y="5232545"/>
            <a:ext cx="103128" cy="103128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50" name="Oval 49"/>
          <p:cNvSpPr>
            <a:spLocks noChangeAspect="1"/>
          </p:cNvSpPr>
          <p:nvPr/>
        </p:nvSpPr>
        <p:spPr>
          <a:xfrm>
            <a:off x="8051995" y="2541109"/>
            <a:ext cx="103128" cy="103128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49" name="Oval 48"/>
          <p:cNvSpPr>
            <a:spLocks noChangeAspect="1"/>
          </p:cNvSpPr>
          <p:nvPr/>
        </p:nvSpPr>
        <p:spPr>
          <a:xfrm>
            <a:off x="8033285" y="1872831"/>
            <a:ext cx="103128" cy="103128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845937" y="1122225"/>
            <a:ext cx="265168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Section 3.2</a:t>
            </a:r>
          </a:p>
          <a:p>
            <a:r>
              <a:rPr lang="en-US" sz="2000" dirty="0" smtClean="0"/>
              <a:t>Equations for edge radii</a:t>
            </a:r>
          </a:p>
          <a:p>
            <a:r>
              <a:rPr lang="en-US" sz="2000" dirty="0" smtClean="0"/>
              <a:t>Nonobtuse -&gt; feasible</a:t>
            </a:r>
          </a:p>
        </p:txBody>
      </p:sp>
    </p:spTree>
    <p:extLst>
      <p:ext uri="{BB962C8B-B14F-4D97-AF65-F5344CB8AC3E}">
        <p14:creationId xmlns:p14="http://schemas.microsoft.com/office/powerpoint/2010/main" val="2102853261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Reducing the number of Steiner points</a:t>
            </a:r>
            <a:br>
              <a:rPr lang="en-US" dirty="0"/>
            </a:br>
            <a:r>
              <a:rPr lang="en-US" sz="2000" dirty="0" smtClean="0"/>
              <a:t>Overlap vertex-spheres, shared pair for each vertex of an edge </a:t>
            </a:r>
            <a:r>
              <a:rPr lang="en-US" sz="2000" dirty="0" err="1" smtClean="0"/>
              <a:t>VoroCrust</a:t>
            </a:r>
            <a:r>
              <a:rPr lang="en-US" sz="2000" dirty="0" smtClean="0"/>
              <a:t> future/concurrent work</a:t>
            </a:r>
            <a:endParaRPr lang="en-US" sz="2000" dirty="0"/>
          </a:p>
        </p:txBody>
      </p:sp>
      <p:sp>
        <p:nvSpPr>
          <p:cNvPr id="72" name="TextBox 71"/>
          <p:cNvSpPr txBox="1"/>
          <p:nvPr/>
        </p:nvSpPr>
        <p:spPr>
          <a:xfrm>
            <a:off x="150921" y="5250643"/>
            <a:ext cx="244169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/>
              <a:t>Overlap vertex spheres </a:t>
            </a:r>
            <a:br>
              <a:rPr lang="en-US" sz="1800" dirty="0" smtClean="0"/>
            </a:br>
            <a:r>
              <a:rPr lang="en-US" sz="1800" dirty="0" smtClean="0"/>
              <a:t>    for an edge</a:t>
            </a:r>
          </a:p>
          <a:p>
            <a:r>
              <a:rPr lang="en-US" sz="1800" dirty="0" smtClean="0"/>
              <a:t>One third as many seeds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154871" y="5279831"/>
            <a:ext cx="311174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/>
              <a:t>Triple overlap vertex spheres </a:t>
            </a:r>
            <a:br>
              <a:rPr lang="en-US" sz="1800" dirty="0" smtClean="0"/>
            </a:br>
            <a:r>
              <a:rPr lang="en-US" sz="1800" dirty="0" smtClean="0"/>
              <a:t>    for a triangle</a:t>
            </a:r>
          </a:p>
          <a:p>
            <a:r>
              <a:rPr lang="en-US" sz="1800" dirty="0" smtClean="0"/>
              <a:t>= both reductions</a:t>
            </a:r>
          </a:p>
          <a:p>
            <a:r>
              <a:rPr lang="en-US" sz="1800" dirty="0" smtClean="0"/>
              <a:t>= 1/2 x 1/3 = 1/6 as many seeds</a:t>
            </a:r>
          </a:p>
          <a:p>
            <a:r>
              <a:rPr lang="en-US" sz="1800" dirty="0" smtClean="0"/>
              <a:t>One seed pair per triangle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50783" y="1943954"/>
            <a:ext cx="773827" cy="2729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/>
              <a:t>Top view</a:t>
            </a:r>
          </a:p>
        </p:txBody>
      </p:sp>
      <p:grpSp>
        <p:nvGrpSpPr>
          <p:cNvPr id="74" name="Group 73"/>
          <p:cNvGrpSpPr>
            <a:grpSpLocks noChangeAspect="1"/>
          </p:cNvGrpSpPr>
          <p:nvPr/>
        </p:nvGrpSpPr>
        <p:grpSpPr>
          <a:xfrm>
            <a:off x="505559" y="2556700"/>
            <a:ext cx="1830146" cy="2039586"/>
            <a:chOff x="6807060" y="4705081"/>
            <a:chExt cx="1651140" cy="1840098"/>
          </a:xfrm>
        </p:grpSpPr>
        <p:cxnSp>
          <p:nvCxnSpPr>
            <p:cNvPr id="76" name="Straight Connector 75"/>
            <p:cNvCxnSpPr/>
            <p:nvPr/>
          </p:nvCxnSpPr>
          <p:spPr bwMode="auto">
            <a:xfrm flipH="1">
              <a:off x="6938543" y="5357712"/>
              <a:ext cx="531152" cy="838551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8" name="Straight Connector 77"/>
            <p:cNvCxnSpPr/>
            <p:nvPr/>
          </p:nvCxnSpPr>
          <p:spPr bwMode="auto">
            <a:xfrm>
              <a:off x="7476049" y="5342021"/>
              <a:ext cx="390078" cy="1203158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0" name="Straight Connector 79"/>
            <p:cNvCxnSpPr/>
            <p:nvPr/>
          </p:nvCxnSpPr>
          <p:spPr bwMode="auto">
            <a:xfrm>
              <a:off x="7476049" y="5342021"/>
              <a:ext cx="982151" cy="245298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1" name="Straight Connector 80"/>
            <p:cNvCxnSpPr/>
            <p:nvPr/>
          </p:nvCxnSpPr>
          <p:spPr bwMode="auto">
            <a:xfrm flipH="1" flipV="1">
              <a:off x="6807060" y="5018007"/>
              <a:ext cx="668989" cy="324014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6" name="Straight Connector 95"/>
            <p:cNvCxnSpPr/>
            <p:nvPr/>
          </p:nvCxnSpPr>
          <p:spPr bwMode="auto">
            <a:xfrm flipV="1">
              <a:off x="7476049" y="4705081"/>
              <a:ext cx="519222" cy="63694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0" name="Straight Connector 99"/>
            <p:cNvCxnSpPr/>
            <p:nvPr/>
          </p:nvCxnSpPr>
          <p:spPr bwMode="auto">
            <a:xfrm flipV="1">
              <a:off x="7866127" y="5587319"/>
              <a:ext cx="592073" cy="95786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1" name="Straight Connector 100"/>
            <p:cNvCxnSpPr/>
            <p:nvPr/>
          </p:nvCxnSpPr>
          <p:spPr bwMode="auto">
            <a:xfrm>
              <a:off x="7995271" y="4705081"/>
              <a:ext cx="462929" cy="88223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7" name="Straight Connector 106"/>
            <p:cNvCxnSpPr/>
            <p:nvPr/>
          </p:nvCxnSpPr>
          <p:spPr bwMode="auto">
            <a:xfrm flipV="1">
              <a:off x="6807060" y="4705081"/>
              <a:ext cx="1194565" cy="320736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8" name="Straight Connector 107"/>
            <p:cNvCxnSpPr/>
            <p:nvPr/>
          </p:nvCxnSpPr>
          <p:spPr bwMode="auto">
            <a:xfrm>
              <a:off x="6807060" y="5018007"/>
              <a:ext cx="125128" cy="1178256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9" name="Straight Connector 108"/>
            <p:cNvCxnSpPr/>
            <p:nvPr/>
          </p:nvCxnSpPr>
          <p:spPr bwMode="auto">
            <a:xfrm>
              <a:off x="6938542" y="6196263"/>
              <a:ext cx="927585" cy="332796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10" name="Oval 109"/>
          <p:cNvSpPr/>
          <p:nvPr/>
        </p:nvSpPr>
        <p:spPr>
          <a:xfrm>
            <a:off x="687259" y="2700419"/>
            <a:ext cx="1197008" cy="1197008"/>
          </a:xfrm>
          <a:prstGeom prst="ellipse">
            <a:avLst/>
          </a:prstGeom>
          <a:solidFill>
            <a:srgbClr val="FFC000">
              <a:alpha val="53000"/>
            </a:srgbClr>
          </a:solidFill>
          <a:ln w="19050">
            <a:solidFill>
              <a:srgbClr val="FFC000"/>
            </a:solidFill>
          </a:ln>
          <a:scene3d>
            <a:camera prst="orthographicFront"/>
            <a:lightRig rig="threePt" dir="t"/>
          </a:scene3d>
          <a:sp3d prstMaterial="clear">
            <a:bevelT w="1371600" h="1371600"/>
            <a:bevelB w="1371600" h="13716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116" name="Oval 115"/>
          <p:cNvSpPr/>
          <p:nvPr/>
        </p:nvSpPr>
        <p:spPr>
          <a:xfrm>
            <a:off x="1673531" y="2893095"/>
            <a:ext cx="1247387" cy="1247388"/>
          </a:xfrm>
          <a:prstGeom prst="ellipse">
            <a:avLst/>
          </a:prstGeom>
          <a:solidFill>
            <a:srgbClr val="FFC000">
              <a:alpha val="53000"/>
            </a:srgbClr>
          </a:solidFill>
          <a:ln w="19050">
            <a:solidFill>
              <a:srgbClr val="FFC000"/>
            </a:solidFill>
          </a:ln>
          <a:scene3d>
            <a:camera prst="orthographicFront"/>
            <a:lightRig rig="threePt" dir="t"/>
          </a:scene3d>
          <a:sp3d prstMaterial="clear">
            <a:bevelT w="1371600" h="1371600"/>
            <a:bevelB w="1371600" h="13716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118" name="Oval 117"/>
          <p:cNvSpPr/>
          <p:nvPr/>
        </p:nvSpPr>
        <p:spPr>
          <a:xfrm>
            <a:off x="1392167" y="2133433"/>
            <a:ext cx="880689" cy="880689"/>
          </a:xfrm>
          <a:prstGeom prst="ellipse">
            <a:avLst/>
          </a:prstGeom>
          <a:solidFill>
            <a:srgbClr val="FFC000">
              <a:alpha val="53000"/>
            </a:srgbClr>
          </a:solidFill>
          <a:ln w="19050">
            <a:solidFill>
              <a:srgbClr val="FFC000"/>
            </a:solidFill>
          </a:ln>
          <a:scene3d>
            <a:camera prst="orthographicFront"/>
            <a:lightRig rig="threePt" dir="t"/>
          </a:scene3d>
          <a:sp3d prstMaterial="clear">
            <a:bevelT w="1371600" h="1371600"/>
            <a:bevelB w="1371600" h="13716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119" name="Oval 118"/>
          <p:cNvSpPr/>
          <p:nvPr/>
        </p:nvSpPr>
        <p:spPr>
          <a:xfrm>
            <a:off x="74955" y="3590606"/>
            <a:ext cx="1190711" cy="1190711"/>
          </a:xfrm>
          <a:prstGeom prst="ellipse">
            <a:avLst/>
          </a:prstGeom>
          <a:solidFill>
            <a:srgbClr val="FFC000">
              <a:alpha val="53000"/>
            </a:srgbClr>
          </a:solidFill>
          <a:ln w="19050">
            <a:solidFill>
              <a:srgbClr val="FFC000"/>
            </a:solidFill>
          </a:ln>
          <a:scene3d>
            <a:camera prst="orthographicFront"/>
            <a:lightRig rig="threePt" dir="t"/>
          </a:scene3d>
          <a:sp3d prstMaterial="clear">
            <a:bevelT w="1371600" h="1371600"/>
            <a:bevelB w="1371600" h="13716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121" name="Oval 120"/>
          <p:cNvSpPr/>
          <p:nvPr/>
        </p:nvSpPr>
        <p:spPr>
          <a:xfrm>
            <a:off x="1030446" y="3851781"/>
            <a:ext cx="1193654" cy="1193655"/>
          </a:xfrm>
          <a:prstGeom prst="ellipse">
            <a:avLst/>
          </a:prstGeom>
          <a:solidFill>
            <a:srgbClr val="FFC000">
              <a:alpha val="53000"/>
            </a:srgbClr>
          </a:solidFill>
          <a:ln w="19050">
            <a:solidFill>
              <a:srgbClr val="FFC000"/>
            </a:solidFill>
          </a:ln>
          <a:scene3d>
            <a:camera prst="orthographicFront"/>
            <a:lightRig rig="threePt" dir="t"/>
          </a:scene3d>
          <a:sp3d prstMaterial="clear">
            <a:bevelT w="1371600" h="1371600"/>
            <a:bevelB w="1371600" h="13716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122" name="Oval 121"/>
          <p:cNvSpPr/>
          <p:nvPr/>
        </p:nvSpPr>
        <p:spPr>
          <a:xfrm>
            <a:off x="159519" y="2564887"/>
            <a:ext cx="716797" cy="716797"/>
          </a:xfrm>
          <a:prstGeom prst="ellipse">
            <a:avLst/>
          </a:prstGeom>
          <a:solidFill>
            <a:srgbClr val="FFC000">
              <a:alpha val="53000"/>
            </a:srgbClr>
          </a:solidFill>
          <a:ln w="19050">
            <a:solidFill>
              <a:srgbClr val="FFC000"/>
            </a:solidFill>
          </a:ln>
          <a:scene3d>
            <a:camera prst="orthographicFront"/>
            <a:lightRig rig="threePt" dir="t"/>
          </a:scene3d>
          <a:sp3d prstMaterial="clear">
            <a:bevelT w="1371600" h="1371600"/>
            <a:bevelB w="1371600" h="13716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111" name="Oval 110"/>
          <p:cNvSpPr>
            <a:spLocks noChangeAspect="1"/>
          </p:cNvSpPr>
          <p:nvPr/>
        </p:nvSpPr>
        <p:spPr>
          <a:xfrm>
            <a:off x="612297" y="3224039"/>
            <a:ext cx="110981" cy="11098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112" name="Oval 111"/>
          <p:cNvSpPr>
            <a:spLocks noChangeAspect="1"/>
          </p:cNvSpPr>
          <p:nvPr/>
        </p:nvSpPr>
        <p:spPr>
          <a:xfrm>
            <a:off x="1144233" y="3841330"/>
            <a:ext cx="110981" cy="11098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113" name="Oval 112"/>
          <p:cNvSpPr>
            <a:spLocks noChangeAspect="1"/>
          </p:cNvSpPr>
          <p:nvPr/>
        </p:nvSpPr>
        <p:spPr>
          <a:xfrm>
            <a:off x="1516090" y="3793188"/>
            <a:ext cx="110981" cy="11098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114" name="Oval 113"/>
          <p:cNvSpPr>
            <a:spLocks noChangeAspect="1"/>
          </p:cNvSpPr>
          <p:nvPr/>
        </p:nvSpPr>
        <p:spPr>
          <a:xfrm>
            <a:off x="1349303" y="2629861"/>
            <a:ext cx="110981" cy="11098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115" name="Oval 114"/>
          <p:cNvSpPr>
            <a:spLocks noChangeAspect="1"/>
          </p:cNvSpPr>
          <p:nvPr/>
        </p:nvSpPr>
        <p:spPr>
          <a:xfrm>
            <a:off x="825664" y="2788491"/>
            <a:ext cx="110981" cy="11098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123" name="Oval 122"/>
          <p:cNvSpPr>
            <a:spLocks noChangeAspect="1"/>
          </p:cNvSpPr>
          <p:nvPr/>
        </p:nvSpPr>
        <p:spPr>
          <a:xfrm>
            <a:off x="1314991" y="3861348"/>
            <a:ext cx="110981" cy="11098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124" name="Oval 123"/>
          <p:cNvSpPr>
            <a:spLocks noChangeAspect="1"/>
          </p:cNvSpPr>
          <p:nvPr/>
        </p:nvSpPr>
        <p:spPr>
          <a:xfrm>
            <a:off x="1655377" y="3682265"/>
            <a:ext cx="110981" cy="11098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125" name="Oval 124"/>
          <p:cNvSpPr>
            <a:spLocks noChangeAspect="1"/>
          </p:cNvSpPr>
          <p:nvPr/>
        </p:nvSpPr>
        <p:spPr>
          <a:xfrm>
            <a:off x="1793823" y="3062462"/>
            <a:ext cx="110981" cy="11098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126" name="Oval 125"/>
          <p:cNvSpPr>
            <a:spLocks noChangeAspect="1"/>
          </p:cNvSpPr>
          <p:nvPr/>
        </p:nvSpPr>
        <p:spPr>
          <a:xfrm>
            <a:off x="699001" y="3534931"/>
            <a:ext cx="110981" cy="11098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127" name="Oval 126"/>
          <p:cNvSpPr>
            <a:spLocks noChangeAspect="1"/>
          </p:cNvSpPr>
          <p:nvPr/>
        </p:nvSpPr>
        <p:spPr>
          <a:xfrm>
            <a:off x="1179093" y="3966766"/>
            <a:ext cx="110981" cy="11098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128" name="Oval 127"/>
          <p:cNvSpPr>
            <a:spLocks noChangeAspect="1"/>
          </p:cNvSpPr>
          <p:nvPr/>
        </p:nvSpPr>
        <p:spPr>
          <a:xfrm>
            <a:off x="1717612" y="3825784"/>
            <a:ext cx="110981" cy="11098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129" name="Oval 128"/>
          <p:cNvSpPr>
            <a:spLocks noChangeAspect="1"/>
          </p:cNvSpPr>
          <p:nvPr/>
        </p:nvSpPr>
        <p:spPr>
          <a:xfrm>
            <a:off x="1901356" y="2956622"/>
            <a:ext cx="110981" cy="11098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130" name="Oval 129"/>
          <p:cNvSpPr>
            <a:spLocks noChangeAspect="1"/>
          </p:cNvSpPr>
          <p:nvPr/>
        </p:nvSpPr>
        <p:spPr>
          <a:xfrm>
            <a:off x="1746401" y="2940109"/>
            <a:ext cx="110981" cy="11098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131" name="Oval 130"/>
          <p:cNvSpPr>
            <a:spLocks noChangeAspect="1"/>
          </p:cNvSpPr>
          <p:nvPr/>
        </p:nvSpPr>
        <p:spPr>
          <a:xfrm>
            <a:off x="2096953" y="2860092"/>
            <a:ext cx="110981" cy="11098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132" name="Oval 131"/>
          <p:cNvSpPr>
            <a:spLocks noChangeAspect="1"/>
          </p:cNvSpPr>
          <p:nvPr/>
        </p:nvSpPr>
        <p:spPr>
          <a:xfrm>
            <a:off x="2105843" y="4093354"/>
            <a:ext cx="110981" cy="11098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133" name="Oval 132"/>
          <p:cNvSpPr>
            <a:spLocks noChangeAspect="1"/>
          </p:cNvSpPr>
          <p:nvPr/>
        </p:nvSpPr>
        <p:spPr>
          <a:xfrm>
            <a:off x="985622" y="4617896"/>
            <a:ext cx="110981" cy="11098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grpSp>
        <p:nvGrpSpPr>
          <p:cNvPr id="137" name="Group 136"/>
          <p:cNvGrpSpPr>
            <a:grpSpLocks noChangeAspect="1"/>
          </p:cNvGrpSpPr>
          <p:nvPr/>
        </p:nvGrpSpPr>
        <p:grpSpPr>
          <a:xfrm>
            <a:off x="3888190" y="2348883"/>
            <a:ext cx="1830146" cy="2039587"/>
            <a:chOff x="6807060" y="4705081"/>
            <a:chExt cx="1651140" cy="1840098"/>
          </a:xfrm>
        </p:grpSpPr>
        <p:cxnSp>
          <p:nvCxnSpPr>
            <p:cNvPr id="160" name="Straight Connector 159"/>
            <p:cNvCxnSpPr/>
            <p:nvPr/>
          </p:nvCxnSpPr>
          <p:spPr bwMode="auto">
            <a:xfrm flipH="1">
              <a:off x="6938543" y="5357712"/>
              <a:ext cx="531152" cy="838551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1" name="Straight Connector 160"/>
            <p:cNvCxnSpPr/>
            <p:nvPr/>
          </p:nvCxnSpPr>
          <p:spPr bwMode="auto">
            <a:xfrm>
              <a:off x="7476049" y="5342021"/>
              <a:ext cx="390078" cy="1203158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2" name="Straight Connector 161"/>
            <p:cNvCxnSpPr/>
            <p:nvPr/>
          </p:nvCxnSpPr>
          <p:spPr bwMode="auto">
            <a:xfrm>
              <a:off x="7476049" y="5342021"/>
              <a:ext cx="982151" cy="245298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3" name="Straight Connector 162"/>
            <p:cNvCxnSpPr/>
            <p:nvPr/>
          </p:nvCxnSpPr>
          <p:spPr bwMode="auto">
            <a:xfrm flipH="1" flipV="1">
              <a:off x="6807060" y="5018007"/>
              <a:ext cx="668989" cy="324014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4" name="Straight Connector 163"/>
            <p:cNvCxnSpPr/>
            <p:nvPr/>
          </p:nvCxnSpPr>
          <p:spPr bwMode="auto">
            <a:xfrm flipV="1">
              <a:off x="7476049" y="4705081"/>
              <a:ext cx="519222" cy="63694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5" name="Straight Connector 164"/>
            <p:cNvCxnSpPr/>
            <p:nvPr/>
          </p:nvCxnSpPr>
          <p:spPr bwMode="auto">
            <a:xfrm flipV="1">
              <a:off x="7866127" y="5587319"/>
              <a:ext cx="592073" cy="95786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6" name="Straight Connector 165"/>
            <p:cNvCxnSpPr/>
            <p:nvPr/>
          </p:nvCxnSpPr>
          <p:spPr bwMode="auto">
            <a:xfrm>
              <a:off x="7995271" y="4705081"/>
              <a:ext cx="462929" cy="882238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7" name="Straight Connector 166"/>
            <p:cNvCxnSpPr/>
            <p:nvPr/>
          </p:nvCxnSpPr>
          <p:spPr bwMode="auto">
            <a:xfrm flipV="1">
              <a:off x="6807060" y="4705081"/>
              <a:ext cx="1194565" cy="320736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8" name="Straight Connector 167"/>
            <p:cNvCxnSpPr/>
            <p:nvPr/>
          </p:nvCxnSpPr>
          <p:spPr bwMode="auto">
            <a:xfrm>
              <a:off x="6807060" y="5018007"/>
              <a:ext cx="125128" cy="1178256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9" name="Straight Connector 168"/>
            <p:cNvCxnSpPr/>
            <p:nvPr/>
          </p:nvCxnSpPr>
          <p:spPr bwMode="auto">
            <a:xfrm>
              <a:off x="6938542" y="6196263"/>
              <a:ext cx="927585" cy="332796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38" name="Oval 137"/>
          <p:cNvSpPr/>
          <p:nvPr/>
        </p:nvSpPr>
        <p:spPr>
          <a:xfrm>
            <a:off x="4069890" y="2492601"/>
            <a:ext cx="1197008" cy="1197008"/>
          </a:xfrm>
          <a:prstGeom prst="ellipse">
            <a:avLst/>
          </a:prstGeom>
          <a:solidFill>
            <a:srgbClr val="FFC000">
              <a:alpha val="53000"/>
            </a:srgbClr>
          </a:solidFill>
          <a:ln w="19050">
            <a:solidFill>
              <a:srgbClr val="FFC000"/>
            </a:solidFill>
          </a:ln>
          <a:scene3d>
            <a:camera prst="orthographicFront"/>
            <a:lightRig rig="threePt" dir="t"/>
          </a:scene3d>
          <a:sp3d prstMaterial="clear">
            <a:bevelT w="1371600" h="1371600"/>
            <a:bevelB w="1371600" h="13716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139" name="Oval 138"/>
          <p:cNvSpPr/>
          <p:nvPr/>
        </p:nvSpPr>
        <p:spPr>
          <a:xfrm>
            <a:off x="4892235" y="2592478"/>
            <a:ext cx="1420206" cy="1420207"/>
          </a:xfrm>
          <a:prstGeom prst="ellipse">
            <a:avLst/>
          </a:prstGeom>
          <a:solidFill>
            <a:srgbClr val="FFC000">
              <a:alpha val="53000"/>
            </a:srgbClr>
          </a:solidFill>
          <a:ln w="19050">
            <a:solidFill>
              <a:srgbClr val="FFC000"/>
            </a:solidFill>
          </a:ln>
          <a:scene3d>
            <a:camera prst="orthographicFront"/>
            <a:lightRig rig="threePt" dir="t"/>
          </a:scene3d>
          <a:sp3d prstMaterial="clear">
            <a:bevelT w="1371600" h="1371600"/>
            <a:bevelB w="1371600" h="13716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140" name="Oval 139"/>
          <p:cNvSpPr/>
          <p:nvPr/>
        </p:nvSpPr>
        <p:spPr>
          <a:xfrm>
            <a:off x="4479498" y="1639206"/>
            <a:ext cx="1380476" cy="1380476"/>
          </a:xfrm>
          <a:prstGeom prst="ellipse">
            <a:avLst/>
          </a:prstGeom>
          <a:solidFill>
            <a:srgbClr val="FFC000">
              <a:alpha val="53000"/>
            </a:srgbClr>
          </a:solidFill>
          <a:ln w="19050">
            <a:solidFill>
              <a:srgbClr val="FFC000"/>
            </a:solidFill>
          </a:ln>
          <a:scene3d>
            <a:camera prst="orthographicFront"/>
            <a:lightRig rig="threePt" dir="t"/>
          </a:scene3d>
          <a:sp3d prstMaterial="clear">
            <a:bevelT w="1371600" h="1371600"/>
            <a:bevelB w="1371600" h="13716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141" name="Oval 140"/>
          <p:cNvSpPr/>
          <p:nvPr/>
        </p:nvSpPr>
        <p:spPr>
          <a:xfrm>
            <a:off x="3343863" y="3295739"/>
            <a:ext cx="1357781" cy="1357781"/>
          </a:xfrm>
          <a:prstGeom prst="ellipse">
            <a:avLst/>
          </a:prstGeom>
          <a:solidFill>
            <a:srgbClr val="FFC000">
              <a:alpha val="53000"/>
            </a:srgbClr>
          </a:solidFill>
          <a:ln w="19050">
            <a:solidFill>
              <a:srgbClr val="FFC000"/>
            </a:solidFill>
          </a:ln>
          <a:scene3d>
            <a:camera prst="orthographicFront"/>
            <a:lightRig rig="threePt" dir="t"/>
          </a:scene3d>
          <a:sp3d prstMaterial="clear">
            <a:bevelT w="1371600" h="1371600"/>
            <a:bevelB w="1371600" h="13716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142" name="Oval 141"/>
          <p:cNvSpPr/>
          <p:nvPr/>
        </p:nvSpPr>
        <p:spPr>
          <a:xfrm>
            <a:off x="4314437" y="3590618"/>
            <a:ext cx="1452328" cy="1452328"/>
          </a:xfrm>
          <a:prstGeom prst="ellipse">
            <a:avLst/>
          </a:prstGeom>
          <a:solidFill>
            <a:srgbClr val="FFC000">
              <a:alpha val="53000"/>
            </a:srgbClr>
          </a:solidFill>
          <a:ln w="19050">
            <a:solidFill>
              <a:srgbClr val="FFC000"/>
            </a:solidFill>
          </a:ln>
          <a:scene3d>
            <a:camera prst="orthographicFront"/>
            <a:lightRig rig="threePt" dir="t"/>
          </a:scene3d>
          <a:sp3d prstMaterial="clear">
            <a:bevelT w="1371600" h="1371600"/>
            <a:bevelB w="1371600" h="13716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143" name="Oval 142"/>
          <p:cNvSpPr/>
          <p:nvPr/>
        </p:nvSpPr>
        <p:spPr>
          <a:xfrm>
            <a:off x="3159251" y="1943954"/>
            <a:ext cx="1472953" cy="1472953"/>
          </a:xfrm>
          <a:prstGeom prst="ellipse">
            <a:avLst/>
          </a:prstGeom>
          <a:solidFill>
            <a:srgbClr val="FFC000">
              <a:alpha val="53000"/>
            </a:srgbClr>
          </a:solidFill>
          <a:ln w="19050">
            <a:solidFill>
              <a:srgbClr val="FFC000"/>
            </a:solidFill>
          </a:ln>
          <a:scene3d>
            <a:camera prst="orthographicFront"/>
            <a:lightRig rig="threePt" dir="t"/>
          </a:scene3d>
          <a:sp3d prstMaterial="clear">
            <a:bevelT w="1371600" h="1371600"/>
            <a:bevelB w="1371600" h="13716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144" name="Oval 143"/>
          <p:cNvSpPr>
            <a:spLocks noChangeAspect="1"/>
          </p:cNvSpPr>
          <p:nvPr/>
        </p:nvSpPr>
        <p:spPr>
          <a:xfrm>
            <a:off x="4123211" y="3282944"/>
            <a:ext cx="110981" cy="11098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146" name="Oval 145"/>
          <p:cNvSpPr>
            <a:spLocks noChangeAspect="1"/>
          </p:cNvSpPr>
          <p:nvPr/>
        </p:nvSpPr>
        <p:spPr>
          <a:xfrm>
            <a:off x="4952066" y="3545998"/>
            <a:ext cx="110981" cy="11098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148" name="Oval 147"/>
          <p:cNvSpPr>
            <a:spLocks noChangeAspect="1"/>
          </p:cNvSpPr>
          <p:nvPr/>
        </p:nvSpPr>
        <p:spPr>
          <a:xfrm>
            <a:off x="4538521" y="2585750"/>
            <a:ext cx="110981" cy="11098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149" name="Oval 148"/>
          <p:cNvSpPr>
            <a:spLocks noChangeAspect="1"/>
          </p:cNvSpPr>
          <p:nvPr/>
        </p:nvSpPr>
        <p:spPr>
          <a:xfrm>
            <a:off x="4598554" y="3635749"/>
            <a:ext cx="110981" cy="11098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156" name="Oval 155"/>
          <p:cNvSpPr>
            <a:spLocks noChangeAspect="1"/>
          </p:cNvSpPr>
          <p:nvPr/>
        </p:nvSpPr>
        <p:spPr>
          <a:xfrm>
            <a:off x="5078228" y="2847874"/>
            <a:ext cx="110981" cy="11098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grpSp>
        <p:nvGrpSpPr>
          <p:cNvPr id="170" name="Group 169"/>
          <p:cNvGrpSpPr>
            <a:grpSpLocks noChangeAspect="1"/>
          </p:cNvGrpSpPr>
          <p:nvPr/>
        </p:nvGrpSpPr>
        <p:grpSpPr>
          <a:xfrm>
            <a:off x="6351274" y="1154274"/>
            <a:ext cx="2776658" cy="5306771"/>
            <a:chOff x="603504" y="164410"/>
            <a:chExt cx="3470822" cy="6633464"/>
          </a:xfrm>
        </p:grpSpPr>
        <p:grpSp>
          <p:nvGrpSpPr>
            <p:cNvPr id="171" name="Group 170"/>
            <p:cNvGrpSpPr/>
            <p:nvPr/>
          </p:nvGrpSpPr>
          <p:grpSpPr>
            <a:xfrm>
              <a:off x="713232" y="3491810"/>
              <a:ext cx="3361094" cy="3306064"/>
              <a:chOff x="713232" y="3342386"/>
              <a:chExt cx="3361094" cy="3306064"/>
            </a:xfrm>
          </p:grpSpPr>
          <p:grpSp>
            <p:nvGrpSpPr>
              <p:cNvPr id="192" name="Group 191"/>
              <p:cNvGrpSpPr/>
              <p:nvPr/>
            </p:nvGrpSpPr>
            <p:grpSpPr>
              <a:xfrm>
                <a:off x="713232" y="3342386"/>
                <a:ext cx="3361094" cy="2423923"/>
                <a:chOff x="713232" y="3831336"/>
                <a:chExt cx="3361094" cy="2423923"/>
              </a:xfrm>
            </p:grpSpPr>
            <p:pic>
              <p:nvPicPr>
                <p:cNvPr id="200" name="Picture 199"/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17637" y="3831336"/>
                  <a:ext cx="3356689" cy="2423923"/>
                </a:xfrm>
                <a:prstGeom prst="rect">
                  <a:avLst/>
                </a:prstGeom>
              </p:spPr>
            </p:pic>
            <p:pic>
              <p:nvPicPr>
                <p:cNvPr id="201" name="Picture 200"/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28700" y="4122256"/>
                  <a:ext cx="1930400" cy="1612900"/>
                </a:xfrm>
                <a:prstGeom prst="rect">
                  <a:avLst/>
                </a:prstGeom>
              </p:spPr>
            </p:pic>
            <p:pic>
              <p:nvPicPr>
                <p:cNvPr id="202" name="Picture 201"/>
                <p:cNvPicPr>
                  <a:picLocks noChangeAspect="1"/>
                </p:cNvPicPr>
                <p:nvPr/>
              </p:nvPicPr>
              <p:blipFill>
                <a:blip r:embed="rId2">
                  <a:alphaModFix amt="60000"/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13232" y="3831336"/>
                  <a:ext cx="3356689" cy="2423923"/>
                </a:xfrm>
                <a:prstGeom prst="rect">
                  <a:avLst/>
                </a:prstGeom>
              </p:spPr>
            </p:pic>
          </p:grpSp>
          <p:grpSp>
            <p:nvGrpSpPr>
              <p:cNvPr id="193" name="Group 192"/>
              <p:cNvGrpSpPr/>
              <p:nvPr/>
            </p:nvGrpSpPr>
            <p:grpSpPr>
              <a:xfrm>
                <a:off x="1295400" y="5484382"/>
                <a:ext cx="1689100" cy="1164068"/>
                <a:chOff x="1295400" y="5681232"/>
                <a:chExt cx="1689100" cy="1164068"/>
              </a:xfrm>
            </p:grpSpPr>
            <p:pic>
              <p:nvPicPr>
                <p:cNvPr id="194" name="Picture 193" descr="threespheres-faces.png"/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295400" y="5740400"/>
                  <a:ext cx="1689100" cy="1054100"/>
                </a:xfrm>
                <a:prstGeom prst="rect">
                  <a:avLst/>
                </a:prstGeom>
              </p:spPr>
            </p:pic>
            <p:sp>
              <p:nvSpPr>
                <p:cNvPr id="195" name="TextBox 194"/>
                <p:cNvSpPr txBox="1"/>
                <p:nvPr/>
              </p:nvSpPr>
              <p:spPr>
                <a:xfrm>
                  <a:off x="1794173" y="5681232"/>
                  <a:ext cx="501259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smtClean="0">
                      <a:solidFill>
                        <a:srgbClr val="0000FF"/>
                      </a:solidFill>
                    </a:rPr>
                    <a:t>G</a:t>
                  </a:r>
                  <a:r>
                    <a:rPr lang="en-US" sz="2000" baseline="-25000" smtClean="0">
                      <a:solidFill>
                        <a:srgbClr val="0000FF"/>
                      </a:solidFill>
                    </a:rPr>
                    <a:t>↑</a:t>
                  </a:r>
                  <a:endParaRPr lang="en-US" sz="2000" baseline="30000" dirty="0">
                    <a:solidFill>
                      <a:srgbClr val="0000FF"/>
                    </a:solidFill>
                  </a:endParaRPr>
                </a:p>
              </p:txBody>
            </p:sp>
            <p:sp>
              <p:nvSpPr>
                <p:cNvPr id="196" name="TextBox 195"/>
                <p:cNvSpPr txBox="1"/>
                <p:nvPr/>
              </p:nvSpPr>
              <p:spPr>
                <a:xfrm>
                  <a:off x="1775302" y="6445190"/>
                  <a:ext cx="501259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smtClean="0">
                      <a:solidFill>
                        <a:srgbClr val="008000"/>
                      </a:solidFill>
                    </a:rPr>
                    <a:t>G</a:t>
                  </a:r>
                  <a:r>
                    <a:rPr lang="en-US" sz="2000" baseline="-25000" smtClean="0">
                      <a:solidFill>
                        <a:srgbClr val="008000"/>
                      </a:solidFill>
                    </a:rPr>
                    <a:t>↓</a:t>
                  </a:r>
                  <a:endParaRPr lang="en-US" sz="2000" baseline="30000" dirty="0">
                    <a:solidFill>
                      <a:srgbClr val="008000"/>
                    </a:solidFill>
                  </a:endParaRPr>
                </a:p>
              </p:txBody>
            </p:sp>
          </p:grpSp>
        </p:grpSp>
        <p:grpSp>
          <p:nvGrpSpPr>
            <p:cNvPr id="179" name="Group 178"/>
            <p:cNvGrpSpPr/>
            <p:nvPr/>
          </p:nvGrpSpPr>
          <p:grpSpPr>
            <a:xfrm>
              <a:off x="603504" y="164410"/>
              <a:ext cx="3464115" cy="3263900"/>
              <a:chOff x="603504" y="173736"/>
              <a:chExt cx="3464114" cy="3263900"/>
            </a:xfrm>
          </p:grpSpPr>
          <p:pic>
            <p:nvPicPr>
              <p:cNvPr id="189" name="Picture 188"/>
              <p:cNvPicPr>
                <a:picLocks noChangeAspect="1"/>
              </p:cNvPicPr>
              <p:nvPr/>
            </p:nvPicPr>
            <p:blipFill>
              <a:blip r:embed="rId5">
                <a:alphaModFix amt="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03504" y="173736"/>
                <a:ext cx="3460367" cy="3263900"/>
              </a:xfrm>
              <a:prstGeom prst="rect">
                <a:avLst/>
              </a:prstGeom>
            </p:spPr>
          </p:pic>
          <p:pic>
            <p:nvPicPr>
              <p:cNvPr id="190" name="Picture 189"/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58875" y="987424"/>
                <a:ext cx="1800225" cy="1800225"/>
              </a:xfrm>
              <a:prstGeom prst="rect">
                <a:avLst/>
              </a:prstGeom>
            </p:spPr>
          </p:pic>
          <p:pic>
            <p:nvPicPr>
              <p:cNvPr id="191" name="Picture 190"/>
              <p:cNvPicPr>
                <a:picLocks noChangeAspect="1"/>
              </p:cNvPicPr>
              <p:nvPr/>
            </p:nvPicPr>
            <p:blipFill>
              <a:blip r:embed="rId5">
                <a:alphaModFix amt="6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07251" y="173736"/>
                <a:ext cx="3460367" cy="3263900"/>
              </a:xfrm>
              <a:prstGeom prst="rect">
                <a:avLst/>
              </a:prstGeom>
            </p:spPr>
          </p:pic>
        </p:grpSp>
      </p:grpSp>
      <p:sp>
        <p:nvSpPr>
          <p:cNvPr id="9" name="Right Arrow 8"/>
          <p:cNvSpPr/>
          <p:nvPr/>
        </p:nvSpPr>
        <p:spPr>
          <a:xfrm>
            <a:off x="2408712" y="4193069"/>
            <a:ext cx="1010652" cy="425050"/>
          </a:xfrm>
          <a:prstGeom prst="rightArrow">
            <a:avLst/>
          </a:prstGeom>
          <a:solidFill>
            <a:srgbClr val="0070C0"/>
          </a:solidFill>
          <a:ln w="19050">
            <a:solidFill>
              <a:srgbClr val="0070C0"/>
            </a:solidFill>
          </a:ln>
          <a:scene3d>
            <a:camera prst="orthographicFront"/>
            <a:lightRig rig="threePt" dir="t"/>
          </a:scene3d>
          <a:sp3d prstMaterial="matte"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203" name="TextBox 202"/>
          <p:cNvSpPr txBox="1"/>
          <p:nvPr/>
        </p:nvSpPr>
        <p:spPr>
          <a:xfrm>
            <a:off x="7875970" y="6147490"/>
            <a:ext cx="1101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/>
              <a:t>Side view</a:t>
            </a:r>
          </a:p>
        </p:txBody>
      </p:sp>
      <p:sp>
        <p:nvSpPr>
          <p:cNvPr id="204" name="Oval 203"/>
          <p:cNvSpPr>
            <a:spLocks noChangeAspect="1"/>
          </p:cNvSpPr>
          <p:nvPr/>
        </p:nvSpPr>
        <p:spPr>
          <a:xfrm>
            <a:off x="7200331" y="6273431"/>
            <a:ext cx="138726" cy="138726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  <p:sp>
        <p:nvSpPr>
          <p:cNvPr id="205" name="Oval 204"/>
          <p:cNvSpPr>
            <a:spLocks noChangeAspect="1"/>
          </p:cNvSpPr>
          <p:nvPr/>
        </p:nvSpPr>
        <p:spPr>
          <a:xfrm>
            <a:off x="7184283" y="5631752"/>
            <a:ext cx="138726" cy="138726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"/>
              <a:cs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1058617658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VoroCrust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254500"/>
            <a:ext cx="7772400" cy="1779370"/>
          </a:xfrm>
        </p:spPr>
        <p:txBody>
          <a:bodyPr/>
          <a:lstStyle/>
          <a:p>
            <a:r>
              <a:rPr lang="en-US" sz="1600" dirty="0" err="1" smtClean="0"/>
              <a:t>VoroCrust</a:t>
            </a:r>
            <a:r>
              <a:rPr lang="en-US" sz="1600" dirty="0" smtClean="0"/>
              <a:t> concurrent and future work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b="0" dirty="0" smtClean="0"/>
              <a:t>[Ahmed A. </a:t>
            </a:r>
            <a:r>
              <a:rPr lang="en-US" sz="1600" b="0" dirty="0" err="1" smtClean="0"/>
              <a:t>Abdelkader</a:t>
            </a:r>
            <a:r>
              <a:rPr lang="en-US" sz="1600" b="0" dirty="0" smtClean="0"/>
              <a:t>, </a:t>
            </a:r>
            <a:r>
              <a:rPr lang="en-US" sz="1600" b="0" dirty="0" err="1"/>
              <a:t>Chandrajit</a:t>
            </a:r>
            <a:r>
              <a:rPr lang="en-US" sz="1600" b="0" dirty="0"/>
              <a:t> L. </a:t>
            </a:r>
            <a:r>
              <a:rPr lang="en-US" sz="1600" b="0" dirty="0" smtClean="0"/>
              <a:t>Bajaj, </a:t>
            </a:r>
            <a:r>
              <a:rPr lang="en-US" sz="1600" b="0" dirty="0"/>
              <a:t>Mohamed S. </a:t>
            </a:r>
            <a:r>
              <a:rPr lang="en-US" sz="1600" b="0" dirty="0" err="1" smtClean="0"/>
              <a:t>Ebeida</a:t>
            </a:r>
            <a:r>
              <a:rPr lang="en-US" sz="1600" b="0" dirty="0" smtClean="0"/>
              <a:t>, </a:t>
            </a:r>
            <a:br>
              <a:rPr lang="en-US" sz="1600" b="0" dirty="0" smtClean="0"/>
            </a:br>
            <a:r>
              <a:rPr lang="en-US" sz="1600" b="0" dirty="0" smtClean="0"/>
              <a:t>Ahmed </a:t>
            </a:r>
            <a:r>
              <a:rPr lang="en-US" sz="1600" b="0" dirty="0"/>
              <a:t>H. Mahmoud, </a:t>
            </a:r>
            <a:r>
              <a:rPr lang="en-US" sz="1600" b="0" dirty="0" smtClean="0"/>
              <a:t>Scott </a:t>
            </a:r>
            <a:r>
              <a:rPr lang="en-US" sz="1600" b="0" dirty="0"/>
              <a:t>A. Mitchell, Ahmad A. </a:t>
            </a:r>
            <a:r>
              <a:rPr lang="en-US" sz="1600" b="0" dirty="0" err="1"/>
              <a:t>Rushdi</a:t>
            </a:r>
            <a:r>
              <a:rPr lang="en-US" sz="1600" b="0" dirty="0"/>
              <a:t>, </a:t>
            </a:r>
            <a:r>
              <a:rPr lang="en-US" sz="1600" b="0" dirty="0" smtClean="0"/>
              <a:t>John </a:t>
            </a:r>
            <a:r>
              <a:rPr lang="en-US" sz="1600" b="0" dirty="0"/>
              <a:t>D. </a:t>
            </a:r>
            <a:r>
              <a:rPr lang="en-US" sz="1600" b="0" dirty="0" smtClean="0"/>
              <a:t>Owens</a:t>
            </a:r>
            <a:r>
              <a:rPr lang="en-US" sz="1600" b="0" dirty="0"/>
              <a:t> </a:t>
            </a:r>
            <a:r>
              <a:rPr lang="is-IS" sz="1600" b="0" dirty="0" smtClean="0"/>
              <a:t>…]</a:t>
            </a:r>
            <a:endParaRPr lang="en-US" sz="1600" b="0" dirty="0"/>
          </a:p>
          <a:p>
            <a:pPr lvl="1"/>
            <a:r>
              <a:rPr lang="en-US" sz="1600" dirty="0" smtClean="0"/>
              <a:t>Triple-overlaps only (as this “reducing the number of Steiner points”)</a:t>
            </a:r>
          </a:p>
          <a:p>
            <a:pPr lvl="1"/>
            <a:r>
              <a:rPr lang="en-US" sz="1600" dirty="0"/>
              <a:t>S</a:t>
            </a:r>
            <a:r>
              <a:rPr lang="en-US" sz="1600" dirty="0" smtClean="0"/>
              <a:t>mooth manifolds and sampling conditions (theory paper, vs. PLC)</a:t>
            </a:r>
          </a:p>
          <a:p>
            <a:pPr lvl="1"/>
            <a:r>
              <a:rPr lang="en-US" sz="1600" dirty="0" smtClean="0"/>
              <a:t>Sampling algorithms, useful software release (practical paper)</a:t>
            </a:r>
            <a:endParaRPr lang="en-US" sz="1600" dirty="0"/>
          </a:p>
          <a:p>
            <a:pPr lvl="1"/>
            <a:endParaRPr lang="en-US" sz="1600" dirty="0" smtClean="0"/>
          </a:p>
        </p:txBody>
      </p:sp>
      <p:grpSp>
        <p:nvGrpSpPr>
          <p:cNvPr id="5" name="Group 4"/>
          <p:cNvGrpSpPr>
            <a:grpSpLocks noChangeAspect="1"/>
          </p:cNvGrpSpPr>
          <p:nvPr/>
        </p:nvGrpSpPr>
        <p:grpSpPr>
          <a:xfrm>
            <a:off x="2468884" y="3248530"/>
            <a:ext cx="6358811" cy="3532894"/>
            <a:chOff x="5564277" y="695180"/>
            <a:chExt cx="3579723" cy="2033774"/>
          </a:xfrm>
        </p:grpSpPr>
        <p:pic>
          <p:nvPicPr>
            <p:cNvPr id="6" name="Picture 5" descr="Screen Shot 2015-04-22 at 3.40.32 PM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0751" y="695180"/>
              <a:ext cx="2063249" cy="2033774"/>
            </a:xfrm>
            <a:prstGeom prst="rect">
              <a:avLst/>
            </a:prstGeom>
          </p:spPr>
        </p:pic>
        <p:pic>
          <p:nvPicPr>
            <p:cNvPr id="7" name="Picture 6" descr="VC_2_Scott.pn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64277" y="946150"/>
              <a:ext cx="1521581" cy="1727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86046009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smtClean="0"/>
              <a:t>Any PLC can be represented as the union of true Voronoi faces</a:t>
            </a:r>
          </a:p>
          <a:p>
            <a:pPr lvl="1"/>
            <a:r>
              <a:rPr lang="en-US" sz="1600" dirty="0" smtClean="0"/>
              <a:t>Not power, not </a:t>
            </a:r>
            <a:r>
              <a:rPr lang="en-US" sz="1600" dirty="0" smtClean="0"/>
              <a:t>clipped, not restricted</a:t>
            </a:r>
            <a:endParaRPr lang="en-US" sz="1600" dirty="0" smtClean="0"/>
          </a:p>
          <a:p>
            <a:r>
              <a:rPr lang="en-US" sz="1800" dirty="0" smtClean="0"/>
              <a:t>Number of seeds and faces may be large</a:t>
            </a: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 smtClean="0"/>
              <a:t>depending on geometry and desired vertex- and edge-sphere radii</a:t>
            </a:r>
          </a:p>
          <a:p>
            <a:pPr lvl="1"/>
            <a:r>
              <a:rPr lang="en-US" sz="1800" dirty="0" smtClean="0"/>
              <a:t>Open: want polynomial #</a:t>
            </a:r>
            <a:r>
              <a:rPr lang="en-US" sz="1800" dirty="0" smtClean="0"/>
              <a:t>faces</a:t>
            </a:r>
          </a:p>
          <a:p>
            <a:pPr lvl="2"/>
            <a:r>
              <a:rPr lang="en-US" sz="1600" dirty="0" smtClean="0"/>
              <a:t>As in literature for nonobtuse triangulation, conforming Delaunay</a:t>
            </a:r>
          </a:p>
          <a:p>
            <a:pPr lvl="2"/>
            <a:r>
              <a:rPr lang="en-US" sz="1600" dirty="0" smtClean="0"/>
              <a:t>O(n</a:t>
            </a:r>
            <a:r>
              <a:rPr lang="en-US" sz="1600" baseline="30000" dirty="0" smtClean="0"/>
              <a:t>2.5</a:t>
            </a:r>
            <a:r>
              <a:rPr lang="en-US" sz="1600" dirty="0"/>
              <a:t>) as Bishop</a:t>
            </a:r>
            <a:r>
              <a:rPr lang="en-US" sz="1600" dirty="0" smtClean="0"/>
              <a:t>? Can Bishop for 2D PSLG be improved?</a:t>
            </a:r>
            <a:endParaRPr lang="en-US" sz="1600" dirty="0" smtClean="0"/>
          </a:p>
          <a:p>
            <a:r>
              <a:rPr lang="en-US" sz="1800" dirty="0" smtClean="0"/>
              <a:t>Concurrent</a:t>
            </a:r>
            <a:endParaRPr lang="en-US" sz="1800" dirty="0" smtClean="0"/>
          </a:p>
          <a:p>
            <a:pPr lvl="1"/>
            <a:r>
              <a:rPr lang="en-US" sz="1600" dirty="0" err="1" smtClean="0"/>
              <a:t>VoroCrust</a:t>
            </a:r>
            <a:r>
              <a:rPr lang="en-US" sz="1600" dirty="0" smtClean="0"/>
              <a:t> polyhedral mesh generation from Voronoi cells </a:t>
            </a:r>
          </a:p>
          <a:p>
            <a:pPr lvl="2"/>
            <a:r>
              <a:rPr lang="en-US" sz="1400" dirty="0" smtClean="0"/>
              <a:t>ideas related to this paper</a:t>
            </a:r>
          </a:p>
          <a:p>
            <a:pPr lvl="2"/>
            <a:r>
              <a:rPr lang="en-US" sz="1400" dirty="0" smtClean="0"/>
              <a:t>Theory &amp; practice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03436480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FF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B050"/>
        </a:solidFill>
        <a:ln w="19050">
          <a:solidFill>
            <a:srgbClr val="00B050"/>
          </a:solidFill>
        </a:ln>
        <a:scene3d>
          <a:camera prst="orthographicFront"/>
          <a:lightRig rig="threePt" dir="t"/>
        </a:scene3d>
        <a:sp3d prstMaterial="clear">
          <a:bevelT w="1371600" h="1371600"/>
          <a:bevelB w="1371600" h="1371600"/>
        </a:sp3d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69303</TotalTime>
  <Words>776</Words>
  <Application>Microsoft Macintosh PowerPoint</Application>
  <PresentationFormat>On-screen Show (4:3)</PresentationFormat>
  <Paragraphs>184</Paragraphs>
  <Slides>22</Slides>
  <Notes>5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Calibri</vt:lpstr>
      <vt:lpstr>Helvetica</vt:lpstr>
      <vt:lpstr>Times</vt:lpstr>
      <vt:lpstr>Times New Roman</vt:lpstr>
      <vt:lpstr>Arial</vt:lpstr>
      <vt:lpstr>Default Design</vt:lpstr>
      <vt:lpstr>A Seed Placement Strategy for  Conforming Voronoi Meshing  Ahmed Abdelkader, Chandrajit Bajaj, Mohamed Ebeida and Scott Mitchell</vt:lpstr>
      <vt:lpstr>Outline</vt:lpstr>
      <vt:lpstr>Problem Definition</vt:lpstr>
      <vt:lpstr>Problem Definition</vt:lpstr>
      <vt:lpstr>Why solve it?</vt:lpstr>
      <vt:lpstr>Why solve it?</vt:lpstr>
      <vt:lpstr>Solution</vt:lpstr>
      <vt:lpstr>Construction Steps</vt:lpstr>
      <vt:lpstr>Reconstructing a Vertex Input vertex appears as Voronoi Vertex</vt:lpstr>
      <vt:lpstr>Reconstructing a Vertex Input vertex appears as Voronoi Vertex</vt:lpstr>
      <vt:lpstr>Reconstructing a Edge Input edge appears as set of Voronoi edges</vt:lpstr>
      <vt:lpstr>Reconstructing a Triangle Input Triangle appears as set of Voronoi faces</vt:lpstr>
      <vt:lpstr>Triangle Cases</vt:lpstr>
      <vt:lpstr>What’s sufficient, using zero-radius?</vt:lpstr>
      <vt:lpstr>What’s sufficient, using zero radius?</vt:lpstr>
      <vt:lpstr>What’s sufficient, using zero radius?</vt:lpstr>
      <vt:lpstr>Positive-radius  vertex spheres &amp; edge circles</vt:lpstr>
      <vt:lpstr>Reducing the number of Steiner points Recall 2 seed pairs per triangle vertex. (Zero radius case.)</vt:lpstr>
      <vt:lpstr>Reducing the number of Steiner points Overlap edge-circles = 1 seed pairs per triangle vertex</vt:lpstr>
      <vt:lpstr>Reducing the number of Steiner points Overlap vertex-spheres, shared pair for each vertex of an edge VoroCrust future/concurrent work</vt:lpstr>
      <vt:lpstr>VoroCrust</vt:lpstr>
      <vt:lpstr>Conclusion</vt:lpstr>
    </vt:vector>
  </TitlesOfParts>
  <LinksUpToDate>false</LinksUpToDate>
  <SharedDoc>false</SharedDoc>
  <HyperlinksChanged>false</HyperlinksChanged>
  <AppVersion>15.0036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 Title 32pt</dc:title>
  <cp:lastModifiedBy>Microsoft Office User</cp:lastModifiedBy>
  <cp:revision>1040</cp:revision>
  <cp:lastPrinted>2011-09-09T19:40:28Z</cp:lastPrinted>
  <dcterms:modified xsi:type="dcterms:W3CDTF">2017-07-27T03:16:34Z</dcterms:modified>
</cp:coreProperties>
</file>