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109728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35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82B2"/>
    <a:srgbClr val="4A7EBB"/>
    <a:srgbClr val="FFCCCC"/>
    <a:srgbClr val="FAFAFA"/>
    <a:srgbClr val="00FF00"/>
    <a:srgbClr val="1700FF"/>
    <a:srgbClr val="323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49"/>
    <p:restoredTop sz="94716"/>
  </p:normalViewPr>
  <p:slideViewPr>
    <p:cSldViewPr snapToGrid="0" snapToObjects="1">
      <p:cViewPr varScale="1">
        <p:scale>
          <a:sx n="179" d="100"/>
          <a:sy n="179" d="100"/>
        </p:scale>
        <p:origin x="20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1pPr>
    <a:lvl2pPr marL="1143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2pPr>
    <a:lvl3pPr marL="2286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3pPr>
    <a:lvl4pPr marL="3429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4pPr>
    <a:lvl5pPr marL="4572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5pPr>
    <a:lvl6pPr marL="5715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6pPr>
    <a:lvl7pPr marL="6858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7pPr>
    <a:lvl8pPr marL="8001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8pPr>
    <a:lvl9pPr marL="914400" algn="l" defTabSz="228600" rtl="0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247650" y="985975"/>
            <a:ext cx="3543300" cy="6858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22856" tIns="11425" rIns="22856" bIns="1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1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790950" y="985975"/>
            <a:ext cx="3383280" cy="6858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22856" tIns="11425" rIns="22856" bIns="1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1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174230" y="985975"/>
            <a:ext cx="3528060" cy="6858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22856" tIns="11425" rIns="22856" bIns="1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1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globe.png"/>
          <p:cNvPicPr preferRelativeResize="0"/>
          <p:nvPr/>
        </p:nvPicPr>
        <p:blipFill rotWithShape="1">
          <a:blip r:embed="rId3">
            <a:alphaModFix amt="10000"/>
          </a:blip>
          <a:srcRect l="13713" r="11020" b="6554"/>
          <a:stretch/>
        </p:blipFill>
        <p:spPr>
          <a:xfrm>
            <a:off x="0" y="3339846"/>
            <a:ext cx="5772150" cy="48897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/>
          <p:nvPr/>
        </p:nvSpPr>
        <p:spPr>
          <a:xfrm>
            <a:off x="0" y="7943850"/>
            <a:ext cx="10972800" cy="298723"/>
          </a:xfrm>
          <a:prstGeom prst="rect">
            <a:avLst/>
          </a:prstGeom>
          <a:solidFill>
            <a:srgbClr val="72665D"/>
          </a:solidFill>
          <a:ln w="9525" cap="flat" cmpd="sng">
            <a:solidFill>
              <a:srgbClr val="4A7DB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22856" tIns="11425" rIns="22856" bIns="1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1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5278582" y="7995478"/>
            <a:ext cx="5664711" cy="176972"/>
          </a:xfrm>
          <a:prstGeom prst="rect">
            <a:avLst/>
          </a:prstGeom>
          <a:noFill/>
          <a:ln>
            <a:noFill/>
          </a:ln>
        </p:spPr>
        <p:txBody>
          <a:bodyPr lIns="22856" tIns="11425" rIns="22856" bIns="1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 ASCR Applied Mathematics Principal Investigators' (PI) Meeting, Rockville, MD, September 11-12, 2017</a:t>
            </a:r>
          </a:p>
        </p:txBody>
      </p:sp>
      <p:cxnSp>
        <p:nvCxnSpPr>
          <p:cNvPr id="13" name="Shape 13"/>
          <p:cNvCxnSpPr/>
          <p:nvPr/>
        </p:nvCxnSpPr>
        <p:spPr>
          <a:xfrm>
            <a:off x="0" y="857250"/>
            <a:ext cx="10706100" cy="0"/>
          </a:xfrm>
          <a:prstGeom prst="straightConnector1">
            <a:avLst/>
          </a:prstGeom>
          <a:noFill/>
          <a:ln w="127000" cap="flat" cmpd="sng">
            <a:solidFill>
              <a:srgbClr val="6782B2"/>
            </a:solidFill>
            <a:prstDash val="solid"/>
            <a:round/>
            <a:headEnd type="none" w="med" len="med"/>
            <a:tailEnd type="none" w="med" len="med"/>
          </a:ln>
          <a:effectLst>
            <a:outerShdw blurRad="39999" dist="20000" dir="5400000" rotWithShape="0">
              <a:srgbClr val="000000">
                <a:alpha val="37647"/>
              </a:srgbClr>
            </a:outerShdw>
          </a:effectLst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emf"/><Relationship Id="rId12" Type="http://schemas.openxmlformats.org/officeDocument/2006/relationships/image" Target="../media/image11.emf"/><Relationship Id="rId13" Type="http://schemas.openxmlformats.org/officeDocument/2006/relationships/image" Target="../media/image12.emf"/><Relationship Id="rId14" Type="http://schemas.openxmlformats.org/officeDocument/2006/relationships/image" Target="../media/image13.emf"/><Relationship Id="rId15" Type="http://schemas.openxmlformats.org/officeDocument/2006/relationships/image" Target="../media/image14.emf"/><Relationship Id="rId16" Type="http://schemas.openxmlformats.org/officeDocument/2006/relationships/image" Target="../media/image15.emf"/><Relationship Id="rId17" Type="http://schemas.openxmlformats.org/officeDocument/2006/relationships/image" Target="../media/image16.emf"/><Relationship Id="rId18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emf"/><Relationship Id="rId9" Type="http://schemas.openxmlformats.org/officeDocument/2006/relationships/image" Target="../media/image8.png"/><Relationship Id="rId10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61960"/>
          </a:schemeClr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34767" y="1097475"/>
            <a:ext cx="10451789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800" b="1" dirty="0" smtClean="0">
                <a:solidFill>
                  <a:srgbClr val="6782B2"/>
                </a:solidFill>
              </a:rPr>
              <a:t>Goal: good primal (triangle) properties and dual (Voronoi) properties </a:t>
            </a:r>
            <a:r>
              <a:rPr lang="en-US" sz="1800" b="1" i="1" dirty="0" smtClean="0">
                <a:solidFill>
                  <a:srgbClr val="6782B2"/>
                </a:solidFill>
              </a:rPr>
              <a:t>simultaneously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800" b="1" dirty="0" smtClean="0">
                <a:solidFill>
                  <a:srgbClr val="6782B2"/>
                </a:solidFill>
              </a:rPr>
              <a:t>Discrete Exterior Calculus (DEC) PDE simulations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800" dirty="0" smtClean="0">
                <a:solidFill>
                  <a:srgbClr val="FF0000"/>
                </a:solidFill>
              </a:rPr>
              <a:t>Do you have a DEC simulation? 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800" dirty="0" smtClean="0">
                <a:solidFill>
                  <a:srgbClr val="FF0000"/>
                </a:solidFill>
              </a:rPr>
              <a:t>We want to partner, discover what makes a difference in practice!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600" dirty="0" smtClean="0"/>
              <a:t>Mathematical advances</a:t>
            </a:r>
          </a:p>
          <a:p>
            <a:pPr lvl="1"/>
            <a:r>
              <a:rPr lang="en-US" sz="1400" dirty="0" smtClean="0"/>
              <a:t>	Analyzed metric bounding Hodge-star discretization error</a:t>
            </a:r>
          </a:p>
          <a:p>
            <a:pPr lvl="3"/>
            <a:r>
              <a:rPr lang="en-US" sz="1400" dirty="0" smtClean="0"/>
              <a:t>	Designed new metric with good optimization behavior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400" dirty="0" smtClean="0"/>
              <a:t>		</a:t>
            </a:r>
          </a:p>
          <a:p>
            <a:pPr lvl="3"/>
            <a:endParaRPr lang="en-US" sz="18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8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8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8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6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6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600" dirty="0" smtClean="0"/>
              <a:t>Mesh-improvement software framework</a:t>
            </a:r>
            <a:br>
              <a:rPr lang="en-US" sz="1600" dirty="0" smtClean="0"/>
            </a:br>
            <a:r>
              <a:rPr lang="en-US" sz="1600" dirty="0" smtClean="0"/>
              <a:t>	</a:t>
            </a:r>
            <a:r>
              <a:rPr lang="en-US" sz="1400" dirty="0" smtClean="0"/>
              <a:t>resampling, constrained to improve quality</a:t>
            </a:r>
            <a:br>
              <a:rPr lang="en-US" sz="1400" dirty="0" smtClean="0"/>
            </a:br>
            <a:r>
              <a:rPr lang="en-US" sz="1400" dirty="0" smtClean="0"/>
              <a:t>	traditional smoothing, insertion/deletion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5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500" dirty="0" smtClean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500" dirty="0" smtClean="0"/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b="1" dirty="0">
                <a:solidFill>
                  <a:srgbClr val="6782B2"/>
                </a:solidFill>
              </a:rPr>
              <a:t>Goal: dual Voronoi polyhedral meshing, VoroCrust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dirty="0" smtClean="0"/>
              <a:t>Do you need polyhedral meshes? Tell us!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600" dirty="0" smtClean="0"/>
              <a:t>Math advantages of boundary-conforming Voronoi cells</a:t>
            </a:r>
            <a:br>
              <a:rPr lang="en-US" sz="1600" dirty="0" smtClean="0"/>
            </a:br>
            <a:r>
              <a:rPr lang="en-US" sz="1400" dirty="0" smtClean="0"/>
              <a:t>	flat facets, convex cells, aspect ratio bounds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600" dirty="0" smtClean="0"/>
              <a:t>Derived sufficient conditions for provably correct meshes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247650" y="53340"/>
            <a:ext cx="8630879" cy="689610"/>
          </a:xfrm>
          <a:prstGeom prst="rect">
            <a:avLst/>
          </a:prstGeom>
          <a:noFill/>
          <a:ln>
            <a:noFill/>
          </a:ln>
        </p:spPr>
        <p:txBody>
          <a:bodyPr lIns="22856" tIns="11425" rIns="22856" bIns="11425" anchor="b" anchorCtr="0">
            <a:noAutofit/>
          </a:bodyPr>
          <a:lstStyle/>
          <a:p>
            <a:pPr lvl="0">
              <a:buClr>
                <a:srgbClr val="6782B2"/>
              </a:buClr>
              <a:buSzPct val="25000"/>
            </a:pPr>
            <a:r>
              <a:rPr lang="en-US" sz="2200" b="1">
                <a:solidFill>
                  <a:srgbClr val="6782B2"/>
                </a:solidFill>
              </a:rPr>
              <a:t>Unstructured </a:t>
            </a:r>
            <a:r>
              <a:rPr lang="en-US" sz="2200" b="1">
                <a:solidFill>
                  <a:srgbClr val="6782B2"/>
                </a:solidFill>
              </a:rPr>
              <a:t>Primal-Dual Mesh Improvement and </a:t>
            </a:r>
            <a:r>
              <a:rPr lang="en-US" sz="2200" b="1">
                <a:solidFill>
                  <a:srgbClr val="6782B2"/>
                </a:solidFill>
              </a:rPr>
              <a:t>Generation</a:t>
            </a:r>
            <a:endParaRPr lang="en-US" sz="2200" b="1">
              <a:solidFill>
                <a:srgbClr val="6782B2"/>
              </a:solidFill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8172450" y="106409"/>
            <a:ext cx="2471940" cy="577081"/>
          </a:xfrm>
          <a:prstGeom prst="rect">
            <a:avLst/>
          </a:prstGeom>
          <a:noFill/>
          <a:ln>
            <a:noFill/>
          </a:ln>
        </p:spPr>
        <p:txBody>
          <a:bodyPr lIns="22856" tIns="11425" rIns="22856" bIns="11425" anchor="t" anchorCtr="0">
            <a:noAutofit/>
          </a:bodyPr>
          <a:lstStyle/>
          <a:p>
            <a:pPr algn="r">
              <a:buSzPct val="25000"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Scott A. Mitchell</a:t>
            </a:r>
            <a:r>
              <a:rPr lang="en-US" sz="1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Patrick M. Knupp</a:t>
            </a:r>
            <a:r>
              <a:rPr lang="en-US" sz="1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1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Sandia National Laboratories</a:t>
            </a:r>
            <a:endParaRPr lang="en-US" sz="8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buSzPct val="25000"/>
            </a:pPr>
            <a:r>
              <a:rPr lang="en-US" sz="10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800" i="1">
                <a:latin typeface="Times New Roman"/>
                <a:ea typeface="Times New Roman"/>
                <a:cs typeface="Times New Roman"/>
                <a:sym typeface="Times New Roman"/>
              </a:rPr>
              <a:t>Dihedral</a:t>
            </a:r>
            <a:endParaRPr lang="en-US" sz="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7823023" y="6333231"/>
            <a:ext cx="2820761" cy="1719417"/>
            <a:chOff x="29689670" y="22633552"/>
            <a:chExt cx="12885464" cy="9255764"/>
          </a:xfrm>
        </p:grpSpPr>
        <p:sp>
          <p:nvSpPr>
            <p:cNvPr id="31" name="Shape 31"/>
            <p:cNvSpPr txBox="1"/>
            <p:nvPr/>
          </p:nvSpPr>
          <p:spPr>
            <a:xfrm>
              <a:off x="29689670" y="22633552"/>
              <a:ext cx="12885463" cy="797654"/>
            </a:xfrm>
            <a:prstGeom prst="rect">
              <a:avLst/>
            </a:prstGeom>
            <a:noFill/>
            <a:ln>
              <a:noFill/>
            </a:ln>
          </p:spPr>
          <p:txBody>
            <a:bodyPr lIns="22856" tIns="11425" rIns="22856" bIns="11425" anchor="t" anchorCtr="0">
              <a:noAutofit/>
            </a:bodyPr>
            <a:lstStyle/>
            <a:p>
              <a:pPr>
                <a:lnSpc>
                  <a:spcPct val="91666"/>
                </a:lnSpc>
                <a:buSzPct val="25000"/>
              </a:pPr>
              <a:r>
                <a:rPr lang="en-US" sz="1500" b="1">
                  <a:solidFill>
                    <a:srgbClr val="6782B2"/>
                  </a:solidFill>
                </a:rPr>
                <a:t>References</a:t>
              </a:r>
            </a:p>
          </p:txBody>
        </p:sp>
        <p:sp>
          <p:nvSpPr>
            <p:cNvPr id="16" name="Shape 33"/>
            <p:cNvSpPr txBox="1"/>
            <p:nvPr/>
          </p:nvSpPr>
          <p:spPr>
            <a:xfrm>
              <a:off x="29689672" y="23807200"/>
              <a:ext cx="12885462" cy="8082116"/>
            </a:xfrm>
            <a:prstGeom prst="rect">
              <a:avLst/>
            </a:prstGeom>
            <a:noFill/>
            <a:ln>
              <a:noFill/>
            </a:ln>
          </p:spPr>
          <p:txBody>
            <a:bodyPr lIns="22856" tIns="22856" rIns="22856" bIns="22856" anchor="t" anchorCtr="0">
              <a:noAutofit/>
            </a:bodyPr>
            <a:lstStyle/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Meshes Optimized for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Discrete Exterior Calculus, tech report</a:t>
              </a:r>
              <a:endParaRPr lang="en-US" sz="7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Constrained Resampling Strategy for Mesh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Improvement, CGF</a:t>
              </a: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 Density Tuning of a Maximal Random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Packing, CGF</a:t>
              </a: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Spoke-Darts for High-Dimensional Blue Noise Sampling, accepted to TOG</a:t>
              </a: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Seed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Placement Strategy for Conforming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Voronoi Meshing, CCCG</a:t>
              </a: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VoroCrust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Surface Reconstruction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Conditions, manuscript</a:t>
              </a:r>
            </a:p>
            <a:p>
              <a:pPr marL="128588" indent="-128588">
                <a:buFont typeface="+mj-lt"/>
                <a:buAutoNum type="arabicPeriod"/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VoroCrust: Clipping-Free Voronoi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Meshing, manuscript</a:t>
              </a:r>
            </a:p>
            <a:p>
              <a:pPr>
                <a:spcBef>
                  <a:spcPts val="300"/>
                </a:spcBef>
              </a:pP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Team members: A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Abdelkader (UMD), M. A. Awad (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UC Davis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), C. L. Bajaj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(UT Austin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), M. S. Ebeida (SNL), S. A.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English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(SNL), P. M. Knupp (Dihedral),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H. Mahmoud (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UC Davis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), D. Manocha (UNC), S. A. Mitchell (SNL),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C. Mousley (UIUC), C. Park (UNC), A. Patney (NVIDIA), J. D. Owens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(UC Davis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), A. A. Rushdi (SNL), D. Yan (CAS),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L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Wei </a:t>
              </a:r>
              <a:r>
                <a:rPr lang="en-US" sz="7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(HKU). </a:t>
              </a:r>
            </a:p>
          </p:txBody>
        </p:sp>
      </p:grpSp>
      <p:grpSp>
        <p:nvGrpSpPr>
          <p:cNvPr id="55" name="Group 54"/>
          <p:cNvGrpSpPr>
            <a:grpSpLocks noChangeAspect="1"/>
          </p:cNvGrpSpPr>
          <p:nvPr/>
        </p:nvGrpSpPr>
        <p:grpSpPr>
          <a:xfrm>
            <a:off x="5498985" y="6678899"/>
            <a:ext cx="2067292" cy="1148568"/>
            <a:chOff x="5564277" y="695180"/>
            <a:chExt cx="3579723" cy="2033774"/>
          </a:xfrm>
        </p:grpSpPr>
        <p:pic>
          <p:nvPicPr>
            <p:cNvPr id="56" name="Picture 55" descr="Screen Shot 2015-04-22 at 3.40.32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0751" y="695180"/>
              <a:ext cx="2063249" cy="2033774"/>
            </a:xfrm>
            <a:prstGeom prst="rect">
              <a:avLst/>
            </a:prstGeom>
          </p:spPr>
        </p:pic>
        <p:pic>
          <p:nvPicPr>
            <p:cNvPr id="57" name="Picture 56" descr="VC_2_Scott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4277" y="946150"/>
              <a:ext cx="1521581" cy="1727200"/>
            </a:xfrm>
            <a:prstGeom prst="rect">
              <a:avLst/>
            </a:prstGeom>
          </p:spPr>
        </p:pic>
      </p:grpSp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804247" y="7288893"/>
            <a:ext cx="1544323" cy="618145"/>
            <a:chOff x="713232" y="3342386"/>
            <a:chExt cx="6055741" cy="2423923"/>
          </a:xfrm>
        </p:grpSpPr>
        <p:grpSp>
          <p:nvGrpSpPr>
            <p:cNvPr id="60" name="Group 59"/>
            <p:cNvGrpSpPr/>
            <p:nvPr/>
          </p:nvGrpSpPr>
          <p:grpSpPr>
            <a:xfrm>
              <a:off x="713232" y="3342386"/>
              <a:ext cx="3361094" cy="2423923"/>
              <a:chOff x="713232" y="3831336"/>
              <a:chExt cx="3361094" cy="2423923"/>
            </a:xfrm>
          </p:grpSpPr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637" y="3831336"/>
                <a:ext cx="3356689" cy="2423923"/>
              </a:xfrm>
              <a:prstGeom prst="rect">
                <a:avLst/>
              </a:prstGeom>
            </p:spPr>
          </p:pic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8700" y="4122256"/>
                <a:ext cx="1930400" cy="1612900"/>
              </a:xfrm>
              <a:prstGeom prst="rect">
                <a:avLst/>
              </a:prstGeom>
            </p:spPr>
          </p:pic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5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232" y="3831336"/>
                <a:ext cx="3356689" cy="2423923"/>
              </a:xfrm>
              <a:prstGeom prst="rect">
                <a:avLst/>
              </a:prstGeom>
            </p:spPr>
          </p:pic>
        </p:grpSp>
        <p:pic>
          <p:nvPicPr>
            <p:cNvPr id="61" name="Picture 60" descr="threespheres-faces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6138" y="3797846"/>
              <a:ext cx="2222835" cy="1387183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7" y="7967916"/>
            <a:ext cx="663605" cy="255848"/>
          </a:xfrm>
          <a:prstGeom prst="rect">
            <a:avLst/>
          </a:prstGeom>
        </p:spPr>
      </p:pic>
      <p:sp>
        <p:nvSpPr>
          <p:cNvPr id="87" name="Shape 33"/>
          <p:cNvSpPr txBox="1"/>
          <p:nvPr/>
        </p:nvSpPr>
        <p:spPr>
          <a:xfrm>
            <a:off x="1123270" y="7849475"/>
            <a:ext cx="2820761" cy="500929"/>
          </a:xfrm>
          <a:prstGeom prst="rect">
            <a:avLst/>
          </a:prstGeom>
          <a:noFill/>
          <a:ln>
            <a:noFill/>
          </a:ln>
        </p:spPr>
        <p:txBody>
          <a:bodyPr lIns="22856" tIns="22856" rIns="22856" bIns="22856" anchor="t" anchorCtr="0">
            <a:noAutofit/>
          </a:bodyPr>
          <a:lstStyle/>
          <a:p>
            <a:pPr lvl="0"/>
            <a:endParaRPr lang="en-US" sz="7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Sandia National Laboratories is a multimission laboratory managed and operated by National Technology and </a:t>
            </a:r>
            <a:r>
              <a:rPr lang="en-US" sz="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 Solutions </a:t>
            </a:r>
            <a:r>
              <a:rPr lang="en-US" sz="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Sandia, LLC, a wholly owned subsidiary of Honeywell </a:t>
            </a:r>
            <a:r>
              <a:rPr lang="en-US" sz="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International</a:t>
            </a:r>
            <a:r>
              <a:rPr lang="en-US" sz="5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Inc., for the U.S. Department of Energy’s National Nuclear Security Administration under contract DE-NA0003525.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734" y="37156"/>
            <a:ext cx="538228" cy="583331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4069398" y="8038132"/>
            <a:ext cx="7601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latin typeface="Calibri" charset="0"/>
                <a:ea typeface="Calibri" charset="0"/>
                <a:cs typeface="Calibri" charset="0"/>
              </a:rPr>
              <a:t>SAND2017-9545 D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247086" y="1494487"/>
            <a:ext cx="3178259" cy="908347"/>
            <a:chOff x="281343" y="4585082"/>
            <a:chExt cx="3053019" cy="832793"/>
          </a:xfrm>
        </p:grpSpPr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43" y="4946388"/>
              <a:ext cx="1104117" cy="471487"/>
            </a:xfrm>
            <a:prstGeom prst="rect">
              <a:avLst/>
            </a:prstGeom>
          </p:spPr>
        </p:pic>
        <p:pic>
          <p:nvPicPr>
            <p:cNvPr id="143" name="Picture 14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8763" y="4624507"/>
              <a:ext cx="577069" cy="300628"/>
            </a:xfrm>
            <a:prstGeom prst="rect">
              <a:avLst/>
            </a:prstGeom>
          </p:spPr>
        </p:pic>
        <p:cxnSp>
          <p:nvCxnSpPr>
            <p:cNvPr id="144" name="Straight Connector 143"/>
            <p:cNvCxnSpPr/>
            <p:nvPr/>
          </p:nvCxnSpPr>
          <p:spPr>
            <a:xfrm flipV="1">
              <a:off x="1293766" y="4774822"/>
              <a:ext cx="381000" cy="1111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1318536" y="5168383"/>
              <a:ext cx="381000" cy="1111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2502811" y="4973492"/>
              <a:ext cx="305430" cy="2328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/>
            <p:cNvGrpSpPr/>
            <p:nvPr/>
          </p:nvGrpSpPr>
          <p:grpSpPr>
            <a:xfrm>
              <a:off x="1680632" y="4585082"/>
              <a:ext cx="781476" cy="781475"/>
              <a:chOff x="8150416" y="18462384"/>
              <a:chExt cx="3125902" cy="3125902"/>
            </a:xfrm>
          </p:grpSpPr>
          <p:sp>
            <p:nvSpPr>
              <p:cNvPr id="152" name="Oval 151"/>
              <p:cNvSpPr/>
              <p:nvPr/>
            </p:nvSpPr>
            <p:spPr>
              <a:xfrm>
                <a:off x="8150416" y="18462384"/>
                <a:ext cx="3125902" cy="3125902"/>
              </a:xfrm>
              <a:prstGeom prst="ellipse">
                <a:avLst/>
              </a:prstGeom>
              <a:solidFill>
                <a:srgbClr val="FFCCCC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8487924" y="18719936"/>
                <a:ext cx="2508378" cy="2585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b="1" dirty="0"/>
                  <a:t>   </a:t>
                </a:r>
                <a:r>
                  <a:rPr lang="en-US" sz="900" b="1" dirty="0">
                    <a:solidFill>
                      <a:srgbClr val="0070C0"/>
                    </a:solidFill>
                  </a:rPr>
                  <a:t>DEC</a:t>
                </a:r>
              </a:p>
              <a:p>
                <a:r>
                  <a:rPr lang="en-US" sz="900" dirty="0">
                    <a:latin typeface="+mn-lt"/>
                  </a:rPr>
                  <a:t>Discrete</a:t>
                </a:r>
                <a:br>
                  <a:rPr lang="en-US" sz="900" dirty="0">
                    <a:latin typeface="+mn-lt"/>
                  </a:rPr>
                </a:br>
                <a:r>
                  <a:rPr lang="en-US" sz="900" dirty="0">
                    <a:latin typeface="+mn-lt"/>
                  </a:rPr>
                  <a:t>Exterior</a:t>
                </a:r>
                <a:br>
                  <a:rPr lang="en-US" sz="900" dirty="0">
                    <a:latin typeface="+mn-lt"/>
                  </a:rPr>
                </a:br>
                <a:r>
                  <a:rPr lang="en-US" sz="900" dirty="0">
                    <a:latin typeface="+mn-lt"/>
                  </a:rPr>
                  <a:t>Calculus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2814107" y="4891085"/>
              <a:ext cx="520255" cy="230833"/>
              <a:chOff x="2814107" y="4891085"/>
              <a:chExt cx="520255" cy="230833"/>
            </a:xfrm>
          </p:grpSpPr>
          <p:sp>
            <p:nvSpPr>
              <p:cNvPr id="150" name="TextBox 149"/>
              <p:cNvSpPr txBox="1"/>
              <p:nvPr/>
            </p:nvSpPr>
            <p:spPr>
              <a:xfrm>
                <a:off x="2814107" y="4891085"/>
                <a:ext cx="498855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latin typeface="+mn-lt"/>
                  </a:rPr>
                  <a:t>matrix</a:t>
                </a:r>
              </a:p>
            </p:txBody>
          </p:sp>
          <p:pic>
            <p:nvPicPr>
              <p:cNvPr id="151" name="Picture 150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33467" y="4955380"/>
                <a:ext cx="100895" cy="104775"/>
              </a:xfrm>
              <a:prstGeom prst="rect">
                <a:avLst/>
              </a:prstGeom>
            </p:spPr>
          </p:pic>
        </p:grpSp>
        <p:pic>
          <p:nvPicPr>
            <p:cNvPr id="149" name="Picture 14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76102" y="5073817"/>
              <a:ext cx="454898" cy="111657"/>
            </a:xfrm>
            <a:prstGeom prst="rect">
              <a:avLst/>
            </a:prstGeom>
          </p:spPr>
        </p:pic>
      </p:grpSp>
      <p:pic>
        <p:nvPicPr>
          <p:cNvPr id="46" name="Picture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3335" y="3178864"/>
            <a:ext cx="4313154" cy="34352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3335" y="3684598"/>
            <a:ext cx="4252413" cy="35271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80" y="3066255"/>
            <a:ext cx="2167905" cy="126285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086" y="2733424"/>
            <a:ext cx="3156859" cy="31433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51287" y="2471089"/>
            <a:ext cx="30973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Discretization error &lt; HOT energy(primal-dual </a:t>
            </a:r>
            <a:r>
              <a:rPr lang="en-US" sz="1000" dirty="0" err="1" smtClean="0"/>
              <a:t>σ</a:t>
            </a:r>
            <a:r>
              <a:rPr lang="en-US" sz="1000" dirty="0"/>
              <a:t>-</a:t>
            </a:r>
            <a:r>
              <a:rPr lang="en-US" sz="1000" dirty="0" smtClean="0"/>
              <a:t>*</a:t>
            </a:r>
            <a:r>
              <a:rPr lang="en-US" sz="1000" dirty="0" err="1" smtClean="0"/>
              <a:t>σ</a:t>
            </a:r>
            <a:r>
              <a:rPr lang="en-US" sz="1000" dirty="0"/>
              <a:t>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6461" y="6714397"/>
            <a:ext cx="4530305" cy="607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9328</TotalTime>
  <Words>202</Words>
  <Application>Microsoft Macintosh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Times New Roman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107</cp:revision>
  <cp:lastPrinted>2017-09-06T21:47:33Z</cp:lastPrinted>
  <dcterms:modified xsi:type="dcterms:W3CDTF">2017-09-08T01:48:56Z</dcterms:modified>
</cp:coreProperties>
</file>