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mpg" ContentType="video/unknown"/>
  <Default Extension="emf" ContentType="image/x-emf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embeddings/oleObject1.bin" ContentType="application/vnd.openxmlformats-officedocument.oleObject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embeddings/oleObject2.bin" ContentType="application/vnd.openxmlformats-officedocument.oleObject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embeddings/oleObject12.bin" ContentType="application/vnd.openxmlformats-officedocument.oleObject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embeddings/oleObject13.bin" ContentType="application/vnd.openxmlformats-officedocument.oleObject"/>
  <Override PartName="/ppt/notesSlides/notesSlide21.xml" ContentType="application/vnd.openxmlformats-officedocument.presentationml.notesSlide+xml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89" r:id="rId3"/>
    <p:sldId id="258" r:id="rId4"/>
    <p:sldId id="302" r:id="rId5"/>
    <p:sldId id="304" r:id="rId6"/>
    <p:sldId id="297" r:id="rId7"/>
    <p:sldId id="298" r:id="rId8"/>
    <p:sldId id="303" r:id="rId9"/>
    <p:sldId id="311" r:id="rId10"/>
    <p:sldId id="308" r:id="rId11"/>
    <p:sldId id="305" r:id="rId12"/>
    <p:sldId id="299" r:id="rId13"/>
    <p:sldId id="315" r:id="rId14"/>
    <p:sldId id="314" r:id="rId15"/>
    <p:sldId id="307" r:id="rId16"/>
    <p:sldId id="310" r:id="rId17"/>
    <p:sldId id="318" r:id="rId18"/>
    <p:sldId id="319" r:id="rId19"/>
    <p:sldId id="320" r:id="rId20"/>
    <p:sldId id="309" r:id="rId21"/>
    <p:sldId id="312" r:id="rId22"/>
    <p:sldId id="317" r:id="rId23"/>
    <p:sldId id="296" r:id="rId24"/>
    <p:sldId id="321" r:id="rId25"/>
  </p:sldIdLst>
  <p:sldSz cx="9144000" cy="6858000" type="screen4x3"/>
  <p:notesSz cx="6940550" cy="90805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8405"/>
    <a:srgbClr val="01AAA0"/>
    <a:srgbClr val="FFD906"/>
    <a:srgbClr val="FF0000"/>
    <a:srgbClr val="00D200"/>
    <a:srgbClr val="FA0456"/>
    <a:srgbClr val="3366FF"/>
    <a:srgbClr val="000000"/>
    <a:srgbClr val="080808"/>
    <a:srgbClr val="3A98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86" autoAdjust="0"/>
    <p:restoredTop sz="94660" autoAdjust="0"/>
  </p:normalViewPr>
  <p:slideViewPr>
    <p:cSldViewPr snapToGrid="0">
      <p:cViewPr>
        <p:scale>
          <a:sx n="100" d="100"/>
          <a:sy n="100" d="100"/>
        </p:scale>
        <p:origin x="-6064" y="-25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73" d="100"/>
          <a:sy n="173" d="100"/>
        </p:scale>
        <p:origin x="-6392" y="-96"/>
      </p:cViewPr>
      <p:guideLst>
        <p:guide orient="horz" pos="2860"/>
        <p:guide pos="218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interSettings" Target="printerSettings/printerSettings1.bin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4" Type="http://schemas.openxmlformats.org/officeDocument/2006/relationships/image" Target="../media/image38.emf"/><Relationship Id="rId5" Type="http://schemas.openxmlformats.org/officeDocument/2006/relationships/image" Target="../media/image39.emf"/><Relationship Id="rId6" Type="http://schemas.openxmlformats.org/officeDocument/2006/relationships/image" Target="../media/image40.emf"/><Relationship Id="rId7" Type="http://schemas.openxmlformats.org/officeDocument/2006/relationships/image" Target="../media/image41.emf"/><Relationship Id="rId8" Type="http://schemas.openxmlformats.org/officeDocument/2006/relationships/image" Target="../media/image42.emf"/><Relationship Id="rId9" Type="http://schemas.openxmlformats.org/officeDocument/2006/relationships/image" Target="../media/image43.emf"/><Relationship Id="rId1" Type="http://schemas.openxmlformats.org/officeDocument/2006/relationships/image" Target="../media/image35.emf"/><Relationship Id="rId2" Type="http://schemas.openxmlformats.org/officeDocument/2006/relationships/image" Target="../media/image3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emf"/><Relationship Id="rId2" Type="http://schemas.openxmlformats.org/officeDocument/2006/relationships/image" Target="../media/image68.emf"/><Relationship Id="rId3" Type="http://schemas.openxmlformats.org/officeDocument/2006/relationships/image" Target="../media/image6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30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340225"/>
            <a:ext cx="5049837" cy="4105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581" tIns="46085" rIns="90581" bIns="460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9675" y="687388"/>
            <a:ext cx="4522788" cy="33924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</p:spTree>
    <p:extLst>
      <p:ext uri="{BB962C8B-B14F-4D97-AF65-F5344CB8AC3E}">
        <p14:creationId xmlns:p14="http://schemas.microsoft.com/office/powerpoint/2010/main" val="28917420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2438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04875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57313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09750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44563" y="4331154"/>
            <a:ext cx="5049837" cy="4105275"/>
          </a:xfrm>
          <a:ln/>
        </p:spPr>
        <p:txBody>
          <a:bodyPr/>
          <a:lstStyle/>
          <a:p>
            <a:r>
              <a:rPr lang="en-US" dirty="0" smtClean="0"/>
              <a:t>&lt;25 min gross talk slot – aim for 20 min talk + questions&gt;</a:t>
            </a:r>
          </a:p>
          <a:p>
            <a:endParaRPr lang="en-US" dirty="0" smtClean="0"/>
          </a:p>
          <a:p>
            <a:r>
              <a:rPr lang="en-US" dirty="0" smtClean="0"/>
              <a:t>Great to be back at IMR. </a:t>
            </a:r>
          </a:p>
          <a:p>
            <a:endParaRPr lang="en-US" dirty="0"/>
          </a:p>
          <a:p>
            <a:r>
              <a:rPr lang="en-US" dirty="0" smtClean="0"/>
              <a:t>Also thank John Owen’s group at UC Davis, and </a:t>
            </a:r>
          </a:p>
          <a:p>
            <a:r>
              <a:rPr lang="en-US" dirty="0" smtClean="0"/>
              <a:t>Vitus Leung, Pat Knupp, and Joe Bishop and Mario Martinez</a:t>
            </a:r>
            <a:endParaRPr lang="en-US" dirty="0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93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MPS is a hot topic in computer graphics, but not many people have heard of it around here, so let me start from the beginning and define it.</a:t>
            </a:r>
          </a:p>
        </p:txBody>
      </p:sp>
    </p:spTree>
    <p:extLst>
      <p:ext uri="{BB962C8B-B14F-4D97-AF65-F5344CB8AC3E}">
        <p14:creationId xmlns:p14="http://schemas.microsoft.com/office/powerpoint/2010/main" val="2345285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2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82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26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321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197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58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143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007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274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63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274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63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056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905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3991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651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776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736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84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7715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6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80988"/>
            <a:ext cx="1943100" cy="58150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0988"/>
            <a:ext cx="5676900" cy="58150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wmf"/><Relationship Id="rId14" Type="http://schemas.openxmlformats.org/officeDocument/2006/relationships/image" Target="../media/image2.wmf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57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Subtitle 24 pt</a:t>
            </a:r>
          </a:p>
          <a:p>
            <a:pPr lvl="1"/>
            <a:r>
              <a:rPr lang="en-US" smtClean="0"/>
              <a:t>Second level 22 pt</a:t>
            </a:r>
          </a:p>
          <a:p>
            <a:pPr lvl="2"/>
            <a:r>
              <a:rPr lang="en-US" smtClean="0"/>
              <a:t>Third level 20 pt</a:t>
            </a:r>
          </a:p>
          <a:p>
            <a:pPr lvl="3"/>
            <a:r>
              <a:rPr lang="en-US" smtClean="0"/>
              <a:t>Fourth level 18pt</a:t>
            </a:r>
          </a:p>
          <a:p>
            <a:pPr lvl="4"/>
            <a:r>
              <a:rPr lang="en-US" smtClean="0"/>
              <a:t>Fifth level 18pt</a:t>
            </a:r>
          </a:p>
        </p:txBody>
      </p:sp>
      <p:pic>
        <p:nvPicPr>
          <p:cNvPr id="1027" name="Picture 3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2578100" cy="1473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1028" name="Line 4"/>
          <p:cNvSpPr>
            <a:spLocks noChangeShapeType="1"/>
          </p:cNvSpPr>
          <p:nvPr/>
        </p:nvSpPr>
        <p:spPr bwMode="auto">
          <a:xfrm>
            <a:off x="817563" y="1143000"/>
            <a:ext cx="75898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80988"/>
            <a:ext cx="7772400" cy="10144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Title - 28 Point Helvetica Bold</a:t>
            </a:r>
          </a:p>
        </p:txBody>
      </p:sp>
      <p:pic>
        <p:nvPicPr>
          <p:cNvPr id="1030" name="Picture 6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153400" y="6418263"/>
            <a:ext cx="889000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9pPr>
    </p:titleStyle>
    <p:bodyStyle>
      <a:lvl1pPr marL="34290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rgbClr val="000000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200" b="1">
          <a:solidFill>
            <a:srgbClr val="000000"/>
          </a:solidFill>
          <a:latin typeface="+mn-lt"/>
        </a:defRPr>
      </a:lvl2pPr>
      <a:lvl3pPr marL="108585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rgbClr val="000000"/>
          </a:solidFill>
          <a:latin typeface="+mn-lt"/>
        </a:defRPr>
      </a:lvl3pPr>
      <a:lvl4pPr marL="154305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b="1">
          <a:solidFill>
            <a:srgbClr val="000000"/>
          </a:solidFill>
          <a:latin typeface="+mn-lt"/>
        </a:defRPr>
      </a:lvl4pPr>
      <a:lvl5pPr marL="19431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5pPr>
      <a:lvl6pPr marL="24003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6pPr>
      <a:lvl7pPr marL="28575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7pPr>
      <a:lvl8pPr marL="33147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8pPr>
      <a:lvl9pPr marL="37719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4" Type="http://schemas.openxmlformats.org/officeDocument/2006/relationships/image" Target="../media/image4.jpeg"/><Relationship Id="rId5" Type="http://schemas.openxmlformats.org/officeDocument/2006/relationships/image" Target="../media/image5.png"/><Relationship Id="rId6" Type="http://schemas.openxmlformats.org/officeDocument/2006/relationships/image" Target="../media/image6.emf"/><Relationship Id="rId7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4" Type="http://schemas.openxmlformats.org/officeDocument/2006/relationships/image" Target="../media/image13.emf"/><Relationship Id="rId5" Type="http://schemas.openxmlformats.org/officeDocument/2006/relationships/image" Target="../media/image14.emf"/><Relationship Id="rId6" Type="http://schemas.openxmlformats.org/officeDocument/2006/relationships/image" Target="../media/image15.emf"/><Relationship Id="rId7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4" Type="http://schemas.openxmlformats.org/officeDocument/2006/relationships/image" Target="../media/image17.emf"/><Relationship Id="rId5" Type="http://schemas.openxmlformats.org/officeDocument/2006/relationships/image" Target="../media/image18.emf"/><Relationship Id="rId6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7.emf"/><Relationship Id="rId5" Type="http://schemas.openxmlformats.org/officeDocument/2006/relationships/oleObject" Target="../embeddings/oleObject1.bin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12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4" Type="http://schemas.openxmlformats.org/officeDocument/2006/relationships/image" Target="../media/image24.emf"/><Relationship Id="rId5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4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8.emf"/><Relationship Id="rId12" Type="http://schemas.openxmlformats.org/officeDocument/2006/relationships/image" Target="../media/image33.png"/><Relationship Id="rId1" Type="http://schemas.openxmlformats.org/officeDocument/2006/relationships/vmlDrawing" Target="../drawings/vmlDrawing2.vml"/><Relationship Id="rId2" Type="http://schemas.microsoft.com/office/2007/relationships/media" Target="../media/media1.mpg"/><Relationship Id="rId3" Type="http://schemas.openxmlformats.org/officeDocument/2006/relationships/video" Target="../media/media1.m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Relationship Id="rId6" Type="http://schemas.openxmlformats.org/officeDocument/2006/relationships/image" Target="../media/image29.emf"/><Relationship Id="rId7" Type="http://schemas.openxmlformats.org/officeDocument/2006/relationships/image" Target="../media/image30.emf"/><Relationship Id="rId8" Type="http://schemas.openxmlformats.org/officeDocument/2006/relationships/image" Target="../media/image31.emf"/><Relationship Id="rId9" Type="http://schemas.openxmlformats.org/officeDocument/2006/relationships/image" Target="../media/image32.emf"/><Relationship Id="rId10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emf"/><Relationship Id="rId20" Type="http://schemas.openxmlformats.org/officeDocument/2006/relationships/oleObject" Target="../embeddings/oleObject10.bin"/><Relationship Id="rId21" Type="http://schemas.openxmlformats.org/officeDocument/2006/relationships/image" Target="../media/image42.emf"/><Relationship Id="rId22" Type="http://schemas.openxmlformats.org/officeDocument/2006/relationships/oleObject" Target="../embeddings/oleObject11.bin"/><Relationship Id="rId23" Type="http://schemas.openxmlformats.org/officeDocument/2006/relationships/image" Target="../media/image43.emf"/><Relationship Id="rId10" Type="http://schemas.openxmlformats.org/officeDocument/2006/relationships/oleObject" Target="../embeddings/oleObject5.bin"/><Relationship Id="rId11" Type="http://schemas.openxmlformats.org/officeDocument/2006/relationships/image" Target="../media/image37.emf"/><Relationship Id="rId12" Type="http://schemas.openxmlformats.org/officeDocument/2006/relationships/oleObject" Target="../embeddings/oleObject6.bin"/><Relationship Id="rId13" Type="http://schemas.openxmlformats.org/officeDocument/2006/relationships/image" Target="../media/image38.emf"/><Relationship Id="rId14" Type="http://schemas.openxmlformats.org/officeDocument/2006/relationships/oleObject" Target="../embeddings/oleObject7.bin"/><Relationship Id="rId15" Type="http://schemas.openxmlformats.org/officeDocument/2006/relationships/image" Target="../media/image39.emf"/><Relationship Id="rId16" Type="http://schemas.openxmlformats.org/officeDocument/2006/relationships/oleObject" Target="../embeddings/oleObject8.bin"/><Relationship Id="rId17" Type="http://schemas.openxmlformats.org/officeDocument/2006/relationships/image" Target="../media/image40.emf"/><Relationship Id="rId18" Type="http://schemas.openxmlformats.org/officeDocument/2006/relationships/oleObject" Target="../embeddings/oleObject9.bin"/><Relationship Id="rId19" Type="http://schemas.openxmlformats.org/officeDocument/2006/relationships/image" Target="../media/image41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44.e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35.emf"/><Relationship Id="rId7" Type="http://schemas.openxmlformats.org/officeDocument/2006/relationships/image" Target="../media/image45.emf"/><Relationship Id="rId8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4" Type="http://schemas.openxmlformats.org/officeDocument/2006/relationships/image" Target="../media/image47.emf"/><Relationship Id="rId5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4" Type="http://schemas.openxmlformats.org/officeDocument/2006/relationships/image" Target="../media/image54.emf"/><Relationship Id="rId5" Type="http://schemas.openxmlformats.org/officeDocument/2006/relationships/image" Target="../media/image55.emf"/><Relationship Id="rId6" Type="http://schemas.openxmlformats.org/officeDocument/2006/relationships/image" Target="../media/image56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58.emf"/><Relationship Id="rId5" Type="http://schemas.openxmlformats.org/officeDocument/2006/relationships/image" Target="../media/image59.emf"/><Relationship Id="rId6" Type="http://schemas.openxmlformats.org/officeDocument/2006/relationships/image" Target="../media/image60.emf"/><Relationship Id="rId7" Type="http://schemas.openxmlformats.org/officeDocument/2006/relationships/oleObject" Target="../embeddings/oleObject12.bin"/><Relationship Id="rId8" Type="http://schemas.openxmlformats.org/officeDocument/2006/relationships/image" Target="../media/image57.e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1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2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63.emf"/><Relationship Id="rId5" Type="http://schemas.openxmlformats.org/officeDocument/2006/relationships/oleObject" Target="../embeddings/oleObject13.bin"/><Relationship Id="rId6" Type="http://schemas.openxmlformats.org/officeDocument/2006/relationships/image" Target="../media/image57.emf"/><Relationship Id="rId7" Type="http://schemas.openxmlformats.org/officeDocument/2006/relationships/image" Target="../media/image64.emf"/><Relationship Id="rId8" Type="http://schemas.openxmlformats.org/officeDocument/2006/relationships/image" Target="../media/image62.emf"/><Relationship Id="rId9" Type="http://schemas.openxmlformats.org/officeDocument/2006/relationships/image" Target="../media/image65.emf"/><Relationship Id="rId10" Type="http://schemas.openxmlformats.org/officeDocument/2006/relationships/image" Target="../media/image61.emf"/><Relationship Id="rId11" Type="http://schemas.openxmlformats.org/officeDocument/2006/relationships/image" Target="../media/image66.e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69.emf"/><Relationship Id="rId12" Type="http://schemas.openxmlformats.org/officeDocument/2006/relationships/image" Target="../media/image54.e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70.emf"/><Relationship Id="rId5" Type="http://schemas.openxmlformats.org/officeDocument/2006/relationships/image" Target="../media/image71.emf"/><Relationship Id="rId6" Type="http://schemas.openxmlformats.org/officeDocument/2006/relationships/oleObject" Target="../embeddings/oleObject14.bin"/><Relationship Id="rId7" Type="http://schemas.openxmlformats.org/officeDocument/2006/relationships/image" Target="../media/image67.emf"/><Relationship Id="rId8" Type="http://schemas.openxmlformats.org/officeDocument/2006/relationships/oleObject" Target="../embeddings/oleObject15.bin"/><Relationship Id="rId9" Type="http://schemas.openxmlformats.org/officeDocument/2006/relationships/image" Target="../media/image68.emf"/><Relationship Id="rId10" Type="http://schemas.openxmlformats.org/officeDocument/2006/relationships/oleObject" Target="../embeddings/oleObject16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4" Type="http://schemas.openxmlformats.org/officeDocument/2006/relationships/image" Target="../media/image73.emf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Rectangle 11"/>
          <p:cNvSpPr>
            <a:spLocks noChangeArrowheads="1"/>
          </p:cNvSpPr>
          <p:nvPr/>
        </p:nvSpPr>
        <p:spPr bwMode="auto">
          <a:xfrm>
            <a:off x="1981200" y="6283325"/>
            <a:ext cx="5180013" cy="498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Sandia is a multiprogram laboratory operated by Sandia Corporation, a Lockheed Martin Company,</a:t>
            </a:r>
            <a:br>
              <a:rPr lang="en-US" sz="900" dirty="0">
                <a:solidFill>
                  <a:srgbClr val="000000"/>
                </a:solidFill>
                <a:latin typeface="Helvetica" pitchFamily="34" charset="0"/>
              </a:rPr>
            </a:br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for the United States Department of Energy’s National Nuclear Security Administration</a:t>
            </a:r>
            <a:br>
              <a:rPr lang="en-US" sz="900" dirty="0">
                <a:solidFill>
                  <a:srgbClr val="000000"/>
                </a:solidFill>
                <a:latin typeface="Helvetica" pitchFamily="34" charset="0"/>
              </a:rPr>
            </a:br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 under contract DE-AC04-94AL85000.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20700" y="4938134"/>
            <a:ext cx="8070850" cy="1763120"/>
          </a:xfrm>
          <a:noFill/>
          <a:ln/>
        </p:spPr>
        <p:txBody>
          <a:bodyPr/>
          <a:lstStyle/>
          <a:p>
            <a:pPr marL="342900" indent="-171450">
              <a:lnSpc>
                <a:spcPct val="80000"/>
              </a:lnSpc>
            </a:pPr>
            <a:endParaRPr lang="en-US" sz="1600" dirty="0" smtClean="0">
              <a:solidFill>
                <a:schemeClr val="accent2"/>
              </a:solidFill>
            </a:endParaRPr>
          </a:p>
          <a:p>
            <a:pPr marL="342900" indent="-171450">
              <a:lnSpc>
                <a:spcPct val="80000"/>
              </a:lnSpc>
            </a:pPr>
            <a:r>
              <a:rPr lang="en-US" sz="1600" dirty="0">
                <a:solidFill>
                  <a:schemeClr val="tx2"/>
                </a:solidFill>
              </a:rPr>
              <a:t>Mohamed S. Ebeida </a:t>
            </a:r>
            <a:r>
              <a:rPr lang="en-US" sz="1600" dirty="0"/>
              <a:t>&amp;</a:t>
            </a:r>
            <a:r>
              <a:rPr lang="en-US" sz="1600" dirty="0">
                <a:solidFill>
                  <a:schemeClr val="tx2"/>
                </a:solidFill>
              </a:rPr>
              <a:t> Scott A. Mitchell </a:t>
            </a:r>
            <a:r>
              <a:rPr lang="en-US" sz="1600" dirty="0">
                <a:solidFill>
                  <a:schemeClr val="tx1"/>
                </a:solidFill>
              </a:rPr>
              <a:t>(speaker)</a:t>
            </a:r>
          </a:p>
          <a:p>
            <a:pPr marL="342900" indent="-171450">
              <a:lnSpc>
                <a:spcPct val="80000"/>
              </a:lnSpc>
            </a:pPr>
            <a:endParaRPr lang="en-US" sz="1600" dirty="0" smtClean="0">
              <a:solidFill>
                <a:schemeClr val="accent6"/>
              </a:solidFill>
            </a:endParaRPr>
          </a:p>
          <a:p>
            <a:pPr marL="342900" indent="-171450">
              <a:lnSpc>
                <a:spcPct val="80000"/>
              </a:lnSpc>
            </a:pPr>
            <a:r>
              <a:rPr lang="en-US" sz="1600" dirty="0" smtClean="0">
                <a:solidFill>
                  <a:schemeClr val="accent6"/>
                </a:solidFill>
              </a:rPr>
              <a:t>20</a:t>
            </a:r>
            <a:r>
              <a:rPr lang="en-US" sz="1600" baseline="30000" dirty="0" smtClean="0">
                <a:solidFill>
                  <a:schemeClr val="accent6"/>
                </a:solidFill>
              </a:rPr>
              <a:t>th</a:t>
            </a:r>
            <a:r>
              <a:rPr lang="en-US" sz="1600" dirty="0" smtClean="0">
                <a:solidFill>
                  <a:schemeClr val="accent6"/>
                </a:solidFill>
              </a:rPr>
              <a:t> International Meshing Roundtable</a:t>
            </a:r>
          </a:p>
          <a:p>
            <a:pPr marL="342900" indent="-171450">
              <a:lnSpc>
                <a:spcPct val="80000"/>
              </a:lnSpc>
            </a:pPr>
            <a:r>
              <a:rPr lang="en-US" sz="1600" dirty="0" smtClean="0">
                <a:solidFill>
                  <a:schemeClr val="accent6"/>
                </a:solidFill>
              </a:rPr>
              <a:t>Paris, France</a:t>
            </a:r>
          </a:p>
          <a:p>
            <a:pPr marL="342900" indent="-171450">
              <a:lnSpc>
                <a:spcPct val="80000"/>
              </a:lnSpc>
            </a:pPr>
            <a:endParaRPr lang="en-US" sz="1600" dirty="0">
              <a:solidFill>
                <a:schemeClr val="accent6"/>
              </a:solidFill>
            </a:endParaRPr>
          </a:p>
        </p:txBody>
      </p:sp>
      <p:pic>
        <p:nvPicPr>
          <p:cNvPr id="4101" name="Picture 5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24800" y="6324600"/>
            <a:ext cx="1104900" cy="444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pic>
        <p:nvPicPr>
          <p:cNvPr id="4106" name="Picture 10" descr="NNSAlogo0410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6343650"/>
            <a:ext cx="914400" cy="333375"/>
          </a:xfrm>
          <a:prstGeom prst="rect">
            <a:avLst/>
          </a:prstGeom>
          <a:noFill/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10722" y="4154979"/>
            <a:ext cx="8286750" cy="1015835"/>
          </a:xfrm>
          <a:noFill/>
          <a:ln/>
        </p:spPr>
        <p:txBody>
          <a:bodyPr/>
          <a:lstStyle/>
          <a:p>
            <a:r>
              <a:rPr lang="en-US" sz="3200" dirty="0"/>
              <a:t>Uniform Random Voronoi </a:t>
            </a:r>
            <a:r>
              <a:rPr lang="en-US" sz="3200" dirty="0" smtClean="0"/>
              <a:t>Meshes</a:t>
            </a:r>
            <a:endParaRPr lang="en-US" sz="2400" dirty="0">
              <a:solidFill>
                <a:schemeClr val="tx1"/>
              </a:solidFill>
              <a:latin typeface="Helvetica" pitchFamily="34" charset="0"/>
            </a:endParaRPr>
          </a:p>
        </p:txBody>
      </p:sp>
      <p:grpSp>
        <p:nvGrpSpPr>
          <p:cNvPr id="2" name="Group 1"/>
          <p:cNvGrpSpPr>
            <a:grpSpLocks noChangeAspect="1"/>
          </p:cNvGrpSpPr>
          <p:nvPr/>
        </p:nvGrpSpPr>
        <p:grpSpPr>
          <a:xfrm>
            <a:off x="3839900" y="0"/>
            <a:ext cx="6473681" cy="3702591"/>
            <a:chOff x="5510002" y="270051"/>
            <a:chExt cx="4146427" cy="2371529"/>
          </a:xfrm>
        </p:grpSpPr>
        <p:pic>
          <p:nvPicPr>
            <p:cNvPr id="10" name="Picture 9" descr="mesh_wb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0354" y="270051"/>
              <a:ext cx="4106075" cy="2365185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 bwMode="auto">
            <a:xfrm>
              <a:off x="5510002" y="2109923"/>
              <a:ext cx="612861" cy="531657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pic>
        <p:nvPicPr>
          <p:cNvPr id="8" name="Picture 7" descr="vectorstock_419186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795" y="2831463"/>
            <a:ext cx="1465963" cy="1435100"/>
          </a:xfrm>
          <a:prstGeom prst="rect">
            <a:avLst/>
          </a:prstGeom>
        </p:spPr>
      </p:pic>
      <p:pic>
        <p:nvPicPr>
          <p:cNvPr id="11" name="Picture 30" descr="9021512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18559"/>
            <a:ext cx="3768470" cy="3697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3472659"/>
            <a:ext cx="25186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 smtClean="0"/>
              <a:t>Notre Dame de Paris, Gargoyle, by </a:t>
            </a:r>
            <a:r>
              <a:rPr lang="en-US" sz="800" b="1" dirty="0" err="1" smtClean="0"/>
              <a:t>FreiGurita</a:t>
            </a:r>
            <a:r>
              <a:rPr lang="en-US" sz="800" b="1" dirty="0" smtClean="0"/>
              <a:t> (1968)</a:t>
            </a:r>
            <a:endParaRPr lang="en-US" sz="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62000" y="3568700"/>
            <a:ext cx="3090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+two </a:t>
            </a:r>
            <a:r>
              <a:rPr lang="en-US" dirty="0">
                <a:solidFill>
                  <a:srgbClr val="FF0000"/>
                </a:solidFill>
              </a:rPr>
              <a:t>other 2011 </a:t>
            </a:r>
            <a:r>
              <a:rPr lang="en-US" dirty="0" smtClean="0">
                <a:solidFill>
                  <a:srgbClr val="FF0000"/>
                </a:solidFill>
              </a:rPr>
              <a:t>papers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rook-mesh_clippe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544" y="1195406"/>
            <a:ext cx="2061990" cy="33562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58172"/>
            <a:ext cx="7772400" cy="4572000"/>
          </a:xfrm>
        </p:spPr>
        <p:txBody>
          <a:bodyPr/>
          <a:lstStyle/>
          <a:p>
            <a:r>
              <a:rPr lang="en-US" sz="1600" dirty="0" smtClean="0">
                <a:solidFill>
                  <a:schemeClr val="tx2"/>
                </a:solidFill>
              </a:rPr>
              <a:t>Random Polyhedral Meshing</a:t>
            </a:r>
          </a:p>
          <a:p>
            <a:pPr lvl="1"/>
            <a:r>
              <a:rPr lang="en-US" sz="1400" dirty="0" smtClean="0">
                <a:solidFill>
                  <a:schemeClr val="tx2"/>
                </a:solidFill>
              </a:rPr>
              <a:t>Generate random points using the maximal Poisson-disk process</a:t>
            </a:r>
          </a:p>
          <a:p>
            <a:pPr lvl="2"/>
            <a:r>
              <a:rPr lang="en-US" sz="1200" dirty="0" smtClean="0">
                <a:solidFill>
                  <a:schemeClr val="tx2"/>
                </a:solidFill>
              </a:rPr>
              <a:t>Points placed on reflex boundary features, but not concave or flat features</a:t>
            </a:r>
          </a:p>
          <a:p>
            <a:pPr lvl="2"/>
            <a:r>
              <a:rPr lang="en-US" sz="1200" dirty="0" smtClean="0">
                <a:solidFill>
                  <a:schemeClr val="tx2"/>
                </a:solidFill>
              </a:rPr>
              <a:t>Contrast to primal methods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S</a:t>
            </a:r>
            <a:r>
              <a:rPr lang="en-US" sz="1400" dirty="0" smtClean="0">
                <a:solidFill>
                  <a:schemeClr val="tx2"/>
                </a:solidFill>
              </a:rPr>
              <a:t>ymbolically split points (not in paper)</a:t>
            </a:r>
          </a:p>
          <a:p>
            <a:pPr lvl="1"/>
            <a:r>
              <a:rPr lang="en-US" sz="1400" dirty="0" smtClean="0">
                <a:solidFill>
                  <a:schemeClr val="tx2"/>
                </a:solidFill>
              </a:rPr>
              <a:t>Construct Voronoi cells </a:t>
            </a:r>
          </a:p>
          <a:p>
            <a:pPr lvl="2"/>
            <a:r>
              <a:rPr lang="en-US" sz="1200" dirty="0" smtClean="0">
                <a:solidFill>
                  <a:schemeClr val="tx2"/>
                </a:solidFill>
              </a:rPr>
              <a:t>Bounding box, cut by boundary and Voronoi planes</a:t>
            </a:r>
          </a:p>
          <a:p>
            <a:pPr lvl="3"/>
            <a:r>
              <a:rPr lang="en-US" sz="1100" dirty="0" smtClean="0">
                <a:solidFill>
                  <a:schemeClr val="tx2"/>
                </a:solidFill>
              </a:rPr>
              <a:t>Bounding box works because cells have bounded size</a:t>
            </a:r>
          </a:p>
          <a:p>
            <a:pPr lvl="2"/>
            <a:r>
              <a:rPr lang="en-US" sz="1200" dirty="0" smtClean="0">
                <a:solidFill>
                  <a:schemeClr val="tx2"/>
                </a:solidFill>
              </a:rPr>
              <a:t>Small edges collapsed</a:t>
            </a:r>
            <a:endParaRPr lang="en-US" sz="1200" dirty="0">
              <a:solidFill>
                <a:schemeClr val="tx2"/>
              </a:solidFill>
            </a:endParaRPr>
          </a:p>
          <a:p>
            <a:r>
              <a:rPr lang="en-US" sz="1600" dirty="0" smtClean="0">
                <a:solidFill>
                  <a:schemeClr val="tx2"/>
                </a:solidFill>
              </a:rPr>
              <a:t>Get</a:t>
            </a:r>
          </a:p>
          <a:p>
            <a:pPr lvl="1"/>
            <a:r>
              <a:rPr lang="en-US" sz="1400" dirty="0" smtClean="0">
                <a:solidFill>
                  <a:schemeClr val="tx2"/>
                </a:solidFill>
              </a:rPr>
              <a:t>Voronoi mesh of convex polyhedral cells</a:t>
            </a:r>
          </a:p>
          <a:p>
            <a:pPr lvl="1"/>
            <a:r>
              <a:rPr lang="en-US" sz="1400" dirty="0" smtClean="0">
                <a:solidFill>
                  <a:schemeClr val="tx2"/>
                </a:solidFill>
              </a:rPr>
              <a:t>Bounded cell aspect ratio and facet dihedrals</a:t>
            </a:r>
          </a:p>
          <a:p>
            <a:pPr lvl="1"/>
            <a:r>
              <a:rPr lang="en-US" sz="1400" dirty="0" smtClean="0">
                <a:solidFill>
                  <a:schemeClr val="tx2"/>
                </a:solidFill>
              </a:rPr>
              <a:t>Random orientation of mesh edges</a:t>
            </a:r>
          </a:p>
          <a:p>
            <a:pPr lvl="2"/>
            <a:r>
              <a:rPr lang="en-US" sz="1200" dirty="0" smtClean="0">
                <a:solidFill>
                  <a:schemeClr val="tx2"/>
                </a:solidFill>
              </a:rPr>
              <a:t>Needed for fracture mechanics where cracks are restricted to edges</a:t>
            </a:r>
            <a:endParaRPr lang="en-US" sz="1200" dirty="0"/>
          </a:p>
        </p:txBody>
      </p:sp>
      <p:pic>
        <p:nvPicPr>
          <p:cNvPr id="5" name="Picture 4" descr="rook-mesh_clipped_zoom_in_b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241" y="4696908"/>
            <a:ext cx="3751759" cy="2161092"/>
          </a:xfrm>
          <a:prstGeom prst="rect">
            <a:avLst/>
          </a:prstGeom>
        </p:spPr>
      </p:pic>
      <p:pic>
        <p:nvPicPr>
          <p:cNvPr id="6" name="Picture 5" descr="rook-mesh_clipped_zoom_i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212" y="4691204"/>
            <a:ext cx="3408699" cy="2166796"/>
          </a:xfrm>
          <a:prstGeom prst="rect">
            <a:avLst/>
          </a:prstGeom>
        </p:spPr>
      </p:pic>
      <p:pic>
        <p:nvPicPr>
          <p:cNvPr id="8" name="Picture 7" descr="rook-boundaries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893" y="0"/>
            <a:ext cx="980536" cy="159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48379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85738"/>
            <a:ext cx="7772400" cy="1014412"/>
          </a:xfrm>
        </p:spPr>
        <p:txBody>
          <a:bodyPr/>
          <a:lstStyle/>
          <a:p>
            <a:r>
              <a:rPr lang="en-US" dirty="0"/>
              <a:t>Maximal Poisson-Disk </a:t>
            </a:r>
            <a:r>
              <a:rPr lang="en-US" dirty="0" smtClean="0"/>
              <a:t>Sampling (MPS)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151467"/>
            <a:ext cx="7772400" cy="4572000"/>
          </a:xfrm>
        </p:spPr>
        <p:txBody>
          <a:bodyPr/>
          <a:lstStyle/>
          <a:p>
            <a:r>
              <a:rPr lang="en-US" dirty="0"/>
              <a:t>W</a:t>
            </a:r>
            <a:r>
              <a:rPr lang="en-US" dirty="0" smtClean="0"/>
              <a:t>hat is MPS?</a:t>
            </a:r>
          </a:p>
          <a:p>
            <a:pPr lvl="1"/>
            <a:r>
              <a:rPr lang="en-US" dirty="0" smtClean="0"/>
              <a:t>Dart-throwing</a:t>
            </a:r>
          </a:p>
          <a:p>
            <a:pPr lvl="1"/>
            <a:r>
              <a:rPr lang="en-US" dirty="0"/>
              <a:t>Insert random points into a domain, build set X</a:t>
            </a:r>
          </a:p>
          <a:p>
            <a:pPr lvl="2"/>
            <a:r>
              <a:rPr lang="en-US" dirty="0"/>
              <a:t>With the “Poisson” process</a:t>
            </a:r>
            <a:endParaRPr lang="en-US" dirty="0" smtClean="0"/>
          </a:p>
        </p:txBody>
      </p:sp>
      <p:sp>
        <p:nvSpPr>
          <p:cNvPr id="5" name="Rectangle 4"/>
          <p:cNvSpPr/>
          <p:nvPr/>
        </p:nvSpPr>
        <p:spPr bwMode="auto">
          <a:xfrm>
            <a:off x="5528733" y="2946400"/>
            <a:ext cx="2743200" cy="2743200"/>
          </a:xfrm>
          <a:prstGeom prst="rect">
            <a:avLst/>
          </a:prstGeom>
          <a:solidFill>
            <a:srgbClr val="FFFF00">
              <a:alpha val="1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5747808" y="3235326"/>
            <a:ext cx="914400" cy="914400"/>
            <a:chOff x="1014942" y="4818592"/>
            <a:chExt cx="914400" cy="914400"/>
          </a:xfrm>
        </p:grpSpPr>
        <p:sp>
          <p:nvSpPr>
            <p:cNvPr id="7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392208" y="5013326"/>
            <a:ext cx="914400" cy="914400"/>
            <a:chOff x="1014942" y="4818592"/>
            <a:chExt cx="914400" cy="914400"/>
          </a:xfrm>
        </p:grpSpPr>
        <p:sp>
          <p:nvSpPr>
            <p:cNvPr id="14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942541" y="4573059"/>
            <a:ext cx="914400" cy="914400"/>
            <a:chOff x="1014942" y="4818592"/>
            <a:chExt cx="914400" cy="914400"/>
          </a:xfrm>
        </p:grpSpPr>
        <p:sp>
          <p:nvSpPr>
            <p:cNvPr id="17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069542" y="3218393"/>
            <a:ext cx="914400" cy="914400"/>
            <a:chOff x="1014942" y="4818592"/>
            <a:chExt cx="914400" cy="914400"/>
          </a:xfrm>
        </p:grpSpPr>
        <p:sp>
          <p:nvSpPr>
            <p:cNvPr id="20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020405" y="3879201"/>
            <a:ext cx="1387929" cy="760504"/>
            <a:chOff x="6020405" y="3879201"/>
            <a:chExt cx="1387929" cy="760504"/>
          </a:xfrm>
        </p:grpSpPr>
        <p:sp>
          <p:nvSpPr>
            <p:cNvPr id="25" name="Freeform 24"/>
            <p:cNvSpPr/>
            <p:nvPr/>
          </p:nvSpPr>
          <p:spPr bwMode="auto">
            <a:xfrm>
              <a:off x="6020405" y="3879201"/>
              <a:ext cx="1387929" cy="760504"/>
            </a:xfrm>
            <a:custGeom>
              <a:avLst/>
              <a:gdLst>
                <a:gd name="connsiteX0" fmla="*/ 624342 w 881517"/>
                <a:gd name="connsiteY0" fmla="*/ 517115 h 760504"/>
                <a:gd name="connsiteX1" fmla="*/ 695779 w 881517"/>
                <a:gd name="connsiteY1" fmla="*/ 464728 h 760504"/>
                <a:gd name="connsiteX2" fmla="*/ 757692 w 881517"/>
                <a:gd name="connsiteY2" fmla="*/ 412340 h 760504"/>
                <a:gd name="connsiteX3" fmla="*/ 771979 w 881517"/>
                <a:gd name="connsiteY3" fmla="*/ 402815 h 760504"/>
                <a:gd name="connsiteX4" fmla="*/ 786267 w 881517"/>
                <a:gd name="connsiteY4" fmla="*/ 398053 h 760504"/>
                <a:gd name="connsiteX5" fmla="*/ 795792 w 881517"/>
                <a:gd name="connsiteY5" fmla="*/ 383765 h 760504"/>
                <a:gd name="connsiteX6" fmla="*/ 800554 w 881517"/>
                <a:gd name="connsiteY6" fmla="*/ 364715 h 760504"/>
                <a:gd name="connsiteX7" fmla="*/ 805317 w 881517"/>
                <a:gd name="connsiteY7" fmla="*/ 340903 h 760504"/>
                <a:gd name="connsiteX8" fmla="*/ 824367 w 881517"/>
                <a:gd name="connsiteY8" fmla="*/ 312328 h 760504"/>
                <a:gd name="connsiteX9" fmla="*/ 829129 w 881517"/>
                <a:gd name="connsiteY9" fmla="*/ 298040 h 760504"/>
                <a:gd name="connsiteX10" fmla="*/ 857704 w 881517"/>
                <a:gd name="connsiteY10" fmla="*/ 264703 h 760504"/>
                <a:gd name="connsiteX11" fmla="*/ 876754 w 881517"/>
                <a:gd name="connsiteY11" fmla="*/ 188503 h 760504"/>
                <a:gd name="connsiteX12" fmla="*/ 881517 w 881517"/>
                <a:gd name="connsiteY12" fmla="*/ 174215 h 760504"/>
                <a:gd name="connsiteX13" fmla="*/ 876754 w 881517"/>
                <a:gd name="connsiteY13" fmla="*/ 145640 h 760504"/>
                <a:gd name="connsiteX14" fmla="*/ 857704 w 881517"/>
                <a:gd name="connsiteY14" fmla="*/ 117065 h 760504"/>
                <a:gd name="connsiteX15" fmla="*/ 843417 w 881517"/>
                <a:gd name="connsiteY15" fmla="*/ 83728 h 760504"/>
                <a:gd name="connsiteX16" fmla="*/ 824367 w 881517"/>
                <a:gd name="connsiteY16" fmla="*/ 64678 h 760504"/>
                <a:gd name="connsiteX17" fmla="*/ 810079 w 881517"/>
                <a:gd name="connsiteY17" fmla="*/ 59915 h 760504"/>
                <a:gd name="connsiteX18" fmla="*/ 795792 w 881517"/>
                <a:gd name="connsiteY18" fmla="*/ 50390 h 760504"/>
                <a:gd name="connsiteX19" fmla="*/ 776742 w 881517"/>
                <a:gd name="connsiteY19" fmla="*/ 40865 h 760504"/>
                <a:gd name="connsiteX20" fmla="*/ 733879 w 881517"/>
                <a:gd name="connsiteY20" fmla="*/ 21815 h 760504"/>
                <a:gd name="connsiteX21" fmla="*/ 714829 w 881517"/>
                <a:gd name="connsiteY21" fmla="*/ 12290 h 760504"/>
                <a:gd name="connsiteX22" fmla="*/ 633867 w 881517"/>
                <a:gd name="connsiteY22" fmla="*/ 12290 h 760504"/>
                <a:gd name="connsiteX23" fmla="*/ 600529 w 881517"/>
                <a:gd name="connsiteY23" fmla="*/ 45628 h 760504"/>
                <a:gd name="connsiteX24" fmla="*/ 567192 w 881517"/>
                <a:gd name="connsiteY24" fmla="*/ 83728 h 760504"/>
                <a:gd name="connsiteX25" fmla="*/ 548142 w 881517"/>
                <a:gd name="connsiteY25" fmla="*/ 126590 h 760504"/>
                <a:gd name="connsiteX26" fmla="*/ 538617 w 881517"/>
                <a:gd name="connsiteY26" fmla="*/ 150403 h 760504"/>
                <a:gd name="connsiteX27" fmla="*/ 533854 w 881517"/>
                <a:gd name="connsiteY27" fmla="*/ 183740 h 760504"/>
                <a:gd name="connsiteX28" fmla="*/ 529092 w 881517"/>
                <a:gd name="connsiteY28" fmla="*/ 298040 h 760504"/>
                <a:gd name="connsiteX29" fmla="*/ 519567 w 881517"/>
                <a:gd name="connsiteY29" fmla="*/ 312328 h 760504"/>
                <a:gd name="connsiteX30" fmla="*/ 490992 w 881517"/>
                <a:gd name="connsiteY30" fmla="*/ 336140 h 760504"/>
                <a:gd name="connsiteX31" fmla="*/ 452892 w 881517"/>
                <a:gd name="connsiteY31" fmla="*/ 364715 h 760504"/>
                <a:gd name="connsiteX32" fmla="*/ 438604 w 881517"/>
                <a:gd name="connsiteY32" fmla="*/ 369478 h 760504"/>
                <a:gd name="connsiteX33" fmla="*/ 424317 w 881517"/>
                <a:gd name="connsiteY33" fmla="*/ 374240 h 760504"/>
                <a:gd name="connsiteX34" fmla="*/ 410029 w 881517"/>
                <a:gd name="connsiteY34" fmla="*/ 383765 h 760504"/>
                <a:gd name="connsiteX35" fmla="*/ 352879 w 881517"/>
                <a:gd name="connsiteY35" fmla="*/ 393290 h 760504"/>
                <a:gd name="connsiteX36" fmla="*/ 338592 w 881517"/>
                <a:gd name="connsiteY36" fmla="*/ 402815 h 760504"/>
                <a:gd name="connsiteX37" fmla="*/ 319542 w 881517"/>
                <a:gd name="connsiteY37" fmla="*/ 421865 h 760504"/>
                <a:gd name="connsiteX38" fmla="*/ 305254 w 881517"/>
                <a:gd name="connsiteY38" fmla="*/ 426628 h 760504"/>
                <a:gd name="connsiteX39" fmla="*/ 271917 w 881517"/>
                <a:gd name="connsiteY39" fmla="*/ 436153 h 760504"/>
                <a:gd name="connsiteX40" fmla="*/ 124279 w 881517"/>
                <a:gd name="connsiteY40" fmla="*/ 431390 h 760504"/>
                <a:gd name="connsiteX41" fmla="*/ 119517 w 881517"/>
                <a:gd name="connsiteY41" fmla="*/ 412340 h 760504"/>
                <a:gd name="connsiteX42" fmla="*/ 105229 w 881517"/>
                <a:gd name="connsiteY42" fmla="*/ 402815 h 760504"/>
                <a:gd name="connsiteX43" fmla="*/ 100467 w 881517"/>
                <a:gd name="connsiteY43" fmla="*/ 388528 h 760504"/>
                <a:gd name="connsiteX44" fmla="*/ 90942 w 881517"/>
                <a:gd name="connsiteY44" fmla="*/ 374240 h 760504"/>
                <a:gd name="connsiteX45" fmla="*/ 86179 w 881517"/>
                <a:gd name="connsiteY45" fmla="*/ 350428 h 760504"/>
                <a:gd name="connsiteX46" fmla="*/ 76654 w 881517"/>
                <a:gd name="connsiteY46" fmla="*/ 317090 h 760504"/>
                <a:gd name="connsiteX47" fmla="*/ 67129 w 881517"/>
                <a:gd name="connsiteY47" fmla="*/ 302803 h 760504"/>
                <a:gd name="connsiteX48" fmla="*/ 14742 w 881517"/>
                <a:gd name="connsiteY48" fmla="*/ 288515 h 760504"/>
                <a:gd name="connsiteX49" fmla="*/ 454 w 881517"/>
                <a:gd name="connsiteY49" fmla="*/ 293278 h 760504"/>
                <a:gd name="connsiteX50" fmla="*/ 29029 w 881517"/>
                <a:gd name="connsiteY50" fmla="*/ 379003 h 760504"/>
                <a:gd name="connsiteX51" fmla="*/ 43317 w 881517"/>
                <a:gd name="connsiteY51" fmla="*/ 383765 h 760504"/>
                <a:gd name="connsiteX52" fmla="*/ 52842 w 881517"/>
                <a:gd name="connsiteY52" fmla="*/ 402815 h 760504"/>
                <a:gd name="connsiteX53" fmla="*/ 57604 w 881517"/>
                <a:gd name="connsiteY53" fmla="*/ 417103 h 760504"/>
                <a:gd name="connsiteX54" fmla="*/ 67129 w 881517"/>
                <a:gd name="connsiteY54" fmla="*/ 431390 h 760504"/>
                <a:gd name="connsiteX55" fmla="*/ 62367 w 881517"/>
                <a:gd name="connsiteY55" fmla="*/ 536165 h 760504"/>
                <a:gd name="connsiteX56" fmla="*/ 48079 w 881517"/>
                <a:gd name="connsiteY56" fmla="*/ 555215 h 760504"/>
                <a:gd name="connsiteX57" fmla="*/ 38554 w 881517"/>
                <a:gd name="connsiteY57" fmla="*/ 588553 h 760504"/>
                <a:gd name="connsiteX58" fmla="*/ 43317 w 881517"/>
                <a:gd name="connsiteY58" fmla="*/ 602840 h 760504"/>
                <a:gd name="connsiteX59" fmla="*/ 71892 w 881517"/>
                <a:gd name="connsiteY59" fmla="*/ 650465 h 760504"/>
                <a:gd name="connsiteX60" fmla="*/ 86179 w 881517"/>
                <a:gd name="connsiteY60" fmla="*/ 664753 h 760504"/>
                <a:gd name="connsiteX61" fmla="*/ 119517 w 881517"/>
                <a:gd name="connsiteY61" fmla="*/ 679040 h 760504"/>
                <a:gd name="connsiteX62" fmla="*/ 229054 w 881517"/>
                <a:gd name="connsiteY62" fmla="*/ 674278 h 760504"/>
                <a:gd name="connsiteX63" fmla="*/ 252867 w 881517"/>
                <a:gd name="connsiteY63" fmla="*/ 669515 h 760504"/>
                <a:gd name="connsiteX64" fmla="*/ 271917 w 881517"/>
                <a:gd name="connsiteY64" fmla="*/ 655228 h 760504"/>
                <a:gd name="connsiteX65" fmla="*/ 300492 w 881517"/>
                <a:gd name="connsiteY65" fmla="*/ 640940 h 760504"/>
                <a:gd name="connsiteX66" fmla="*/ 333829 w 881517"/>
                <a:gd name="connsiteY66" fmla="*/ 650465 h 760504"/>
                <a:gd name="connsiteX67" fmla="*/ 348117 w 881517"/>
                <a:gd name="connsiteY67" fmla="*/ 655228 h 760504"/>
                <a:gd name="connsiteX68" fmla="*/ 376692 w 881517"/>
                <a:gd name="connsiteY68" fmla="*/ 683803 h 760504"/>
                <a:gd name="connsiteX69" fmla="*/ 395742 w 881517"/>
                <a:gd name="connsiteY69" fmla="*/ 717140 h 760504"/>
                <a:gd name="connsiteX70" fmla="*/ 400504 w 881517"/>
                <a:gd name="connsiteY70" fmla="*/ 731428 h 760504"/>
                <a:gd name="connsiteX71" fmla="*/ 405267 w 881517"/>
                <a:gd name="connsiteY71" fmla="*/ 750478 h 760504"/>
                <a:gd name="connsiteX72" fmla="*/ 419554 w 881517"/>
                <a:gd name="connsiteY72" fmla="*/ 755240 h 760504"/>
                <a:gd name="connsiteX73" fmla="*/ 438604 w 881517"/>
                <a:gd name="connsiteY73" fmla="*/ 745715 h 760504"/>
                <a:gd name="connsiteX74" fmla="*/ 457654 w 881517"/>
                <a:gd name="connsiteY74" fmla="*/ 740953 h 760504"/>
                <a:gd name="connsiteX75" fmla="*/ 471942 w 881517"/>
                <a:gd name="connsiteY75" fmla="*/ 736190 h 760504"/>
                <a:gd name="connsiteX76" fmla="*/ 548142 w 881517"/>
                <a:gd name="connsiteY76" fmla="*/ 740953 h 760504"/>
                <a:gd name="connsiteX77" fmla="*/ 529092 w 881517"/>
                <a:gd name="connsiteY77" fmla="*/ 631415 h 760504"/>
                <a:gd name="connsiteX78" fmla="*/ 514804 w 881517"/>
                <a:gd name="connsiteY78" fmla="*/ 626653 h 760504"/>
                <a:gd name="connsiteX79" fmla="*/ 490992 w 881517"/>
                <a:gd name="connsiteY79" fmla="*/ 588553 h 760504"/>
                <a:gd name="connsiteX80" fmla="*/ 481467 w 881517"/>
                <a:gd name="connsiteY80" fmla="*/ 569503 h 760504"/>
                <a:gd name="connsiteX81" fmla="*/ 486229 w 881517"/>
                <a:gd name="connsiteY81" fmla="*/ 536165 h 760504"/>
                <a:gd name="connsiteX82" fmla="*/ 514804 w 881517"/>
                <a:gd name="connsiteY82" fmla="*/ 521878 h 760504"/>
                <a:gd name="connsiteX83" fmla="*/ 624342 w 881517"/>
                <a:gd name="connsiteY83" fmla="*/ 517115 h 760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881517" h="760504">
                  <a:moveTo>
                    <a:pt x="624342" y="517115"/>
                  </a:moveTo>
                  <a:cubicBezTo>
                    <a:pt x="654504" y="507590"/>
                    <a:pt x="673237" y="483802"/>
                    <a:pt x="695779" y="464728"/>
                  </a:cubicBezTo>
                  <a:cubicBezTo>
                    <a:pt x="716417" y="447265"/>
                    <a:pt x="735198" y="427336"/>
                    <a:pt x="757692" y="412340"/>
                  </a:cubicBezTo>
                  <a:cubicBezTo>
                    <a:pt x="762454" y="409165"/>
                    <a:pt x="766860" y="405375"/>
                    <a:pt x="771979" y="402815"/>
                  </a:cubicBezTo>
                  <a:cubicBezTo>
                    <a:pt x="776469" y="400570"/>
                    <a:pt x="781504" y="399640"/>
                    <a:pt x="786267" y="398053"/>
                  </a:cubicBezTo>
                  <a:cubicBezTo>
                    <a:pt x="789442" y="393290"/>
                    <a:pt x="793537" y="389026"/>
                    <a:pt x="795792" y="383765"/>
                  </a:cubicBezTo>
                  <a:cubicBezTo>
                    <a:pt x="798370" y="377749"/>
                    <a:pt x="799134" y="371105"/>
                    <a:pt x="800554" y="364715"/>
                  </a:cubicBezTo>
                  <a:cubicBezTo>
                    <a:pt x="802310" y="356813"/>
                    <a:pt x="801967" y="348272"/>
                    <a:pt x="805317" y="340903"/>
                  </a:cubicBezTo>
                  <a:cubicBezTo>
                    <a:pt x="810054" y="330482"/>
                    <a:pt x="824367" y="312328"/>
                    <a:pt x="824367" y="312328"/>
                  </a:cubicBezTo>
                  <a:cubicBezTo>
                    <a:pt x="825954" y="307565"/>
                    <a:pt x="825915" y="301897"/>
                    <a:pt x="829129" y="298040"/>
                  </a:cubicBezTo>
                  <a:cubicBezTo>
                    <a:pt x="849940" y="273067"/>
                    <a:pt x="848135" y="296601"/>
                    <a:pt x="857704" y="264703"/>
                  </a:cubicBezTo>
                  <a:cubicBezTo>
                    <a:pt x="865227" y="239625"/>
                    <a:pt x="868474" y="213341"/>
                    <a:pt x="876754" y="188503"/>
                  </a:cubicBezTo>
                  <a:lnTo>
                    <a:pt x="881517" y="174215"/>
                  </a:lnTo>
                  <a:cubicBezTo>
                    <a:pt x="879929" y="164690"/>
                    <a:pt x="880468" y="154554"/>
                    <a:pt x="876754" y="145640"/>
                  </a:cubicBezTo>
                  <a:cubicBezTo>
                    <a:pt x="872351" y="135073"/>
                    <a:pt x="857704" y="117065"/>
                    <a:pt x="857704" y="117065"/>
                  </a:cubicBezTo>
                  <a:cubicBezTo>
                    <a:pt x="854026" y="106029"/>
                    <a:pt x="850480" y="93145"/>
                    <a:pt x="843417" y="83728"/>
                  </a:cubicBezTo>
                  <a:cubicBezTo>
                    <a:pt x="838029" y="76544"/>
                    <a:pt x="831675" y="69898"/>
                    <a:pt x="824367" y="64678"/>
                  </a:cubicBezTo>
                  <a:cubicBezTo>
                    <a:pt x="820282" y="61760"/>
                    <a:pt x="814569" y="62160"/>
                    <a:pt x="810079" y="59915"/>
                  </a:cubicBezTo>
                  <a:cubicBezTo>
                    <a:pt x="804960" y="57355"/>
                    <a:pt x="800762" y="53230"/>
                    <a:pt x="795792" y="50390"/>
                  </a:cubicBezTo>
                  <a:cubicBezTo>
                    <a:pt x="789628" y="46868"/>
                    <a:pt x="782762" y="44628"/>
                    <a:pt x="776742" y="40865"/>
                  </a:cubicBezTo>
                  <a:cubicBezTo>
                    <a:pt x="743709" y="20220"/>
                    <a:pt x="773132" y="29666"/>
                    <a:pt x="733879" y="21815"/>
                  </a:cubicBezTo>
                  <a:cubicBezTo>
                    <a:pt x="727529" y="18640"/>
                    <a:pt x="721355" y="15087"/>
                    <a:pt x="714829" y="12290"/>
                  </a:cubicBezTo>
                  <a:cubicBezTo>
                    <a:pt x="686153" y="0"/>
                    <a:pt x="675593" y="9310"/>
                    <a:pt x="633867" y="12290"/>
                  </a:cubicBezTo>
                  <a:cubicBezTo>
                    <a:pt x="622754" y="23403"/>
                    <a:pt x="610347" y="33356"/>
                    <a:pt x="600529" y="45628"/>
                  </a:cubicBezTo>
                  <a:cubicBezTo>
                    <a:pt x="577272" y="74699"/>
                    <a:pt x="588666" y="62252"/>
                    <a:pt x="567192" y="83728"/>
                  </a:cubicBezTo>
                  <a:cubicBezTo>
                    <a:pt x="538951" y="154330"/>
                    <a:pt x="574844" y="66510"/>
                    <a:pt x="548142" y="126590"/>
                  </a:cubicBezTo>
                  <a:cubicBezTo>
                    <a:pt x="544670" y="134402"/>
                    <a:pt x="541792" y="142465"/>
                    <a:pt x="538617" y="150403"/>
                  </a:cubicBezTo>
                  <a:cubicBezTo>
                    <a:pt x="537029" y="161515"/>
                    <a:pt x="534577" y="172538"/>
                    <a:pt x="533854" y="183740"/>
                  </a:cubicBezTo>
                  <a:cubicBezTo>
                    <a:pt x="531399" y="221794"/>
                    <a:pt x="533303" y="260140"/>
                    <a:pt x="529092" y="298040"/>
                  </a:cubicBezTo>
                  <a:cubicBezTo>
                    <a:pt x="528460" y="303729"/>
                    <a:pt x="523231" y="307931"/>
                    <a:pt x="519567" y="312328"/>
                  </a:cubicBezTo>
                  <a:cubicBezTo>
                    <a:pt x="508110" y="326077"/>
                    <a:pt x="505038" y="326776"/>
                    <a:pt x="490992" y="336140"/>
                  </a:cubicBezTo>
                  <a:cubicBezTo>
                    <a:pt x="476977" y="364170"/>
                    <a:pt x="488202" y="352945"/>
                    <a:pt x="452892" y="364715"/>
                  </a:cubicBezTo>
                  <a:lnTo>
                    <a:pt x="438604" y="369478"/>
                  </a:lnTo>
                  <a:lnTo>
                    <a:pt x="424317" y="374240"/>
                  </a:lnTo>
                  <a:cubicBezTo>
                    <a:pt x="419554" y="377415"/>
                    <a:pt x="415290" y="381510"/>
                    <a:pt x="410029" y="383765"/>
                  </a:cubicBezTo>
                  <a:cubicBezTo>
                    <a:pt x="397069" y="389319"/>
                    <a:pt x="361287" y="392239"/>
                    <a:pt x="352879" y="393290"/>
                  </a:cubicBezTo>
                  <a:cubicBezTo>
                    <a:pt x="348117" y="396465"/>
                    <a:pt x="342938" y="399090"/>
                    <a:pt x="338592" y="402815"/>
                  </a:cubicBezTo>
                  <a:cubicBezTo>
                    <a:pt x="331774" y="408659"/>
                    <a:pt x="326850" y="416645"/>
                    <a:pt x="319542" y="421865"/>
                  </a:cubicBezTo>
                  <a:cubicBezTo>
                    <a:pt x="315457" y="424783"/>
                    <a:pt x="310081" y="425249"/>
                    <a:pt x="305254" y="426628"/>
                  </a:cubicBezTo>
                  <a:cubicBezTo>
                    <a:pt x="263402" y="438586"/>
                    <a:pt x="306166" y="424735"/>
                    <a:pt x="271917" y="436153"/>
                  </a:cubicBezTo>
                  <a:lnTo>
                    <a:pt x="124279" y="431390"/>
                  </a:lnTo>
                  <a:cubicBezTo>
                    <a:pt x="117812" y="430380"/>
                    <a:pt x="123148" y="417786"/>
                    <a:pt x="119517" y="412340"/>
                  </a:cubicBezTo>
                  <a:cubicBezTo>
                    <a:pt x="116342" y="407577"/>
                    <a:pt x="109992" y="405990"/>
                    <a:pt x="105229" y="402815"/>
                  </a:cubicBezTo>
                  <a:cubicBezTo>
                    <a:pt x="103642" y="398053"/>
                    <a:pt x="102712" y="393018"/>
                    <a:pt x="100467" y="388528"/>
                  </a:cubicBezTo>
                  <a:cubicBezTo>
                    <a:pt x="97907" y="383408"/>
                    <a:pt x="92952" y="379599"/>
                    <a:pt x="90942" y="374240"/>
                  </a:cubicBezTo>
                  <a:cubicBezTo>
                    <a:pt x="88100" y="366661"/>
                    <a:pt x="87935" y="358330"/>
                    <a:pt x="86179" y="350428"/>
                  </a:cubicBezTo>
                  <a:cubicBezTo>
                    <a:pt x="84957" y="344930"/>
                    <a:pt x="79838" y="323457"/>
                    <a:pt x="76654" y="317090"/>
                  </a:cubicBezTo>
                  <a:cubicBezTo>
                    <a:pt x="74094" y="311971"/>
                    <a:pt x="71983" y="305836"/>
                    <a:pt x="67129" y="302803"/>
                  </a:cubicBezTo>
                  <a:cubicBezTo>
                    <a:pt x="55756" y="295695"/>
                    <a:pt x="28339" y="291235"/>
                    <a:pt x="14742" y="288515"/>
                  </a:cubicBezTo>
                  <a:cubicBezTo>
                    <a:pt x="9979" y="290103"/>
                    <a:pt x="839" y="288272"/>
                    <a:pt x="454" y="293278"/>
                  </a:cubicBezTo>
                  <a:cubicBezTo>
                    <a:pt x="0" y="299184"/>
                    <a:pt x="6297" y="371427"/>
                    <a:pt x="29029" y="379003"/>
                  </a:cubicBezTo>
                  <a:lnTo>
                    <a:pt x="43317" y="383765"/>
                  </a:lnTo>
                  <a:cubicBezTo>
                    <a:pt x="46492" y="390115"/>
                    <a:pt x="50045" y="396289"/>
                    <a:pt x="52842" y="402815"/>
                  </a:cubicBezTo>
                  <a:cubicBezTo>
                    <a:pt x="54819" y="407429"/>
                    <a:pt x="55359" y="412613"/>
                    <a:pt x="57604" y="417103"/>
                  </a:cubicBezTo>
                  <a:cubicBezTo>
                    <a:pt x="60164" y="422222"/>
                    <a:pt x="63954" y="426628"/>
                    <a:pt x="67129" y="431390"/>
                  </a:cubicBezTo>
                  <a:cubicBezTo>
                    <a:pt x="65542" y="466315"/>
                    <a:pt x="67683" y="501610"/>
                    <a:pt x="62367" y="536165"/>
                  </a:cubicBezTo>
                  <a:cubicBezTo>
                    <a:pt x="61160" y="544010"/>
                    <a:pt x="52017" y="548323"/>
                    <a:pt x="48079" y="555215"/>
                  </a:cubicBezTo>
                  <a:cubicBezTo>
                    <a:pt x="45045" y="560525"/>
                    <a:pt x="39584" y="584435"/>
                    <a:pt x="38554" y="588553"/>
                  </a:cubicBezTo>
                  <a:cubicBezTo>
                    <a:pt x="40142" y="593315"/>
                    <a:pt x="41278" y="598253"/>
                    <a:pt x="43317" y="602840"/>
                  </a:cubicBezTo>
                  <a:cubicBezTo>
                    <a:pt x="52773" y="624115"/>
                    <a:pt x="57461" y="633629"/>
                    <a:pt x="71892" y="650465"/>
                  </a:cubicBezTo>
                  <a:cubicBezTo>
                    <a:pt x="76275" y="655579"/>
                    <a:pt x="80698" y="660838"/>
                    <a:pt x="86179" y="664753"/>
                  </a:cubicBezTo>
                  <a:cubicBezTo>
                    <a:pt x="96479" y="672110"/>
                    <a:pt x="107856" y="675154"/>
                    <a:pt x="119517" y="679040"/>
                  </a:cubicBezTo>
                  <a:cubicBezTo>
                    <a:pt x="156029" y="677453"/>
                    <a:pt x="192600" y="676882"/>
                    <a:pt x="229054" y="674278"/>
                  </a:cubicBezTo>
                  <a:cubicBezTo>
                    <a:pt x="237128" y="673701"/>
                    <a:pt x="245470" y="672803"/>
                    <a:pt x="252867" y="669515"/>
                  </a:cubicBezTo>
                  <a:cubicBezTo>
                    <a:pt x="260120" y="666291"/>
                    <a:pt x="265458" y="659842"/>
                    <a:pt x="271917" y="655228"/>
                  </a:cubicBezTo>
                  <a:cubicBezTo>
                    <a:pt x="288074" y="643687"/>
                    <a:pt x="282797" y="646839"/>
                    <a:pt x="300492" y="640940"/>
                  </a:cubicBezTo>
                  <a:lnTo>
                    <a:pt x="333829" y="650465"/>
                  </a:lnTo>
                  <a:cubicBezTo>
                    <a:pt x="338638" y="651908"/>
                    <a:pt x="344154" y="652146"/>
                    <a:pt x="348117" y="655228"/>
                  </a:cubicBezTo>
                  <a:cubicBezTo>
                    <a:pt x="358750" y="663498"/>
                    <a:pt x="370668" y="671755"/>
                    <a:pt x="376692" y="683803"/>
                  </a:cubicBezTo>
                  <a:cubicBezTo>
                    <a:pt x="388777" y="707972"/>
                    <a:pt x="382279" y="696946"/>
                    <a:pt x="395742" y="717140"/>
                  </a:cubicBezTo>
                  <a:cubicBezTo>
                    <a:pt x="397329" y="721903"/>
                    <a:pt x="399125" y="726601"/>
                    <a:pt x="400504" y="731428"/>
                  </a:cubicBezTo>
                  <a:cubicBezTo>
                    <a:pt x="402302" y="737722"/>
                    <a:pt x="401178" y="745367"/>
                    <a:pt x="405267" y="750478"/>
                  </a:cubicBezTo>
                  <a:cubicBezTo>
                    <a:pt x="408403" y="754398"/>
                    <a:pt x="414792" y="753653"/>
                    <a:pt x="419554" y="755240"/>
                  </a:cubicBezTo>
                  <a:cubicBezTo>
                    <a:pt x="425904" y="752065"/>
                    <a:pt x="431956" y="748208"/>
                    <a:pt x="438604" y="745715"/>
                  </a:cubicBezTo>
                  <a:cubicBezTo>
                    <a:pt x="444733" y="743417"/>
                    <a:pt x="451360" y="742751"/>
                    <a:pt x="457654" y="740953"/>
                  </a:cubicBezTo>
                  <a:cubicBezTo>
                    <a:pt x="462481" y="739574"/>
                    <a:pt x="467179" y="737778"/>
                    <a:pt x="471942" y="736190"/>
                  </a:cubicBezTo>
                  <a:cubicBezTo>
                    <a:pt x="497342" y="737778"/>
                    <a:pt x="531850" y="760504"/>
                    <a:pt x="548142" y="740953"/>
                  </a:cubicBezTo>
                  <a:cubicBezTo>
                    <a:pt x="564089" y="721816"/>
                    <a:pt x="555949" y="653796"/>
                    <a:pt x="529092" y="631415"/>
                  </a:cubicBezTo>
                  <a:cubicBezTo>
                    <a:pt x="525235" y="628201"/>
                    <a:pt x="519567" y="628240"/>
                    <a:pt x="514804" y="626653"/>
                  </a:cubicBezTo>
                  <a:cubicBezTo>
                    <a:pt x="505002" y="597244"/>
                    <a:pt x="516875" y="627377"/>
                    <a:pt x="490992" y="588553"/>
                  </a:cubicBezTo>
                  <a:cubicBezTo>
                    <a:pt x="487054" y="582646"/>
                    <a:pt x="484642" y="575853"/>
                    <a:pt x="481467" y="569503"/>
                  </a:cubicBezTo>
                  <a:cubicBezTo>
                    <a:pt x="483054" y="558390"/>
                    <a:pt x="481670" y="546423"/>
                    <a:pt x="486229" y="536165"/>
                  </a:cubicBezTo>
                  <a:cubicBezTo>
                    <a:pt x="488486" y="531088"/>
                    <a:pt x="509301" y="522107"/>
                    <a:pt x="514804" y="521878"/>
                  </a:cubicBezTo>
                  <a:cubicBezTo>
                    <a:pt x="548113" y="520490"/>
                    <a:pt x="594180" y="526640"/>
                    <a:pt x="624342" y="51711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900333" y="3926416"/>
              <a:ext cx="3238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2000" smtClean="0">
                  <a:latin typeface="Calibri"/>
                </a:rPr>
                <a:t>Ω</a:t>
              </a:r>
              <a:endParaRPr lang="en-US" sz="20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374341" y="4187825"/>
              <a:ext cx="485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i="1" dirty="0" smtClean="0">
                  <a:latin typeface="Calibri"/>
                </a:rPr>
                <a:t>x</a:t>
              </a:r>
              <a:r>
                <a:rPr lang="en-US" sz="1800" i="1" baseline="-25000" dirty="0" smtClean="0">
                  <a:latin typeface="Calibri"/>
                </a:rPr>
                <a:t>4</a:t>
              </a:r>
              <a:r>
                <a:rPr lang="en-US" sz="1800" dirty="0" smtClean="0">
                  <a:latin typeface="Calibri"/>
                </a:rPr>
                <a:t>?</a:t>
              </a:r>
              <a:endParaRPr lang="en-US" sz="1800" dirty="0"/>
            </a:p>
          </p:txBody>
        </p:sp>
      </p:grp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" y="3318915"/>
            <a:ext cx="3822700" cy="898104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931" y="2849016"/>
            <a:ext cx="4726507" cy="32596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299" y="2434165"/>
            <a:ext cx="452967" cy="503297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971" y="4256636"/>
            <a:ext cx="4656668" cy="303696"/>
          </a:xfrm>
          <a:prstGeom prst="rect">
            <a:avLst/>
          </a:prstGeom>
        </p:spPr>
      </p:pic>
      <p:grpSp>
        <p:nvGrpSpPr>
          <p:cNvPr id="303" name="Group 302"/>
          <p:cNvGrpSpPr/>
          <p:nvPr/>
        </p:nvGrpSpPr>
        <p:grpSpPr>
          <a:xfrm>
            <a:off x="5104343" y="2524127"/>
            <a:ext cx="3589866" cy="3547533"/>
            <a:chOff x="5104343" y="2524127"/>
            <a:chExt cx="3589866" cy="3547533"/>
          </a:xfrm>
        </p:grpSpPr>
        <p:grpSp>
          <p:nvGrpSpPr>
            <p:cNvPr id="304" name="Group 303"/>
            <p:cNvGrpSpPr/>
            <p:nvPr/>
          </p:nvGrpSpPr>
          <p:grpSpPr>
            <a:xfrm>
              <a:off x="5104343" y="2524127"/>
              <a:ext cx="3589866" cy="3547533"/>
              <a:chOff x="5104343" y="2524127"/>
              <a:chExt cx="3589866" cy="3547533"/>
            </a:xfrm>
          </p:grpSpPr>
          <p:grpSp>
            <p:nvGrpSpPr>
              <p:cNvPr id="308" name="Group 307"/>
              <p:cNvGrpSpPr/>
              <p:nvPr/>
            </p:nvGrpSpPr>
            <p:grpSpPr>
              <a:xfrm>
                <a:off x="5104343" y="2524127"/>
                <a:ext cx="3589866" cy="3496734"/>
                <a:chOff x="5104343" y="2524127"/>
                <a:chExt cx="3589866" cy="3496734"/>
              </a:xfrm>
            </p:grpSpPr>
            <p:grpSp>
              <p:nvGrpSpPr>
                <p:cNvPr id="315" name="Group 314"/>
                <p:cNvGrpSpPr/>
                <p:nvPr/>
              </p:nvGrpSpPr>
              <p:grpSpPr>
                <a:xfrm>
                  <a:off x="5434542" y="44121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76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77" name="Oval 376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16" name="Group 315"/>
                <p:cNvGrpSpPr/>
                <p:nvPr/>
              </p:nvGrpSpPr>
              <p:grpSpPr>
                <a:xfrm>
                  <a:off x="6873875" y="42343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74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75" name="Oval 374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17" name="Group 316"/>
                <p:cNvGrpSpPr/>
                <p:nvPr/>
              </p:nvGrpSpPr>
              <p:grpSpPr>
                <a:xfrm>
                  <a:off x="7263343" y="3243793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72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73" name="Oval 372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18" name="Group 317"/>
                <p:cNvGrpSpPr/>
                <p:nvPr/>
              </p:nvGrpSpPr>
              <p:grpSpPr>
                <a:xfrm>
                  <a:off x="5180543" y="25749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70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71" name="Oval 370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19" name="Group 318"/>
                <p:cNvGrpSpPr/>
                <p:nvPr/>
              </p:nvGrpSpPr>
              <p:grpSpPr>
                <a:xfrm>
                  <a:off x="5104343" y="3709460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68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69" name="Oval 368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20" name="Group 319"/>
                <p:cNvGrpSpPr/>
                <p:nvPr/>
              </p:nvGrpSpPr>
              <p:grpSpPr>
                <a:xfrm>
                  <a:off x="5840943" y="3777193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66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67" name="Oval 366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21" name="Group 320"/>
                <p:cNvGrpSpPr/>
                <p:nvPr/>
              </p:nvGrpSpPr>
              <p:grpSpPr>
                <a:xfrm>
                  <a:off x="7779809" y="46069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64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65" name="Oval 364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22" name="Group 321"/>
                <p:cNvGrpSpPr/>
                <p:nvPr/>
              </p:nvGrpSpPr>
              <p:grpSpPr>
                <a:xfrm>
                  <a:off x="7305676" y="44799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62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63" name="Oval 362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23" name="Group 322"/>
                <p:cNvGrpSpPr/>
                <p:nvPr/>
              </p:nvGrpSpPr>
              <p:grpSpPr>
                <a:xfrm>
                  <a:off x="6975476" y="4903261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60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61" name="Oval 360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24" name="Group 323"/>
                <p:cNvGrpSpPr/>
                <p:nvPr/>
              </p:nvGrpSpPr>
              <p:grpSpPr>
                <a:xfrm>
                  <a:off x="7593542" y="2845860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58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59" name="Oval 358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25" name="Group 324"/>
                <p:cNvGrpSpPr/>
                <p:nvPr/>
              </p:nvGrpSpPr>
              <p:grpSpPr>
                <a:xfrm>
                  <a:off x="7077076" y="27611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56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57" name="Oval 356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26" name="Group 325"/>
                <p:cNvGrpSpPr/>
                <p:nvPr/>
              </p:nvGrpSpPr>
              <p:grpSpPr>
                <a:xfrm>
                  <a:off x="6365875" y="50895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54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55" name="Oval 354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27" name="Group 326"/>
                <p:cNvGrpSpPr/>
                <p:nvPr/>
              </p:nvGrpSpPr>
              <p:grpSpPr>
                <a:xfrm>
                  <a:off x="7449609" y="5106461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52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53" name="Oval 352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28" name="Group 327"/>
                <p:cNvGrpSpPr/>
                <p:nvPr/>
              </p:nvGrpSpPr>
              <p:grpSpPr>
                <a:xfrm>
                  <a:off x="6772276" y="3760260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50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51" name="Oval 350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29" name="Group 328"/>
                <p:cNvGrpSpPr/>
                <p:nvPr/>
              </p:nvGrpSpPr>
              <p:grpSpPr>
                <a:xfrm>
                  <a:off x="6247343" y="29897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48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49" name="Oval 348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30" name="Group 329"/>
                <p:cNvGrpSpPr/>
                <p:nvPr/>
              </p:nvGrpSpPr>
              <p:grpSpPr>
                <a:xfrm>
                  <a:off x="7618942" y="37687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46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47" name="Oval 346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31" name="Group 330"/>
                <p:cNvGrpSpPr/>
                <p:nvPr/>
              </p:nvGrpSpPr>
              <p:grpSpPr>
                <a:xfrm>
                  <a:off x="6306609" y="35739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44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45" name="Oval 344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32" name="Group 331"/>
                <p:cNvGrpSpPr/>
                <p:nvPr/>
              </p:nvGrpSpPr>
              <p:grpSpPr>
                <a:xfrm>
                  <a:off x="6755343" y="3192993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42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43" name="Oval 342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33" name="Group 332"/>
                <p:cNvGrpSpPr/>
                <p:nvPr/>
              </p:nvGrpSpPr>
              <p:grpSpPr>
                <a:xfrm>
                  <a:off x="5231342" y="31337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40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41" name="Oval 340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34" name="Group 333"/>
                <p:cNvGrpSpPr/>
                <p:nvPr/>
              </p:nvGrpSpPr>
              <p:grpSpPr>
                <a:xfrm>
                  <a:off x="6433609" y="25241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38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39" name="Oval 338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35" name="Group 334"/>
                <p:cNvGrpSpPr/>
                <p:nvPr/>
              </p:nvGrpSpPr>
              <p:grpSpPr>
                <a:xfrm>
                  <a:off x="5773209" y="2557993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36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37" name="Oval 336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grpSp>
            <p:nvGrpSpPr>
              <p:cNvPr id="309" name="Group 308"/>
              <p:cNvGrpSpPr/>
              <p:nvPr/>
            </p:nvGrpSpPr>
            <p:grpSpPr>
              <a:xfrm>
                <a:off x="6374342" y="4319061"/>
                <a:ext cx="914400" cy="914400"/>
                <a:chOff x="1014942" y="4818592"/>
                <a:chExt cx="914400" cy="914400"/>
              </a:xfrm>
            </p:grpSpPr>
            <p:sp>
              <p:nvSpPr>
                <p:cNvPr id="313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4" name="Oval 313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10" name="Group 309"/>
              <p:cNvGrpSpPr/>
              <p:nvPr/>
            </p:nvGrpSpPr>
            <p:grpSpPr>
              <a:xfrm>
                <a:off x="5840941" y="5157260"/>
                <a:ext cx="914400" cy="914400"/>
                <a:chOff x="1014942" y="4818592"/>
                <a:chExt cx="914400" cy="914400"/>
              </a:xfrm>
            </p:grpSpPr>
            <p:sp>
              <p:nvSpPr>
                <p:cNvPr id="311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2" name="Oval 311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05" name="Group 304"/>
            <p:cNvGrpSpPr/>
            <p:nvPr/>
          </p:nvGrpSpPr>
          <p:grpSpPr>
            <a:xfrm>
              <a:off x="7762875" y="3294593"/>
              <a:ext cx="914400" cy="914400"/>
              <a:chOff x="1014942" y="4818592"/>
              <a:chExt cx="914400" cy="914400"/>
            </a:xfrm>
          </p:grpSpPr>
          <p:sp>
            <p:nvSpPr>
              <p:cNvPr id="306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7" name="Oval 306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102" name="Picture 101" descr="vectorstock_419186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79" y="1678159"/>
            <a:ext cx="881410" cy="862854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0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2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Process ≠ Algorithm</a:t>
            </a:r>
          </a:p>
        </p:txBody>
      </p:sp>
      <p:pic>
        <p:nvPicPr>
          <p:cNvPr id="4" name="Content Placeholder 3" descr="percentage.pdf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4" b="1024"/>
          <a:stretch>
            <a:fillRect/>
          </a:stretch>
        </p:blipFill>
        <p:spPr>
          <a:xfrm>
            <a:off x="2392363" y="1277937"/>
            <a:ext cx="4156075" cy="2444750"/>
          </a:xfrm>
          <a:prstGeom prst="rect">
            <a:avLst/>
          </a:prstGeom>
        </p:spPr>
      </p:pic>
      <p:pic>
        <p:nvPicPr>
          <p:cNvPr id="5" name="Picture 4" descr="polygon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473" y="4738496"/>
            <a:ext cx="1828800" cy="1940560"/>
          </a:xfrm>
          <a:prstGeom prst="rect">
            <a:avLst/>
          </a:prstGeom>
        </p:spPr>
      </p:pic>
      <p:pic>
        <p:nvPicPr>
          <p:cNvPr id="6" name="Picture 5" descr="polygon2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030" y="4691888"/>
            <a:ext cx="2204720" cy="1910080"/>
          </a:xfrm>
          <a:prstGeom prst="rect">
            <a:avLst/>
          </a:prstGeom>
        </p:spPr>
      </p:pic>
      <p:pic>
        <p:nvPicPr>
          <p:cNvPr id="7" name="Picture 6" descr="polygon3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630" y="4657646"/>
            <a:ext cx="2184400" cy="193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rot="16200000">
            <a:off x="3613720" y="2399773"/>
            <a:ext cx="553998" cy="3412067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US" dirty="0" smtClean="0"/>
              <a:t>Algorithm progress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 bwMode="auto">
          <a:xfrm>
            <a:off x="1547813" y="4460875"/>
            <a:ext cx="5826125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" name="TextBox 11"/>
          <p:cNvSpPr txBox="1"/>
          <p:nvPr/>
        </p:nvSpPr>
        <p:spPr>
          <a:xfrm rot="16200000">
            <a:off x="8075544" y="2567211"/>
            <a:ext cx="430887" cy="3412067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US" sz="1600" dirty="0"/>
              <a:t>s</a:t>
            </a:r>
            <a:r>
              <a:rPr lang="en-US" sz="1600" dirty="0" smtClean="0"/>
              <a:t>liver regions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4306470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“Efficient </a:t>
            </a:r>
            <a:r>
              <a:rPr lang="en-US" dirty="0"/>
              <a:t>maximal Poisson-disk </a:t>
            </a:r>
            <a:r>
              <a:rPr lang="en-US" dirty="0" smtClean="0"/>
              <a:t>sampling”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676452" y="2191488"/>
            <a:ext cx="6420293" cy="478465"/>
          </a:xfrm>
        </p:spPr>
        <p:txBody>
          <a:bodyPr/>
          <a:lstStyle/>
          <a:p>
            <a:pPr marL="171450" indent="0">
              <a:buNone/>
            </a:pPr>
            <a:r>
              <a:rPr lang="en-US" sz="2000" dirty="0" smtClean="0"/>
              <a:t>Background grid of squares (cubes…) for locality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3765" y="1135383"/>
            <a:ext cx="604023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First provably correct, time- space-optimal algorithm.</a:t>
            </a:r>
          </a:p>
          <a:p>
            <a:r>
              <a:rPr lang="en-US" sz="1600" dirty="0" smtClean="0"/>
              <a:t>Mohamed </a:t>
            </a:r>
            <a:r>
              <a:rPr lang="en-US" sz="1600" dirty="0"/>
              <a:t>S. Ebeida, Anjul Patney, Scott A. Mitchell, </a:t>
            </a:r>
            <a:endParaRPr lang="en-US" sz="1600" dirty="0" smtClean="0"/>
          </a:p>
          <a:p>
            <a:r>
              <a:rPr lang="en-US" sz="1600" dirty="0" smtClean="0"/>
              <a:t>Andrew </a:t>
            </a:r>
            <a:r>
              <a:rPr lang="en-US" sz="1600" dirty="0"/>
              <a:t>Davidson, Patrick M. Knupp, and John D. Owens. </a:t>
            </a:r>
            <a:endParaRPr lang="en-US" sz="1600" dirty="0" smtClean="0"/>
          </a:p>
          <a:p>
            <a:r>
              <a:rPr lang="en-US" sz="1600" dirty="0" smtClean="0"/>
              <a:t>ACM </a:t>
            </a:r>
            <a:r>
              <a:rPr lang="en-US" sz="1600" dirty="0"/>
              <a:t>Transactions on Graphics (Proc. SIGGRAPH 2011), 30(4), 2011.</a:t>
            </a:r>
          </a:p>
        </p:txBody>
      </p:sp>
      <p:sp>
        <p:nvSpPr>
          <p:cNvPr id="13" name="Rectangle 12"/>
          <p:cNvSpPr/>
          <p:nvPr/>
        </p:nvSpPr>
        <p:spPr>
          <a:xfrm rot="10800000">
            <a:off x="1593995" y="5856891"/>
            <a:ext cx="524885" cy="524218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rot="10800000">
            <a:off x="1593995" y="6381109"/>
            <a:ext cx="52488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16200000">
            <a:off x="1856772" y="6119000"/>
            <a:ext cx="524218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 rot="10800000">
            <a:off x="2087403" y="6346690"/>
            <a:ext cx="48514" cy="57493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/>
          <p:cNvSpPr/>
          <p:nvPr/>
        </p:nvSpPr>
        <p:spPr>
          <a:xfrm rot="10800000">
            <a:off x="1575301" y="6354380"/>
            <a:ext cx="48514" cy="5749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/>
          <p:cNvSpPr/>
          <p:nvPr/>
        </p:nvSpPr>
        <p:spPr>
          <a:xfrm rot="10800000">
            <a:off x="2095104" y="5835239"/>
            <a:ext cx="48514" cy="5749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 rot="10800000">
            <a:off x="1080045" y="5856891"/>
            <a:ext cx="524885" cy="524218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Connector 19"/>
          <p:cNvCxnSpPr/>
          <p:nvPr/>
        </p:nvCxnSpPr>
        <p:spPr>
          <a:xfrm rot="10800000">
            <a:off x="1080045" y="6381109"/>
            <a:ext cx="52488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16200000">
            <a:off x="1342821" y="6119000"/>
            <a:ext cx="524218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 rot="10800000">
            <a:off x="1573452" y="6346690"/>
            <a:ext cx="48514" cy="57493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/>
        </p:nvSpPr>
        <p:spPr>
          <a:xfrm rot="10800000">
            <a:off x="1061350" y="6354380"/>
            <a:ext cx="48514" cy="5749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/>
          <p:cNvSpPr/>
          <p:nvPr/>
        </p:nvSpPr>
        <p:spPr>
          <a:xfrm rot="10800000">
            <a:off x="1581153" y="5835239"/>
            <a:ext cx="48514" cy="5749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 rot="10800000">
            <a:off x="562861" y="5856891"/>
            <a:ext cx="524885" cy="524218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 rot="10800000">
            <a:off x="562861" y="6381109"/>
            <a:ext cx="52488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16200000">
            <a:off x="825638" y="6119000"/>
            <a:ext cx="524218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 rot="10800000">
            <a:off x="1056269" y="6346690"/>
            <a:ext cx="48514" cy="57493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/>
          <p:cNvSpPr/>
          <p:nvPr/>
        </p:nvSpPr>
        <p:spPr>
          <a:xfrm rot="10800000">
            <a:off x="544166" y="6354380"/>
            <a:ext cx="48514" cy="5749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/>
          <p:cNvSpPr/>
          <p:nvPr/>
        </p:nvSpPr>
        <p:spPr>
          <a:xfrm rot="10800000">
            <a:off x="1063970" y="5835239"/>
            <a:ext cx="48514" cy="5749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" name="Group 30"/>
          <p:cNvGrpSpPr>
            <a:grpSpLocks noChangeAspect="1"/>
          </p:cNvGrpSpPr>
          <p:nvPr/>
        </p:nvGrpSpPr>
        <p:grpSpPr>
          <a:xfrm rot="10800000">
            <a:off x="2088942" y="5318538"/>
            <a:ext cx="568317" cy="577368"/>
            <a:chOff x="2323604" y="4377774"/>
            <a:chExt cx="702944" cy="714139"/>
          </a:xfrm>
        </p:grpSpPr>
        <p:sp>
          <p:nvSpPr>
            <p:cNvPr id="32" name="Rectangle 31"/>
            <p:cNvSpPr/>
            <p:nvPr/>
          </p:nvSpPr>
          <p:spPr>
            <a:xfrm>
              <a:off x="2354201" y="4415874"/>
              <a:ext cx="649224" cy="64922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2354201" y="4415874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2029589" y="4740486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/>
            <p:cNvSpPr/>
            <p:nvPr/>
          </p:nvSpPr>
          <p:spPr>
            <a:xfrm>
              <a:off x="2333129" y="4387298"/>
              <a:ext cx="60006" cy="7120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/>
            <p:cNvSpPr/>
            <p:nvPr/>
          </p:nvSpPr>
          <p:spPr>
            <a:xfrm>
              <a:off x="2966542" y="4377774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/>
            <p:cNvSpPr/>
            <p:nvPr/>
          </p:nvSpPr>
          <p:spPr>
            <a:xfrm>
              <a:off x="2323604" y="5020711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8" name="Group 37"/>
          <p:cNvGrpSpPr>
            <a:grpSpLocks noChangeAspect="1"/>
          </p:cNvGrpSpPr>
          <p:nvPr/>
        </p:nvGrpSpPr>
        <p:grpSpPr>
          <a:xfrm rot="10800000">
            <a:off x="1575301" y="5318538"/>
            <a:ext cx="568317" cy="577368"/>
            <a:chOff x="2323604" y="4377774"/>
            <a:chExt cx="702944" cy="714139"/>
          </a:xfrm>
        </p:grpSpPr>
        <p:sp>
          <p:nvSpPr>
            <p:cNvPr id="39" name="Rectangle 38"/>
            <p:cNvSpPr/>
            <p:nvPr/>
          </p:nvSpPr>
          <p:spPr>
            <a:xfrm>
              <a:off x="2354201" y="4415874"/>
              <a:ext cx="649224" cy="64922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0" name="Straight Connector 39"/>
            <p:cNvCxnSpPr/>
            <p:nvPr/>
          </p:nvCxnSpPr>
          <p:spPr>
            <a:xfrm>
              <a:off x="2354201" y="4415874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29589" y="4740486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/>
            <p:cNvSpPr/>
            <p:nvPr/>
          </p:nvSpPr>
          <p:spPr>
            <a:xfrm>
              <a:off x="2333129" y="4387298"/>
              <a:ext cx="60006" cy="7120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/>
            <p:cNvSpPr/>
            <p:nvPr/>
          </p:nvSpPr>
          <p:spPr>
            <a:xfrm>
              <a:off x="2966542" y="4377774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/>
            <p:cNvSpPr/>
            <p:nvPr/>
          </p:nvSpPr>
          <p:spPr>
            <a:xfrm>
              <a:off x="2323604" y="5020711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/>
          <p:cNvGrpSpPr>
            <a:grpSpLocks noChangeAspect="1"/>
          </p:cNvGrpSpPr>
          <p:nvPr/>
        </p:nvGrpSpPr>
        <p:grpSpPr>
          <a:xfrm rot="10800000">
            <a:off x="1061350" y="5318538"/>
            <a:ext cx="568317" cy="577368"/>
            <a:chOff x="2323604" y="4377774"/>
            <a:chExt cx="702944" cy="714139"/>
          </a:xfrm>
        </p:grpSpPr>
        <p:sp>
          <p:nvSpPr>
            <p:cNvPr id="46" name="Rectangle 45"/>
            <p:cNvSpPr/>
            <p:nvPr/>
          </p:nvSpPr>
          <p:spPr>
            <a:xfrm>
              <a:off x="2354201" y="4415874"/>
              <a:ext cx="649224" cy="64922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7" name="Straight Connector 46"/>
            <p:cNvCxnSpPr/>
            <p:nvPr/>
          </p:nvCxnSpPr>
          <p:spPr>
            <a:xfrm>
              <a:off x="2354201" y="4415874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029589" y="4740486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/>
            <p:cNvSpPr/>
            <p:nvPr/>
          </p:nvSpPr>
          <p:spPr>
            <a:xfrm>
              <a:off x="2333129" y="4387298"/>
              <a:ext cx="60006" cy="7120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/>
            <p:cNvSpPr/>
            <p:nvPr/>
          </p:nvSpPr>
          <p:spPr>
            <a:xfrm>
              <a:off x="2966542" y="4377774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/>
            <p:cNvSpPr/>
            <p:nvPr/>
          </p:nvSpPr>
          <p:spPr>
            <a:xfrm>
              <a:off x="2323604" y="5020711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2" name="Group 51"/>
          <p:cNvGrpSpPr>
            <a:grpSpLocks noChangeAspect="1"/>
          </p:cNvGrpSpPr>
          <p:nvPr/>
        </p:nvGrpSpPr>
        <p:grpSpPr>
          <a:xfrm rot="10800000">
            <a:off x="544166" y="5318538"/>
            <a:ext cx="568317" cy="577368"/>
            <a:chOff x="2323604" y="4377774"/>
            <a:chExt cx="702944" cy="714139"/>
          </a:xfrm>
        </p:grpSpPr>
        <p:sp>
          <p:nvSpPr>
            <p:cNvPr id="53" name="Rectangle 52"/>
            <p:cNvSpPr/>
            <p:nvPr/>
          </p:nvSpPr>
          <p:spPr>
            <a:xfrm>
              <a:off x="2354201" y="4415874"/>
              <a:ext cx="649224" cy="64922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4" name="Straight Connector 53"/>
            <p:cNvCxnSpPr/>
            <p:nvPr/>
          </p:nvCxnSpPr>
          <p:spPr>
            <a:xfrm>
              <a:off x="2354201" y="4415874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2029589" y="4740486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55"/>
            <p:cNvSpPr/>
            <p:nvPr/>
          </p:nvSpPr>
          <p:spPr>
            <a:xfrm>
              <a:off x="2333129" y="4387298"/>
              <a:ext cx="60006" cy="7120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/>
            <p:cNvSpPr/>
            <p:nvPr/>
          </p:nvSpPr>
          <p:spPr>
            <a:xfrm>
              <a:off x="2966542" y="4377774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/>
            <p:cNvSpPr/>
            <p:nvPr/>
          </p:nvSpPr>
          <p:spPr>
            <a:xfrm>
              <a:off x="2323604" y="5020711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9" name="Group 58"/>
          <p:cNvGrpSpPr>
            <a:grpSpLocks noChangeAspect="1"/>
          </p:cNvGrpSpPr>
          <p:nvPr/>
        </p:nvGrpSpPr>
        <p:grpSpPr>
          <a:xfrm rot="10800000">
            <a:off x="32065" y="5318538"/>
            <a:ext cx="568317" cy="577368"/>
            <a:chOff x="2323604" y="4377774"/>
            <a:chExt cx="702944" cy="714139"/>
          </a:xfrm>
        </p:grpSpPr>
        <p:sp>
          <p:nvSpPr>
            <p:cNvPr id="60" name="Rectangle 59"/>
            <p:cNvSpPr/>
            <p:nvPr/>
          </p:nvSpPr>
          <p:spPr>
            <a:xfrm>
              <a:off x="2354201" y="4415874"/>
              <a:ext cx="649224" cy="64922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1" name="Straight Connector 60"/>
            <p:cNvCxnSpPr/>
            <p:nvPr/>
          </p:nvCxnSpPr>
          <p:spPr>
            <a:xfrm>
              <a:off x="2354201" y="4415874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rot="5400000">
              <a:off x="2029589" y="4740486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/>
            <p:cNvSpPr/>
            <p:nvPr/>
          </p:nvSpPr>
          <p:spPr>
            <a:xfrm>
              <a:off x="2333129" y="4387298"/>
              <a:ext cx="60006" cy="7120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Oval 63"/>
            <p:cNvSpPr/>
            <p:nvPr/>
          </p:nvSpPr>
          <p:spPr>
            <a:xfrm>
              <a:off x="2966542" y="4377774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Oval 64"/>
            <p:cNvSpPr/>
            <p:nvPr/>
          </p:nvSpPr>
          <p:spPr>
            <a:xfrm>
              <a:off x="2323604" y="5020711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6" name="Group 17"/>
          <p:cNvGrpSpPr>
            <a:grpSpLocks noChangeAspect="1"/>
          </p:cNvGrpSpPr>
          <p:nvPr/>
        </p:nvGrpSpPr>
        <p:grpSpPr>
          <a:xfrm rot="10800000">
            <a:off x="2088942" y="4805629"/>
            <a:ext cx="568317" cy="576634"/>
            <a:chOff x="2323604" y="4377774"/>
            <a:chExt cx="702944" cy="714139"/>
          </a:xfrm>
        </p:grpSpPr>
        <p:sp>
          <p:nvSpPr>
            <p:cNvPr id="67" name="Rectangle 66"/>
            <p:cNvSpPr/>
            <p:nvPr/>
          </p:nvSpPr>
          <p:spPr>
            <a:xfrm>
              <a:off x="2354201" y="4415874"/>
              <a:ext cx="649224" cy="64922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8" name="Straight Connector 67"/>
            <p:cNvCxnSpPr/>
            <p:nvPr/>
          </p:nvCxnSpPr>
          <p:spPr>
            <a:xfrm>
              <a:off x="2354201" y="4415874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2029589" y="4740486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/>
            <p:cNvSpPr/>
            <p:nvPr/>
          </p:nvSpPr>
          <p:spPr>
            <a:xfrm>
              <a:off x="2333129" y="4387298"/>
              <a:ext cx="60006" cy="7120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Oval 70"/>
            <p:cNvSpPr/>
            <p:nvPr/>
          </p:nvSpPr>
          <p:spPr>
            <a:xfrm>
              <a:off x="2966542" y="4377774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Oval 71"/>
            <p:cNvSpPr/>
            <p:nvPr/>
          </p:nvSpPr>
          <p:spPr>
            <a:xfrm>
              <a:off x="2323604" y="5020711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3" name="Group 32"/>
          <p:cNvGrpSpPr>
            <a:grpSpLocks noChangeAspect="1"/>
          </p:cNvGrpSpPr>
          <p:nvPr/>
        </p:nvGrpSpPr>
        <p:grpSpPr>
          <a:xfrm rot="10800000">
            <a:off x="1575301" y="4805629"/>
            <a:ext cx="568317" cy="576634"/>
            <a:chOff x="2323604" y="4377774"/>
            <a:chExt cx="702944" cy="714139"/>
          </a:xfrm>
        </p:grpSpPr>
        <p:sp>
          <p:nvSpPr>
            <p:cNvPr id="74" name="Rectangle 73"/>
            <p:cNvSpPr/>
            <p:nvPr/>
          </p:nvSpPr>
          <p:spPr>
            <a:xfrm>
              <a:off x="2354201" y="4415874"/>
              <a:ext cx="649224" cy="64922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5" name="Straight Connector 74"/>
            <p:cNvCxnSpPr/>
            <p:nvPr/>
          </p:nvCxnSpPr>
          <p:spPr>
            <a:xfrm>
              <a:off x="2354201" y="4415874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rot="5400000">
              <a:off x="2029589" y="4740486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Oval 76"/>
            <p:cNvSpPr/>
            <p:nvPr/>
          </p:nvSpPr>
          <p:spPr>
            <a:xfrm>
              <a:off x="2333129" y="4387298"/>
              <a:ext cx="60006" cy="7120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Oval 77"/>
            <p:cNvSpPr/>
            <p:nvPr/>
          </p:nvSpPr>
          <p:spPr>
            <a:xfrm>
              <a:off x="2966542" y="4377774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Oval 78"/>
            <p:cNvSpPr/>
            <p:nvPr/>
          </p:nvSpPr>
          <p:spPr>
            <a:xfrm>
              <a:off x="2323604" y="5020711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0" name="Rectangle 79"/>
          <p:cNvSpPr/>
          <p:nvPr/>
        </p:nvSpPr>
        <p:spPr>
          <a:xfrm rot="10800000">
            <a:off x="1080045" y="4827281"/>
            <a:ext cx="524885" cy="524218"/>
          </a:xfrm>
          <a:prstGeom prst="rect">
            <a:avLst/>
          </a:prstGeom>
          <a:solidFill>
            <a:schemeClr val="tx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1" name="Straight Connector 80"/>
          <p:cNvCxnSpPr/>
          <p:nvPr/>
        </p:nvCxnSpPr>
        <p:spPr>
          <a:xfrm rot="10800000">
            <a:off x="1080045" y="5351499"/>
            <a:ext cx="524885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rot="16200000">
            <a:off x="1342821" y="5089391"/>
            <a:ext cx="524218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 rot="10800000">
            <a:off x="1573452" y="5317081"/>
            <a:ext cx="48514" cy="57493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 rot="10800000">
            <a:off x="1061350" y="5324771"/>
            <a:ext cx="48514" cy="5749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 rot="10800000">
            <a:off x="1581153" y="4805629"/>
            <a:ext cx="48514" cy="5749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6" name="Group 90"/>
          <p:cNvGrpSpPr>
            <a:grpSpLocks noChangeAspect="1"/>
          </p:cNvGrpSpPr>
          <p:nvPr/>
        </p:nvGrpSpPr>
        <p:grpSpPr>
          <a:xfrm rot="10800000">
            <a:off x="544166" y="4805629"/>
            <a:ext cx="568317" cy="576634"/>
            <a:chOff x="2323604" y="4377774"/>
            <a:chExt cx="702944" cy="714139"/>
          </a:xfrm>
        </p:grpSpPr>
        <p:sp>
          <p:nvSpPr>
            <p:cNvPr id="87" name="Rectangle 86"/>
            <p:cNvSpPr/>
            <p:nvPr/>
          </p:nvSpPr>
          <p:spPr>
            <a:xfrm>
              <a:off x="2354201" y="4415874"/>
              <a:ext cx="649224" cy="64922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8" name="Straight Connector 87"/>
            <p:cNvCxnSpPr/>
            <p:nvPr/>
          </p:nvCxnSpPr>
          <p:spPr>
            <a:xfrm>
              <a:off x="2354201" y="4415874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rot="5400000">
              <a:off x="2029589" y="4740486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/>
            <p:cNvSpPr/>
            <p:nvPr/>
          </p:nvSpPr>
          <p:spPr>
            <a:xfrm>
              <a:off x="2333129" y="4387298"/>
              <a:ext cx="60006" cy="7120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Oval 90"/>
            <p:cNvSpPr/>
            <p:nvPr/>
          </p:nvSpPr>
          <p:spPr>
            <a:xfrm>
              <a:off x="2966542" y="4377774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Oval 91"/>
            <p:cNvSpPr/>
            <p:nvPr/>
          </p:nvSpPr>
          <p:spPr>
            <a:xfrm>
              <a:off x="2323604" y="5020711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3" name="Group 97"/>
          <p:cNvGrpSpPr>
            <a:grpSpLocks noChangeAspect="1"/>
          </p:cNvGrpSpPr>
          <p:nvPr/>
        </p:nvGrpSpPr>
        <p:grpSpPr>
          <a:xfrm rot="10800000">
            <a:off x="32065" y="4805629"/>
            <a:ext cx="568317" cy="576634"/>
            <a:chOff x="2323604" y="4377774"/>
            <a:chExt cx="702944" cy="714139"/>
          </a:xfrm>
        </p:grpSpPr>
        <p:sp>
          <p:nvSpPr>
            <p:cNvPr id="94" name="Rectangle 93"/>
            <p:cNvSpPr/>
            <p:nvPr/>
          </p:nvSpPr>
          <p:spPr>
            <a:xfrm>
              <a:off x="2354201" y="4415874"/>
              <a:ext cx="649224" cy="64922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5" name="Straight Connector 94"/>
            <p:cNvCxnSpPr/>
            <p:nvPr/>
          </p:nvCxnSpPr>
          <p:spPr>
            <a:xfrm>
              <a:off x="2354201" y="4415874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rot="5400000">
              <a:off x="2029589" y="4740486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Oval 96"/>
            <p:cNvSpPr/>
            <p:nvPr/>
          </p:nvSpPr>
          <p:spPr>
            <a:xfrm>
              <a:off x="2333129" y="4387298"/>
              <a:ext cx="60006" cy="7120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Oval 97"/>
            <p:cNvSpPr/>
            <p:nvPr/>
          </p:nvSpPr>
          <p:spPr>
            <a:xfrm>
              <a:off x="2966542" y="4377774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Oval 98"/>
            <p:cNvSpPr/>
            <p:nvPr/>
          </p:nvSpPr>
          <p:spPr>
            <a:xfrm>
              <a:off x="2323604" y="5020711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0" name="Group 17"/>
          <p:cNvGrpSpPr>
            <a:grpSpLocks noChangeAspect="1"/>
          </p:cNvGrpSpPr>
          <p:nvPr/>
        </p:nvGrpSpPr>
        <p:grpSpPr>
          <a:xfrm rot="10800000">
            <a:off x="2088942" y="4287375"/>
            <a:ext cx="568317" cy="576634"/>
            <a:chOff x="2323604" y="4377774"/>
            <a:chExt cx="702944" cy="714139"/>
          </a:xfrm>
        </p:grpSpPr>
        <p:sp>
          <p:nvSpPr>
            <p:cNvPr id="101" name="Rectangle 100"/>
            <p:cNvSpPr/>
            <p:nvPr/>
          </p:nvSpPr>
          <p:spPr>
            <a:xfrm>
              <a:off x="2354201" y="4415874"/>
              <a:ext cx="649224" cy="64922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2" name="Straight Connector 101"/>
            <p:cNvCxnSpPr/>
            <p:nvPr/>
          </p:nvCxnSpPr>
          <p:spPr>
            <a:xfrm>
              <a:off x="2354201" y="4415874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rot="5400000">
              <a:off x="2029589" y="4740486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Oval 103"/>
            <p:cNvSpPr/>
            <p:nvPr/>
          </p:nvSpPr>
          <p:spPr>
            <a:xfrm>
              <a:off x="2333129" y="4387298"/>
              <a:ext cx="60006" cy="7120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Oval 104"/>
            <p:cNvSpPr/>
            <p:nvPr/>
          </p:nvSpPr>
          <p:spPr>
            <a:xfrm>
              <a:off x="2966542" y="4377774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Oval 105"/>
            <p:cNvSpPr/>
            <p:nvPr/>
          </p:nvSpPr>
          <p:spPr>
            <a:xfrm>
              <a:off x="2323604" y="5020711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7" name="Group 32"/>
          <p:cNvGrpSpPr>
            <a:grpSpLocks noChangeAspect="1"/>
          </p:cNvGrpSpPr>
          <p:nvPr/>
        </p:nvGrpSpPr>
        <p:grpSpPr>
          <a:xfrm rot="10800000">
            <a:off x="1575301" y="4287375"/>
            <a:ext cx="568317" cy="576634"/>
            <a:chOff x="2323604" y="4377774"/>
            <a:chExt cx="702944" cy="714139"/>
          </a:xfrm>
        </p:grpSpPr>
        <p:sp>
          <p:nvSpPr>
            <p:cNvPr id="108" name="Rectangle 107"/>
            <p:cNvSpPr/>
            <p:nvPr/>
          </p:nvSpPr>
          <p:spPr>
            <a:xfrm>
              <a:off x="2354201" y="4415874"/>
              <a:ext cx="649224" cy="64922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9" name="Straight Connector 108"/>
            <p:cNvCxnSpPr/>
            <p:nvPr/>
          </p:nvCxnSpPr>
          <p:spPr>
            <a:xfrm>
              <a:off x="2354201" y="4415874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rot="5400000">
              <a:off x="2029589" y="4740486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Oval 110"/>
            <p:cNvSpPr/>
            <p:nvPr/>
          </p:nvSpPr>
          <p:spPr>
            <a:xfrm>
              <a:off x="2333129" y="4387298"/>
              <a:ext cx="60006" cy="7120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Oval 111"/>
            <p:cNvSpPr/>
            <p:nvPr/>
          </p:nvSpPr>
          <p:spPr>
            <a:xfrm>
              <a:off x="2966542" y="4377774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Oval 112"/>
            <p:cNvSpPr/>
            <p:nvPr/>
          </p:nvSpPr>
          <p:spPr>
            <a:xfrm>
              <a:off x="2323604" y="5020711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4" name="Group 39"/>
          <p:cNvGrpSpPr>
            <a:grpSpLocks noChangeAspect="1"/>
          </p:cNvGrpSpPr>
          <p:nvPr/>
        </p:nvGrpSpPr>
        <p:grpSpPr>
          <a:xfrm rot="10800000">
            <a:off x="1061350" y="4287375"/>
            <a:ext cx="568317" cy="576634"/>
            <a:chOff x="2323604" y="4377774"/>
            <a:chExt cx="702944" cy="714139"/>
          </a:xfrm>
        </p:grpSpPr>
        <p:sp>
          <p:nvSpPr>
            <p:cNvPr id="115" name="Rectangle 114"/>
            <p:cNvSpPr/>
            <p:nvPr/>
          </p:nvSpPr>
          <p:spPr>
            <a:xfrm>
              <a:off x="2354201" y="4415874"/>
              <a:ext cx="649224" cy="64922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6" name="Straight Connector 115"/>
            <p:cNvCxnSpPr/>
            <p:nvPr/>
          </p:nvCxnSpPr>
          <p:spPr>
            <a:xfrm>
              <a:off x="2354201" y="4415874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/>
          </p:nvCxnSpPr>
          <p:spPr>
            <a:xfrm rot="5400000">
              <a:off x="2029589" y="4740486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Oval 117"/>
            <p:cNvSpPr/>
            <p:nvPr/>
          </p:nvSpPr>
          <p:spPr>
            <a:xfrm>
              <a:off x="2333129" y="4387298"/>
              <a:ext cx="60006" cy="7120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Oval 118"/>
            <p:cNvSpPr/>
            <p:nvPr/>
          </p:nvSpPr>
          <p:spPr>
            <a:xfrm>
              <a:off x="2966542" y="4377774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Oval 119"/>
            <p:cNvSpPr/>
            <p:nvPr/>
          </p:nvSpPr>
          <p:spPr>
            <a:xfrm>
              <a:off x="2323604" y="5020711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1" name="Group 90"/>
          <p:cNvGrpSpPr>
            <a:grpSpLocks noChangeAspect="1"/>
          </p:cNvGrpSpPr>
          <p:nvPr/>
        </p:nvGrpSpPr>
        <p:grpSpPr>
          <a:xfrm rot="10800000">
            <a:off x="544166" y="4287375"/>
            <a:ext cx="568317" cy="576634"/>
            <a:chOff x="2323604" y="4377774"/>
            <a:chExt cx="702944" cy="714139"/>
          </a:xfrm>
        </p:grpSpPr>
        <p:sp>
          <p:nvSpPr>
            <p:cNvPr id="122" name="Rectangle 121"/>
            <p:cNvSpPr/>
            <p:nvPr/>
          </p:nvSpPr>
          <p:spPr>
            <a:xfrm>
              <a:off x="2354201" y="4415874"/>
              <a:ext cx="649224" cy="64922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3" name="Straight Connector 122"/>
            <p:cNvCxnSpPr/>
            <p:nvPr/>
          </p:nvCxnSpPr>
          <p:spPr>
            <a:xfrm>
              <a:off x="2354201" y="4415874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rot="5400000">
              <a:off x="2029589" y="4740486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Oval 124"/>
            <p:cNvSpPr/>
            <p:nvPr/>
          </p:nvSpPr>
          <p:spPr>
            <a:xfrm>
              <a:off x="2333129" y="4387298"/>
              <a:ext cx="60006" cy="7120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Oval 125"/>
            <p:cNvSpPr/>
            <p:nvPr/>
          </p:nvSpPr>
          <p:spPr>
            <a:xfrm>
              <a:off x="2966542" y="4377774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/>
            <p:cNvSpPr/>
            <p:nvPr/>
          </p:nvSpPr>
          <p:spPr>
            <a:xfrm>
              <a:off x="2323604" y="5020711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8" name="Group 97"/>
          <p:cNvGrpSpPr>
            <a:grpSpLocks noChangeAspect="1"/>
          </p:cNvGrpSpPr>
          <p:nvPr/>
        </p:nvGrpSpPr>
        <p:grpSpPr>
          <a:xfrm rot="10800000">
            <a:off x="32065" y="4287375"/>
            <a:ext cx="568317" cy="576634"/>
            <a:chOff x="2323604" y="4377774"/>
            <a:chExt cx="702944" cy="714139"/>
          </a:xfrm>
        </p:grpSpPr>
        <p:sp>
          <p:nvSpPr>
            <p:cNvPr id="129" name="Rectangle 128"/>
            <p:cNvSpPr/>
            <p:nvPr/>
          </p:nvSpPr>
          <p:spPr>
            <a:xfrm>
              <a:off x="2354201" y="4415874"/>
              <a:ext cx="649224" cy="64922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0" name="Straight Connector 129"/>
            <p:cNvCxnSpPr/>
            <p:nvPr/>
          </p:nvCxnSpPr>
          <p:spPr>
            <a:xfrm>
              <a:off x="2354201" y="4415874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rot="5400000">
              <a:off x="2029589" y="4740486"/>
              <a:ext cx="649224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Oval 131"/>
            <p:cNvSpPr/>
            <p:nvPr/>
          </p:nvSpPr>
          <p:spPr>
            <a:xfrm>
              <a:off x="2333129" y="4387298"/>
              <a:ext cx="60006" cy="7120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Oval 132"/>
            <p:cNvSpPr/>
            <p:nvPr/>
          </p:nvSpPr>
          <p:spPr>
            <a:xfrm>
              <a:off x="2966542" y="4377774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Oval 133"/>
            <p:cNvSpPr/>
            <p:nvPr/>
          </p:nvSpPr>
          <p:spPr>
            <a:xfrm>
              <a:off x="2323604" y="5020711"/>
              <a:ext cx="60006" cy="71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5" name="Rectangle 134"/>
          <p:cNvSpPr/>
          <p:nvPr/>
        </p:nvSpPr>
        <p:spPr>
          <a:xfrm rot="10800000">
            <a:off x="1593995" y="3793059"/>
            <a:ext cx="524885" cy="524218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6" name="Straight Connector 135"/>
          <p:cNvCxnSpPr/>
          <p:nvPr/>
        </p:nvCxnSpPr>
        <p:spPr>
          <a:xfrm rot="10800000">
            <a:off x="1593995" y="4317277"/>
            <a:ext cx="52488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 rot="16200000">
            <a:off x="1856772" y="4055168"/>
            <a:ext cx="524218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/>
          <p:cNvSpPr/>
          <p:nvPr/>
        </p:nvSpPr>
        <p:spPr>
          <a:xfrm rot="10800000">
            <a:off x="2087403" y="4282858"/>
            <a:ext cx="48514" cy="57493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9" name="Oval 138"/>
          <p:cNvSpPr/>
          <p:nvPr/>
        </p:nvSpPr>
        <p:spPr>
          <a:xfrm rot="10800000">
            <a:off x="1575301" y="4290549"/>
            <a:ext cx="48514" cy="5749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0" name="Oval 139"/>
          <p:cNvSpPr/>
          <p:nvPr/>
        </p:nvSpPr>
        <p:spPr>
          <a:xfrm rot="10800000">
            <a:off x="2095104" y="3771407"/>
            <a:ext cx="48514" cy="5749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Rectangle 140"/>
          <p:cNvSpPr/>
          <p:nvPr/>
        </p:nvSpPr>
        <p:spPr>
          <a:xfrm rot="10800000">
            <a:off x="1080045" y="3793059"/>
            <a:ext cx="524885" cy="524218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2" name="Straight Connector 141"/>
          <p:cNvCxnSpPr/>
          <p:nvPr/>
        </p:nvCxnSpPr>
        <p:spPr>
          <a:xfrm rot="10800000">
            <a:off x="1080045" y="4317277"/>
            <a:ext cx="52488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>
          <a:xfrm rot="16200000">
            <a:off x="1342821" y="4055168"/>
            <a:ext cx="524218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Oval 143"/>
          <p:cNvSpPr/>
          <p:nvPr/>
        </p:nvSpPr>
        <p:spPr>
          <a:xfrm rot="10800000">
            <a:off x="1573452" y="4282858"/>
            <a:ext cx="48514" cy="57493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Oval 144"/>
          <p:cNvSpPr/>
          <p:nvPr/>
        </p:nvSpPr>
        <p:spPr>
          <a:xfrm rot="10800000">
            <a:off x="1061350" y="4290549"/>
            <a:ext cx="48514" cy="5749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Oval 145"/>
          <p:cNvSpPr/>
          <p:nvPr/>
        </p:nvSpPr>
        <p:spPr>
          <a:xfrm rot="10800000">
            <a:off x="1581153" y="3771407"/>
            <a:ext cx="48514" cy="5749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 146"/>
          <p:cNvSpPr/>
          <p:nvPr/>
        </p:nvSpPr>
        <p:spPr>
          <a:xfrm rot="10800000">
            <a:off x="562861" y="3793059"/>
            <a:ext cx="524885" cy="524218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8" name="Straight Connector 147"/>
          <p:cNvCxnSpPr/>
          <p:nvPr/>
        </p:nvCxnSpPr>
        <p:spPr>
          <a:xfrm rot="10800000">
            <a:off x="562861" y="4317277"/>
            <a:ext cx="52488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/>
          <p:nvPr/>
        </p:nvCxnSpPr>
        <p:spPr>
          <a:xfrm rot="16200000">
            <a:off x="825638" y="4055168"/>
            <a:ext cx="524218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Oval 149"/>
          <p:cNvSpPr/>
          <p:nvPr/>
        </p:nvSpPr>
        <p:spPr>
          <a:xfrm rot="10800000">
            <a:off x="1056269" y="4282858"/>
            <a:ext cx="48514" cy="57493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Oval 150"/>
          <p:cNvSpPr/>
          <p:nvPr/>
        </p:nvSpPr>
        <p:spPr>
          <a:xfrm rot="10800000">
            <a:off x="544166" y="4290549"/>
            <a:ext cx="48514" cy="5749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Oval 151"/>
          <p:cNvSpPr/>
          <p:nvPr/>
        </p:nvSpPr>
        <p:spPr>
          <a:xfrm rot="10800000">
            <a:off x="1063970" y="3771407"/>
            <a:ext cx="48514" cy="5749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TextBox 152"/>
          <p:cNvSpPr txBox="1"/>
          <p:nvPr/>
        </p:nvSpPr>
        <p:spPr>
          <a:xfrm>
            <a:off x="3884283" y="6220165"/>
            <a:ext cx="23795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+mn-lt"/>
              </a:rPr>
              <a:t>Everything is O(1)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0" y="6519446"/>
            <a:ext cx="29723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Sid Meier’s Civilization Template</a:t>
            </a:r>
          </a:p>
        </p:txBody>
      </p:sp>
      <p:grpSp>
        <p:nvGrpSpPr>
          <p:cNvPr id="158" name="Group 157"/>
          <p:cNvGrpSpPr/>
          <p:nvPr/>
        </p:nvGrpSpPr>
        <p:grpSpPr>
          <a:xfrm>
            <a:off x="1430158" y="3766801"/>
            <a:ext cx="1478550" cy="1478550"/>
            <a:chOff x="1483321" y="3046149"/>
            <a:chExt cx="1478550" cy="1478550"/>
          </a:xfrm>
        </p:grpSpPr>
        <p:sp>
          <p:nvSpPr>
            <p:cNvPr id="156" name="Flowchart: Connector 251"/>
            <p:cNvSpPr/>
            <p:nvPr/>
          </p:nvSpPr>
          <p:spPr>
            <a:xfrm rot="10800000">
              <a:off x="1483321" y="3046149"/>
              <a:ext cx="1478550" cy="147855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3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Oval 156"/>
            <p:cNvSpPr/>
            <p:nvPr/>
          </p:nvSpPr>
          <p:spPr>
            <a:xfrm rot="10800000">
              <a:off x="2215203" y="3778031"/>
              <a:ext cx="14786" cy="14786"/>
            </a:xfrm>
            <a:prstGeom prst="ellipse">
              <a:avLst/>
            </a:prstGeom>
            <a:solidFill>
              <a:schemeClr val="tx2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59" name="Picture 158" descr="Steps_0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800" y="2652085"/>
            <a:ext cx="6045200" cy="3390900"/>
          </a:xfrm>
          <a:prstGeom prst="rect">
            <a:avLst/>
          </a:prstGeom>
        </p:spPr>
      </p:pic>
      <p:grpSp>
        <p:nvGrpSpPr>
          <p:cNvPr id="160" name="Group 159"/>
          <p:cNvGrpSpPr>
            <a:grpSpLocks noChangeAspect="1"/>
          </p:cNvGrpSpPr>
          <p:nvPr/>
        </p:nvGrpSpPr>
        <p:grpSpPr>
          <a:xfrm>
            <a:off x="419398" y="1884326"/>
            <a:ext cx="1600041" cy="1495908"/>
            <a:chOff x="486698" y="2709611"/>
            <a:chExt cx="978053" cy="914400"/>
          </a:xfrm>
        </p:grpSpPr>
        <p:sp>
          <p:nvSpPr>
            <p:cNvPr id="6" name="Rectangle 5"/>
            <p:cNvSpPr>
              <a:spLocks noChangeAspect="1"/>
            </p:cNvSpPr>
            <p:nvPr/>
          </p:nvSpPr>
          <p:spPr>
            <a:xfrm>
              <a:off x="942220" y="2842191"/>
              <a:ext cx="324612" cy="324612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 w="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486698" y="2709611"/>
              <a:ext cx="914400" cy="914400"/>
              <a:chOff x="1014942" y="4818592"/>
              <a:chExt cx="914400" cy="914400"/>
            </a:xfrm>
          </p:grpSpPr>
          <p:sp>
            <p:nvSpPr>
              <p:cNvPr id="8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0" name="Straight Connector 9"/>
            <p:cNvCxnSpPr>
              <a:stCxn id="9" idx="3"/>
              <a:endCxn id="8" idx="7"/>
            </p:cNvCxnSpPr>
            <p:nvPr/>
          </p:nvCxnSpPr>
          <p:spPr bwMode="auto">
            <a:xfrm flipV="1">
              <a:off x="942004" y="2843522"/>
              <a:ext cx="325183" cy="3343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TextBox 10"/>
            <p:cNvSpPr txBox="1"/>
            <p:nvPr/>
          </p:nvSpPr>
          <p:spPr>
            <a:xfrm>
              <a:off x="1077806" y="2902162"/>
              <a:ext cx="3869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smtClean="0"/>
                <a:t>r</a:t>
              </a:r>
              <a:endParaRPr lang="en-US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5602233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5464" y="1213794"/>
            <a:ext cx="4019550" cy="468854"/>
          </a:xfrm>
        </p:spPr>
        <p:txBody>
          <a:bodyPr/>
          <a:lstStyle/>
          <a:p>
            <a:r>
              <a:rPr lang="en-US" sz="2000" dirty="0" smtClean="0"/>
              <a:t>Algorithm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maximal Poisson-disk </a:t>
            </a:r>
            <a:r>
              <a:rPr lang="en-US" dirty="0" smtClean="0"/>
              <a:t>sampling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85709" y="1371051"/>
            <a:ext cx="2625194" cy="2640466"/>
            <a:chOff x="88979" y="2808851"/>
            <a:chExt cx="2625194" cy="2640466"/>
          </a:xfrm>
        </p:grpSpPr>
        <p:sp>
          <p:nvSpPr>
            <p:cNvPr id="6" name="Rectangle 5"/>
            <p:cNvSpPr/>
            <p:nvPr/>
          </p:nvSpPr>
          <p:spPr>
            <a:xfrm rot="10800000">
              <a:off x="1650909" y="4894335"/>
              <a:ext cx="524885" cy="524218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" name="Straight Connector 6"/>
            <p:cNvCxnSpPr/>
            <p:nvPr/>
          </p:nvCxnSpPr>
          <p:spPr>
            <a:xfrm rot="10800000">
              <a:off x="1650909" y="5418553"/>
              <a:ext cx="524885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rot="16200000">
              <a:off x="1913686" y="5156444"/>
              <a:ext cx="52421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 rot="10800000">
              <a:off x="2144317" y="5384134"/>
              <a:ext cx="48514" cy="57493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 rot="10800000">
              <a:off x="1632215" y="5391824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/>
            <p:cNvSpPr/>
            <p:nvPr/>
          </p:nvSpPr>
          <p:spPr>
            <a:xfrm rot="10800000">
              <a:off x="2152018" y="4872683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 rot="10800000">
              <a:off x="1136959" y="4894335"/>
              <a:ext cx="524885" cy="524218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" name="Straight Connector 12"/>
            <p:cNvCxnSpPr/>
            <p:nvPr/>
          </p:nvCxnSpPr>
          <p:spPr>
            <a:xfrm rot="10800000">
              <a:off x="1136959" y="5418553"/>
              <a:ext cx="524885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6200000">
              <a:off x="1399735" y="5156444"/>
              <a:ext cx="52421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 rot="10800000">
              <a:off x="1630366" y="5384134"/>
              <a:ext cx="48514" cy="57493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/>
            <p:cNvSpPr/>
            <p:nvPr/>
          </p:nvSpPr>
          <p:spPr>
            <a:xfrm rot="10800000">
              <a:off x="1118264" y="5391824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/>
            <p:cNvSpPr/>
            <p:nvPr/>
          </p:nvSpPr>
          <p:spPr>
            <a:xfrm rot="10800000">
              <a:off x="1638067" y="4872683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/>
            <p:cNvSpPr/>
            <p:nvPr/>
          </p:nvSpPr>
          <p:spPr>
            <a:xfrm rot="10800000">
              <a:off x="619775" y="4894335"/>
              <a:ext cx="524885" cy="524218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9" name="Straight Connector 18"/>
            <p:cNvCxnSpPr/>
            <p:nvPr/>
          </p:nvCxnSpPr>
          <p:spPr>
            <a:xfrm rot="10800000">
              <a:off x="619775" y="5418553"/>
              <a:ext cx="524885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>
              <a:off x="882552" y="5156444"/>
              <a:ext cx="52421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 rot="10800000">
              <a:off x="1113183" y="5384134"/>
              <a:ext cx="48514" cy="57493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/>
            <p:cNvSpPr/>
            <p:nvPr/>
          </p:nvSpPr>
          <p:spPr>
            <a:xfrm rot="10800000">
              <a:off x="601080" y="5391824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/>
            <p:cNvSpPr/>
            <p:nvPr/>
          </p:nvSpPr>
          <p:spPr>
            <a:xfrm rot="10800000">
              <a:off x="1120884" y="4872683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" name="Group 23"/>
            <p:cNvGrpSpPr>
              <a:grpSpLocks noChangeAspect="1"/>
            </p:cNvGrpSpPr>
            <p:nvPr/>
          </p:nvGrpSpPr>
          <p:grpSpPr>
            <a:xfrm rot="10800000">
              <a:off x="2145856" y="4355982"/>
              <a:ext cx="568317" cy="577368"/>
              <a:chOff x="2323604" y="4377774"/>
              <a:chExt cx="702944" cy="714139"/>
            </a:xfrm>
          </p:grpSpPr>
          <p:sp>
            <p:nvSpPr>
              <p:cNvPr id="143" name="Rectangle 142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44" name="Straight Connector 143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Oval 145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7" name="Oval 146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5" name="Group 24"/>
            <p:cNvGrpSpPr>
              <a:grpSpLocks noChangeAspect="1"/>
            </p:cNvGrpSpPr>
            <p:nvPr/>
          </p:nvGrpSpPr>
          <p:grpSpPr>
            <a:xfrm rot="10800000">
              <a:off x="1632215" y="4355982"/>
              <a:ext cx="568317" cy="577368"/>
              <a:chOff x="2323604" y="4377774"/>
              <a:chExt cx="702944" cy="714139"/>
            </a:xfrm>
          </p:grpSpPr>
          <p:sp>
            <p:nvSpPr>
              <p:cNvPr id="137" name="Rectangle 136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38" name="Straight Connector 137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Oval 139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1" name="Oval 140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6" name="Group 25"/>
            <p:cNvGrpSpPr>
              <a:grpSpLocks noChangeAspect="1"/>
            </p:cNvGrpSpPr>
            <p:nvPr/>
          </p:nvGrpSpPr>
          <p:grpSpPr>
            <a:xfrm rot="10800000">
              <a:off x="1118264" y="4355982"/>
              <a:ext cx="568317" cy="577368"/>
              <a:chOff x="2323604" y="4377774"/>
              <a:chExt cx="702944" cy="714139"/>
            </a:xfrm>
          </p:grpSpPr>
          <p:sp>
            <p:nvSpPr>
              <p:cNvPr id="131" name="Rectangle 130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32" name="Straight Connector 131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Oval 133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5" name="Oval 134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6" name="Oval 135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7" name="Group 26"/>
            <p:cNvGrpSpPr>
              <a:grpSpLocks noChangeAspect="1"/>
            </p:cNvGrpSpPr>
            <p:nvPr/>
          </p:nvGrpSpPr>
          <p:grpSpPr>
            <a:xfrm rot="10800000">
              <a:off x="601080" y="4355982"/>
              <a:ext cx="568317" cy="577368"/>
              <a:chOff x="2323604" y="4377774"/>
              <a:chExt cx="702944" cy="714139"/>
            </a:xfrm>
          </p:grpSpPr>
          <p:sp>
            <p:nvSpPr>
              <p:cNvPr id="125" name="Rectangle 124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26" name="Straight Connector 125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Oval 127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9" name="Oval 128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Oval 129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8" name="Group 27"/>
            <p:cNvGrpSpPr>
              <a:grpSpLocks noChangeAspect="1"/>
            </p:cNvGrpSpPr>
            <p:nvPr/>
          </p:nvGrpSpPr>
          <p:grpSpPr>
            <a:xfrm rot="10800000">
              <a:off x="88979" y="4355982"/>
              <a:ext cx="568317" cy="577368"/>
              <a:chOff x="2323604" y="4377774"/>
              <a:chExt cx="702944" cy="714139"/>
            </a:xfrm>
          </p:grpSpPr>
          <p:sp>
            <p:nvSpPr>
              <p:cNvPr id="119" name="Rectangle 118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20" name="Straight Connector 119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Oval 121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3" name="Oval 122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4" name="Oval 123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9" name="Group 17"/>
            <p:cNvGrpSpPr>
              <a:grpSpLocks noChangeAspect="1"/>
            </p:cNvGrpSpPr>
            <p:nvPr/>
          </p:nvGrpSpPr>
          <p:grpSpPr>
            <a:xfrm rot="10800000">
              <a:off x="2145856" y="3843073"/>
              <a:ext cx="568317" cy="576634"/>
              <a:chOff x="2323604" y="4377774"/>
              <a:chExt cx="702944" cy="714139"/>
            </a:xfrm>
          </p:grpSpPr>
          <p:sp>
            <p:nvSpPr>
              <p:cNvPr id="113" name="Rectangle 112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14" name="Straight Connector 113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Oval 115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0" name="Group 32"/>
            <p:cNvGrpSpPr>
              <a:grpSpLocks noChangeAspect="1"/>
            </p:cNvGrpSpPr>
            <p:nvPr/>
          </p:nvGrpSpPr>
          <p:grpSpPr>
            <a:xfrm rot="10800000">
              <a:off x="1632215" y="3843073"/>
              <a:ext cx="568317" cy="576634"/>
              <a:chOff x="2323604" y="4377774"/>
              <a:chExt cx="702944" cy="714139"/>
            </a:xfrm>
          </p:grpSpPr>
          <p:sp>
            <p:nvSpPr>
              <p:cNvPr id="107" name="Rectangle 106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08" name="Straight Connector 107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Oval 109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1" name="Oval 110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1" name="Rectangle 30"/>
            <p:cNvSpPr/>
            <p:nvPr/>
          </p:nvSpPr>
          <p:spPr>
            <a:xfrm rot="10800000">
              <a:off x="1136959" y="3864725"/>
              <a:ext cx="524885" cy="524218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2" name="Straight Connector 31"/>
            <p:cNvCxnSpPr/>
            <p:nvPr/>
          </p:nvCxnSpPr>
          <p:spPr>
            <a:xfrm rot="10800000">
              <a:off x="1136959" y="4388943"/>
              <a:ext cx="524885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16200000">
              <a:off x="1399735" y="4126835"/>
              <a:ext cx="524218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/>
            <p:nvPr/>
          </p:nvSpPr>
          <p:spPr>
            <a:xfrm rot="10800000">
              <a:off x="1630366" y="4354525"/>
              <a:ext cx="48514" cy="57493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/>
            <p:cNvSpPr/>
            <p:nvPr/>
          </p:nvSpPr>
          <p:spPr>
            <a:xfrm rot="10800000">
              <a:off x="1118264" y="4362215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/>
            <p:cNvSpPr/>
            <p:nvPr/>
          </p:nvSpPr>
          <p:spPr>
            <a:xfrm rot="10800000">
              <a:off x="1638067" y="3843073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7" name="Group 90"/>
            <p:cNvGrpSpPr>
              <a:grpSpLocks noChangeAspect="1"/>
            </p:cNvGrpSpPr>
            <p:nvPr/>
          </p:nvGrpSpPr>
          <p:grpSpPr>
            <a:xfrm rot="10800000">
              <a:off x="601080" y="3843073"/>
              <a:ext cx="568317" cy="576634"/>
              <a:chOff x="2323604" y="4377774"/>
              <a:chExt cx="702944" cy="714139"/>
            </a:xfrm>
          </p:grpSpPr>
          <p:sp>
            <p:nvSpPr>
              <p:cNvPr id="101" name="Rectangle 100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02" name="Straight Connector 101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Oval 103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8" name="Group 97"/>
            <p:cNvGrpSpPr>
              <a:grpSpLocks noChangeAspect="1"/>
            </p:cNvGrpSpPr>
            <p:nvPr/>
          </p:nvGrpSpPr>
          <p:grpSpPr>
            <a:xfrm rot="10800000">
              <a:off x="88979" y="3843073"/>
              <a:ext cx="568317" cy="576634"/>
              <a:chOff x="2323604" y="4377774"/>
              <a:chExt cx="702944" cy="714139"/>
            </a:xfrm>
          </p:grpSpPr>
          <p:sp>
            <p:nvSpPr>
              <p:cNvPr id="95" name="Rectangle 94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96" name="Straight Connector 95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Oval 97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17"/>
            <p:cNvGrpSpPr>
              <a:grpSpLocks noChangeAspect="1"/>
            </p:cNvGrpSpPr>
            <p:nvPr/>
          </p:nvGrpSpPr>
          <p:grpSpPr>
            <a:xfrm rot="10800000">
              <a:off x="2145856" y="3324819"/>
              <a:ext cx="568317" cy="576634"/>
              <a:chOff x="2323604" y="4377774"/>
              <a:chExt cx="702944" cy="714139"/>
            </a:xfrm>
          </p:grpSpPr>
          <p:sp>
            <p:nvSpPr>
              <p:cNvPr id="89" name="Rectangle 88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90" name="Straight Connector 89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Oval 91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" name="Oval 92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4" name="Oval 93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0" name="Group 32"/>
            <p:cNvGrpSpPr>
              <a:grpSpLocks noChangeAspect="1"/>
            </p:cNvGrpSpPr>
            <p:nvPr/>
          </p:nvGrpSpPr>
          <p:grpSpPr>
            <a:xfrm rot="10800000">
              <a:off x="1632215" y="3324819"/>
              <a:ext cx="568317" cy="576634"/>
              <a:chOff x="2323604" y="4377774"/>
              <a:chExt cx="702944" cy="714139"/>
            </a:xfrm>
          </p:grpSpPr>
          <p:sp>
            <p:nvSpPr>
              <p:cNvPr id="83" name="Rectangle 82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84" name="Straight Connector 83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Oval 85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1" name="Group 39"/>
            <p:cNvGrpSpPr>
              <a:grpSpLocks noChangeAspect="1"/>
            </p:cNvGrpSpPr>
            <p:nvPr/>
          </p:nvGrpSpPr>
          <p:grpSpPr>
            <a:xfrm rot="10800000">
              <a:off x="1118264" y="3324819"/>
              <a:ext cx="568317" cy="576634"/>
              <a:chOff x="2323604" y="4377774"/>
              <a:chExt cx="702944" cy="714139"/>
            </a:xfrm>
          </p:grpSpPr>
          <p:sp>
            <p:nvSpPr>
              <p:cNvPr id="77" name="Rectangle 76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8" name="Straight Connector 77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Oval 79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2" name="Group 90"/>
            <p:cNvGrpSpPr>
              <a:grpSpLocks noChangeAspect="1"/>
            </p:cNvGrpSpPr>
            <p:nvPr/>
          </p:nvGrpSpPr>
          <p:grpSpPr>
            <a:xfrm rot="10800000">
              <a:off x="601080" y="3324819"/>
              <a:ext cx="568317" cy="576634"/>
              <a:chOff x="2323604" y="4377774"/>
              <a:chExt cx="702944" cy="714139"/>
            </a:xfrm>
          </p:grpSpPr>
          <p:sp>
            <p:nvSpPr>
              <p:cNvPr id="71" name="Rectangle 70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2" name="Straight Connector 71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Oval 73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97"/>
            <p:cNvGrpSpPr>
              <a:grpSpLocks noChangeAspect="1"/>
            </p:cNvGrpSpPr>
            <p:nvPr/>
          </p:nvGrpSpPr>
          <p:grpSpPr>
            <a:xfrm rot="10800000">
              <a:off x="88979" y="3324819"/>
              <a:ext cx="568317" cy="576634"/>
              <a:chOff x="2323604" y="4377774"/>
              <a:chExt cx="702944" cy="714139"/>
            </a:xfrm>
          </p:grpSpPr>
          <p:sp>
            <p:nvSpPr>
              <p:cNvPr id="65" name="Rectangle 64"/>
              <p:cNvSpPr/>
              <p:nvPr/>
            </p:nvSpPr>
            <p:spPr>
              <a:xfrm>
                <a:off x="2354201" y="4415874"/>
                <a:ext cx="649224" cy="6492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3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6" name="Straight Connector 65"/>
              <p:cNvCxnSpPr/>
              <p:nvPr/>
            </p:nvCxnSpPr>
            <p:spPr>
              <a:xfrm>
                <a:off x="2354201" y="4415874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rot="5400000">
                <a:off x="2029589" y="4740486"/>
                <a:ext cx="649224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Oval 67"/>
              <p:cNvSpPr/>
              <p:nvPr/>
            </p:nvSpPr>
            <p:spPr>
              <a:xfrm>
                <a:off x="2333129" y="4387298"/>
                <a:ext cx="60006" cy="7120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2966542" y="4377774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2323604" y="5020711"/>
                <a:ext cx="60006" cy="71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4" name="Rectangle 43"/>
            <p:cNvSpPr/>
            <p:nvPr/>
          </p:nvSpPr>
          <p:spPr>
            <a:xfrm rot="10800000">
              <a:off x="1650909" y="2830503"/>
              <a:ext cx="524885" cy="524218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5" name="Straight Connector 44"/>
            <p:cNvCxnSpPr/>
            <p:nvPr/>
          </p:nvCxnSpPr>
          <p:spPr>
            <a:xfrm rot="10800000">
              <a:off x="1650909" y="3354721"/>
              <a:ext cx="524885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16200000">
              <a:off x="1913686" y="3092612"/>
              <a:ext cx="52421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46"/>
            <p:cNvSpPr/>
            <p:nvPr/>
          </p:nvSpPr>
          <p:spPr>
            <a:xfrm rot="10800000">
              <a:off x="2144317" y="3320302"/>
              <a:ext cx="48514" cy="57493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/>
            <p:cNvSpPr/>
            <p:nvPr/>
          </p:nvSpPr>
          <p:spPr>
            <a:xfrm rot="10800000">
              <a:off x="1632215" y="3327993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/>
            <p:cNvSpPr/>
            <p:nvPr/>
          </p:nvSpPr>
          <p:spPr>
            <a:xfrm rot="10800000">
              <a:off x="2152018" y="2808851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 49"/>
            <p:cNvSpPr/>
            <p:nvPr/>
          </p:nvSpPr>
          <p:spPr>
            <a:xfrm rot="10800000">
              <a:off x="1136959" y="2830503"/>
              <a:ext cx="524885" cy="524218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1" name="Straight Connector 50"/>
            <p:cNvCxnSpPr/>
            <p:nvPr/>
          </p:nvCxnSpPr>
          <p:spPr>
            <a:xfrm rot="10800000">
              <a:off x="1136959" y="3354721"/>
              <a:ext cx="524885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16200000">
              <a:off x="1399735" y="3092612"/>
              <a:ext cx="52421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52"/>
            <p:cNvSpPr/>
            <p:nvPr/>
          </p:nvSpPr>
          <p:spPr>
            <a:xfrm rot="10800000">
              <a:off x="1630366" y="3320302"/>
              <a:ext cx="48514" cy="57493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/>
            <p:cNvSpPr/>
            <p:nvPr/>
          </p:nvSpPr>
          <p:spPr>
            <a:xfrm rot="10800000">
              <a:off x="1118264" y="3327993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/>
            <p:cNvSpPr/>
            <p:nvPr/>
          </p:nvSpPr>
          <p:spPr>
            <a:xfrm rot="10800000">
              <a:off x="1638067" y="2808851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55"/>
            <p:cNvSpPr/>
            <p:nvPr/>
          </p:nvSpPr>
          <p:spPr>
            <a:xfrm rot="10800000">
              <a:off x="619775" y="2830503"/>
              <a:ext cx="524885" cy="524218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7" name="Straight Connector 56"/>
            <p:cNvCxnSpPr/>
            <p:nvPr/>
          </p:nvCxnSpPr>
          <p:spPr>
            <a:xfrm rot="10800000">
              <a:off x="619775" y="3354721"/>
              <a:ext cx="524885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16200000">
              <a:off x="882552" y="3092612"/>
              <a:ext cx="52421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 58"/>
            <p:cNvSpPr/>
            <p:nvPr/>
          </p:nvSpPr>
          <p:spPr>
            <a:xfrm rot="10800000">
              <a:off x="1113183" y="3320302"/>
              <a:ext cx="48514" cy="57493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/>
            <p:cNvSpPr/>
            <p:nvPr/>
          </p:nvSpPr>
          <p:spPr>
            <a:xfrm rot="10800000">
              <a:off x="601080" y="3327993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Oval 60"/>
            <p:cNvSpPr/>
            <p:nvPr/>
          </p:nvSpPr>
          <p:spPr>
            <a:xfrm rot="10800000">
              <a:off x="1120884" y="2808851"/>
              <a:ext cx="48514" cy="5749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8" name="Group 167"/>
          <p:cNvGrpSpPr/>
          <p:nvPr/>
        </p:nvGrpSpPr>
        <p:grpSpPr>
          <a:xfrm>
            <a:off x="920031" y="1526085"/>
            <a:ext cx="6655351" cy="1728527"/>
            <a:chOff x="908217" y="2597571"/>
            <a:chExt cx="6655351" cy="1728527"/>
          </a:xfrm>
        </p:grpSpPr>
        <p:sp>
          <p:nvSpPr>
            <p:cNvPr id="178" name="Content Placeholder 2"/>
            <p:cNvSpPr txBox="1">
              <a:spLocks/>
            </p:cNvSpPr>
            <p:nvPr/>
          </p:nvSpPr>
          <p:spPr bwMode="auto">
            <a:xfrm>
              <a:off x="2541368" y="2597571"/>
              <a:ext cx="5022200" cy="1460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90487" tIns="44450" rIns="90487" bIns="44450" numCol="1" anchor="t" anchorCtr="0" compatLnSpc="1">
              <a:prstTxWarp prst="textNoShape">
                <a:avLst/>
              </a:prstTxWarp>
            </a:bodyPr>
            <a:lstStyle>
              <a:lvl1pPr marL="34290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400" b="1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–"/>
                <a:defRPr sz="2200" b="1">
                  <a:solidFill>
                    <a:srgbClr val="000000"/>
                  </a:solidFill>
                  <a:latin typeface="+mn-lt"/>
                </a:defRPr>
              </a:lvl2pPr>
              <a:lvl3pPr marL="108585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rgbClr val="000000"/>
                  </a:solidFill>
                  <a:latin typeface="+mn-lt"/>
                </a:defRPr>
              </a:lvl3pPr>
              <a:lvl4pPr marL="154305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rgbClr val="000000"/>
                  </a:solidFill>
                  <a:latin typeface="+mn-lt"/>
                </a:defRPr>
              </a:lvl4pPr>
              <a:lvl5pPr marL="19431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5pPr>
              <a:lvl6pPr marL="24003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6pPr>
              <a:lvl7pPr marL="28575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7pPr>
              <a:lvl8pPr marL="33147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8pPr>
              <a:lvl9pPr marL="37719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9pPr>
            </a:lstStyle>
            <a:p>
              <a:pPr lvl="1"/>
              <a:r>
                <a:rPr lang="en-US" sz="1800" dirty="0" smtClean="0"/>
                <a:t>Phase I</a:t>
              </a:r>
              <a:br>
                <a:rPr lang="en-US" sz="1800" dirty="0" smtClean="0"/>
              </a:br>
              <a:r>
                <a:rPr lang="en-US" sz="1600" dirty="0" smtClean="0"/>
                <a:t>Throw darts in squares</a:t>
              </a:r>
            </a:p>
            <a:p>
              <a:pPr lvl="2"/>
              <a:r>
                <a:rPr lang="en-US" sz="1600" dirty="0"/>
                <a:t>Pick square uniformly</a:t>
              </a:r>
            </a:p>
            <a:p>
              <a:pPr lvl="2"/>
              <a:r>
                <a:rPr lang="en-US" sz="1600" dirty="0" smtClean="0"/>
                <a:t>Pick point in square uniformly</a:t>
              </a:r>
            </a:p>
          </p:txBody>
        </p:sp>
        <p:grpSp>
          <p:nvGrpSpPr>
            <p:cNvPr id="62" name="Group 21"/>
            <p:cNvGrpSpPr/>
            <p:nvPr/>
          </p:nvGrpSpPr>
          <p:grpSpPr>
            <a:xfrm rot="10800000">
              <a:off x="908217" y="2847548"/>
              <a:ext cx="1478550" cy="1478550"/>
              <a:chOff x="711339" y="-66690"/>
              <a:chExt cx="1828800" cy="1828800"/>
            </a:xfrm>
            <a:solidFill>
              <a:schemeClr val="accent1">
                <a:lumMod val="60000"/>
                <a:lumOff val="40000"/>
                <a:alpha val="30000"/>
              </a:schemeClr>
            </a:solidFill>
          </p:grpSpPr>
          <p:sp>
            <p:nvSpPr>
              <p:cNvPr id="63" name="Flowchart: Connector 251"/>
              <p:cNvSpPr/>
              <p:nvPr/>
            </p:nvSpPr>
            <p:spPr>
              <a:xfrm>
                <a:off x="711339" y="-66690"/>
                <a:ext cx="1828800" cy="1828800"/>
              </a:xfrm>
              <a:prstGeom prst="flowChartConnector">
                <a:avLst/>
              </a:prstGeom>
              <a:grp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1616596" y="838567"/>
                <a:ext cx="18289" cy="18289"/>
              </a:xfrm>
              <a:prstGeom prst="ellipse">
                <a:avLst/>
              </a:prstGeom>
              <a:solidFill>
                <a:schemeClr val="tx2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0" name="Group 189"/>
          <p:cNvGrpSpPr/>
          <p:nvPr/>
        </p:nvGrpSpPr>
        <p:grpSpPr>
          <a:xfrm>
            <a:off x="5731542" y="2253423"/>
            <a:ext cx="4019550" cy="4319837"/>
            <a:chOff x="5719728" y="3264999"/>
            <a:chExt cx="4019550" cy="4319837"/>
          </a:xfrm>
        </p:grpSpPr>
        <p:cxnSp>
          <p:nvCxnSpPr>
            <p:cNvPr id="165" name="Straight Connector 164"/>
            <p:cNvCxnSpPr/>
            <p:nvPr/>
          </p:nvCxnSpPr>
          <p:spPr bwMode="auto">
            <a:xfrm rot="5400000" flipV="1">
              <a:off x="7043118" y="4131774"/>
              <a:ext cx="1746250" cy="127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6" name="Straight Connector 165"/>
            <p:cNvCxnSpPr/>
            <p:nvPr/>
          </p:nvCxnSpPr>
          <p:spPr bwMode="auto">
            <a:xfrm rot="5400000">
              <a:off x="6836743" y="4642949"/>
              <a:ext cx="723900" cy="14478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Straight Connector 166"/>
            <p:cNvCxnSpPr/>
            <p:nvPr/>
          </p:nvCxnSpPr>
          <p:spPr bwMode="auto">
            <a:xfrm rot="5400000" flipV="1">
              <a:off x="8427418" y="4493724"/>
              <a:ext cx="679450" cy="17018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88" name="Group 187"/>
            <p:cNvGrpSpPr/>
            <p:nvPr/>
          </p:nvGrpSpPr>
          <p:grpSpPr>
            <a:xfrm>
              <a:off x="5719728" y="5009132"/>
              <a:ext cx="4019550" cy="2575704"/>
              <a:chOff x="5719728" y="5009132"/>
              <a:chExt cx="4019550" cy="2575704"/>
            </a:xfrm>
          </p:grpSpPr>
          <p:sp>
            <p:nvSpPr>
              <p:cNvPr id="184" name="Content Placeholder 2"/>
              <p:cNvSpPr txBox="1">
                <a:spLocks/>
              </p:cNvSpPr>
              <p:nvPr/>
            </p:nvSpPr>
            <p:spPr bwMode="auto">
              <a:xfrm>
                <a:off x="5719728" y="6100021"/>
                <a:ext cx="4019550" cy="148481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0487" tIns="44450" rIns="90487" bIns="44450" numCol="1" anchor="t" anchorCtr="0" compatLnSpc="1">
                <a:prstTxWarp prst="textNoShape">
                  <a:avLst/>
                </a:prstTxWarp>
              </a:bodyPr>
              <a:lstStyle>
                <a:lvl1pPr marL="34290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400" b="1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–"/>
                  <a:defRPr sz="2200" b="1">
                    <a:solidFill>
                      <a:srgbClr val="000000"/>
                    </a:solidFill>
                    <a:latin typeface="+mn-lt"/>
                  </a:defRPr>
                </a:lvl2pPr>
                <a:lvl3pPr marL="108585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rgbClr val="000000"/>
                    </a:solidFill>
                    <a:latin typeface="+mn-lt"/>
                  </a:defRPr>
                </a:lvl3pPr>
                <a:lvl4pPr marL="154305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–"/>
                  <a:defRPr b="1">
                    <a:solidFill>
                      <a:srgbClr val="000000"/>
                    </a:solidFill>
                    <a:latin typeface="+mn-lt"/>
                  </a:defRPr>
                </a:lvl4pPr>
                <a:lvl5pPr marL="1943100" indent="-1143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b="1">
                    <a:solidFill>
                      <a:srgbClr val="000000"/>
                    </a:solidFill>
                    <a:latin typeface="+mn-lt"/>
                  </a:defRPr>
                </a:lvl5pPr>
                <a:lvl6pPr marL="2400300" indent="-1143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b="1">
                    <a:solidFill>
                      <a:srgbClr val="000000"/>
                    </a:solidFill>
                    <a:latin typeface="+mn-lt"/>
                  </a:defRPr>
                </a:lvl6pPr>
                <a:lvl7pPr marL="2857500" indent="-1143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b="1">
                    <a:solidFill>
                      <a:srgbClr val="000000"/>
                    </a:solidFill>
                    <a:latin typeface="+mn-lt"/>
                  </a:defRPr>
                </a:lvl7pPr>
                <a:lvl8pPr marL="3314700" indent="-1143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b="1">
                    <a:solidFill>
                      <a:srgbClr val="000000"/>
                    </a:solidFill>
                    <a:latin typeface="+mn-lt"/>
                  </a:defRPr>
                </a:lvl8pPr>
                <a:lvl9pPr marL="3771900" indent="-1143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b="1">
                    <a:solidFill>
                      <a:srgbClr val="000000"/>
                    </a:solidFill>
                    <a:latin typeface="+mn-lt"/>
                  </a:defRPr>
                </a:lvl9pPr>
              </a:lstStyle>
              <a:p>
                <a:pPr marL="457200" lvl="1" indent="0">
                  <a:buNone/>
                </a:pPr>
                <a:r>
                  <a:rPr lang="en-US" sz="1600" dirty="0" smtClean="0"/>
                  <a:t>   E(n) throws proof idea</a:t>
                </a:r>
              </a:p>
              <a:p>
                <a:pPr lvl="2"/>
                <a:r>
                  <a:rPr lang="en-US" sz="1400" dirty="0" smtClean="0"/>
                  <a:t>Hit/miss ratio = </a:t>
                </a:r>
                <a:br>
                  <a:rPr lang="en-US" sz="1400" dirty="0" smtClean="0"/>
                </a:br>
                <a:r>
                  <a:rPr lang="en-US" sz="1400" dirty="0" smtClean="0"/>
                  <a:t>Voronoi cell area ratio &gt;  constant.</a:t>
                </a:r>
              </a:p>
              <a:p>
                <a:pPr marL="457200" lvl="1" indent="0">
                  <a:buNone/>
                </a:pPr>
                <a:r>
                  <a:rPr lang="en-US" sz="1600" dirty="0"/>
                  <a:t> </a:t>
                </a:r>
                <a:r>
                  <a:rPr lang="en-US" sz="1600" dirty="0" smtClean="0"/>
                  <a:t>  In practice, use flat implicit    </a:t>
                </a:r>
              </a:p>
              <a:p>
                <a:pPr marL="457200" lvl="1" indent="0">
                  <a:spcBef>
                    <a:spcPts val="0"/>
                  </a:spcBef>
                  <a:buNone/>
                </a:pPr>
                <a:r>
                  <a:rPr lang="en-US" sz="1600" dirty="0"/>
                  <a:t> </a:t>
                </a:r>
                <a:r>
                  <a:rPr lang="en-US" sz="1600" dirty="0" smtClean="0"/>
                  <a:t>  </a:t>
                </a:r>
                <a:r>
                  <a:rPr lang="en-US" sz="1600" dirty="0" err="1" smtClean="0"/>
                  <a:t>octree</a:t>
                </a:r>
                <a:r>
                  <a:rPr lang="en-US" sz="1600" dirty="0" smtClean="0"/>
                  <a:t> in d&gt;2</a:t>
                </a:r>
              </a:p>
            </p:txBody>
          </p:sp>
          <p:grpSp>
            <p:nvGrpSpPr>
              <p:cNvPr id="187" name="Group 186"/>
              <p:cNvGrpSpPr/>
              <p:nvPr/>
            </p:nvGrpSpPr>
            <p:grpSpPr>
              <a:xfrm>
                <a:off x="7270661" y="5009132"/>
                <a:ext cx="1600200" cy="1156153"/>
                <a:chOff x="7270661" y="5009132"/>
                <a:chExt cx="1600200" cy="1156153"/>
              </a:xfrm>
            </p:grpSpPr>
            <p:grpSp>
              <p:nvGrpSpPr>
                <p:cNvPr id="186" name="Group 185"/>
                <p:cNvGrpSpPr/>
                <p:nvPr/>
              </p:nvGrpSpPr>
              <p:grpSpPr>
                <a:xfrm>
                  <a:off x="7270661" y="5009132"/>
                  <a:ext cx="1600200" cy="1156153"/>
                  <a:chOff x="7270661" y="5009132"/>
                  <a:chExt cx="1600200" cy="1156153"/>
                </a:xfrm>
              </p:grpSpPr>
              <p:sp>
                <p:nvSpPr>
                  <p:cNvPr id="170" name="Freeform 169"/>
                  <p:cNvSpPr/>
                  <p:nvPr/>
                </p:nvSpPr>
                <p:spPr>
                  <a:xfrm rot="5400000">
                    <a:off x="7820994" y="4458799"/>
                    <a:ext cx="499533" cy="1600200"/>
                  </a:xfrm>
                  <a:custGeom>
                    <a:avLst/>
                    <a:gdLst>
                      <a:gd name="connsiteX0" fmla="*/ 499533 w 499533"/>
                      <a:gd name="connsiteY0" fmla="*/ 1600200 h 1600200"/>
                      <a:gd name="connsiteX1" fmla="*/ 469900 w 499533"/>
                      <a:gd name="connsiteY1" fmla="*/ 1532467 h 1600200"/>
                      <a:gd name="connsiteX2" fmla="*/ 448733 w 499533"/>
                      <a:gd name="connsiteY2" fmla="*/ 1477433 h 1600200"/>
                      <a:gd name="connsiteX3" fmla="*/ 427566 w 499533"/>
                      <a:gd name="connsiteY3" fmla="*/ 1397000 h 1600200"/>
                      <a:gd name="connsiteX4" fmla="*/ 402166 w 499533"/>
                      <a:gd name="connsiteY4" fmla="*/ 1299633 h 1600200"/>
                      <a:gd name="connsiteX5" fmla="*/ 385233 w 499533"/>
                      <a:gd name="connsiteY5" fmla="*/ 1227667 h 1600200"/>
                      <a:gd name="connsiteX6" fmla="*/ 372533 w 499533"/>
                      <a:gd name="connsiteY6" fmla="*/ 1164167 h 1600200"/>
                      <a:gd name="connsiteX7" fmla="*/ 364066 w 499533"/>
                      <a:gd name="connsiteY7" fmla="*/ 1117600 h 1600200"/>
                      <a:gd name="connsiteX8" fmla="*/ 355600 w 499533"/>
                      <a:gd name="connsiteY8" fmla="*/ 1058333 h 1600200"/>
                      <a:gd name="connsiteX9" fmla="*/ 351366 w 499533"/>
                      <a:gd name="connsiteY9" fmla="*/ 1007533 h 1600200"/>
                      <a:gd name="connsiteX10" fmla="*/ 342900 w 499533"/>
                      <a:gd name="connsiteY10" fmla="*/ 965200 h 1600200"/>
                      <a:gd name="connsiteX11" fmla="*/ 338666 w 499533"/>
                      <a:gd name="connsiteY11" fmla="*/ 910167 h 1600200"/>
                      <a:gd name="connsiteX12" fmla="*/ 334433 w 499533"/>
                      <a:gd name="connsiteY12" fmla="*/ 859367 h 1600200"/>
                      <a:gd name="connsiteX13" fmla="*/ 338666 w 499533"/>
                      <a:gd name="connsiteY13" fmla="*/ 812800 h 1600200"/>
                      <a:gd name="connsiteX14" fmla="*/ 338666 w 499533"/>
                      <a:gd name="connsiteY14" fmla="*/ 762000 h 1600200"/>
                      <a:gd name="connsiteX15" fmla="*/ 338666 w 499533"/>
                      <a:gd name="connsiteY15" fmla="*/ 690033 h 1600200"/>
                      <a:gd name="connsiteX16" fmla="*/ 342900 w 499533"/>
                      <a:gd name="connsiteY16" fmla="*/ 618067 h 1600200"/>
                      <a:gd name="connsiteX17" fmla="*/ 347133 w 499533"/>
                      <a:gd name="connsiteY17" fmla="*/ 546100 h 1600200"/>
                      <a:gd name="connsiteX18" fmla="*/ 355600 w 499533"/>
                      <a:gd name="connsiteY18" fmla="*/ 469900 h 1600200"/>
                      <a:gd name="connsiteX19" fmla="*/ 368300 w 499533"/>
                      <a:gd name="connsiteY19" fmla="*/ 393700 h 1600200"/>
                      <a:gd name="connsiteX20" fmla="*/ 381000 w 499533"/>
                      <a:gd name="connsiteY20" fmla="*/ 334433 h 1600200"/>
                      <a:gd name="connsiteX21" fmla="*/ 393700 w 499533"/>
                      <a:gd name="connsiteY21" fmla="*/ 266700 h 1600200"/>
                      <a:gd name="connsiteX22" fmla="*/ 406400 w 499533"/>
                      <a:gd name="connsiteY22" fmla="*/ 207433 h 1600200"/>
                      <a:gd name="connsiteX23" fmla="*/ 419100 w 499533"/>
                      <a:gd name="connsiteY23" fmla="*/ 165100 h 1600200"/>
                      <a:gd name="connsiteX24" fmla="*/ 436033 w 499533"/>
                      <a:gd name="connsiteY24" fmla="*/ 101600 h 1600200"/>
                      <a:gd name="connsiteX25" fmla="*/ 448733 w 499533"/>
                      <a:gd name="connsiteY25" fmla="*/ 63500 h 1600200"/>
                      <a:gd name="connsiteX26" fmla="*/ 469900 w 499533"/>
                      <a:gd name="connsiteY26" fmla="*/ 4233 h 1600200"/>
                      <a:gd name="connsiteX27" fmla="*/ 381000 w 499533"/>
                      <a:gd name="connsiteY27" fmla="*/ 0 h 1600200"/>
                      <a:gd name="connsiteX28" fmla="*/ 0 w 499533"/>
                      <a:gd name="connsiteY28" fmla="*/ 948267 h 1600200"/>
                      <a:gd name="connsiteX29" fmla="*/ 325966 w 499533"/>
                      <a:gd name="connsiteY29" fmla="*/ 1600200 h 1600200"/>
                      <a:gd name="connsiteX30" fmla="*/ 499533 w 499533"/>
                      <a:gd name="connsiteY30" fmla="*/ 1600200 h 1600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499533" h="1600200">
                        <a:moveTo>
                          <a:pt x="499533" y="1600200"/>
                        </a:moveTo>
                        <a:lnTo>
                          <a:pt x="469900" y="1532467"/>
                        </a:lnTo>
                        <a:lnTo>
                          <a:pt x="448733" y="1477433"/>
                        </a:lnTo>
                        <a:lnTo>
                          <a:pt x="427566" y="1397000"/>
                        </a:lnTo>
                        <a:lnTo>
                          <a:pt x="402166" y="1299633"/>
                        </a:lnTo>
                        <a:lnTo>
                          <a:pt x="385233" y="1227667"/>
                        </a:lnTo>
                        <a:lnTo>
                          <a:pt x="372533" y="1164167"/>
                        </a:lnTo>
                        <a:lnTo>
                          <a:pt x="364066" y="1117600"/>
                        </a:lnTo>
                        <a:lnTo>
                          <a:pt x="355600" y="1058333"/>
                        </a:lnTo>
                        <a:lnTo>
                          <a:pt x="351366" y="1007533"/>
                        </a:lnTo>
                        <a:lnTo>
                          <a:pt x="342900" y="965200"/>
                        </a:lnTo>
                        <a:lnTo>
                          <a:pt x="338666" y="910167"/>
                        </a:lnTo>
                        <a:lnTo>
                          <a:pt x="334433" y="859367"/>
                        </a:lnTo>
                        <a:lnTo>
                          <a:pt x="338666" y="812800"/>
                        </a:lnTo>
                        <a:lnTo>
                          <a:pt x="338666" y="762000"/>
                        </a:lnTo>
                        <a:lnTo>
                          <a:pt x="338666" y="690033"/>
                        </a:lnTo>
                        <a:lnTo>
                          <a:pt x="342900" y="618067"/>
                        </a:lnTo>
                        <a:lnTo>
                          <a:pt x="347133" y="546100"/>
                        </a:lnTo>
                        <a:lnTo>
                          <a:pt x="355600" y="469900"/>
                        </a:lnTo>
                        <a:lnTo>
                          <a:pt x="368300" y="393700"/>
                        </a:lnTo>
                        <a:lnTo>
                          <a:pt x="381000" y="334433"/>
                        </a:lnTo>
                        <a:lnTo>
                          <a:pt x="393700" y="266700"/>
                        </a:lnTo>
                        <a:lnTo>
                          <a:pt x="406400" y="207433"/>
                        </a:lnTo>
                        <a:lnTo>
                          <a:pt x="419100" y="165100"/>
                        </a:lnTo>
                        <a:lnTo>
                          <a:pt x="436033" y="101600"/>
                        </a:lnTo>
                        <a:lnTo>
                          <a:pt x="448733" y="63500"/>
                        </a:lnTo>
                        <a:lnTo>
                          <a:pt x="469900" y="4233"/>
                        </a:lnTo>
                        <a:lnTo>
                          <a:pt x="381000" y="0"/>
                        </a:lnTo>
                        <a:lnTo>
                          <a:pt x="0" y="948267"/>
                        </a:lnTo>
                        <a:lnTo>
                          <a:pt x="325966" y="1600200"/>
                        </a:lnTo>
                        <a:lnTo>
                          <a:pt x="499533" y="1600200"/>
                        </a:lnTo>
                        <a:close/>
                      </a:path>
                    </a:pathLst>
                  </a:custGeom>
                  <a:solidFill>
                    <a:srgbClr val="FFFF00"/>
                  </a:solidFill>
                  <a:ln>
                    <a:solidFill>
                      <a:srgbClr val="FF0000"/>
                    </a:solidFill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cxnSp>
                <p:nvCxnSpPr>
                  <p:cNvPr id="171" name="Straight Arrow Connector 170"/>
                  <p:cNvCxnSpPr/>
                  <p:nvPr/>
                </p:nvCxnSpPr>
                <p:spPr bwMode="auto">
                  <a:xfrm rot="5400000" flipH="1">
                    <a:off x="8163635" y="5537670"/>
                    <a:ext cx="438150" cy="259834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arrow"/>
                  </a:ln>
                  <a:effectLst/>
                </p:spPr>
              </p:cxnSp>
              <p:sp>
                <p:nvSpPr>
                  <p:cNvPr id="172" name="Oval 171"/>
                  <p:cNvSpPr/>
                  <p:nvPr/>
                </p:nvSpPr>
                <p:spPr>
                  <a:xfrm rot="5400000">
                    <a:off x="8153310" y="5373199"/>
                    <a:ext cx="76200" cy="76200"/>
                  </a:xfrm>
                  <a:prstGeom prst="ellipse">
                    <a:avLst/>
                  </a:prstGeom>
                  <a:solidFill>
                    <a:schemeClr val="tx2">
                      <a:alpha val="80000"/>
                    </a:schemeClr>
                  </a:solidFill>
                  <a:ln>
                    <a:solidFill>
                      <a:schemeClr val="tx2"/>
                    </a:solidFill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181" name="TextBox 180"/>
                  <p:cNvSpPr txBox="1"/>
                  <p:nvPr/>
                </p:nvSpPr>
                <p:spPr>
                  <a:xfrm>
                    <a:off x="7593367" y="5826731"/>
                    <a:ext cx="401272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dirty="0" smtClean="0"/>
                      <a:t>hit</a:t>
                    </a:r>
                  </a:p>
                </p:txBody>
              </p:sp>
              <p:sp>
                <p:nvSpPr>
                  <p:cNvPr id="182" name="TextBox 181"/>
                  <p:cNvSpPr txBox="1"/>
                  <p:nvPr/>
                </p:nvSpPr>
                <p:spPr>
                  <a:xfrm>
                    <a:off x="8236891" y="5810128"/>
                    <a:ext cx="560971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dirty="0" smtClean="0"/>
                      <a:t>miss</a:t>
                    </a:r>
                  </a:p>
                </p:txBody>
              </p:sp>
              <p:sp>
                <p:nvSpPr>
                  <p:cNvPr id="185" name="Oval 184"/>
                  <p:cNvSpPr/>
                  <p:nvPr/>
                </p:nvSpPr>
                <p:spPr>
                  <a:xfrm rot="5400000">
                    <a:off x="7911858" y="5067461"/>
                    <a:ext cx="76200" cy="76200"/>
                  </a:xfrm>
                  <a:prstGeom prst="ellipse">
                    <a:avLst/>
                  </a:prstGeom>
                  <a:solidFill>
                    <a:schemeClr val="tx2">
                      <a:alpha val="80000"/>
                    </a:schemeClr>
                  </a:solidFill>
                  <a:ln>
                    <a:solidFill>
                      <a:schemeClr val="tx2"/>
                    </a:solidFill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</p:grpSp>
            <p:cxnSp>
              <p:nvCxnSpPr>
                <p:cNvPr id="176" name="Straight Arrow Connector 175"/>
                <p:cNvCxnSpPr/>
                <p:nvPr/>
              </p:nvCxnSpPr>
              <p:spPr bwMode="auto">
                <a:xfrm rot="5400000" flipH="1" flipV="1">
                  <a:off x="7538160" y="5439616"/>
                  <a:ext cx="673100" cy="121166"/>
                </a:xfrm>
                <a:prstGeom prst="straightConnector1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</p:spPr>
            </p:cxnSp>
          </p:grpSp>
        </p:grpSp>
      </p:grpSp>
      <p:grpSp>
        <p:nvGrpSpPr>
          <p:cNvPr id="193" name="Group 192"/>
          <p:cNvGrpSpPr/>
          <p:nvPr/>
        </p:nvGrpSpPr>
        <p:grpSpPr>
          <a:xfrm>
            <a:off x="2544828" y="2462973"/>
            <a:ext cx="6723079" cy="2286000"/>
            <a:chOff x="2533014" y="3474549"/>
            <a:chExt cx="6723079" cy="2286000"/>
          </a:xfrm>
        </p:grpSpPr>
        <p:grpSp>
          <p:nvGrpSpPr>
            <p:cNvPr id="191" name="Group 190"/>
            <p:cNvGrpSpPr/>
            <p:nvPr/>
          </p:nvGrpSpPr>
          <p:grpSpPr>
            <a:xfrm>
              <a:off x="2533014" y="3474549"/>
              <a:ext cx="6723079" cy="2286000"/>
              <a:chOff x="2533014" y="3474549"/>
              <a:chExt cx="6723079" cy="2286000"/>
            </a:xfrm>
          </p:grpSpPr>
          <p:sp>
            <p:nvSpPr>
              <p:cNvPr id="179" name="Content Placeholder 2"/>
              <p:cNvSpPr txBox="1">
                <a:spLocks/>
              </p:cNvSpPr>
              <p:nvPr/>
            </p:nvSpPr>
            <p:spPr bwMode="auto">
              <a:xfrm>
                <a:off x="2533014" y="3627695"/>
                <a:ext cx="4250887" cy="15086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0487" tIns="44450" rIns="90487" bIns="44450" numCol="1" anchor="t" anchorCtr="0" compatLnSpc="1">
                <a:prstTxWarp prst="textNoShape">
                  <a:avLst/>
                </a:prstTxWarp>
              </a:bodyPr>
              <a:lstStyle>
                <a:lvl1pPr marL="34290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400" b="1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–"/>
                  <a:defRPr sz="2200" b="1">
                    <a:solidFill>
                      <a:srgbClr val="000000"/>
                    </a:solidFill>
                    <a:latin typeface="+mn-lt"/>
                  </a:defRPr>
                </a:lvl2pPr>
                <a:lvl3pPr marL="108585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 b="1">
                    <a:solidFill>
                      <a:srgbClr val="000000"/>
                    </a:solidFill>
                    <a:latin typeface="+mn-lt"/>
                  </a:defRPr>
                </a:lvl3pPr>
                <a:lvl4pPr marL="154305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–"/>
                  <a:defRPr b="1">
                    <a:solidFill>
                      <a:srgbClr val="000000"/>
                    </a:solidFill>
                    <a:latin typeface="+mn-lt"/>
                  </a:defRPr>
                </a:lvl4pPr>
                <a:lvl5pPr marL="1943100" indent="-1143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b="1">
                    <a:solidFill>
                      <a:srgbClr val="000000"/>
                    </a:solidFill>
                    <a:latin typeface="+mn-lt"/>
                  </a:defRPr>
                </a:lvl5pPr>
                <a:lvl6pPr marL="2400300" indent="-1143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b="1">
                    <a:solidFill>
                      <a:srgbClr val="000000"/>
                    </a:solidFill>
                    <a:latin typeface="+mn-lt"/>
                  </a:defRPr>
                </a:lvl6pPr>
                <a:lvl7pPr marL="2857500" indent="-1143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b="1">
                    <a:solidFill>
                      <a:srgbClr val="000000"/>
                    </a:solidFill>
                    <a:latin typeface="+mn-lt"/>
                  </a:defRPr>
                </a:lvl7pPr>
                <a:lvl8pPr marL="3314700" indent="-1143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b="1">
                    <a:solidFill>
                      <a:srgbClr val="000000"/>
                    </a:solidFill>
                    <a:latin typeface="+mn-lt"/>
                  </a:defRPr>
                </a:lvl8pPr>
                <a:lvl9pPr marL="3771900" indent="-1143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b="1">
                    <a:solidFill>
                      <a:srgbClr val="000000"/>
                    </a:solidFill>
                    <a:latin typeface="+mn-lt"/>
                  </a:defRPr>
                </a:lvl9pPr>
              </a:lstStyle>
              <a:p>
                <a:pPr lvl="1"/>
                <a:r>
                  <a:rPr lang="en-US" sz="1800" dirty="0" smtClean="0"/>
                  <a:t>Phase II</a:t>
                </a:r>
                <a:br>
                  <a:rPr lang="en-US" sz="1800" dirty="0" smtClean="0"/>
                </a:br>
                <a:r>
                  <a:rPr lang="en-US" sz="1600" dirty="0" smtClean="0"/>
                  <a:t>Throw darts in polygons    slivers</a:t>
                </a:r>
              </a:p>
              <a:p>
                <a:pPr lvl="2"/>
                <a:r>
                  <a:rPr lang="en-US" sz="1600" dirty="0"/>
                  <a:t>Pick sliver weighted by area</a:t>
                </a:r>
              </a:p>
              <a:p>
                <a:pPr lvl="2"/>
                <a:r>
                  <a:rPr lang="en-US" sz="1600" dirty="0" smtClean="0"/>
                  <a:t>Pick point in sliver uniformly</a:t>
                </a:r>
              </a:p>
            </p:txBody>
          </p:sp>
          <p:pic>
            <p:nvPicPr>
              <p:cNvPr id="163" name="Picture 162" descr="polygon.pdf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6900243" y="3404699"/>
                <a:ext cx="2286000" cy="2425700"/>
              </a:xfrm>
              <a:prstGeom prst="rect">
                <a:avLst/>
              </a:prstGeom>
            </p:spPr>
          </p:pic>
          <p:cxnSp>
            <p:nvCxnSpPr>
              <p:cNvPr id="173" name="Straight Connector 172"/>
              <p:cNvCxnSpPr>
                <a:stCxn id="170" idx="0"/>
              </p:cNvCxnSpPr>
              <p:nvPr/>
            </p:nvCxnSpPr>
            <p:spPr bwMode="auto">
              <a:xfrm rot="5400000" flipH="1">
                <a:off x="7081391" y="4296006"/>
                <a:ext cx="40216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4" name="Straight Connector 173"/>
              <p:cNvCxnSpPr>
                <a:stCxn id="170" idx="26"/>
              </p:cNvCxnSpPr>
              <p:nvPr/>
            </p:nvCxnSpPr>
            <p:spPr bwMode="auto">
              <a:xfrm rot="5400000" flipH="1" flipV="1">
                <a:off x="8783191" y="4367973"/>
                <a:ext cx="194734" cy="423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aphicFrame>
          <p:nvGraphicFramePr>
            <p:cNvPr id="192" name="Object 19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1027172"/>
                </p:ext>
              </p:extLst>
            </p:nvPr>
          </p:nvGraphicFramePr>
          <p:xfrm>
            <a:off x="5682724" y="3968535"/>
            <a:ext cx="211336" cy="211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5" name="Equation" r:id="rId5" imgW="152400" imgH="152400" progId="Equation.3">
                    <p:embed/>
                  </p:oleObj>
                </mc:Choice>
                <mc:Fallback>
                  <p:oleObj name="Equation" r:id="rId5" imgW="152400" imgH="15240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682724" y="3968535"/>
                          <a:ext cx="211336" cy="21133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89" name="Picture 188" descr="ratio_of_invalid_polys_per_stage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6" y="4267200"/>
            <a:ext cx="629285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5" name="Picture 17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4300" y="1312315"/>
            <a:ext cx="3822700" cy="8981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43500" y="1473200"/>
            <a:ext cx="1577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</a:t>
            </a:r>
            <a:r>
              <a:rPr lang="en-US" sz="1200" dirty="0" smtClean="0"/>
              <a:t>ithout selecting from </a:t>
            </a:r>
          </a:p>
          <a:p>
            <a:r>
              <a:rPr lang="en-US" sz="1200" dirty="0" smtClean="0"/>
              <a:t>entire domain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6299684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707" y="95272"/>
            <a:ext cx="3615497" cy="1014412"/>
          </a:xfrm>
        </p:spPr>
        <p:txBody>
          <a:bodyPr/>
          <a:lstStyle/>
          <a:p>
            <a:r>
              <a:rPr lang="en-US" dirty="0" smtClean="0"/>
              <a:t>Also Triangular Meshes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" y="1168400"/>
            <a:ext cx="7772400" cy="1575399"/>
          </a:xfrm>
        </p:spPr>
        <p:txBody>
          <a:bodyPr/>
          <a:lstStyle/>
          <a:p>
            <a:r>
              <a:rPr lang="en-US" sz="1400" dirty="0" smtClean="0">
                <a:solidFill>
                  <a:srgbClr val="FF0000"/>
                </a:solidFill>
              </a:rPr>
              <a:t>Reverse cause-effect</a:t>
            </a:r>
          </a:p>
          <a:p>
            <a:pPr lvl="1"/>
            <a:r>
              <a:rPr lang="en-US" sz="1400" dirty="0" smtClean="0"/>
              <a:t>Delaunay Refinement: </a:t>
            </a:r>
            <a:br>
              <a:rPr lang="en-US" sz="1400" dirty="0" smtClean="0"/>
            </a:br>
            <a:r>
              <a:rPr lang="en-US" sz="1400" dirty="0" smtClean="0"/>
              <a:t>Insert </a:t>
            </a:r>
            <a:r>
              <a:rPr lang="en-US" sz="1400" dirty="0" smtClean="0">
                <a:solidFill>
                  <a:srgbClr val="0000FF"/>
                </a:solidFill>
              </a:rPr>
              <a:t>circle-centers </a:t>
            </a:r>
            <a:r>
              <a:rPr lang="en-US" sz="1400" dirty="0" smtClean="0"/>
              <a:t>to kill large Delaunay circles</a:t>
            </a:r>
          </a:p>
          <a:p>
            <a:pPr lvl="2"/>
            <a:r>
              <a:rPr lang="en-US" sz="1200" dirty="0" smtClean="0"/>
              <a:t>Maximal sample results</a:t>
            </a:r>
          </a:p>
          <a:p>
            <a:pPr lvl="1"/>
            <a:r>
              <a:rPr lang="en-US" sz="1400" dirty="0" smtClean="0"/>
              <a:t>MPS: Insert points </a:t>
            </a:r>
            <a:r>
              <a:rPr lang="en-US" sz="1400" dirty="0" smtClean="0">
                <a:solidFill>
                  <a:schemeClr val="tx2"/>
                </a:solidFill>
              </a:rPr>
              <a:t>randomly</a:t>
            </a:r>
            <a:r>
              <a:rPr lang="en-US" sz="1400" dirty="0" smtClean="0"/>
              <a:t> to maximally sample</a:t>
            </a:r>
          </a:p>
          <a:p>
            <a:pPr lvl="2"/>
            <a:r>
              <a:rPr lang="en-US" sz="1200" dirty="0" smtClean="0"/>
              <a:t>Small Delaunay circles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1343" y="0"/>
            <a:ext cx="48467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“Efficient </a:t>
            </a:r>
            <a:r>
              <a:rPr lang="en-US" sz="1200" dirty="0"/>
              <a:t>and good Delaunay meshes from random points</a:t>
            </a:r>
            <a:r>
              <a:rPr lang="en-US" sz="1200" dirty="0" smtClean="0"/>
              <a:t>.”</a:t>
            </a:r>
            <a:endParaRPr lang="en-US" sz="1200" dirty="0"/>
          </a:p>
          <a:p>
            <a:r>
              <a:rPr lang="en-US" sz="1200" dirty="0" smtClean="0"/>
              <a:t>Mohamed </a:t>
            </a:r>
            <a:r>
              <a:rPr lang="en-US" sz="1200" dirty="0"/>
              <a:t>S. Ebeida, Scott A. Mitchell, Andrew A. Davidson, Anjul Patney,</a:t>
            </a:r>
          </a:p>
          <a:p>
            <a:r>
              <a:rPr lang="en-US" sz="1200" dirty="0"/>
              <a:t>Patrick M. Knupp, and John D. Owens. </a:t>
            </a:r>
            <a:endParaRPr lang="en-US" sz="1200" dirty="0" smtClean="0"/>
          </a:p>
          <a:p>
            <a:r>
              <a:rPr lang="en-US" sz="1200" dirty="0" smtClean="0"/>
              <a:t>Computer</a:t>
            </a:r>
            <a:r>
              <a:rPr lang="en-US" sz="1200" dirty="0"/>
              <a:t>-Aided Design, 2011. Proc. 2011 SIAM </a:t>
            </a:r>
            <a:r>
              <a:rPr lang="en-US" sz="1200" dirty="0" smtClean="0"/>
              <a:t>Conference </a:t>
            </a:r>
            <a:r>
              <a:rPr lang="en-US" sz="1200" dirty="0"/>
              <a:t>on </a:t>
            </a:r>
            <a:endParaRPr lang="en-US" sz="1200" dirty="0" smtClean="0"/>
          </a:p>
          <a:p>
            <a:r>
              <a:rPr lang="en-US" sz="1200" dirty="0" smtClean="0"/>
              <a:t>Geometric </a:t>
            </a:r>
            <a:r>
              <a:rPr lang="en-US" sz="1200" dirty="0"/>
              <a:t>and Physical Modeling (GD/SPM11).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89859" y="1217245"/>
            <a:ext cx="9012206" cy="5082275"/>
            <a:chOff x="89859" y="1217245"/>
            <a:chExt cx="9012206" cy="5082275"/>
          </a:xfrm>
        </p:grpSpPr>
        <p:pic>
          <p:nvPicPr>
            <p:cNvPr id="6" name="Picture 5" descr="interior-disk-proof-B.pdf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3138" y="4280220"/>
              <a:ext cx="2463800" cy="2019300"/>
            </a:xfrm>
            <a:prstGeom prst="rect">
              <a:avLst/>
            </a:prstGeom>
          </p:spPr>
        </p:pic>
        <p:pic>
          <p:nvPicPr>
            <p:cNvPr id="7" name="Picture 6" descr="edge-angle-lines.pdf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9402"/>
            <a:stretch/>
          </p:blipFill>
          <p:spPr>
            <a:xfrm>
              <a:off x="5718785" y="1217245"/>
              <a:ext cx="3383280" cy="1906121"/>
            </a:xfrm>
            <a:prstGeom prst="rect">
              <a:avLst/>
            </a:prstGeom>
          </p:spPr>
        </p:pic>
        <p:pic>
          <p:nvPicPr>
            <p:cNvPr id="8" name="Picture 7" descr="final_cdt_seismic.pdf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300" y="3163759"/>
              <a:ext cx="6007100" cy="3035300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6856242" y="3737440"/>
              <a:ext cx="1814319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Cover the boundary </a:t>
              </a:r>
              <a:br>
                <a:rPr lang="en-US" sz="1600" dirty="0"/>
              </a:br>
              <a:r>
                <a:rPr lang="en-US" sz="1600" dirty="0"/>
                <a:t>with random disks</a:t>
              </a:r>
            </a:p>
          </p:txBody>
        </p:sp>
        <p:sp>
          <p:nvSpPr>
            <p:cNvPr id="9" name="Content Placeholder 2"/>
            <p:cNvSpPr txBox="1">
              <a:spLocks/>
            </p:cNvSpPr>
            <p:nvPr/>
          </p:nvSpPr>
          <p:spPr bwMode="auto">
            <a:xfrm>
              <a:off x="89859" y="2570065"/>
              <a:ext cx="7772400" cy="199940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90487" tIns="44450" rIns="90487" bIns="44450" numCol="1" anchor="t" anchorCtr="0" compatLnSpc="1">
              <a:prstTxWarp prst="textNoShape">
                <a:avLst/>
              </a:prstTxWarp>
            </a:bodyPr>
            <a:lstStyle>
              <a:lvl1pPr marL="34290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400" b="1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–"/>
                <a:defRPr sz="2200" b="1">
                  <a:solidFill>
                    <a:srgbClr val="000000"/>
                  </a:solidFill>
                  <a:latin typeface="+mn-lt"/>
                </a:defRPr>
              </a:lvl2pPr>
              <a:lvl3pPr marL="108585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rgbClr val="000000"/>
                  </a:solidFill>
                  <a:latin typeface="+mn-lt"/>
                </a:defRPr>
              </a:lvl3pPr>
              <a:lvl4pPr marL="154305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rgbClr val="000000"/>
                  </a:solidFill>
                  <a:latin typeface="+mn-lt"/>
                </a:defRPr>
              </a:lvl4pPr>
              <a:lvl5pPr marL="19431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5pPr>
              <a:lvl6pPr marL="24003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6pPr>
              <a:lvl7pPr marL="28575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7pPr>
              <a:lvl8pPr marL="33147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8pPr>
              <a:lvl9pPr marL="37719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9pPr>
            </a:lstStyle>
            <a:p>
              <a:pPr lvl="1"/>
              <a:r>
                <a:rPr lang="en-US" sz="1400" dirty="0" smtClean="0">
                  <a:solidFill>
                    <a:srgbClr val="FF0000"/>
                  </a:solidFill>
                </a:rPr>
                <a:t>Nearly identical angle bounds either way</a:t>
              </a:r>
            </a:p>
            <a:p>
              <a:pPr lvl="2"/>
              <a:r>
                <a:rPr lang="en-US" sz="1200" dirty="0" smtClean="0"/>
                <a:t>Delaunay circle-centers can be ignored!</a:t>
              </a:r>
            </a:p>
            <a:p>
              <a:endParaRPr lang="en-US" sz="1600" dirty="0" smtClean="0"/>
            </a:p>
            <a:p>
              <a:endParaRPr lang="en-US" sz="1600" dirty="0" smtClean="0"/>
            </a:p>
            <a:p>
              <a:endParaRPr lang="en-US" sz="1600" dirty="0" smtClean="0"/>
            </a:p>
            <a:p>
              <a:endParaRPr lang="en-US" sz="1600" dirty="0" smtClean="0"/>
            </a:p>
            <a:p>
              <a:endParaRPr lang="en-US" sz="1600" dirty="0" smtClean="0"/>
            </a:p>
            <a:p>
              <a:endParaRPr lang="en-US" sz="1600" dirty="0" smtClean="0"/>
            </a:p>
            <a:p>
              <a:endParaRPr lang="en-US" sz="1600" dirty="0" smtClean="0"/>
            </a:p>
            <a:p>
              <a:endParaRPr lang="en-US" sz="1600" dirty="0" smtClean="0"/>
            </a:p>
            <a:p>
              <a:endParaRPr lang="en-US" sz="1600" dirty="0" smtClean="0"/>
            </a:p>
            <a:p>
              <a:endParaRPr lang="en-US" sz="1600" dirty="0" smtClean="0"/>
            </a:p>
            <a:p>
              <a:endParaRPr lang="en-US" sz="1600" dirty="0" smtClean="0"/>
            </a:p>
            <a:p>
              <a:r>
                <a:rPr lang="en-US" sz="1400" dirty="0" smtClean="0"/>
                <a:t>Simple algorithm for covering the boundary randomly</a:t>
              </a:r>
            </a:p>
            <a:p>
              <a:pPr lvl="1"/>
              <a:r>
                <a:rPr lang="en-US" sz="1200" dirty="0" smtClean="0"/>
                <a:t>Complicated geometric proof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5354167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mps-serial-only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235" y="3150954"/>
            <a:ext cx="5268522" cy="3498865"/>
          </a:xfrm>
          <a:prstGeom prst="rect">
            <a:avLst/>
          </a:prstGeom>
        </p:spPr>
      </p:pic>
      <p:pic>
        <p:nvPicPr>
          <p:cNvPr id="4" name="Picture 7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58" y="3152740"/>
            <a:ext cx="5279462" cy="350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Straight Connector 14"/>
          <p:cNvCxnSpPr/>
          <p:nvPr/>
        </p:nvCxnSpPr>
        <p:spPr bwMode="auto">
          <a:xfrm flipV="1">
            <a:off x="1062981" y="5879632"/>
            <a:ext cx="4205446" cy="27557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 flipV="1">
            <a:off x="1098925" y="4981008"/>
            <a:ext cx="4073652" cy="116222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B48405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Content Placeholder 2"/>
          <p:cNvSpPr txBox="1">
            <a:spLocks/>
          </p:cNvSpPr>
          <p:nvPr/>
        </p:nvSpPr>
        <p:spPr bwMode="auto">
          <a:xfrm>
            <a:off x="682442" y="2425253"/>
            <a:ext cx="7772400" cy="8517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r>
              <a:rPr lang="en-US" sz="2000" dirty="0" smtClean="0">
                <a:solidFill>
                  <a:srgbClr val="FF0000"/>
                </a:solidFill>
              </a:rPr>
              <a:t>But once points are generated we’re as fast as Triangle, and our GPU code is 2x faster</a:t>
            </a:r>
          </a:p>
          <a:p>
            <a:pPr lvl="1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3150"/>
            <a:ext cx="7772400" cy="1014412"/>
          </a:xfrm>
        </p:spPr>
        <p:txBody>
          <a:bodyPr/>
          <a:lstStyle/>
          <a:p>
            <a:r>
              <a:rPr lang="en-US" dirty="0" smtClean="0"/>
              <a:t>“Efficient” for MPS, scales great,</a:t>
            </a:r>
            <a:br>
              <a:rPr lang="en-US" dirty="0" smtClean="0"/>
            </a:br>
            <a:r>
              <a:rPr lang="en-US" dirty="0" smtClean="0"/>
              <a:t>but how fast?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809" y="1170541"/>
            <a:ext cx="7772400" cy="1399524"/>
          </a:xfrm>
        </p:spPr>
        <p:txBody>
          <a:bodyPr/>
          <a:lstStyle/>
          <a:p>
            <a:r>
              <a:rPr lang="en-US" sz="1800" dirty="0" smtClean="0"/>
              <a:t>Delaunay refinement</a:t>
            </a:r>
          </a:p>
          <a:p>
            <a:pPr lvl="1"/>
            <a:r>
              <a:rPr lang="en-US" sz="1800" dirty="0" smtClean="0"/>
              <a:t>Points from deterministic process - </a:t>
            </a:r>
            <a:r>
              <a:rPr lang="en-US" sz="1800" dirty="0" smtClean="0">
                <a:solidFill>
                  <a:srgbClr val="FF0000"/>
                </a:solidFill>
              </a:rPr>
              <a:t>fast</a:t>
            </a:r>
          </a:p>
          <a:p>
            <a:r>
              <a:rPr lang="en-US" sz="1800" dirty="0" smtClean="0"/>
              <a:t>MPS</a:t>
            </a:r>
          </a:p>
          <a:p>
            <a:pPr lvl="1"/>
            <a:r>
              <a:rPr lang="en-US" sz="1800" dirty="0" smtClean="0"/>
              <a:t>Points from strict unbiased random process – </a:t>
            </a:r>
            <a:r>
              <a:rPr lang="en-US" sz="1800" dirty="0" smtClean="0">
                <a:solidFill>
                  <a:srgbClr val="FF0000"/>
                </a:solidFill>
              </a:rPr>
              <a:t>slow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7915" y="4750726"/>
            <a:ext cx="11509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B48405"/>
                </a:solidFill>
              </a:rPr>
              <a:t>MPS GPU (</a:t>
            </a:r>
            <a:r>
              <a:rPr lang="en-US" sz="1200" dirty="0" err="1" smtClean="0">
                <a:solidFill>
                  <a:srgbClr val="B48405"/>
                </a:solidFill>
              </a:rPr>
              <a:t>est</a:t>
            </a:r>
            <a:r>
              <a:rPr lang="en-US" sz="1200" dirty="0" smtClean="0">
                <a:solidFill>
                  <a:srgbClr val="B48405"/>
                </a:solidFill>
              </a:rPr>
              <a:t>)</a:t>
            </a:r>
            <a:endParaRPr lang="en-US" sz="1200" dirty="0">
              <a:solidFill>
                <a:srgbClr val="B48405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86399" y="5747832"/>
            <a:ext cx="2397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Triangle point generation (estimate)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50252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MPS good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8585200" cy="4572000"/>
          </a:xfrm>
        </p:spPr>
        <p:txBody>
          <a:bodyPr/>
          <a:lstStyle/>
          <a:p>
            <a:pPr marL="342900" lvl="1" indent="-171450">
              <a:buFontTx/>
              <a:buChar char="•"/>
            </a:pPr>
            <a:r>
              <a:rPr lang="en-US" dirty="0"/>
              <a:t>Fracture mechanics simulations</a:t>
            </a:r>
          </a:p>
          <a:p>
            <a:pPr marL="742950" lvl="2"/>
            <a:r>
              <a:rPr lang="en-US" dirty="0"/>
              <a:t>Fractures occur on </a:t>
            </a:r>
            <a:r>
              <a:rPr lang="en-US" dirty="0" err="1"/>
              <a:t>Voronoi</a:t>
            </a:r>
            <a:r>
              <a:rPr lang="en-US" dirty="0"/>
              <a:t> cell boundaries</a:t>
            </a:r>
          </a:p>
          <a:p>
            <a:pPr marL="1200150" lvl="3"/>
            <a:r>
              <a:rPr lang="en-US" dirty="0"/>
              <a:t>Mesh variation     material strength </a:t>
            </a:r>
            <a:r>
              <a:rPr lang="en-US" dirty="0" smtClean="0"/>
              <a:t>variation</a:t>
            </a:r>
          </a:p>
          <a:p>
            <a:pPr marL="1600200" lvl="4"/>
            <a:r>
              <a:rPr lang="en-US" dirty="0"/>
              <a:t>Ensembles of </a:t>
            </a:r>
            <a:r>
              <a:rPr lang="en-US" dirty="0" smtClean="0"/>
              <a:t>simulations</a:t>
            </a:r>
            <a:endParaRPr lang="en-US" dirty="0"/>
          </a:p>
          <a:p>
            <a:pPr marL="1200150" lvl="3"/>
            <a:r>
              <a:rPr lang="en-US" dirty="0" smtClean="0">
                <a:solidFill>
                  <a:schemeClr val="tx2"/>
                </a:solidFill>
              </a:rPr>
              <a:t>Unbiased sampling gives realistic cracks</a:t>
            </a:r>
          </a:p>
          <a:p>
            <a:pPr marL="1600200" lvl="4"/>
            <a:r>
              <a:rPr lang="en-US" dirty="0">
                <a:solidFill>
                  <a:schemeClr val="tx2"/>
                </a:solidFill>
              </a:rPr>
              <a:t>Edge orientations are uniform </a:t>
            </a:r>
            <a:r>
              <a:rPr lang="en-US" dirty="0" smtClean="0">
                <a:solidFill>
                  <a:schemeClr val="tx2"/>
                </a:solidFill>
              </a:rPr>
              <a:t>random</a:t>
            </a:r>
          </a:p>
          <a:p>
            <a:pPr marL="742950" lvl="2"/>
            <a:r>
              <a:rPr lang="en-US" dirty="0" smtClean="0"/>
              <a:t>Domains</a:t>
            </a:r>
            <a:r>
              <a:rPr lang="en-US" dirty="0"/>
              <a:t>: non-</a:t>
            </a:r>
            <a:r>
              <a:rPr lang="en-US" dirty="0" smtClean="0"/>
              <a:t>convex, internal </a:t>
            </a:r>
            <a:r>
              <a:rPr lang="en-US" dirty="0"/>
              <a:t>boundaries</a:t>
            </a:r>
          </a:p>
        </p:txBody>
      </p:sp>
      <p:pic>
        <p:nvPicPr>
          <p:cNvPr id="88" name="Picture 8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5700" y="1799167"/>
            <a:ext cx="520700" cy="2768600"/>
          </a:xfrm>
          <a:prstGeom prst="rect">
            <a:avLst/>
          </a:prstGeom>
          <a:scene3d>
            <a:camera prst="orthographicFront">
              <a:rot lat="0" lon="0" rev="5400000"/>
            </a:camera>
            <a:lightRig rig="threePt" dir="t"/>
          </a:scene3d>
        </p:spPr>
      </p:pic>
      <p:pic>
        <p:nvPicPr>
          <p:cNvPr id="91" name="Picture 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472" y="3683003"/>
            <a:ext cx="1511300" cy="1219200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7873" y="4775203"/>
            <a:ext cx="1663700" cy="1066800"/>
          </a:xfrm>
          <a:prstGeom prst="rect">
            <a:avLst/>
          </a:prstGeom>
        </p:spPr>
      </p:pic>
      <p:pic>
        <p:nvPicPr>
          <p:cNvPr id="93" name="Picture 9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3566" y="5723467"/>
            <a:ext cx="2971800" cy="66040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6386364" y="3327397"/>
            <a:ext cx="27576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Fracture Simulations</a:t>
            </a:r>
          </a:p>
        </p:txBody>
      </p:sp>
      <p:graphicFrame>
        <p:nvGraphicFramePr>
          <p:cNvPr id="95" name="Object 9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9538920"/>
              </p:ext>
            </p:extLst>
          </p:nvPr>
        </p:nvGraphicFramePr>
        <p:xfrm>
          <a:off x="2913617" y="2127384"/>
          <a:ext cx="254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" name="Equation" r:id="rId10" imgW="152400" imgH="152400" progId="Equation.3">
                  <p:embed/>
                </p:oleObj>
              </mc:Choice>
              <mc:Fallback>
                <p:oleObj name="Equation" r:id="rId10" imgW="152400" imgH="152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913617" y="2127384"/>
                        <a:ext cx="2540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" name="TextBox 98"/>
          <p:cNvSpPr txBox="1"/>
          <p:nvPr/>
        </p:nvSpPr>
        <p:spPr>
          <a:xfrm>
            <a:off x="7662693" y="3725333"/>
            <a:ext cx="1481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Courtesy of </a:t>
            </a:r>
            <a:br>
              <a:rPr lang="en-US" sz="1400"/>
            </a:br>
            <a:r>
              <a:rPr lang="en-US" sz="1400"/>
              <a:t>Joe Bishop (SNL)</a:t>
            </a:r>
          </a:p>
        </p:txBody>
      </p:sp>
      <p:pic>
        <p:nvPicPr>
          <p:cNvPr id="101" name="test2.mpg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175000" y="4402667"/>
            <a:ext cx="3601155" cy="2455333"/>
          </a:xfrm>
          <a:prstGeom prst="rect">
            <a:avLst/>
          </a:prstGeom>
        </p:spPr>
      </p:pic>
      <p:grpSp>
        <p:nvGrpSpPr>
          <p:cNvPr id="40" name="Group 39"/>
          <p:cNvGrpSpPr/>
          <p:nvPr/>
        </p:nvGrpSpPr>
        <p:grpSpPr>
          <a:xfrm>
            <a:off x="6260084" y="1896533"/>
            <a:ext cx="812800" cy="1011768"/>
            <a:chOff x="4774184" y="3179233"/>
            <a:chExt cx="812800" cy="1011768"/>
          </a:xfrm>
        </p:grpSpPr>
        <p:grpSp>
          <p:nvGrpSpPr>
            <p:cNvPr id="18" name="Group 17"/>
            <p:cNvGrpSpPr/>
            <p:nvPr/>
          </p:nvGrpSpPr>
          <p:grpSpPr>
            <a:xfrm>
              <a:off x="5129784" y="3409357"/>
              <a:ext cx="457200" cy="457200"/>
              <a:chOff x="1014942" y="4818592"/>
              <a:chExt cx="914400" cy="914400"/>
            </a:xfrm>
          </p:grpSpPr>
          <p:sp>
            <p:nvSpPr>
              <p:cNvPr id="1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4774184" y="3409356"/>
              <a:ext cx="457200" cy="457200"/>
              <a:chOff x="1014942" y="4818592"/>
              <a:chExt cx="914400" cy="914400"/>
            </a:xfrm>
          </p:grpSpPr>
          <p:sp>
            <p:nvSpPr>
              <p:cNvPr id="25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" name="Straight Connector 4"/>
            <p:cNvCxnSpPr/>
            <p:nvPr/>
          </p:nvCxnSpPr>
          <p:spPr bwMode="auto">
            <a:xfrm flipH="1" flipV="1">
              <a:off x="5173133" y="3179233"/>
              <a:ext cx="8467" cy="101176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Straight Connector 32"/>
            <p:cNvCxnSpPr/>
            <p:nvPr/>
          </p:nvCxnSpPr>
          <p:spPr bwMode="auto">
            <a:xfrm>
              <a:off x="5173134" y="3708401"/>
              <a:ext cx="173566" cy="6773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 flipV="1">
              <a:off x="5168900" y="3496734"/>
              <a:ext cx="173567" cy="4656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Straight Connector 44"/>
            <p:cNvCxnSpPr/>
            <p:nvPr/>
          </p:nvCxnSpPr>
          <p:spPr bwMode="auto">
            <a:xfrm flipV="1">
              <a:off x="5338235" y="3670301"/>
              <a:ext cx="224365" cy="11006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/>
            <p:cNvCxnSpPr/>
            <p:nvPr/>
          </p:nvCxnSpPr>
          <p:spPr bwMode="auto">
            <a:xfrm>
              <a:off x="5334000" y="3492499"/>
              <a:ext cx="232834" cy="1778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7" name="TextBox 26"/>
          <p:cNvSpPr txBox="1"/>
          <p:nvPr/>
        </p:nvSpPr>
        <p:spPr>
          <a:xfrm>
            <a:off x="113684" y="4579215"/>
            <a:ext cx="326831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Impact</a:t>
            </a:r>
          </a:p>
          <a:p>
            <a:r>
              <a:rPr lang="en-US" sz="2000" dirty="0">
                <a:solidFill>
                  <a:srgbClr val="FF0000"/>
                </a:solidFill>
              </a:rPr>
              <a:t>Joe </a:t>
            </a:r>
            <a:r>
              <a:rPr lang="en-US" sz="2000" dirty="0" smtClean="0">
                <a:solidFill>
                  <a:srgbClr val="FF0000"/>
                </a:solidFill>
              </a:rPr>
              <a:t>Bishop, SNL org </a:t>
            </a:r>
            <a:r>
              <a:rPr lang="en-US" sz="2000" dirty="0">
                <a:solidFill>
                  <a:srgbClr val="FF0000"/>
                </a:solidFill>
              </a:rPr>
              <a:t>1500 </a:t>
            </a:r>
            <a:endParaRPr lang="en-US" sz="2000" dirty="0" smtClean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F</a:t>
            </a:r>
            <a:r>
              <a:rPr lang="en-US" sz="2000" dirty="0" smtClean="0">
                <a:solidFill>
                  <a:srgbClr val="FF0000"/>
                </a:solidFill>
              </a:rPr>
              <a:t>racture </a:t>
            </a:r>
            <a:r>
              <a:rPr lang="en-US" sz="2000" dirty="0">
                <a:solidFill>
                  <a:srgbClr val="FF0000"/>
                </a:solidFill>
              </a:rPr>
              <a:t>simulation</a:t>
            </a:r>
          </a:p>
          <a:p>
            <a:r>
              <a:rPr lang="en-US" sz="2000" dirty="0">
                <a:solidFill>
                  <a:srgbClr val="FF0000"/>
                </a:solidFill>
              </a:rPr>
              <a:t>Need random meshes because </a:t>
            </a:r>
            <a:endParaRPr lang="en-US" sz="2000" dirty="0" smtClean="0">
              <a:solidFill>
                <a:srgbClr val="FF0000"/>
              </a:solidFill>
            </a:endParaRPr>
          </a:p>
          <a:p>
            <a:r>
              <a:rPr lang="en-US" sz="2000" dirty="0" smtClean="0">
                <a:solidFill>
                  <a:srgbClr val="FF0000"/>
                </a:solidFill>
              </a:rPr>
              <a:t>  cracks are along </a:t>
            </a:r>
            <a:r>
              <a:rPr lang="en-US" sz="2000" dirty="0">
                <a:solidFill>
                  <a:srgbClr val="FF0000"/>
                </a:solidFill>
              </a:rPr>
              <a:t>edges</a:t>
            </a:r>
          </a:p>
        </p:txBody>
      </p:sp>
    </p:spTree>
    <p:extLst>
      <p:ext uri="{BB962C8B-B14F-4D97-AF65-F5344CB8AC3E}">
        <p14:creationId xmlns:p14="http://schemas.microsoft.com/office/powerpoint/2010/main" val="114171717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1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Alternatives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Voronoi Mesher</a:t>
            </a:r>
          </a:p>
          <a:p>
            <a:pPr lvl="1"/>
            <a:r>
              <a:rPr lang="en-US"/>
              <a:t>CVT Centroidal Voronoi Tessellation</a:t>
            </a:r>
          </a:p>
          <a:p>
            <a:pPr lvl="2"/>
            <a:r>
              <a:rPr lang="en-US"/>
              <a:t>Seed = cell’s center of mass</a:t>
            </a:r>
          </a:p>
          <a:p>
            <a:pPr lvl="2"/>
            <a:r>
              <a:rPr lang="en-US"/>
              <a:t>Via iterative adjustment of seed location</a:t>
            </a:r>
          </a:p>
          <a:p>
            <a:pPr lvl="2"/>
            <a:r>
              <a:rPr lang="en-US"/>
              <a:t>Good shaped cells, but “biased”, regular mesh</a:t>
            </a:r>
          </a:p>
          <a:p>
            <a:pPr lvl="2"/>
            <a:r>
              <a:rPr lang="en-US"/>
              <a:t>Target app: fracture simulations with fracture along mesh edges</a:t>
            </a:r>
          </a:p>
          <a:p>
            <a:r>
              <a:rPr lang="en-US"/>
              <a:t>Primal meshers</a:t>
            </a:r>
          </a:p>
          <a:p>
            <a:pPr lvl="1"/>
            <a:r>
              <a:rPr lang="en-US"/>
              <a:t>Miller: maximal disk packings for bounded edge-radius tet meshes</a:t>
            </a:r>
          </a:p>
          <a:p>
            <a:pPr lvl="1"/>
            <a:r>
              <a:rPr lang="en-US"/>
              <a:t>Shimada and Gossard Bubble meshes</a:t>
            </a:r>
          </a:p>
          <a:p>
            <a:pPr lvl="2"/>
            <a:r>
              <a:rPr lang="en-US"/>
              <a:t>Force network, insertion and removal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400" y="1282700"/>
            <a:ext cx="1422400" cy="144780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 bwMode="auto">
          <a:xfrm flipH="1" flipV="1">
            <a:off x="7069667" y="1244600"/>
            <a:ext cx="1617133" cy="155786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/>
          <p:cNvCxnSpPr/>
          <p:nvPr/>
        </p:nvCxnSpPr>
        <p:spPr bwMode="auto">
          <a:xfrm rot="5400000" flipH="1" flipV="1">
            <a:off x="7078134" y="1227666"/>
            <a:ext cx="1617133" cy="155786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31100775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rook-mesh_clippe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544" y="1195406"/>
            <a:ext cx="2061990" cy="33562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IMR paper algorithm!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58172"/>
            <a:ext cx="7772400" cy="4572000"/>
          </a:xfrm>
        </p:spPr>
        <p:txBody>
          <a:bodyPr/>
          <a:lstStyle/>
          <a:p>
            <a:r>
              <a:rPr lang="en-US" sz="1600" dirty="0">
                <a:solidFill>
                  <a:schemeClr val="tx2"/>
                </a:solidFill>
              </a:rPr>
              <a:t>Random Polyhedral </a:t>
            </a:r>
            <a:r>
              <a:rPr lang="en-US" sz="1600" dirty="0" smtClean="0">
                <a:solidFill>
                  <a:schemeClr val="tx2"/>
                </a:solidFill>
              </a:rPr>
              <a:t>Meshing</a:t>
            </a:r>
          </a:p>
          <a:p>
            <a:pPr lvl="1"/>
            <a:r>
              <a:rPr lang="en-US" sz="1400" dirty="0" smtClean="0">
                <a:solidFill>
                  <a:schemeClr val="tx2"/>
                </a:solidFill>
              </a:rPr>
              <a:t>Generate random points using the maximal Poisson-disk process</a:t>
            </a:r>
          </a:p>
          <a:p>
            <a:pPr lvl="2"/>
            <a:r>
              <a:rPr lang="en-US" sz="1200" dirty="0" smtClean="0">
                <a:solidFill>
                  <a:schemeClr val="tx2"/>
                </a:solidFill>
              </a:rPr>
              <a:t>Points placed on reflex boundary features, but not concave or flat features</a:t>
            </a:r>
          </a:p>
          <a:p>
            <a:pPr lvl="2"/>
            <a:r>
              <a:rPr lang="en-US" sz="1200" dirty="0" smtClean="0">
                <a:solidFill>
                  <a:schemeClr val="tx2"/>
                </a:solidFill>
              </a:rPr>
              <a:t>Contrast to primal methods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S</a:t>
            </a:r>
            <a:r>
              <a:rPr lang="en-US" sz="1400" dirty="0" smtClean="0">
                <a:solidFill>
                  <a:schemeClr val="tx2"/>
                </a:solidFill>
              </a:rPr>
              <a:t>ymbolically split points (not in paper)</a:t>
            </a:r>
          </a:p>
          <a:p>
            <a:pPr lvl="1"/>
            <a:r>
              <a:rPr lang="en-US" sz="1400" dirty="0" smtClean="0">
                <a:solidFill>
                  <a:schemeClr val="tx2"/>
                </a:solidFill>
              </a:rPr>
              <a:t>Construct Voronoi cells </a:t>
            </a:r>
          </a:p>
          <a:p>
            <a:pPr lvl="2"/>
            <a:r>
              <a:rPr lang="en-US" sz="1200" dirty="0" smtClean="0">
                <a:solidFill>
                  <a:schemeClr val="tx2"/>
                </a:solidFill>
              </a:rPr>
              <a:t>Bounding box, cut by boundary and Voronoi planes</a:t>
            </a:r>
          </a:p>
          <a:p>
            <a:pPr lvl="3"/>
            <a:r>
              <a:rPr lang="en-US" sz="1100" dirty="0" smtClean="0">
                <a:solidFill>
                  <a:schemeClr val="tx2"/>
                </a:solidFill>
              </a:rPr>
              <a:t>Bounding box works because cells have bounded size</a:t>
            </a:r>
          </a:p>
          <a:p>
            <a:pPr lvl="2"/>
            <a:r>
              <a:rPr lang="en-US" sz="1200" dirty="0" smtClean="0">
                <a:solidFill>
                  <a:schemeClr val="tx2"/>
                </a:solidFill>
              </a:rPr>
              <a:t>Small edges collapsed</a:t>
            </a:r>
            <a:endParaRPr lang="en-US" sz="1200" dirty="0">
              <a:solidFill>
                <a:schemeClr val="tx2"/>
              </a:solidFill>
            </a:endParaRPr>
          </a:p>
          <a:p>
            <a:r>
              <a:rPr lang="en-US" sz="1600" dirty="0" smtClean="0">
                <a:solidFill>
                  <a:schemeClr val="tx2"/>
                </a:solidFill>
              </a:rPr>
              <a:t>Get</a:t>
            </a:r>
          </a:p>
          <a:p>
            <a:pPr lvl="1"/>
            <a:r>
              <a:rPr lang="en-US" sz="1400" dirty="0" smtClean="0">
                <a:solidFill>
                  <a:schemeClr val="tx2"/>
                </a:solidFill>
              </a:rPr>
              <a:t>Voronoi mesh of convex polyhedral cells</a:t>
            </a:r>
          </a:p>
          <a:p>
            <a:pPr lvl="1"/>
            <a:r>
              <a:rPr lang="en-US" sz="1400" dirty="0" smtClean="0">
                <a:solidFill>
                  <a:schemeClr val="tx2"/>
                </a:solidFill>
              </a:rPr>
              <a:t>Bounded cell aspect ratio and facet dihedrals</a:t>
            </a:r>
          </a:p>
          <a:p>
            <a:pPr lvl="1"/>
            <a:r>
              <a:rPr lang="en-US" sz="1400" dirty="0" smtClean="0">
                <a:solidFill>
                  <a:schemeClr val="tx2"/>
                </a:solidFill>
              </a:rPr>
              <a:t>Random orientation of mesh edges</a:t>
            </a:r>
          </a:p>
          <a:p>
            <a:pPr lvl="2"/>
            <a:r>
              <a:rPr lang="en-US" sz="1200" dirty="0" smtClean="0">
                <a:solidFill>
                  <a:schemeClr val="tx2"/>
                </a:solidFill>
              </a:rPr>
              <a:t>Needed for fracture mechanics where cracks are restricted to edges</a:t>
            </a:r>
            <a:endParaRPr lang="en-US" sz="1200" dirty="0"/>
          </a:p>
        </p:txBody>
      </p:sp>
      <p:pic>
        <p:nvPicPr>
          <p:cNvPr id="5" name="Picture 4" descr="rook-mesh_clipped_zoom_in_b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241" y="4696908"/>
            <a:ext cx="3751759" cy="2161092"/>
          </a:xfrm>
          <a:prstGeom prst="rect">
            <a:avLst/>
          </a:prstGeom>
        </p:spPr>
      </p:pic>
      <p:pic>
        <p:nvPicPr>
          <p:cNvPr id="6" name="Picture 5" descr="rook-mesh_clipped_zoom_i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212" y="4691204"/>
            <a:ext cx="3408699" cy="2166796"/>
          </a:xfrm>
          <a:prstGeom prst="rect">
            <a:avLst/>
          </a:prstGeom>
        </p:spPr>
      </p:pic>
      <p:pic>
        <p:nvPicPr>
          <p:cNvPr id="8" name="Picture 7" descr="rook-boundaries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993" y="0"/>
            <a:ext cx="980536" cy="159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3519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35"/>
          <p:cNvSpPr/>
          <p:nvPr/>
        </p:nvSpPr>
        <p:spPr>
          <a:xfrm>
            <a:off x="1411766" y="5369443"/>
            <a:ext cx="4223489" cy="1457528"/>
          </a:xfrm>
          <a:custGeom>
            <a:avLst/>
            <a:gdLst>
              <a:gd name="connsiteX0" fmla="*/ 0 w 2444191"/>
              <a:gd name="connsiteY0" fmla="*/ 0 h 635028"/>
              <a:gd name="connsiteX1" fmla="*/ 898599 w 2444191"/>
              <a:gd name="connsiteY1" fmla="*/ 155762 h 635028"/>
              <a:gd name="connsiteX2" fmla="*/ 2444191 w 2444191"/>
              <a:gd name="connsiteY2" fmla="*/ 635028 h 635028"/>
              <a:gd name="connsiteX3" fmla="*/ 1563563 w 2444191"/>
              <a:gd name="connsiteY3" fmla="*/ 491248 h 635028"/>
              <a:gd name="connsiteX4" fmla="*/ 0 w 2444191"/>
              <a:gd name="connsiteY4" fmla="*/ 0 h 63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44191" h="635028">
                <a:moveTo>
                  <a:pt x="0" y="0"/>
                </a:moveTo>
                <a:lnTo>
                  <a:pt x="898599" y="155762"/>
                </a:lnTo>
                <a:lnTo>
                  <a:pt x="2444191" y="635028"/>
                </a:lnTo>
                <a:lnTo>
                  <a:pt x="1563563" y="491248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35" name="Freeform 34"/>
          <p:cNvSpPr/>
          <p:nvPr/>
        </p:nvSpPr>
        <p:spPr>
          <a:xfrm>
            <a:off x="1423092" y="4189283"/>
            <a:ext cx="3922721" cy="1525973"/>
          </a:xfrm>
          <a:custGeom>
            <a:avLst/>
            <a:gdLst>
              <a:gd name="connsiteX0" fmla="*/ 0 w 2258480"/>
              <a:gd name="connsiteY0" fmla="*/ 533184 h 688945"/>
              <a:gd name="connsiteX1" fmla="*/ 904590 w 2258480"/>
              <a:gd name="connsiteY1" fmla="*/ 688945 h 688945"/>
              <a:gd name="connsiteX2" fmla="*/ 2258480 w 2258480"/>
              <a:gd name="connsiteY2" fmla="*/ 137789 h 688945"/>
              <a:gd name="connsiteX3" fmla="*/ 1395824 w 2258480"/>
              <a:gd name="connsiteY3" fmla="*/ 0 h 688945"/>
              <a:gd name="connsiteX4" fmla="*/ 0 w 2258480"/>
              <a:gd name="connsiteY4" fmla="*/ 533184 h 688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8480" h="688945">
                <a:moveTo>
                  <a:pt x="0" y="533184"/>
                </a:moveTo>
                <a:lnTo>
                  <a:pt x="904590" y="688945"/>
                </a:lnTo>
                <a:lnTo>
                  <a:pt x="2258480" y="137789"/>
                </a:lnTo>
                <a:lnTo>
                  <a:pt x="1395824" y="0"/>
                </a:lnTo>
                <a:lnTo>
                  <a:pt x="0" y="533184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Boundary Sampling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250" y="1187450"/>
            <a:ext cx="7772400" cy="2864736"/>
          </a:xfrm>
        </p:spPr>
        <p:txBody>
          <a:bodyPr/>
          <a:lstStyle/>
          <a:p>
            <a:r>
              <a:rPr lang="en-US" sz="1600" dirty="0" smtClean="0"/>
              <a:t>Maximally sample</a:t>
            </a:r>
            <a:endParaRPr lang="en-US" sz="1600" dirty="0" smtClean="0">
              <a:solidFill>
                <a:schemeClr val="tx2"/>
              </a:solidFill>
            </a:endParaRPr>
          </a:p>
          <a:p>
            <a:pPr lvl="1"/>
            <a:r>
              <a:rPr lang="en-US" sz="1600" dirty="0" smtClean="0">
                <a:solidFill>
                  <a:srgbClr val="0000FF"/>
                </a:solidFill>
              </a:rPr>
              <a:t>Points interior to domain, not on </a:t>
            </a:r>
            <a:r>
              <a:rPr lang="en-US" sz="1600" dirty="0">
                <a:solidFill>
                  <a:srgbClr val="0000FF"/>
                </a:solidFill>
              </a:rPr>
              <a:t>boundary…</a:t>
            </a:r>
            <a:br>
              <a:rPr lang="en-US" sz="1600" dirty="0">
                <a:solidFill>
                  <a:srgbClr val="0000FF"/>
                </a:solidFill>
              </a:rPr>
            </a:br>
            <a:r>
              <a:rPr lang="en-US" sz="1600" dirty="0">
                <a:solidFill>
                  <a:srgbClr val="0000FF"/>
                </a:solidFill>
              </a:rPr>
              <a:t>…unless we have to:</a:t>
            </a:r>
            <a:r>
              <a:rPr lang="en-US" sz="1600" dirty="0"/>
              <a:t> </a:t>
            </a:r>
            <a:endParaRPr lang="en-US" sz="1600" dirty="0" smtClean="0">
              <a:solidFill>
                <a:srgbClr val="0000FF"/>
              </a:solidFill>
            </a:endParaRPr>
          </a:p>
          <a:p>
            <a:pPr lvl="2"/>
            <a:r>
              <a:rPr lang="en-US" sz="1400" dirty="0" smtClean="0"/>
              <a:t>Reflex features require special care, not sharp ones</a:t>
            </a:r>
          </a:p>
          <a:p>
            <a:pPr lvl="3"/>
            <a:r>
              <a:rPr lang="en-US" sz="1200" dirty="0"/>
              <a:t>“Reflex” includes 2-sided </a:t>
            </a:r>
            <a:r>
              <a:rPr lang="en-US" sz="1200" dirty="0" smtClean="0"/>
              <a:t>facets</a:t>
            </a:r>
          </a:p>
          <a:p>
            <a:pPr lvl="2"/>
            <a:r>
              <a:rPr lang="en-US" sz="1400" dirty="0" smtClean="0"/>
              <a:t>Not </a:t>
            </a:r>
            <a:r>
              <a:rPr lang="en-US" sz="1400" dirty="0"/>
              <a:t>the dual of a body-fitted primal mesh</a:t>
            </a:r>
          </a:p>
          <a:p>
            <a:pPr lvl="3"/>
            <a:r>
              <a:rPr lang="en-US" sz="1200" dirty="0"/>
              <a:t>Better (not constant 90°) dihedrals at </a:t>
            </a:r>
            <a:r>
              <a:rPr lang="en-US" sz="1200" dirty="0" smtClean="0"/>
              <a:t>boundary</a:t>
            </a:r>
          </a:p>
          <a:p>
            <a:r>
              <a:rPr lang="en-US" sz="1600" dirty="0" smtClean="0"/>
              <a:t>Goal: cells </a:t>
            </a:r>
            <a:r>
              <a:rPr lang="en-US" sz="1600" dirty="0"/>
              <a:t>align with </a:t>
            </a:r>
            <a:r>
              <a:rPr lang="en-US" sz="1600" dirty="0" smtClean="0"/>
              <a:t>boundary features</a:t>
            </a:r>
            <a:r>
              <a:rPr lang="en-US" sz="1600" dirty="0"/>
              <a:t>, cells </a:t>
            </a:r>
            <a:r>
              <a:rPr lang="en-US" sz="1600" dirty="0" smtClean="0"/>
              <a:t>are convex</a:t>
            </a:r>
            <a:endParaRPr lang="en-US" sz="1600" dirty="0"/>
          </a:p>
          <a:p>
            <a:r>
              <a:rPr lang="en-US" sz="1600" dirty="0" smtClean="0"/>
              <a:t>Sufficient: every </a:t>
            </a:r>
            <a:r>
              <a:rPr lang="en-US" sz="1600" dirty="0"/>
              <a:t>point </a:t>
            </a:r>
            <a:r>
              <a:rPr lang="en-US" sz="1600" dirty="0" smtClean="0"/>
              <a:t>on </a:t>
            </a:r>
            <a:r>
              <a:rPr lang="en-US" sz="1600" dirty="0"/>
              <a:t>a reflex </a:t>
            </a:r>
            <a:r>
              <a:rPr lang="en-US" sz="1600" dirty="0" smtClean="0"/>
              <a:t>face </a:t>
            </a:r>
            <a:r>
              <a:rPr lang="en-US" sz="1600" dirty="0"/>
              <a:t>is closest to a sample from that reflex feature (or sub-facet</a:t>
            </a:r>
            <a:r>
              <a:rPr lang="en-US" sz="1600" dirty="0" smtClean="0"/>
              <a:t>)</a:t>
            </a:r>
          </a:p>
          <a:p>
            <a:pPr lvl="1"/>
            <a:r>
              <a:rPr lang="en-US" sz="1400" dirty="0" err="1" smtClean="0"/>
              <a:t>Sqrt</a:t>
            </a:r>
            <a:r>
              <a:rPr lang="en-US" sz="1400" dirty="0" smtClean="0"/>
              <a:t>(2) denser sampling on reflex feature</a:t>
            </a:r>
            <a:endParaRPr lang="en-US" sz="1400" dirty="0"/>
          </a:p>
          <a:p>
            <a:endParaRPr lang="en-US" sz="1800" dirty="0"/>
          </a:p>
        </p:txBody>
      </p:sp>
      <p:pic>
        <p:nvPicPr>
          <p:cNvPr id="4" name="Picture 3" descr="cell-terminology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1136650"/>
            <a:ext cx="2933700" cy="1422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08000" y="4814185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</a:t>
            </a:r>
            <a:r>
              <a:rPr lang="en-US" sz="1200" dirty="0" smtClean="0"/>
              <a:t>omain</a:t>
            </a:r>
          </a:p>
          <a:p>
            <a:r>
              <a:rPr lang="en-US" sz="1200" dirty="0" smtClean="0"/>
              <a:t>interior</a:t>
            </a:r>
            <a:endParaRPr lang="en-US" sz="1200" dirty="0"/>
          </a:p>
        </p:txBody>
      </p:sp>
      <p:sp>
        <p:nvSpPr>
          <p:cNvPr id="45" name="TextBox 44"/>
          <p:cNvSpPr txBox="1"/>
          <p:nvPr/>
        </p:nvSpPr>
        <p:spPr>
          <a:xfrm>
            <a:off x="1265274" y="5134344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lang="en-US" sz="2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835349" y="5493489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lang="en-US" sz="2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770708" y="4199254"/>
            <a:ext cx="3026058" cy="2514660"/>
            <a:chOff x="1770708" y="4199254"/>
            <a:chExt cx="3026058" cy="2514660"/>
          </a:xfrm>
        </p:grpSpPr>
        <p:grpSp>
          <p:nvGrpSpPr>
            <p:cNvPr id="9" name="Group 8"/>
            <p:cNvGrpSpPr/>
            <p:nvPr/>
          </p:nvGrpSpPr>
          <p:grpSpPr>
            <a:xfrm>
              <a:off x="1992958" y="5418454"/>
              <a:ext cx="2803808" cy="1295460"/>
              <a:chOff x="1992958" y="5418454"/>
              <a:chExt cx="2803808" cy="1295460"/>
            </a:xfrm>
          </p:grpSpPr>
          <p:sp>
            <p:nvSpPr>
              <p:cNvPr id="31" name="TextBox 30"/>
              <p:cNvSpPr txBox="1"/>
              <p:nvPr/>
            </p:nvSpPr>
            <p:spPr>
              <a:xfrm>
                <a:off x="3688408" y="605345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3313758" y="58185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2983558" y="57550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2456508" y="56026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4469458" y="63138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1992958" y="541845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3993208" y="60598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3415358" y="602805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1770708" y="4199254"/>
              <a:ext cx="2837349" cy="1313935"/>
              <a:chOff x="1770708" y="4199254"/>
              <a:chExt cx="2837349" cy="1313935"/>
            </a:xfrm>
          </p:grpSpPr>
          <p:sp>
            <p:nvSpPr>
              <p:cNvPr id="44" name="TextBox 43"/>
              <p:cNvSpPr txBox="1"/>
              <p:nvPr/>
            </p:nvSpPr>
            <p:spPr>
              <a:xfrm>
                <a:off x="2235611" y="4972197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2629195" y="5113079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3071393" y="5023830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758276" y="4774695"/>
                <a:ext cx="35791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3434408" y="479615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4280749" y="4385511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3071451" y="4524818"/>
                <a:ext cx="4375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3721395" y="4389148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3961458" y="478345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1770708" y="503745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3409008" y="419925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graphicFrame>
            <p:nvGraphicFramePr>
              <p:cNvPr id="6" name="Object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49783768"/>
                  </p:ext>
                </p:extLst>
              </p:nvPr>
            </p:nvGraphicFramePr>
            <p:xfrm>
              <a:off x="3352800" y="4461933"/>
              <a:ext cx="508000" cy="4402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4" name="Equation" r:id="rId5" imgW="381000" imgH="330200" progId="Equation.3">
                      <p:embed/>
                    </p:oleObj>
                  </mc:Choice>
                  <mc:Fallback>
                    <p:oleObj name="Equation" r:id="rId5" imgW="381000" imgH="330200" progId="Equation.3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352800" y="4461933"/>
                            <a:ext cx="508000" cy="44026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pic>
        <p:nvPicPr>
          <p:cNvPr id="14" name="Picture 13" descr="protect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870" y="3625850"/>
            <a:ext cx="1398176" cy="920750"/>
          </a:xfrm>
          <a:prstGeom prst="rect">
            <a:avLst/>
          </a:prstGeom>
        </p:spPr>
      </p:pic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256243"/>
              </p:ext>
            </p:extLst>
          </p:nvPr>
        </p:nvGraphicFramePr>
        <p:xfrm>
          <a:off x="6437923" y="3810000"/>
          <a:ext cx="100818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" name="Equation" r:id="rId8" imgW="609600" imgH="330200" progId="Equation.3">
                  <p:embed/>
                </p:oleObj>
              </mc:Choice>
              <mc:Fallback>
                <p:oleObj name="Equation" r:id="rId8" imgW="609600" imgH="330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437923" y="3810000"/>
                        <a:ext cx="1008185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3822700" y="5385685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</a:t>
            </a:r>
            <a:r>
              <a:rPr lang="en-US" sz="1200" dirty="0" smtClean="0"/>
              <a:t>omain</a:t>
            </a:r>
          </a:p>
          <a:p>
            <a:r>
              <a:rPr lang="en-US" sz="1200" dirty="0" smtClean="0"/>
              <a:t>interior</a:t>
            </a:r>
            <a:endParaRPr lang="en-US" sz="1200" dirty="0"/>
          </a:p>
        </p:txBody>
      </p:sp>
      <p:grpSp>
        <p:nvGrpSpPr>
          <p:cNvPr id="53" name="Group 52"/>
          <p:cNvGrpSpPr/>
          <p:nvPr/>
        </p:nvGrpSpPr>
        <p:grpSpPr>
          <a:xfrm>
            <a:off x="1079500" y="5209658"/>
            <a:ext cx="1851394" cy="833955"/>
            <a:chOff x="1149350" y="5209658"/>
            <a:chExt cx="1851394" cy="833955"/>
          </a:xfrm>
        </p:grpSpPr>
        <p:grpSp>
          <p:nvGrpSpPr>
            <p:cNvPr id="54" name="Group 53"/>
            <p:cNvGrpSpPr/>
            <p:nvPr/>
          </p:nvGrpSpPr>
          <p:grpSpPr>
            <a:xfrm>
              <a:off x="1665767" y="5209658"/>
              <a:ext cx="1334977" cy="620145"/>
              <a:chOff x="1665767" y="5209658"/>
              <a:chExt cx="1334977" cy="620145"/>
            </a:xfrm>
          </p:grpSpPr>
          <p:sp>
            <p:nvSpPr>
              <p:cNvPr id="56" name="TextBox 55"/>
              <p:cNvSpPr txBox="1"/>
              <p:nvPr/>
            </p:nvSpPr>
            <p:spPr>
              <a:xfrm>
                <a:off x="2035839" y="530712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1665767" y="5209658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2369288" y="5370920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2617971" y="5429693"/>
                <a:ext cx="3827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</p:grpSp>
        <p:graphicFrame>
          <p:nvGraphicFramePr>
            <p:cNvPr id="55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3246338"/>
                </p:ext>
              </p:extLst>
            </p:nvPr>
          </p:nvGraphicFramePr>
          <p:xfrm>
            <a:off x="1149350" y="5465763"/>
            <a:ext cx="666750" cy="577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6" name="Equation" r:id="rId10" imgW="381000" imgH="330200" progId="Equation.3">
                    <p:embed/>
                  </p:oleObj>
                </mc:Choice>
                <mc:Fallback>
                  <p:oleObj name="Equation" r:id="rId10" imgW="381000" imgH="33020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149350" y="5465763"/>
                          <a:ext cx="666750" cy="5778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0" name="Group 99"/>
          <p:cNvGrpSpPr/>
          <p:nvPr/>
        </p:nvGrpSpPr>
        <p:grpSpPr>
          <a:xfrm>
            <a:off x="495300" y="3938904"/>
            <a:ext cx="3794408" cy="2919096"/>
            <a:chOff x="495300" y="3938904"/>
            <a:chExt cx="3794408" cy="2919096"/>
          </a:xfrm>
        </p:grpSpPr>
        <p:grpSp>
          <p:nvGrpSpPr>
            <p:cNvPr id="23" name="Group 22"/>
            <p:cNvGrpSpPr/>
            <p:nvPr/>
          </p:nvGrpSpPr>
          <p:grpSpPr>
            <a:xfrm>
              <a:off x="495300" y="3938904"/>
              <a:ext cx="3794408" cy="2919096"/>
              <a:chOff x="495300" y="3938904"/>
              <a:chExt cx="3794408" cy="2919096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660400" y="62884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1663700" y="47517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2006600" y="43326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2184400" y="4866004"/>
                <a:ext cx="7874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3187700" y="49549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2692400" y="40024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2209800" y="59074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495300" y="53613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3035300" y="61106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3238500" y="63519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3962400" y="6457890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1168400" y="39389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850900" y="43326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3771900" y="42437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2578100" y="6457890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1727200" y="57550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</p:grpSp>
        <p:graphicFrame>
          <p:nvGraphicFramePr>
            <p:cNvPr id="99" name="Object 9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3130371"/>
                </p:ext>
              </p:extLst>
            </p:nvPr>
          </p:nvGraphicFramePr>
          <p:xfrm>
            <a:off x="1562100" y="4267200"/>
            <a:ext cx="492725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7" name="Equation" r:id="rId12" imgW="114300" imgH="127000" progId="Equation.3">
                    <p:embed/>
                  </p:oleObj>
                </mc:Choice>
                <mc:Fallback>
                  <p:oleObj name="Equation" r:id="rId12" imgW="114300" imgH="12700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562100" y="4267200"/>
                          <a:ext cx="492725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7" name="Group 106"/>
          <p:cNvGrpSpPr/>
          <p:nvPr/>
        </p:nvGrpSpPr>
        <p:grpSpPr>
          <a:xfrm>
            <a:off x="653108" y="3957954"/>
            <a:ext cx="4702458" cy="2597210"/>
            <a:chOff x="653108" y="3957954"/>
            <a:chExt cx="4702458" cy="2597210"/>
          </a:xfrm>
        </p:grpSpPr>
        <p:grpSp>
          <p:nvGrpSpPr>
            <p:cNvPr id="7" name="Group 6"/>
            <p:cNvGrpSpPr/>
            <p:nvPr/>
          </p:nvGrpSpPr>
          <p:grpSpPr>
            <a:xfrm>
              <a:off x="653108" y="3957954"/>
              <a:ext cx="1781458" cy="2597210"/>
              <a:chOff x="653108" y="3957954"/>
              <a:chExt cx="1781458" cy="2597210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1516708" y="615505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1084908" y="428815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653108" y="54756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2107258" y="395795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graphicFrame>
            <p:nvGraphicFramePr>
              <p:cNvPr id="51" name="Object 5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05209614"/>
                  </p:ext>
                </p:extLst>
              </p:nvPr>
            </p:nvGraphicFramePr>
            <p:xfrm>
              <a:off x="1631950" y="4279194"/>
              <a:ext cx="292100" cy="3245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8" name="Equation" r:id="rId14" imgW="114300" imgH="127000" progId="Equation.3">
                      <p:embed/>
                    </p:oleObj>
                  </mc:Choice>
                  <mc:Fallback>
                    <p:oleObj name="Equation" r:id="rId14" imgW="114300" imgH="127000" progId="Equation.3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1631950" y="4279194"/>
                            <a:ext cx="292100" cy="32455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6" name="Group 105"/>
            <p:cNvGrpSpPr/>
            <p:nvPr/>
          </p:nvGrpSpPr>
          <p:grpSpPr>
            <a:xfrm>
              <a:off x="3402658" y="5126354"/>
              <a:ext cx="1952908" cy="1022410"/>
              <a:chOff x="3402658" y="5126354"/>
              <a:chExt cx="1952908" cy="1022410"/>
            </a:xfrm>
          </p:grpSpPr>
          <p:sp>
            <p:nvSpPr>
              <p:cNvPr id="102" name="TextBox 101"/>
              <p:cNvSpPr txBox="1"/>
              <p:nvPr/>
            </p:nvSpPr>
            <p:spPr>
              <a:xfrm>
                <a:off x="5028258" y="574865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4190058" y="564705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04" name="TextBox 103"/>
              <p:cNvSpPr txBox="1"/>
              <p:nvPr/>
            </p:nvSpPr>
            <p:spPr>
              <a:xfrm>
                <a:off x="3402658" y="549465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4405958" y="512635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</p:grpSp>
      </p:grpSp>
      <p:grpSp>
        <p:nvGrpSpPr>
          <p:cNvPr id="140" name="Group 139"/>
          <p:cNvGrpSpPr/>
          <p:nvPr/>
        </p:nvGrpSpPr>
        <p:grpSpPr>
          <a:xfrm>
            <a:off x="1168400" y="3964304"/>
            <a:ext cx="4632608" cy="3017551"/>
            <a:chOff x="1168400" y="3964304"/>
            <a:chExt cx="4632608" cy="3017551"/>
          </a:xfrm>
        </p:grpSpPr>
        <p:grpSp>
          <p:nvGrpSpPr>
            <p:cNvPr id="12" name="Group 11"/>
            <p:cNvGrpSpPr/>
            <p:nvPr/>
          </p:nvGrpSpPr>
          <p:grpSpPr>
            <a:xfrm>
              <a:off x="1168400" y="5184258"/>
              <a:ext cx="1794244" cy="902216"/>
              <a:chOff x="5372100" y="6162158"/>
              <a:chExt cx="1794244" cy="902216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5729767" y="6162158"/>
                <a:ext cx="1436577" cy="632845"/>
                <a:chOff x="5729767" y="6162158"/>
                <a:chExt cx="1436577" cy="632845"/>
              </a:xfrm>
            </p:grpSpPr>
            <p:sp>
              <p:nvSpPr>
                <p:cNvPr id="39" name="TextBox 38"/>
                <p:cNvSpPr txBox="1"/>
                <p:nvPr/>
              </p:nvSpPr>
              <p:spPr>
                <a:xfrm>
                  <a:off x="6061739" y="6234224"/>
                  <a:ext cx="32730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 smtClean="0">
                      <a:solidFill>
                        <a:srgbClr val="FF0000"/>
                      </a:solidFill>
                      <a:latin typeface="Arial"/>
                      <a:cs typeface="Arial"/>
                    </a:rPr>
                    <a:t>x</a:t>
                  </a:r>
                  <a:endParaRPr lang="en-US" sz="2000" dirty="0">
                    <a:solidFill>
                      <a:srgbClr val="FF0000"/>
                    </a:solidFill>
                    <a:latin typeface="Arial"/>
                    <a:cs typeface="Arial"/>
                  </a:endParaRPr>
                </a:p>
              </p:txBody>
            </p:sp>
            <p:sp>
              <p:nvSpPr>
                <p:cNvPr id="42" name="TextBox 41"/>
                <p:cNvSpPr txBox="1"/>
                <p:nvPr/>
              </p:nvSpPr>
              <p:spPr>
                <a:xfrm>
                  <a:off x="5729767" y="6162158"/>
                  <a:ext cx="32730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 smtClean="0">
                      <a:solidFill>
                        <a:srgbClr val="FF0000"/>
                      </a:solidFill>
                      <a:latin typeface="Arial"/>
                      <a:cs typeface="Arial"/>
                    </a:rPr>
                    <a:t>x</a:t>
                  </a:r>
                  <a:endParaRPr lang="en-US" sz="2000" dirty="0">
                    <a:solidFill>
                      <a:srgbClr val="FF0000"/>
                    </a:solidFill>
                    <a:latin typeface="Arial"/>
                    <a:cs typeface="Arial"/>
                  </a:endParaRPr>
                </a:p>
              </p:txBody>
            </p:sp>
            <p:sp>
              <p:nvSpPr>
                <p:cNvPr id="43" name="TextBox 42"/>
                <p:cNvSpPr txBox="1"/>
                <p:nvPr/>
              </p:nvSpPr>
              <p:spPr>
                <a:xfrm>
                  <a:off x="6348818" y="6302745"/>
                  <a:ext cx="32730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 smtClean="0">
                      <a:solidFill>
                        <a:srgbClr val="FF0000"/>
                      </a:solidFill>
                      <a:latin typeface="Arial"/>
                      <a:cs typeface="Arial"/>
                    </a:rPr>
                    <a:t>x</a:t>
                  </a:r>
                  <a:endParaRPr lang="en-US" sz="2000" dirty="0">
                    <a:solidFill>
                      <a:srgbClr val="FF0000"/>
                    </a:solidFill>
                    <a:latin typeface="Arial"/>
                    <a:cs typeface="Arial"/>
                  </a:endParaRP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6560288" y="6348820"/>
                  <a:ext cx="32730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 smtClean="0">
                      <a:solidFill>
                        <a:srgbClr val="FF0000"/>
                      </a:solidFill>
                      <a:latin typeface="Arial"/>
                      <a:cs typeface="Arial"/>
                    </a:rPr>
                    <a:t>x</a:t>
                  </a:r>
                  <a:endParaRPr lang="en-US" sz="2000" dirty="0">
                    <a:solidFill>
                      <a:srgbClr val="FF0000"/>
                    </a:solidFill>
                    <a:latin typeface="Arial"/>
                    <a:cs typeface="Arial"/>
                  </a:endParaRPr>
                </a:p>
              </p:txBody>
            </p:sp>
            <p:sp>
              <p:nvSpPr>
                <p:cNvPr id="48" name="TextBox 47"/>
                <p:cNvSpPr txBox="1"/>
                <p:nvPr/>
              </p:nvSpPr>
              <p:spPr>
                <a:xfrm>
                  <a:off x="6783571" y="6394893"/>
                  <a:ext cx="38277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 smtClean="0">
                      <a:solidFill>
                        <a:srgbClr val="FF0000"/>
                      </a:solidFill>
                      <a:latin typeface="Arial"/>
                      <a:cs typeface="Arial"/>
                    </a:rPr>
                    <a:t>x</a:t>
                  </a:r>
                  <a:endParaRPr lang="en-US" sz="2000" dirty="0">
                    <a:solidFill>
                      <a:srgbClr val="FF0000"/>
                    </a:solidFill>
                    <a:latin typeface="Arial"/>
                    <a:cs typeface="Arial"/>
                  </a:endParaRPr>
                </a:p>
              </p:txBody>
            </p:sp>
          </p:grpSp>
          <p:graphicFrame>
            <p:nvGraphicFramePr>
              <p:cNvPr id="50" name="Object 4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18428743"/>
                  </p:ext>
                </p:extLst>
              </p:nvPr>
            </p:nvGraphicFramePr>
            <p:xfrm>
              <a:off x="5372100" y="6553199"/>
              <a:ext cx="400050" cy="5111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9" name="Equation" r:id="rId16" imgW="228600" imgH="292100" progId="Equation.3">
                      <p:embed/>
                    </p:oleObj>
                  </mc:Choice>
                  <mc:Fallback>
                    <p:oleObj name="Equation" r:id="rId16" imgW="228600" imgH="292100" progId="Equation.3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5372100" y="6553199"/>
                            <a:ext cx="400050" cy="51117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8" name="Group 137"/>
            <p:cNvGrpSpPr/>
            <p:nvPr/>
          </p:nvGrpSpPr>
          <p:grpSpPr>
            <a:xfrm>
              <a:off x="1765300" y="3964304"/>
              <a:ext cx="4035708" cy="3017551"/>
              <a:chOff x="1765300" y="3964304"/>
              <a:chExt cx="4035708" cy="3017551"/>
            </a:xfrm>
          </p:grpSpPr>
          <p:sp>
            <p:nvSpPr>
              <p:cNvPr id="108" name="TextBox 107"/>
              <p:cNvSpPr txBox="1"/>
              <p:nvPr/>
            </p:nvSpPr>
            <p:spPr>
              <a:xfrm>
                <a:off x="4470400" y="46247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09" name="TextBox 108"/>
              <p:cNvSpPr txBox="1"/>
              <p:nvPr/>
            </p:nvSpPr>
            <p:spPr>
              <a:xfrm>
                <a:off x="4876800" y="44215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4673600" y="41548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4381500" y="40913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4889500" y="6457890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>
                <a:off x="3911600" y="62503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14" name="TextBox 113"/>
              <p:cNvSpPr txBox="1"/>
              <p:nvPr/>
            </p:nvSpPr>
            <p:spPr>
              <a:xfrm>
                <a:off x="5473700" y="6581745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15" name="TextBox 114"/>
              <p:cNvSpPr txBox="1"/>
              <p:nvPr/>
            </p:nvSpPr>
            <p:spPr>
              <a:xfrm>
                <a:off x="5181600" y="42564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16" name="TextBox 115"/>
              <p:cNvSpPr txBox="1"/>
              <p:nvPr/>
            </p:nvSpPr>
            <p:spPr>
              <a:xfrm>
                <a:off x="3695700" y="39643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3454400" y="40659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18" name="TextBox 117"/>
              <p:cNvSpPr txBox="1"/>
              <p:nvPr/>
            </p:nvSpPr>
            <p:spPr>
              <a:xfrm>
                <a:off x="3073400" y="42691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19" name="TextBox 118"/>
              <p:cNvSpPr txBox="1"/>
              <p:nvPr/>
            </p:nvSpPr>
            <p:spPr>
              <a:xfrm>
                <a:off x="2717800" y="44469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20" name="TextBox 119"/>
              <p:cNvSpPr txBox="1"/>
              <p:nvPr/>
            </p:nvSpPr>
            <p:spPr>
              <a:xfrm>
                <a:off x="2400300" y="45866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21" name="TextBox 120"/>
              <p:cNvSpPr txBox="1"/>
              <p:nvPr/>
            </p:nvSpPr>
            <p:spPr>
              <a:xfrm>
                <a:off x="2146300" y="47136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22" name="TextBox 121"/>
              <p:cNvSpPr txBox="1"/>
              <p:nvPr/>
            </p:nvSpPr>
            <p:spPr>
              <a:xfrm>
                <a:off x="1765300" y="48914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3136900" y="53232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24" name="TextBox 123"/>
              <p:cNvSpPr txBox="1"/>
              <p:nvPr/>
            </p:nvSpPr>
            <p:spPr>
              <a:xfrm>
                <a:off x="3746500" y="50057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25" name="TextBox 124"/>
              <p:cNvSpPr txBox="1"/>
              <p:nvPr/>
            </p:nvSpPr>
            <p:spPr>
              <a:xfrm>
                <a:off x="4127500" y="48152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>
                <a:off x="2146300" y="55137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3441700" y="51581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>
                <a:off x="3124200" y="59074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2628900" y="57169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3149600" y="56153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31" name="TextBox 130"/>
              <p:cNvSpPr txBox="1"/>
              <p:nvPr/>
            </p:nvSpPr>
            <p:spPr>
              <a:xfrm>
                <a:off x="3708400" y="61614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32" name="TextBox 131"/>
              <p:cNvSpPr txBox="1"/>
              <p:nvPr/>
            </p:nvSpPr>
            <p:spPr>
              <a:xfrm>
                <a:off x="3822700" y="59074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33" name="TextBox 132"/>
              <p:cNvSpPr txBox="1"/>
              <p:nvPr/>
            </p:nvSpPr>
            <p:spPr>
              <a:xfrm>
                <a:off x="3467100" y="57550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34" name="TextBox 133"/>
              <p:cNvSpPr txBox="1"/>
              <p:nvPr/>
            </p:nvSpPr>
            <p:spPr>
              <a:xfrm>
                <a:off x="4343400" y="63519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35" name="TextBox 134"/>
              <p:cNvSpPr txBox="1"/>
              <p:nvPr/>
            </p:nvSpPr>
            <p:spPr>
              <a:xfrm>
                <a:off x="4660900" y="62503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36" name="TextBox 135"/>
              <p:cNvSpPr txBox="1"/>
              <p:nvPr/>
            </p:nvSpPr>
            <p:spPr>
              <a:xfrm>
                <a:off x="4229100" y="60725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37" name="TextBox 136"/>
              <p:cNvSpPr txBox="1"/>
              <p:nvPr/>
            </p:nvSpPr>
            <p:spPr>
              <a:xfrm>
                <a:off x="4025900" y="40278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</p:grpSp>
      </p:grpSp>
      <p:cxnSp>
        <p:nvCxnSpPr>
          <p:cNvPr id="142" name="Straight Connector 141"/>
          <p:cNvCxnSpPr/>
          <p:nvPr/>
        </p:nvCxnSpPr>
        <p:spPr bwMode="auto">
          <a:xfrm>
            <a:off x="6197600" y="6121400"/>
            <a:ext cx="2451100" cy="254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3" name="TextBox 142"/>
          <p:cNvSpPr txBox="1"/>
          <p:nvPr/>
        </p:nvSpPr>
        <p:spPr>
          <a:xfrm>
            <a:off x="6134100" y="6108700"/>
            <a:ext cx="2748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Reflex face (line, plane, …)</a:t>
            </a:r>
            <a:endParaRPr lang="en-US" sz="1800" dirty="0"/>
          </a:p>
        </p:txBody>
      </p:sp>
      <p:sp>
        <p:nvSpPr>
          <p:cNvPr id="147" name="TextBox 146"/>
          <p:cNvSpPr txBox="1"/>
          <p:nvPr/>
        </p:nvSpPr>
        <p:spPr>
          <a:xfrm>
            <a:off x="7010400" y="4573904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lang="en-US" sz="2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grpSp>
        <p:nvGrpSpPr>
          <p:cNvPr id="151" name="Group 150"/>
          <p:cNvGrpSpPr/>
          <p:nvPr/>
        </p:nvGrpSpPr>
        <p:grpSpPr>
          <a:xfrm>
            <a:off x="7162800" y="4813300"/>
            <a:ext cx="312906" cy="1320800"/>
            <a:chOff x="7162800" y="4813300"/>
            <a:chExt cx="312906" cy="1320800"/>
          </a:xfrm>
        </p:grpSpPr>
        <p:cxnSp>
          <p:nvCxnSpPr>
            <p:cNvPr id="149" name="Straight Connector 148"/>
            <p:cNvCxnSpPr/>
            <p:nvPr/>
          </p:nvCxnSpPr>
          <p:spPr bwMode="auto">
            <a:xfrm>
              <a:off x="7162800" y="4813300"/>
              <a:ext cx="12700" cy="13208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0" name="TextBox 149"/>
            <p:cNvSpPr txBox="1"/>
            <p:nvPr/>
          </p:nvSpPr>
          <p:spPr>
            <a:xfrm>
              <a:off x="7162800" y="568960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p</a:t>
              </a:r>
              <a:endParaRPr lang="en-US" sz="2000" dirty="0"/>
            </a:p>
          </p:txBody>
        </p:sp>
      </p:grpSp>
      <p:grpSp>
        <p:nvGrpSpPr>
          <p:cNvPr id="158" name="Group 157"/>
          <p:cNvGrpSpPr/>
          <p:nvPr/>
        </p:nvGrpSpPr>
        <p:grpSpPr>
          <a:xfrm>
            <a:off x="5880100" y="5143500"/>
            <a:ext cx="3263900" cy="1955800"/>
            <a:chOff x="5880100" y="5143500"/>
            <a:chExt cx="3263900" cy="1955800"/>
          </a:xfrm>
        </p:grpSpPr>
        <p:grpSp>
          <p:nvGrpSpPr>
            <p:cNvPr id="155" name="Group 154"/>
            <p:cNvGrpSpPr/>
            <p:nvPr/>
          </p:nvGrpSpPr>
          <p:grpSpPr>
            <a:xfrm>
              <a:off x="5880100" y="5143500"/>
              <a:ext cx="3263900" cy="1955800"/>
              <a:chOff x="5880100" y="5143500"/>
              <a:chExt cx="3263900" cy="1955800"/>
            </a:xfrm>
          </p:grpSpPr>
          <p:sp>
            <p:nvSpPr>
              <p:cNvPr id="152" name="TextBox 151"/>
              <p:cNvSpPr txBox="1"/>
              <p:nvPr/>
            </p:nvSpPr>
            <p:spPr>
              <a:xfrm>
                <a:off x="8001000" y="5894704"/>
                <a:ext cx="32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  <a:latin typeface="Arial"/>
                    <a:cs typeface="Arial"/>
                  </a:rPr>
                  <a:t>x</a:t>
                </a:r>
                <a:endParaRPr lang="en-US" sz="2000" dirty="0">
                  <a:solidFill>
                    <a:srgbClr val="FF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53" name="Oval 152"/>
              <p:cNvSpPr>
                <a:spLocks noChangeAspect="1"/>
              </p:cNvSpPr>
              <p:nvPr/>
            </p:nvSpPr>
            <p:spPr bwMode="auto">
              <a:xfrm>
                <a:off x="7188200" y="5143500"/>
                <a:ext cx="1955800" cy="1955800"/>
              </a:xfrm>
              <a:prstGeom prst="ellipse">
                <a:avLst/>
              </a:prstGeom>
              <a:solidFill>
                <a:schemeClr val="accent1">
                  <a:alpha val="3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154" name="TextBox 153"/>
              <p:cNvSpPr txBox="1"/>
              <p:nvPr/>
            </p:nvSpPr>
            <p:spPr>
              <a:xfrm>
                <a:off x="5880100" y="5765800"/>
                <a:ext cx="132442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i="1" dirty="0" smtClean="0"/>
                  <a:t>r</a:t>
                </a:r>
                <a:r>
                  <a:rPr lang="en-US" sz="1600" i="1" baseline="-25000" dirty="0" smtClean="0"/>
                  <a:t>e</a:t>
                </a:r>
                <a:r>
                  <a:rPr lang="en-US" sz="1600" baseline="-25000" dirty="0" smtClean="0"/>
                  <a:t> </a:t>
                </a:r>
                <a:r>
                  <a:rPr lang="en-US" sz="1600" dirty="0" err="1" smtClean="0"/>
                  <a:t>maximality</a:t>
                </a:r>
                <a:endParaRPr lang="en-US" sz="1600" dirty="0"/>
              </a:p>
            </p:txBody>
          </p:sp>
        </p:grpSp>
        <p:graphicFrame>
          <p:nvGraphicFramePr>
            <p:cNvPr id="157" name="Object 1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2420876"/>
                </p:ext>
              </p:extLst>
            </p:nvPr>
          </p:nvGraphicFramePr>
          <p:xfrm>
            <a:off x="7524750" y="5823284"/>
            <a:ext cx="425450" cy="3806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0" name="Equation" r:id="rId18" imgW="241300" imgH="215900" progId="Equation.3">
                    <p:embed/>
                  </p:oleObj>
                </mc:Choice>
                <mc:Fallback>
                  <p:oleObj name="Equation" r:id="rId18" imgW="241300" imgH="21590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7524750" y="5823284"/>
                          <a:ext cx="425450" cy="38066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4" name="Group 163"/>
          <p:cNvGrpSpPr/>
          <p:nvPr/>
        </p:nvGrpSpPr>
        <p:grpSpPr>
          <a:xfrm>
            <a:off x="6673850" y="4610100"/>
            <a:ext cx="3035300" cy="3035300"/>
            <a:chOff x="6642100" y="4597400"/>
            <a:chExt cx="3035300" cy="3035300"/>
          </a:xfrm>
        </p:grpSpPr>
        <p:grpSp>
          <p:nvGrpSpPr>
            <p:cNvPr id="162" name="Group 161"/>
            <p:cNvGrpSpPr/>
            <p:nvPr/>
          </p:nvGrpSpPr>
          <p:grpSpPr>
            <a:xfrm>
              <a:off x="6642100" y="4597400"/>
              <a:ext cx="3035300" cy="3035300"/>
              <a:chOff x="6642100" y="4597400"/>
              <a:chExt cx="3035300" cy="3035300"/>
            </a:xfrm>
          </p:grpSpPr>
          <p:sp>
            <p:nvSpPr>
              <p:cNvPr id="156" name="Oval 155"/>
              <p:cNvSpPr>
                <a:spLocks noChangeAspect="1"/>
              </p:cNvSpPr>
              <p:nvPr/>
            </p:nvSpPr>
            <p:spPr bwMode="auto">
              <a:xfrm>
                <a:off x="6642100" y="4597400"/>
                <a:ext cx="3035300" cy="3035300"/>
              </a:xfrm>
              <a:prstGeom prst="ellipse">
                <a:avLst/>
              </a:prstGeom>
              <a:solidFill>
                <a:schemeClr val="accent1">
                  <a:alpha val="3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159" name="TextBox 158"/>
              <p:cNvSpPr txBox="1"/>
              <p:nvPr/>
            </p:nvSpPr>
            <p:spPr>
              <a:xfrm>
                <a:off x="7315200" y="4648200"/>
                <a:ext cx="10587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i="1" dirty="0" smtClean="0"/>
                  <a:t>r</a:t>
                </a:r>
                <a:r>
                  <a:rPr lang="en-US" sz="1600" dirty="0" smtClean="0"/>
                  <a:t> disk-free</a:t>
                </a:r>
                <a:endParaRPr lang="en-US" sz="1600" dirty="0"/>
              </a:p>
            </p:txBody>
          </p:sp>
          <p:cxnSp>
            <p:nvCxnSpPr>
              <p:cNvPr id="161" name="Straight Connector 160"/>
              <p:cNvCxnSpPr/>
              <p:nvPr/>
            </p:nvCxnSpPr>
            <p:spPr bwMode="auto">
              <a:xfrm flipH="1" flipV="1">
                <a:off x="7131050" y="4800600"/>
                <a:ext cx="996950" cy="13335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aphicFrame>
          <p:nvGraphicFramePr>
            <p:cNvPr id="163" name="Object 1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7535952"/>
                </p:ext>
              </p:extLst>
            </p:nvPr>
          </p:nvGraphicFramePr>
          <p:xfrm>
            <a:off x="7708900" y="5295900"/>
            <a:ext cx="57150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1" name="Equation" r:id="rId20" imgW="228600" imgH="127000" progId="Equation.3">
                    <p:embed/>
                  </p:oleObj>
                </mc:Choice>
                <mc:Fallback>
                  <p:oleObj name="Equation" r:id="rId20" imgW="228600" imgH="12700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7708900" y="5295900"/>
                          <a:ext cx="571500" cy="317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7" name="Object 1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8512805"/>
              </p:ext>
            </p:extLst>
          </p:nvPr>
        </p:nvGraphicFramePr>
        <p:xfrm>
          <a:off x="5421313" y="4787900"/>
          <a:ext cx="170973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2" name="Equation" r:id="rId22" imgW="1079500" imgH="635000" progId="Equation.3">
                  <p:embed/>
                </p:oleObj>
              </mc:Choice>
              <mc:Fallback>
                <p:oleObj name="Equation" r:id="rId22" imgW="1079500" imgH="6350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421313" y="4787900"/>
                        <a:ext cx="1709737" cy="100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796680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1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8588"/>
            <a:ext cx="7772400" cy="1014412"/>
          </a:xfrm>
        </p:spPr>
        <p:txBody>
          <a:bodyPr/>
          <a:lstStyle/>
          <a:p>
            <a:r>
              <a:rPr lang="en-US" dirty="0"/>
              <a:t> Bonus: Convex </a:t>
            </a:r>
            <a:r>
              <a:rPr lang="en-US" dirty="0" smtClean="0"/>
              <a:t>Cells</a:t>
            </a:r>
            <a:br>
              <a:rPr lang="en-US" dirty="0" smtClean="0"/>
            </a:br>
            <a:r>
              <a:rPr lang="en-US" dirty="0" smtClean="0"/>
              <a:t>Paper: star-shaped cells at reflex faces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00" y="1168400"/>
            <a:ext cx="7772400" cy="2679700"/>
          </a:xfrm>
        </p:spPr>
        <p:txBody>
          <a:bodyPr/>
          <a:lstStyle/>
          <a:p>
            <a:r>
              <a:rPr lang="en-US" dirty="0"/>
              <a:t>Clipping by </a:t>
            </a:r>
            <a:r>
              <a:rPr lang="en-US" dirty="0" smtClean="0"/>
              <a:t>boundary</a:t>
            </a:r>
          </a:p>
          <a:p>
            <a:pPr lvl="1"/>
            <a:r>
              <a:rPr lang="en-US" dirty="0" smtClean="0"/>
              <a:t>By prior page only non-reflex (convex) boundary features affect interior samples</a:t>
            </a:r>
          </a:p>
          <a:p>
            <a:pPr lvl="1"/>
            <a:r>
              <a:rPr lang="en-US" dirty="0" smtClean="0"/>
              <a:t>Intersection of convex </a:t>
            </a:r>
            <a:r>
              <a:rPr lang="en-US" dirty="0" err="1" smtClean="0"/>
              <a:t>Voronoi</a:t>
            </a:r>
            <a:r>
              <a:rPr lang="en-US" dirty="0" smtClean="0"/>
              <a:t> cell w/ convex boundary = convex clipped cell</a:t>
            </a:r>
          </a:p>
          <a:p>
            <a:r>
              <a:rPr lang="en-US" dirty="0" smtClean="0"/>
              <a:t>Symbolic duplication of reflex samples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542" y="4191000"/>
            <a:ext cx="2820458" cy="2082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199" y="3505199"/>
            <a:ext cx="3010595" cy="169528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3100" y="5099364"/>
            <a:ext cx="3062452" cy="1758636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 bwMode="auto">
          <a:xfrm flipV="1">
            <a:off x="114300" y="4038600"/>
            <a:ext cx="3022600" cy="7620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1384300" y="410210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tx2"/>
                </a:solidFill>
                <a:latin typeface="+mn-lt"/>
              </a:rPr>
              <a:t>x</a:t>
            </a:r>
            <a:endParaRPr lang="en-US" sz="32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825500" y="3708400"/>
            <a:ext cx="1295400" cy="1320800"/>
          </a:xfrm>
          <a:custGeom>
            <a:avLst/>
            <a:gdLst>
              <a:gd name="connsiteX0" fmla="*/ 0 w 1295400"/>
              <a:gd name="connsiteY0" fmla="*/ 419100 h 1320800"/>
              <a:gd name="connsiteX1" fmla="*/ 317500 w 1295400"/>
              <a:gd name="connsiteY1" fmla="*/ 1231900 h 1320800"/>
              <a:gd name="connsiteX2" fmla="*/ 825500 w 1295400"/>
              <a:gd name="connsiteY2" fmla="*/ 1320800 h 1320800"/>
              <a:gd name="connsiteX3" fmla="*/ 1295400 w 1295400"/>
              <a:gd name="connsiteY3" fmla="*/ 889000 h 1320800"/>
              <a:gd name="connsiteX4" fmla="*/ 1181100 w 1295400"/>
              <a:gd name="connsiteY4" fmla="*/ 431800 h 1320800"/>
              <a:gd name="connsiteX5" fmla="*/ 673100 w 1295400"/>
              <a:gd name="connsiteY5" fmla="*/ 0 h 1320800"/>
              <a:gd name="connsiteX6" fmla="*/ 0 w 1295400"/>
              <a:gd name="connsiteY6" fmla="*/ 41910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5400" h="1320800">
                <a:moveTo>
                  <a:pt x="0" y="419100"/>
                </a:moveTo>
                <a:lnTo>
                  <a:pt x="317500" y="1231900"/>
                </a:lnTo>
                <a:lnTo>
                  <a:pt x="825500" y="1320800"/>
                </a:lnTo>
                <a:lnTo>
                  <a:pt x="1295400" y="889000"/>
                </a:lnTo>
                <a:lnTo>
                  <a:pt x="1181100" y="431800"/>
                </a:lnTo>
                <a:lnTo>
                  <a:pt x="673100" y="0"/>
                </a:lnTo>
                <a:lnTo>
                  <a:pt x="0" y="419100"/>
                </a:lnTo>
                <a:close/>
              </a:path>
            </a:pathLst>
          </a:custGeom>
          <a:ln w="25400">
            <a:solidFill>
              <a:schemeClr val="tx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14" name="Straight Connector 13"/>
          <p:cNvCxnSpPr/>
          <p:nvPr/>
        </p:nvCxnSpPr>
        <p:spPr bwMode="auto">
          <a:xfrm flipV="1">
            <a:off x="127000" y="5689600"/>
            <a:ext cx="3022600" cy="7620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435100" y="586740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tx2"/>
                </a:solidFill>
                <a:latin typeface="+mn-lt"/>
              </a:rPr>
              <a:t>x</a:t>
            </a:r>
            <a:endParaRPr lang="en-US" sz="32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838200" y="5359400"/>
            <a:ext cx="1295400" cy="1320800"/>
          </a:xfrm>
          <a:custGeom>
            <a:avLst/>
            <a:gdLst>
              <a:gd name="connsiteX0" fmla="*/ 0 w 1295400"/>
              <a:gd name="connsiteY0" fmla="*/ 419100 h 1320800"/>
              <a:gd name="connsiteX1" fmla="*/ 317500 w 1295400"/>
              <a:gd name="connsiteY1" fmla="*/ 1231900 h 1320800"/>
              <a:gd name="connsiteX2" fmla="*/ 825500 w 1295400"/>
              <a:gd name="connsiteY2" fmla="*/ 1320800 h 1320800"/>
              <a:gd name="connsiteX3" fmla="*/ 1295400 w 1295400"/>
              <a:gd name="connsiteY3" fmla="*/ 889000 h 1320800"/>
              <a:gd name="connsiteX4" fmla="*/ 1181100 w 1295400"/>
              <a:gd name="connsiteY4" fmla="*/ 431800 h 1320800"/>
              <a:gd name="connsiteX5" fmla="*/ 673100 w 1295400"/>
              <a:gd name="connsiteY5" fmla="*/ 0 h 1320800"/>
              <a:gd name="connsiteX6" fmla="*/ 0 w 1295400"/>
              <a:gd name="connsiteY6" fmla="*/ 41910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5400" h="1320800">
                <a:moveTo>
                  <a:pt x="0" y="419100"/>
                </a:moveTo>
                <a:lnTo>
                  <a:pt x="317500" y="1231900"/>
                </a:lnTo>
                <a:lnTo>
                  <a:pt x="825500" y="1320800"/>
                </a:lnTo>
                <a:lnTo>
                  <a:pt x="1295400" y="889000"/>
                </a:lnTo>
                <a:lnTo>
                  <a:pt x="1181100" y="431800"/>
                </a:lnTo>
                <a:lnTo>
                  <a:pt x="673100" y="0"/>
                </a:lnTo>
                <a:lnTo>
                  <a:pt x="0" y="419100"/>
                </a:lnTo>
                <a:close/>
              </a:path>
            </a:pathLst>
          </a:custGeom>
          <a:ln w="25400">
            <a:solidFill>
              <a:schemeClr val="tx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84300" y="560070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tx2"/>
                </a:solidFill>
                <a:latin typeface="+mn-lt"/>
              </a:rPr>
              <a:t>x</a:t>
            </a:r>
            <a:endParaRPr lang="en-US" sz="3200" dirty="0">
              <a:solidFill>
                <a:schemeClr val="tx2"/>
              </a:solidFill>
              <a:latin typeface="+mn-lt"/>
            </a:endParaRPr>
          </a:p>
        </p:txBody>
      </p:sp>
      <p:cxnSp>
        <p:nvCxnSpPr>
          <p:cNvPr id="19" name="Straight Connector 18"/>
          <p:cNvCxnSpPr/>
          <p:nvPr/>
        </p:nvCxnSpPr>
        <p:spPr bwMode="auto">
          <a:xfrm flipV="1">
            <a:off x="1016000" y="5969000"/>
            <a:ext cx="1041400" cy="25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8627150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Voronoi</a:t>
            </a:r>
            <a:r>
              <a:rPr lang="en-US" dirty="0" smtClean="0"/>
              <a:t> Quality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250" y="1187450"/>
            <a:ext cx="7772400" cy="4572000"/>
          </a:xfrm>
        </p:spPr>
        <p:txBody>
          <a:bodyPr/>
          <a:lstStyle/>
          <a:p>
            <a:r>
              <a:rPr lang="en-US" dirty="0"/>
              <a:t>Provable facet dihedral angle bounds</a:t>
            </a:r>
          </a:p>
          <a:p>
            <a:r>
              <a:rPr lang="en-US" dirty="0" smtClean="0"/>
              <a:t>Provable cell aspect ratios</a:t>
            </a:r>
          </a:p>
        </p:txBody>
      </p:sp>
      <p:pic>
        <p:nvPicPr>
          <p:cNvPr id="7" name="Picture 6" descr="mesh_0-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3026952"/>
            <a:ext cx="1670049" cy="1646001"/>
          </a:xfrm>
          <a:prstGeom prst="rect">
            <a:avLst/>
          </a:prstGeom>
        </p:spPr>
      </p:pic>
      <p:pic>
        <p:nvPicPr>
          <p:cNvPr id="8" name="Picture 7" descr="mesh_clipped_0-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50" y="4733616"/>
            <a:ext cx="1746250" cy="1927534"/>
          </a:xfrm>
          <a:prstGeom prst="rect">
            <a:avLst/>
          </a:prstGeom>
        </p:spPr>
      </p:pic>
      <p:pic>
        <p:nvPicPr>
          <p:cNvPr id="9" name="Picture 8" descr="mesh_clipped_0-3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550" y="4752272"/>
            <a:ext cx="1504950" cy="1769178"/>
          </a:xfrm>
          <a:prstGeom prst="rect">
            <a:avLst/>
          </a:prstGeom>
        </p:spPr>
      </p:pic>
      <p:pic>
        <p:nvPicPr>
          <p:cNvPr id="10" name="Picture 9" descr="mesh_0-3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250" y="3034653"/>
            <a:ext cx="1651000" cy="1651000"/>
          </a:xfrm>
          <a:prstGeom prst="rect">
            <a:avLst/>
          </a:prstGeom>
        </p:spPr>
      </p:pic>
      <p:pic>
        <p:nvPicPr>
          <p:cNvPr id="12" name="Picture 11" descr="mesh_wb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954" y="3835949"/>
            <a:ext cx="4106075" cy="236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798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7788"/>
            <a:ext cx="7772400" cy="1014412"/>
          </a:xfrm>
        </p:spPr>
        <p:txBody>
          <a:bodyPr/>
          <a:lstStyle/>
          <a:p>
            <a:r>
              <a:rPr lang="en-US" dirty="0" smtClean="0"/>
              <a:t>Quality proof idea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524000"/>
            <a:ext cx="7772400" cy="4572000"/>
          </a:xfrm>
        </p:spPr>
        <p:txBody>
          <a:bodyPr/>
          <a:lstStyle/>
          <a:p>
            <a:pPr marL="457200" lvl="1" indent="0">
              <a:buNone/>
            </a:pPr>
            <a:endParaRPr lang="en-US" sz="1000" dirty="0"/>
          </a:p>
          <a:p>
            <a:pPr marL="457200" lvl="1" indent="0">
              <a:buNone/>
            </a:pPr>
            <a:endParaRPr lang="en-US" sz="2000" dirty="0"/>
          </a:p>
          <a:p>
            <a:pPr lvl="1"/>
            <a:r>
              <a:rPr lang="en-US" sz="2000" dirty="0" smtClean="0"/>
              <a:t>“Maximality” </a:t>
            </a:r>
            <a:r>
              <a:rPr lang="en-US" sz="2000" dirty="0"/>
              <a:t>bounds </a:t>
            </a:r>
            <a:r>
              <a:rPr lang="en-US" sz="2000" dirty="0" smtClean="0"/>
              <a:t>the maximum distance </a:t>
            </a:r>
            <a:r>
              <a:rPr lang="en-US" sz="2000" dirty="0"/>
              <a:t>from </a:t>
            </a:r>
            <a:br>
              <a:rPr lang="en-US" sz="2000" dirty="0"/>
            </a:br>
            <a:r>
              <a:rPr lang="en-US" sz="2000" dirty="0"/>
              <a:t> </a:t>
            </a:r>
            <a:r>
              <a:rPr lang="en-US" sz="2000" dirty="0" smtClean="0"/>
              <a:t> </a:t>
            </a:r>
            <a:r>
              <a:rPr lang="en-US" sz="2000" dirty="0" err="1" smtClean="0"/>
              <a:t>Voronoi</a:t>
            </a:r>
            <a:r>
              <a:rPr lang="en-US" sz="2000" dirty="0" smtClean="0"/>
              <a:t> cell</a:t>
            </a:r>
            <a:r>
              <a:rPr lang="en-US" sz="2000" dirty="0"/>
              <a:t> </a:t>
            </a:r>
            <a:r>
              <a:rPr lang="en-US" sz="2000" dirty="0" smtClean="0"/>
              <a:t>seed to its vertices</a:t>
            </a:r>
            <a:br>
              <a:rPr lang="en-US" sz="2000" dirty="0" smtClean="0"/>
            </a:br>
            <a:r>
              <a:rPr lang="en-US" sz="2000" dirty="0" smtClean="0"/>
              <a:t>= Delaunay vertex to circle center</a:t>
            </a:r>
            <a:endParaRPr lang="en-US" sz="2000" dirty="0"/>
          </a:p>
          <a:p>
            <a:pPr lvl="1"/>
            <a:r>
              <a:rPr lang="en-US" sz="2000" dirty="0" smtClean="0"/>
              <a:t>“Disk-free” bounds the minimum distance between </a:t>
            </a:r>
            <a:br>
              <a:rPr lang="en-US" sz="2000" dirty="0" smtClean="0"/>
            </a:br>
            <a:r>
              <a:rPr lang="en-US" sz="2000" dirty="0" smtClean="0"/>
              <a:t>two seeds</a:t>
            </a:r>
            <a:br>
              <a:rPr lang="en-US" sz="2000" dirty="0" smtClean="0"/>
            </a:br>
            <a:r>
              <a:rPr lang="en-US" sz="2000" dirty="0" smtClean="0"/>
              <a:t>= a Delaunay edge</a:t>
            </a:r>
            <a:endParaRPr lang="en-US" sz="2000" dirty="0"/>
          </a:p>
          <a:p>
            <a:endParaRPr lang="en-US" sz="2000" dirty="0"/>
          </a:p>
        </p:txBody>
      </p:sp>
      <p:grpSp>
        <p:nvGrpSpPr>
          <p:cNvPr id="7" name="Group 6"/>
          <p:cNvGrpSpPr/>
          <p:nvPr/>
        </p:nvGrpSpPr>
        <p:grpSpPr>
          <a:xfrm>
            <a:off x="5866891" y="1254173"/>
            <a:ext cx="3111879" cy="719490"/>
            <a:chOff x="1388986" y="2839655"/>
            <a:chExt cx="3111879" cy="71949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88986" y="3189939"/>
              <a:ext cx="3111879" cy="369206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2062725" y="2839655"/>
              <a:ext cx="11666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err="1"/>
                <a:t>Voronoi</a:t>
              </a:r>
              <a:r>
                <a:rPr lang="en-US" sz="1800" dirty="0"/>
                <a:t>:</a:t>
              </a:r>
            </a:p>
          </p:txBody>
        </p:sp>
      </p:grpSp>
      <p:pic>
        <p:nvPicPr>
          <p:cNvPr id="8" name="Picture 7" descr="dihedral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650" y="4508500"/>
            <a:ext cx="1784350" cy="22487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4000" y="4152900"/>
            <a:ext cx="3879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Voronoi</a:t>
            </a:r>
            <a:r>
              <a:rPr lang="en-US" dirty="0" smtClean="0"/>
              <a:t> facet dihedral angles: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9800" y="3822700"/>
            <a:ext cx="33296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Delaunay triangle angles: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8900" y="4051299"/>
            <a:ext cx="2235200" cy="242320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099" y="825500"/>
            <a:ext cx="4964451" cy="1206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56200" y="6358235"/>
            <a:ext cx="1620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as Chew 89</a:t>
            </a:r>
          </a:p>
        </p:txBody>
      </p:sp>
    </p:spTree>
    <p:extLst>
      <p:ext uri="{BB962C8B-B14F-4D97-AF65-F5344CB8AC3E}">
        <p14:creationId xmlns:p14="http://schemas.microsoft.com/office/powerpoint/2010/main" val="387575128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1288"/>
            <a:ext cx="7772400" cy="1014412"/>
          </a:xfrm>
        </p:spPr>
        <p:txBody>
          <a:bodyPr/>
          <a:lstStyle/>
          <a:p>
            <a:r>
              <a:rPr lang="en-US" dirty="0" smtClean="0"/>
              <a:t>Aspect Ratio Proofs </a:t>
            </a:r>
            <a:br>
              <a:rPr lang="en-US" dirty="0" smtClean="0"/>
            </a:br>
            <a:r>
              <a:rPr lang="en-US" dirty="0" smtClean="0"/>
              <a:t>(star-shaped cells)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800" y="1181100"/>
            <a:ext cx="8432800" cy="4572000"/>
          </a:xfrm>
        </p:spPr>
        <p:txBody>
          <a:bodyPr/>
          <a:lstStyle/>
          <a:p>
            <a:r>
              <a:rPr lang="en-US" dirty="0"/>
              <a:t>Aspect </a:t>
            </a:r>
            <a:r>
              <a:rPr lang="en-US" dirty="0" smtClean="0"/>
              <a:t>ratio</a:t>
            </a:r>
          </a:p>
          <a:p>
            <a:pPr lvl="1"/>
            <a:r>
              <a:rPr lang="en-US" dirty="0" smtClean="0"/>
              <a:t>Circumscribed sphere radius &lt; r </a:t>
            </a:r>
            <a:r>
              <a:rPr lang="en-US" sz="1800" dirty="0" smtClean="0"/>
              <a:t>(from </a:t>
            </a:r>
            <a:r>
              <a:rPr lang="en-US" sz="1800" dirty="0" err="1" smtClean="0"/>
              <a:t>maximality</a:t>
            </a:r>
            <a:r>
              <a:rPr lang="en-US" sz="1800" dirty="0" smtClean="0"/>
              <a:t>)</a:t>
            </a:r>
            <a:endParaRPr lang="en-US" dirty="0" smtClean="0"/>
          </a:p>
          <a:p>
            <a:pPr lvl="1"/>
            <a:r>
              <a:rPr lang="en-US" dirty="0" smtClean="0"/>
              <a:t>Inscribed sphere radius &gt; some factor r </a:t>
            </a:r>
            <a:r>
              <a:rPr lang="en-US" sz="1800" dirty="0" smtClean="0"/>
              <a:t>(from disk-free)</a:t>
            </a:r>
            <a:r>
              <a:rPr lang="en-US" dirty="0" smtClean="0"/>
              <a:t> 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b="0" dirty="0" smtClean="0"/>
              <a:t>If cell is interior: r/2</a:t>
            </a:r>
            <a:endParaRPr lang="en-US" b="0" dirty="0"/>
          </a:p>
          <a:p>
            <a:endParaRPr lang="en-US" b="0" dirty="0"/>
          </a:p>
        </p:txBody>
      </p:sp>
      <p:pic>
        <p:nvPicPr>
          <p:cNvPr id="4" name="Picture 3" descr="insphere-plane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21" y="2971800"/>
            <a:ext cx="2925817" cy="1663700"/>
          </a:xfrm>
          <a:prstGeom prst="rect">
            <a:avLst/>
          </a:prstGeom>
        </p:spPr>
      </p:pic>
      <p:pic>
        <p:nvPicPr>
          <p:cNvPr id="5" name="Picture 4" descr="insphere-cone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3225800"/>
            <a:ext cx="3027218" cy="1447800"/>
          </a:xfrm>
          <a:prstGeom prst="rect">
            <a:avLst/>
          </a:prstGeom>
        </p:spPr>
      </p:pic>
      <p:pic>
        <p:nvPicPr>
          <p:cNvPr id="6" name="Picture 5" descr="insphere-cone-fs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349500"/>
            <a:ext cx="2722510" cy="2476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15100" y="4711700"/>
            <a:ext cx="2757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Facets of one vertex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1600" y="4724400"/>
            <a:ext cx="3249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Clipped by one facet: r/4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352800" y="4749800"/>
            <a:ext cx="2569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Facets of one edge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39700" y="5194300"/>
            <a:ext cx="396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Disjoint facets: feature size </a:t>
            </a:r>
            <a:r>
              <a:rPr lang="en-US" i="1" dirty="0" err="1" smtClean="0"/>
              <a:t>fs</a:t>
            </a:r>
            <a:endParaRPr lang="en-US" i="1" dirty="0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842164"/>
              </p:ext>
            </p:extLst>
          </p:nvPr>
        </p:nvGraphicFramePr>
        <p:xfrm>
          <a:off x="1911349" y="5727700"/>
          <a:ext cx="540011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name="Equation" r:id="rId7" imgW="2324100" imgH="431800" progId="Equation.3">
                  <p:embed/>
                </p:oleObj>
              </mc:Choice>
              <mc:Fallback>
                <p:oleObj name="Equation" r:id="rId7" imgW="2324100" imgH="431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11349" y="5727700"/>
                        <a:ext cx="5400115" cy="100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971918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Interior cells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lit-r-interior-0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1297531"/>
            <a:ext cx="8399203" cy="506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80461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Interior cells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big-r-interior-0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9" y="1314304"/>
            <a:ext cx="8394701" cy="504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13924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-interior-0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9" b="1229"/>
          <a:stretch>
            <a:fillRect/>
          </a:stretch>
        </p:blipFill>
        <p:spPr bwMode="auto">
          <a:xfrm>
            <a:off x="38100" y="1371600"/>
            <a:ext cx="8376918" cy="49275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7195377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" y="151408"/>
            <a:ext cx="5270500" cy="1014412"/>
          </a:xfrm>
        </p:spPr>
        <p:txBody>
          <a:bodyPr/>
          <a:lstStyle/>
          <a:p>
            <a:r>
              <a:rPr lang="en-US" dirty="0" smtClean="0"/>
              <a:t>Observed</a:t>
            </a:r>
            <a:br>
              <a:rPr lang="en-US" dirty="0" smtClean="0"/>
            </a:br>
            <a:r>
              <a:rPr lang="en-US" dirty="0" smtClean="0"/>
              <a:t>Aspect </a:t>
            </a:r>
            <a:r>
              <a:rPr lang="en-US" dirty="0"/>
              <a:t>Ratio</a:t>
            </a:r>
          </a:p>
        </p:txBody>
      </p:sp>
      <p:pic>
        <p:nvPicPr>
          <p:cNvPr id="4" name="Content Placeholder 3" descr="A-interior-02.pdf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9" b="1229"/>
          <a:stretch>
            <a:fillRect/>
          </a:stretch>
        </p:blipFill>
        <p:spPr>
          <a:xfrm>
            <a:off x="115615" y="4121479"/>
            <a:ext cx="4502100" cy="2648294"/>
          </a:xfrm>
        </p:spPr>
      </p:pic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9077574"/>
              </p:ext>
            </p:extLst>
          </p:nvPr>
        </p:nvGraphicFramePr>
        <p:xfrm>
          <a:off x="3743885" y="139700"/>
          <a:ext cx="540011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6" name="Equation" r:id="rId5" imgW="2324100" imgH="431800" progId="Equation.3">
                  <p:embed/>
                </p:oleObj>
              </mc:Choice>
              <mc:Fallback>
                <p:oleObj name="Equation" r:id="rId5" imgW="2324100" imgH="431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43885" y="139700"/>
                        <a:ext cx="5400115" cy="100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A-fringe-02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700" y="4074083"/>
            <a:ext cx="4559300" cy="2749502"/>
          </a:xfrm>
          <a:prstGeom prst="rect">
            <a:avLst/>
          </a:prstGeom>
        </p:spPr>
      </p:pic>
      <p:pic>
        <p:nvPicPr>
          <p:cNvPr id="7" name="Picture 6" descr="big-r-interior-02.pdf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699331"/>
            <a:ext cx="2305050" cy="1390068"/>
          </a:xfrm>
          <a:prstGeom prst="rect">
            <a:avLst/>
          </a:prstGeom>
        </p:spPr>
      </p:pic>
      <p:pic>
        <p:nvPicPr>
          <p:cNvPr id="8" name="Picture 7" descr="big-r-fringe-02.pdf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501" y="2641600"/>
            <a:ext cx="2632434" cy="1587498"/>
          </a:xfrm>
          <a:prstGeom prst="rect">
            <a:avLst/>
          </a:prstGeom>
        </p:spPr>
      </p:pic>
      <p:pic>
        <p:nvPicPr>
          <p:cNvPr id="9" name="Picture 8" descr="lit-r-interior-02.pdf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1179353"/>
            <a:ext cx="2235200" cy="1347945"/>
          </a:xfrm>
          <a:prstGeom prst="rect">
            <a:avLst/>
          </a:prstGeom>
        </p:spPr>
      </p:pic>
      <p:pic>
        <p:nvPicPr>
          <p:cNvPr id="10" name="Picture 9" descr="lit-r-fringe-02.pdf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600" y="1168400"/>
            <a:ext cx="2527138" cy="15239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19500" y="2286000"/>
            <a:ext cx="1712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</a:t>
            </a:r>
            <a:r>
              <a:rPr lang="en-US" sz="1800" dirty="0" smtClean="0"/>
              <a:t>tar-shaped cells</a:t>
            </a:r>
            <a:endParaRPr 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2667000" y="1435100"/>
            <a:ext cx="1176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inradius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730500" y="3009900"/>
            <a:ext cx="1330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outradius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514600" y="4648200"/>
            <a:ext cx="18715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= </a:t>
            </a:r>
            <a:r>
              <a:rPr lang="en-US" dirty="0" err="1" smtClean="0"/>
              <a:t>inradius</a:t>
            </a:r>
            <a:r>
              <a:rPr lang="en-US" dirty="0" smtClean="0"/>
              <a:t> /</a:t>
            </a:r>
          </a:p>
          <a:p>
            <a:r>
              <a:rPr lang="en-US" dirty="0"/>
              <a:t> </a:t>
            </a:r>
            <a:r>
              <a:rPr lang="en-US" dirty="0" smtClean="0"/>
              <a:t>      </a:t>
            </a:r>
            <a:r>
              <a:rPr lang="en-US" dirty="0" err="1" smtClean="0"/>
              <a:t>outradius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77156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7324"/>
            <a:ext cx="7772400" cy="1014412"/>
          </a:xfrm>
        </p:spPr>
        <p:txBody>
          <a:bodyPr/>
          <a:lstStyle/>
          <a:p>
            <a:r>
              <a:rPr lang="en-US"/>
              <a:t>Quality plots</a:t>
            </a:r>
            <a:br>
              <a:rPr lang="en-US"/>
            </a:br>
            <a:r>
              <a:rPr lang="en-US"/>
              <a:t>Dihedral Angles</a:t>
            </a:r>
          </a:p>
        </p:txBody>
      </p:sp>
      <p:pic>
        <p:nvPicPr>
          <p:cNvPr id="4" name="Content Placeholder 3" descr="border-dihedrals-02.pdf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9" b="1229"/>
          <a:stretch>
            <a:fillRect/>
          </a:stretch>
        </p:blipFill>
        <p:spPr>
          <a:xfrm>
            <a:off x="0" y="1238926"/>
            <a:ext cx="4766728" cy="2803958"/>
          </a:xfrm>
        </p:spPr>
      </p:pic>
      <p:pic>
        <p:nvPicPr>
          <p:cNvPr id="5" name="Picture 4" descr="interior-dihedrals-02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358" y="1228031"/>
            <a:ext cx="4710642" cy="2840769"/>
          </a:xfrm>
          <a:prstGeom prst="rect">
            <a:avLst/>
          </a:prstGeom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350667"/>
              </p:ext>
            </p:extLst>
          </p:nvPr>
        </p:nvGraphicFramePr>
        <p:xfrm>
          <a:off x="5812589" y="3943350"/>
          <a:ext cx="2683711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2" name="Equation" r:id="rId6" imgW="1397000" imgH="241300" progId="Equation.3">
                  <p:embed/>
                </p:oleObj>
              </mc:Choice>
              <mc:Fallback>
                <p:oleObj name="Equation" r:id="rId6" imgW="1397000" imgH="2413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12589" y="3943350"/>
                        <a:ext cx="2683711" cy="463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279181"/>
              </p:ext>
            </p:extLst>
          </p:nvPr>
        </p:nvGraphicFramePr>
        <p:xfrm>
          <a:off x="133350" y="4032250"/>
          <a:ext cx="52228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3" name="Equation" r:id="rId8" imgW="2717800" imgH="241300" progId="Equation.3">
                  <p:embed/>
                </p:oleObj>
              </mc:Choice>
              <mc:Fallback>
                <p:oleObj name="Equation" r:id="rId8" imgW="2717800" imgH="2413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3350" y="4032250"/>
                        <a:ext cx="5222875" cy="463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5709521"/>
              </p:ext>
            </p:extLst>
          </p:nvPr>
        </p:nvGraphicFramePr>
        <p:xfrm>
          <a:off x="139700" y="4451350"/>
          <a:ext cx="431958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4" name="Equation" r:id="rId10" imgW="2247900" imgH="241300" progId="Equation.3">
                  <p:embed/>
                </p:oleObj>
              </mc:Choice>
              <mc:Fallback>
                <p:oleObj name="Equation" r:id="rId10" imgW="2247900" imgH="2413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9700" y="4451350"/>
                        <a:ext cx="4319588" cy="463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dihedral.pdf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550" y="4495800"/>
            <a:ext cx="1784350" cy="22487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7000" y="4940300"/>
            <a:ext cx="623545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Recall proofs idea:</a:t>
            </a:r>
          </a:p>
          <a:p>
            <a:r>
              <a:rPr lang="en-US" dirty="0" smtClean="0"/>
              <a:t>Distance from seed to </a:t>
            </a:r>
          </a:p>
          <a:p>
            <a:r>
              <a:rPr lang="en-US" dirty="0" smtClean="0"/>
              <a:t>  cell vertex bounded above by </a:t>
            </a:r>
            <a:r>
              <a:rPr lang="en-US" dirty="0" err="1" smtClean="0"/>
              <a:t>maximality</a:t>
            </a:r>
            <a:endParaRPr lang="en-US" dirty="0" smtClean="0"/>
          </a:p>
          <a:p>
            <a:r>
              <a:rPr lang="en-US" dirty="0" smtClean="0"/>
              <a:t>  cell facet distance bounded below by disk-free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2667000" y="1231900"/>
            <a:ext cx="2422996" cy="2387600"/>
            <a:chOff x="2667000" y="1231900"/>
            <a:chExt cx="2422996" cy="2387600"/>
          </a:xfrm>
        </p:grpSpPr>
        <p:cxnSp>
          <p:nvCxnSpPr>
            <p:cNvPr id="11" name="Straight Connector 10"/>
            <p:cNvCxnSpPr/>
            <p:nvPr/>
          </p:nvCxnSpPr>
          <p:spPr bwMode="auto">
            <a:xfrm>
              <a:off x="2667000" y="1231900"/>
              <a:ext cx="12700" cy="23876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TextBox 11"/>
            <p:cNvSpPr txBox="1"/>
            <p:nvPr/>
          </p:nvSpPr>
          <p:spPr>
            <a:xfrm>
              <a:off x="2667000" y="1333500"/>
              <a:ext cx="24229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If we sampled all domain faces 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then all angles would be 90°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193356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Quality: what’s missing?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800" y="1168400"/>
            <a:ext cx="7772400" cy="4572000"/>
          </a:xfrm>
        </p:spPr>
        <p:txBody>
          <a:bodyPr/>
          <a:lstStyle/>
          <a:p>
            <a:pPr marL="171450" indent="0">
              <a:buNone/>
            </a:pPr>
            <a:r>
              <a:rPr lang="en-US" dirty="0"/>
              <a:t>Work in </a:t>
            </a:r>
            <a:r>
              <a:rPr lang="en-US" dirty="0" smtClean="0"/>
              <a:t>progress:</a:t>
            </a:r>
          </a:p>
          <a:p>
            <a:r>
              <a:rPr lang="en-US" dirty="0" smtClean="0"/>
              <a:t>Short edges</a:t>
            </a:r>
          </a:p>
          <a:p>
            <a:pPr lvl="1"/>
            <a:r>
              <a:rPr lang="en-US" dirty="0" smtClean="0"/>
              <a:t>Collapsed, leading to non-planar faces</a:t>
            </a:r>
          </a:p>
          <a:p>
            <a:pPr lvl="1"/>
            <a:r>
              <a:rPr lang="en-US" dirty="0" smtClean="0"/>
              <a:t>OK for Joe Bishop fracture simulation but not ideal</a:t>
            </a:r>
          </a:p>
          <a:p>
            <a:r>
              <a:rPr lang="en-US" dirty="0" err="1" smtClean="0"/>
              <a:t>Voronoi</a:t>
            </a:r>
            <a:r>
              <a:rPr lang="en-US" dirty="0" smtClean="0"/>
              <a:t> </a:t>
            </a:r>
            <a:r>
              <a:rPr lang="en-US" i="1" dirty="0" smtClean="0"/>
              <a:t>facet</a:t>
            </a:r>
            <a:r>
              <a:rPr lang="en-US" dirty="0" smtClean="0"/>
              <a:t> aspect ratio bounds</a:t>
            </a:r>
          </a:p>
          <a:p>
            <a:pPr lvl="1"/>
            <a:r>
              <a:rPr lang="en-US" dirty="0" smtClean="0"/>
              <a:t>Smoothing or sample insertion constraints may fix</a:t>
            </a:r>
          </a:p>
          <a:p>
            <a:r>
              <a:rPr lang="en-US" dirty="0" smtClean="0"/>
              <a:t>90° facet dihedrals between samples </a:t>
            </a:r>
            <a:r>
              <a:rPr lang="en-US" i="1" dirty="0" smtClean="0"/>
              <a:t>on reflex faces. </a:t>
            </a:r>
            <a:r>
              <a:rPr lang="en-US" dirty="0" smtClean="0"/>
              <a:t>(Recall no samples </a:t>
            </a:r>
            <a:r>
              <a:rPr lang="en-US" i="1" dirty="0" smtClean="0"/>
              <a:t>on</a:t>
            </a:r>
            <a:r>
              <a:rPr lang="en-US" dirty="0" smtClean="0"/>
              <a:t> other faces)</a:t>
            </a:r>
          </a:p>
          <a:p>
            <a:pPr lvl="1"/>
            <a:r>
              <a:rPr lang="en-US" dirty="0" smtClean="0"/>
              <a:t>Small random perpendicular offsets may fix</a:t>
            </a:r>
          </a:p>
          <a:p>
            <a:pPr lvl="1"/>
            <a:endParaRPr lang="en-US" dirty="0" smtClean="0"/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431800" y="5854700"/>
            <a:ext cx="2870200" cy="127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297508" y="5621654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lang="en-US" sz="2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42308" y="5621654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lang="en-US" sz="2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45408" y="5621654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lang="en-US" sz="2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 flipH="1">
            <a:off x="2072616" y="5621654"/>
            <a:ext cx="378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lang="en-US" sz="2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6208" y="5621654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lang="en-US" sz="2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9808" y="5621654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lang="en-US" sz="2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cxnSp>
        <p:nvCxnSpPr>
          <p:cNvPr id="16" name="Straight Connector 15"/>
          <p:cNvCxnSpPr/>
          <p:nvPr/>
        </p:nvCxnSpPr>
        <p:spPr bwMode="auto">
          <a:xfrm>
            <a:off x="787400" y="5613400"/>
            <a:ext cx="0" cy="5080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/>
          <p:nvPr/>
        </p:nvCxnSpPr>
        <p:spPr bwMode="auto">
          <a:xfrm>
            <a:off x="1282700" y="5600700"/>
            <a:ext cx="0" cy="5080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/>
          <p:nvPr/>
        </p:nvCxnSpPr>
        <p:spPr bwMode="auto">
          <a:xfrm>
            <a:off x="3009900" y="5600700"/>
            <a:ext cx="0" cy="5080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>
            <a:off x="2438400" y="5613400"/>
            <a:ext cx="0" cy="5080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>
            <a:off x="1866900" y="5600700"/>
            <a:ext cx="0" cy="5080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9" name="Group 58"/>
          <p:cNvGrpSpPr/>
          <p:nvPr/>
        </p:nvGrpSpPr>
        <p:grpSpPr>
          <a:xfrm>
            <a:off x="4971108" y="5513704"/>
            <a:ext cx="3172108" cy="702946"/>
            <a:chOff x="4767908" y="5875654"/>
            <a:chExt cx="3172108" cy="702946"/>
          </a:xfrm>
        </p:grpSpPr>
        <p:cxnSp>
          <p:nvCxnSpPr>
            <p:cNvPr id="21" name="Straight Connector 20"/>
            <p:cNvCxnSpPr/>
            <p:nvPr/>
          </p:nvCxnSpPr>
          <p:spPr bwMode="auto">
            <a:xfrm>
              <a:off x="4902200" y="6248400"/>
              <a:ext cx="2870200" cy="127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" name="TextBox 21"/>
            <p:cNvSpPr txBox="1"/>
            <p:nvPr/>
          </p:nvSpPr>
          <p:spPr>
            <a:xfrm>
              <a:off x="4767908" y="6015354"/>
              <a:ext cx="3273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rgbClr val="FF0000"/>
                  </a:solidFill>
                  <a:latin typeface="Arial"/>
                  <a:cs typeface="Arial"/>
                </a:rPr>
                <a:t>x</a:t>
              </a:r>
              <a:endParaRPr lang="en-US" sz="2000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612708" y="6015354"/>
              <a:ext cx="3273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rgbClr val="FF0000"/>
                  </a:solidFill>
                  <a:latin typeface="Arial"/>
                  <a:cs typeface="Arial"/>
                </a:rPr>
                <a:t>x</a:t>
              </a:r>
              <a:endParaRPr lang="en-US" sz="2000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015808" y="5989954"/>
              <a:ext cx="3273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rgbClr val="FF0000"/>
                  </a:solidFill>
                  <a:latin typeface="Arial"/>
                  <a:cs typeface="Arial"/>
                </a:rPr>
                <a:t>x</a:t>
              </a:r>
              <a:endParaRPr lang="en-US" sz="2000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 flipH="1">
              <a:off x="6543016" y="5875654"/>
              <a:ext cx="378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rgbClr val="FF0000"/>
                  </a:solidFill>
                  <a:latin typeface="Arial"/>
                  <a:cs typeface="Arial"/>
                </a:rPr>
                <a:t>x</a:t>
              </a:r>
              <a:endParaRPr lang="en-US" sz="2000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796608" y="5951854"/>
              <a:ext cx="3273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rgbClr val="FF0000"/>
                  </a:solidFill>
                  <a:latin typeface="Arial"/>
                  <a:cs typeface="Arial"/>
                </a:rPr>
                <a:t>x</a:t>
              </a:r>
              <a:endParaRPr lang="en-US" sz="2000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390208" y="5888354"/>
              <a:ext cx="3273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rgbClr val="FF0000"/>
                  </a:solidFill>
                  <a:latin typeface="Arial"/>
                  <a:cs typeface="Arial"/>
                </a:rPr>
                <a:t>x</a:t>
              </a:r>
              <a:endParaRPr lang="en-US" sz="2000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cxnSp>
          <p:nvCxnSpPr>
            <p:cNvPr id="29" name="Straight Connector 28"/>
            <p:cNvCxnSpPr/>
            <p:nvPr/>
          </p:nvCxnSpPr>
          <p:spPr bwMode="auto">
            <a:xfrm flipH="1">
              <a:off x="5753100" y="6007100"/>
              <a:ext cx="44450" cy="24765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/>
            <p:cNvCxnSpPr/>
            <p:nvPr/>
          </p:nvCxnSpPr>
          <p:spPr bwMode="auto">
            <a:xfrm flipH="1">
              <a:off x="7480300" y="6007100"/>
              <a:ext cx="19050" cy="2540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Straight Connector 30"/>
            <p:cNvCxnSpPr/>
            <p:nvPr/>
          </p:nvCxnSpPr>
          <p:spPr bwMode="auto">
            <a:xfrm flipH="1">
              <a:off x="6908800" y="5969000"/>
              <a:ext cx="88900" cy="2921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Straight Connector 31"/>
            <p:cNvCxnSpPr/>
            <p:nvPr/>
          </p:nvCxnSpPr>
          <p:spPr bwMode="auto">
            <a:xfrm>
              <a:off x="6305550" y="5994400"/>
              <a:ext cx="31750" cy="26035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3" name="TextBox 32"/>
            <p:cNvSpPr txBox="1"/>
            <p:nvPr/>
          </p:nvSpPr>
          <p:spPr>
            <a:xfrm>
              <a:off x="5390208" y="6155054"/>
              <a:ext cx="3273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rgbClr val="FF0000"/>
                  </a:solidFill>
                  <a:latin typeface="Arial"/>
                  <a:cs typeface="Arial"/>
                </a:rPr>
                <a:t>x</a:t>
              </a:r>
              <a:endParaRPr lang="en-US" sz="2000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796608" y="6091554"/>
              <a:ext cx="3273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rgbClr val="FF0000"/>
                  </a:solidFill>
                  <a:latin typeface="Arial"/>
                  <a:cs typeface="Arial"/>
                </a:rPr>
                <a:t>x</a:t>
              </a:r>
              <a:endParaRPr lang="en-US" sz="2000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 flipH="1">
              <a:off x="6543016" y="6155054"/>
              <a:ext cx="378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rgbClr val="FF0000"/>
                  </a:solidFill>
                  <a:latin typeface="Arial"/>
                  <a:cs typeface="Arial"/>
                </a:rPr>
                <a:t>x</a:t>
              </a:r>
              <a:endParaRPr lang="en-US" sz="2000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015808" y="6078854"/>
              <a:ext cx="3273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rgbClr val="FF0000"/>
                  </a:solidFill>
                  <a:latin typeface="Arial"/>
                  <a:cs typeface="Arial"/>
                </a:rPr>
                <a:t>x</a:t>
              </a:r>
              <a:endParaRPr lang="en-US" sz="2000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cxnSp>
          <p:nvCxnSpPr>
            <p:cNvPr id="37" name="Straight Connector 36"/>
            <p:cNvCxnSpPr/>
            <p:nvPr/>
          </p:nvCxnSpPr>
          <p:spPr bwMode="auto">
            <a:xfrm flipH="1">
              <a:off x="5207000" y="6235700"/>
              <a:ext cx="63500" cy="3429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/>
            <p:cNvCxnSpPr/>
            <p:nvPr/>
          </p:nvCxnSpPr>
          <p:spPr bwMode="auto">
            <a:xfrm>
              <a:off x="5207000" y="5975350"/>
              <a:ext cx="63500" cy="27305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Straight Connector 42"/>
            <p:cNvCxnSpPr/>
            <p:nvPr/>
          </p:nvCxnSpPr>
          <p:spPr bwMode="auto">
            <a:xfrm>
              <a:off x="5759450" y="6267450"/>
              <a:ext cx="57150" cy="2667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Straight Connector 45"/>
            <p:cNvCxnSpPr/>
            <p:nvPr/>
          </p:nvCxnSpPr>
          <p:spPr bwMode="auto">
            <a:xfrm flipH="1">
              <a:off x="6299200" y="6254750"/>
              <a:ext cx="44450" cy="2413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>
              <a:off x="6915150" y="6254750"/>
              <a:ext cx="69850" cy="2667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Straight Connector 53"/>
            <p:cNvCxnSpPr/>
            <p:nvPr/>
          </p:nvCxnSpPr>
          <p:spPr bwMode="auto">
            <a:xfrm>
              <a:off x="7486650" y="6254750"/>
              <a:ext cx="19050" cy="19685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60" name="Picture 59" descr="vectorstock_419186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495" y="5244463"/>
            <a:ext cx="1465963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45481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903" y="1184329"/>
            <a:ext cx="4916545" cy="5673671"/>
          </a:xfrm>
        </p:spPr>
        <p:txBody>
          <a:bodyPr/>
          <a:lstStyle/>
          <a:p>
            <a:r>
              <a:rPr lang="en-US" sz="1400" dirty="0" smtClean="0"/>
              <a:t>w/ Patney, Davidson, Owens (UC Davis)</a:t>
            </a:r>
          </a:p>
          <a:p>
            <a:r>
              <a:rPr lang="en-US" sz="1400" dirty="0" smtClean="0"/>
              <a:t>w/ </a:t>
            </a:r>
            <a:r>
              <a:rPr lang="en-US" sz="1400" dirty="0" err="1" smtClean="0"/>
              <a:t>Knupp</a:t>
            </a:r>
            <a:r>
              <a:rPr lang="en-US" sz="1400" dirty="0" smtClean="0"/>
              <a:t>, Bishop, Martinez, Leung (SNL)</a:t>
            </a:r>
          </a:p>
          <a:p>
            <a:endParaRPr lang="en-US" sz="1400" dirty="0"/>
          </a:p>
          <a:p>
            <a:r>
              <a:rPr lang="en-US" sz="1400" dirty="0" smtClean="0"/>
              <a:t>1. Maximal </a:t>
            </a:r>
            <a:r>
              <a:rPr lang="en-US" sz="1400" dirty="0"/>
              <a:t>Poisson-disk sampling point </a:t>
            </a:r>
            <a:r>
              <a:rPr lang="en-US" sz="1400" dirty="0" smtClean="0"/>
              <a:t>clouds</a:t>
            </a:r>
          </a:p>
          <a:p>
            <a:pPr lvl="2"/>
            <a:r>
              <a:rPr lang="en-US" sz="1200" dirty="0" smtClean="0">
                <a:solidFill>
                  <a:schemeClr val="tx2"/>
                </a:solidFill>
              </a:rPr>
              <a:t>Essence: </a:t>
            </a:r>
            <a:r>
              <a:rPr lang="en-US" sz="1200" dirty="0">
                <a:solidFill>
                  <a:schemeClr val="tx1"/>
                </a:solidFill>
              </a:rPr>
              <a:t>First </a:t>
            </a:r>
            <a:r>
              <a:rPr lang="en-US" sz="1200" dirty="0"/>
              <a:t>provable maximal, bias</a:t>
            </a:r>
            <a:r>
              <a:rPr lang="en-US" sz="1200" dirty="0" smtClean="0"/>
              <a:t>-free</a:t>
            </a:r>
            <a:r>
              <a:rPr lang="en-US" sz="1200" dirty="0"/>
              <a:t>, 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O</a:t>
            </a:r>
            <a:r>
              <a:rPr lang="en-US" sz="1200" dirty="0"/>
              <a:t>(n) space, E(n log n ) time</a:t>
            </a:r>
          </a:p>
          <a:p>
            <a:pPr lvl="2"/>
            <a:r>
              <a:rPr lang="en-US" sz="1200" dirty="0">
                <a:solidFill>
                  <a:srgbClr val="00AE00"/>
                </a:solidFill>
              </a:rPr>
              <a:t>Impact: </a:t>
            </a:r>
            <a:r>
              <a:rPr lang="en-US" sz="1200" dirty="0"/>
              <a:t>Graphics hot topic (texture synthesis). Ensemble calculations for V&amp;V</a:t>
            </a:r>
          </a:p>
          <a:p>
            <a:pPr marL="457200" lvl="1" indent="0">
              <a:buNone/>
            </a:pPr>
            <a:r>
              <a:rPr lang="en-US" sz="1400" dirty="0" smtClean="0"/>
              <a:t>2. Triangular meshes</a:t>
            </a:r>
          </a:p>
          <a:p>
            <a:pPr lvl="2"/>
            <a:r>
              <a:rPr lang="en-US" sz="1200" dirty="0" smtClean="0">
                <a:solidFill>
                  <a:schemeClr val="tx2"/>
                </a:solidFill>
              </a:rPr>
              <a:t>Essence: </a:t>
            </a:r>
            <a:r>
              <a:rPr lang="en-US" sz="1200" dirty="0" smtClean="0"/>
              <a:t>Provable quality bounds from </a:t>
            </a:r>
            <a:br>
              <a:rPr lang="en-US" sz="1200" dirty="0" smtClean="0"/>
            </a:br>
            <a:r>
              <a:rPr lang="en-US" sz="1200" dirty="0" smtClean="0"/>
              <a:t>random points</a:t>
            </a:r>
          </a:p>
          <a:p>
            <a:pPr lvl="2"/>
            <a:r>
              <a:rPr lang="en-US" sz="1200" dirty="0">
                <a:solidFill>
                  <a:srgbClr val="00AE00"/>
                </a:solidFill>
              </a:rPr>
              <a:t>Impact: </a:t>
            </a:r>
            <a:r>
              <a:rPr lang="en-US" sz="1200" dirty="0"/>
              <a:t>Seismic simulations</a:t>
            </a:r>
            <a:endParaRPr lang="en-US" sz="1200" dirty="0" smtClean="0"/>
          </a:p>
          <a:p>
            <a:pPr marL="457200" lvl="1" indent="0">
              <a:buNone/>
            </a:pPr>
            <a:r>
              <a:rPr lang="en-US" sz="1400" dirty="0" smtClean="0"/>
              <a:t>3. Voronoi meshes</a:t>
            </a:r>
            <a:endParaRPr lang="en-US" sz="1000" dirty="0" smtClean="0"/>
          </a:p>
          <a:p>
            <a:pPr lvl="2"/>
            <a:r>
              <a:rPr lang="en-US" sz="1200" dirty="0" smtClean="0">
                <a:solidFill>
                  <a:schemeClr val="tx2"/>
                </a:solidFill>
              </a:rPr>
              <a:t>Essence:</a:t>
            </a:r>
            <a:r>
              <a:rPr lang="en-US" sz="1200" dirty="0" smtClean="0"/>
              <a:t> </a:t>
            </a:r>
            <a:r>
              <a:rPr lang="en-US" sz="1200" dirty="0"/>
              <a:t>NOT the dual of a boundary-fitted triangulation</a:t>
            </a:r>
          </a:p>
          <a:p>
            <a:pPr lvl="2"/>
            <a:r>
              <a:rPr lang="en-US" sz="1200" dirty="0">
                <a:solidFill>
                  <a:srgbClr val="00AE00"/>
                </a:solidFill>
              </a:rPr>
              <a:t>Impact: </a:t>
            </a:r>
            <a:r>
              <a:rPr lang="en-US" sz="1200" dirty="0"/>
              <a:t>Fracture </a:t>
            </a:r>
            <a:r>
              <a:rPr lang="en-US" sz="1200" dirty="0" smtClean="0"/>
              <a:t>simulations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472203" y="1995996"/>
            <a:ext cx="4290303" cy="108259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marL="457200" lvl="1" indent="0">
              <a:buNone/>
            </a:pPr>
            <a:r>
              <a:rPr lang="en-US" sz="1000" i="1" dirty="0"/>
              <a:t>Efficient Maximal Poisson-Disk Sampling</a:t>
            </a:r>
            <a:r>
              <a:rPr lang="en-US" sz="1000" dirty="0"/>
              <a:t>.  </a:t>
            </a:r>
            <a:br>
              <a:rPr lang="en-US" sz="1000" dirty="0"/>
            </a:br>
            <a:r>
              <a:rPr lang="en-US" sz="1000" dirty="0"/>
              <a:t>Ebeida, Patney, Mitchell, Davidson, Knupp &amp; Owens. </a:t>
            </a:r>
            <a:br>
              <a:rPr lang="en-US" sz="1000" dirty="0"/>
            </a:br>
            <a:r>
              <a:rPr lang="en-US" sz="1000" dirty="0"/>
              <a:t>SIGGRAPH 2011. ACM Transactions on Graphics. </a:t>
            </a:r>
            <a:br>
              <a:rPr lang="en-US" sz="1000" dirty="0"/>
            </a:br>
            <a:endParaRPr lang="en-US" sz="1200" dirty="0" smtClean="0">
              <a:solidFill>
                <a:schemeClr val="accent2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472197" y="2989606"/>
            <a:ext cx="4290303" cy="9303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marL="457200" lvl="1" indent="0">
              <a:buNone/>
            </a:pPr>
            <a:r>
              <a:rPr lang="en-US" sz="1000" i="1" dirty="0"/>
              <a:t>Efficient and Good Delaunay Meshes From Random Points</a:t>
            </a:r>
            <a:r>
              <a:rPr lang="en-US" sz="1000" dirty="0"/>
              <a:t>. Ebeida, Mitchell, Davidson, Patney, Knupp &amp; Owens. </a:t>
            </a:r>
            <a:br>
              <a:rPr lang="en-US" sz="1000" dirty="0"/>
            </a:br>
            <a:r>
              <a:rPr lang="en-US" sz="1000" dirty="0"/>
              <a:t>SIAM Conference on Geometric and Physical Modeling. </a:t>
            </a:r>
            <a:br>
              <a:rPr lang="en-US" sz="1000" dirty="0"/>
            </a:br>
            <a:r>
              <a:rPr lang="en-US" sz="1000" dirty="0"/>
              <a:t>J Computer-Aided Design special issue</a:t>
            </a:r>
            <a:r>
              <a:rPr lang="en-US" sz="1000" dirty="0" smtClean="0"/>
              <a:t>.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470894" y="3926702"/>
            <a:ext cx="4290303" cy="6242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marL="457200" lvl="1" indent="0">
              <a:buNone/>
            </a:pPr>
            <a:r>
              <a:rPr lang="en-US" sz="1000" i="1" dirty="0"/>
              <a:t>Uniform Random Voronoi Meshes</a:t>
            </a:r>
            <a:r>
              <a:rPr lang="en-US" sz="1000" dirty="0"/>
              <a:t>. </a:t>
            </a:r>
            <a:br>
              <a:rPr lang="en-US" sz="1000" dirty="0"/>
            </a:br>
            <a:r>
              <a:rPr lang="en-US" sz="1000" dirty="0"/>
              <a:t>Ebeida &amp; Mitchell.</a:t>
            </a:r>
            <a:br>
              <a:rPr lang="en-US" sz="1000" dirty="0"/>
            </a:br>
            <a:r>
              <a:rPr lang="en-US" sz="1000" dirty="0"/>
              <a:t>International Meshing Roundtable, Oct 2011</a:t>
            </a:r>
            <a:r>
              <a:rPr lang="en-US" sz="1000" dirty="0" smtClean="0"/>
              <a:t>.</a:t>
            </a:r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344255" y="3243704"/>
            <a:ext cx="16179" cy="124580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406680570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1" y="1467104"/>
            <a:ext cx="5537199" cy="26578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99" y="4156538"/>
            <a:ext cx="5482865" cy="2828462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0" y="0"/>
            <a:ext cx="6235700" cy="12954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marL="285750">
              <a:buFontTx/>
              <a:buChar char="-"/>
            </a:pPr>
            <a:r>
              <a:rPr lang="en-US" sz="1600" i="1" dirty="0" smtClean="0">
                <a:solidFill>
                  <a:schemeClr val="tx2"/>
                </a:solidFill>
              </a:rPr>
              <a:t>Community </a:t>
            </a:r>
            <a:r>
              <a:rPr lang="en-US" sz="1600" i="1" dirty="0">
                <a:solidFill>
                  <a:schemeClr val="tx2"/>
                </a:solidFill>
              </a:rPr>
              <a:t>should consider using maximal samples for mesh </a:t>
            </a:r>
            <a:r>
              <a:rPr lang="en-US" sz="1600" i="1" dirty="0" smtClean="0">
                <a:solidFill>
                  <a:schemeClr val="tx2"/>
                </a:solidFill>
              </a:rPr>
              <a:t>points</a:t>
            </a:r>
            <a:r>
              <a:rPr lang="en-US" sz="1400" i="1" dirty="0" smtClean="0">
                <a:solidFill>
                  <a:schemeClr val="tx2"/>
                </a:solidFill>
              </a:rPr>
              <a:t>… even if Poisson-disk process isn’t important </a:t>
            </a:r>
          </a:p>
          <a:p>
            <a:pPr lvl="1">
              <a:buFontTx/>
              <a:buChar char="-"/>
            </a:pPr>
            <a:r>
              <a:rPr lang="en-US" sz="1400" i="1" dirty="0" smtClean="0">
                <a:solidFill>
                  <a:schemeClr val="tx2"/>
                </a:solidFill>
              </a:rPr>
              <a:t>Better sizing control.</a:t>
            </a:r>
          </a:p>
          <a:p>
            <a:pPr lvl="1">
              <a:buFontTx/>
              <a:buChar char="-"/>
            </a:pPr>
            <a:r>
              <a:rPr lang="en-US" sz="1400" i="1" dirty="0" smtClean="0">
                <a:solidFill>
                  <a:schemeClr val="tx2"/>
                </a:solidFill>
              </a:rPr>
              <a:t>Never O(n</a:t>
            </a:r>
            <a:r>
              <a:rPr lang="en-US" sz="1400" i="1" baseline="30000" dirty="0" smtClean="0">
                <a:solidFill>
                  <a:schemeClr val="tx2"/>
                </a:solidFill>
              </a:rPr>
              <a:t>2</a:t>
            </a:r>
            <a:r>
              <a:rPr lang="en-US" sz="1400" i="1" dirty="0" smtClean="0">
                <a:solidFill>
                  <a:schemeClr val="tx2"/>
                </a:solidFill>
              </a:rPr>
              <a:t>)</a:t>
            </a:r>
          </a:p>
          <a:p>
            <a:pPr lvl="2">
              <a:buFontTx/>
              <a:buChar char="-"/>
            </a:pPr>
            <a:r>
              <a:rPr lang="en-US" sz="1050" i="1" dirty="0" smtClean="0">
                <a:solidFill>
                  <a:schemeClr val="tx1"/>
                </a:solidFill>
              </a:rPr>
              <a:t>To do: study element count and grading vs. Delaunay refinement</a:t>
            </a:r>
            <a:r>
              <a:rPr lang="en-US" sz="1050" i="1" dirty="0">
                <a:solidFill>
                  <a:schemeClr val="tx1"/>
                </a:solidFill>
              </a:rPr>
              <a:t>.</a:t>
            </a:r>
            <a:endParaRPr lang="en-US" sz="1050" i="1" dirty="0" smtClean="0">
              <a:solidFill>
                <a:schemeClr val="tx1"/>
              </a:solidFill>
            </a:endParaRPr>
          </a:p>
        </p:txBody>
      </p:sp>
      <p:pic>
        <p:nvPicPr>
          <p:cNvPr id="10" name="Picture 9" descr="gpu-ff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0" y="0"/>
            <a:ext cx="3302000" cy="3302000"/>
          </a:xfrm>
          <a:prstGeom prst="rect">
            <a:avLst/>
          </a:prstGeom>
        </p:spPr>
      </p:pic>
      <p:pic>
        <p:nvPicPr>
          <p:cNvPr id="12" name="Picture 11" descr="sq_05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3384860"/>
            <a:ext cx="3454400" cy="347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56791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FF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60030</TotalTime>
  <Words>1266</Words>
  <Application>Microsoft Macintosh PowerPoint</Application>
  <PresentationFormat>On-screen Show (4:3)</PresentationFormat>
  <Paragraphs>335</Paragraphs>
  <Slides>24</Slides>
  <Notes>24</Notes>
  <HiddenSlides>0</HiddenSlides>
  <MMClips>1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Default Design</vt:lpstr>
      <vt:lpstr>Equation</vt:lpstr>
      <vt:lpstr>Uniform Random Voronoi Meshes</vt:lpstr>
      <vt:lpstr>Summary</vt:lpstr>
      <vt:lpstr>Maximal Poisson-Disk Sampling (MPS) </vt:lpstr>
      <vt:lpstr>Statistical Process ≠ Algorithm</vt:lpstr>
      <vt:lpstr>“Efficient maximal Poisson-disk sampling”</vt:lpstr>
      <vt:lpstr>Efficient maximal Poisson-disk sampling</vt:lpstr>
      <vt:lpstr>Also Triangular Meshes</vt:lpstr>
      <vt:lpstr>“Efficient” for MPS, scales great, but how fast?</vt:lpstr>
      <vt:lpstr>What is MPS good for?</vt:lpstr>
      <vt:lpstr>Alternatives</vt:lpstr>
      <vt:lpstr>IMR paper algorithm!</vt:lpstr>
      <vt:lpstr>Boundary Sampling</vt:lpstr>
      <vt:lpstr> Bonus: Convex Cells Paper: star-shaped cells at reflex faces</vt:lpstr>
      <vt:lpstr>Voronoi Quality</vt:lpstr>
      <vt:lpstr>Quality proof idea</vt:lpstr>
      <vt:lpstr>Aspect Ratio Proofs  (star-shaped cells)</vt:lpstr>
      <vt:lpstr>Interior cells</vt:lpstr>
      <vt:lpstr>Interior cells</vt:lpstr>
      <vt:lpstr>PowerPoint Presentation</vt:lpstr>
      <vt:lpstr>Observed Aspect Ratio</vt:lpstr>
      <vt:lpstr>Quality plots Dihedral Angles</vt:lpstr>
      <vt:lpstr>Quality: what’s missing?</vt:lpstr>
      <vt:lpstr>Conclusions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32pt</dc:title>
  <cp:lastModifiedBy>Scott Mitchell</cp:lastModifiedBy>
  <cp:revision>731</cp:revision>
  <cp:lastPrinted>2011-09-09T19:40:28Z</cp:lastPrinted>
  <dcterms:modified xsi:type="dcterms:W3CDTF">2011-11-03T18:48:41Z</dcterms:modified>
</cp:coreProperties>
</file>