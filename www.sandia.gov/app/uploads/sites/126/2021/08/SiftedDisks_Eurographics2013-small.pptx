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72" r:id="rId2"/>
    <p:sldMasterId id="2147483684" r:id="rId3"/>
  </p:sldMasterIdLst>
  <p:notesMasterIdLst>
    <p:notesMasterId r:id="rId36"/>
  </p:notesMasterIdLst>
  <p:handoutMasterIdLst>
    <p:handoutMasterId r:id="rId37"/>
  </p:handoutMasterIdLst>
  <p:sldIdLst>
    <p:sldId id="256" r:id="rId4"/>
    <p:sldId id="313" r:id="rId5"/>
    <p:sldId id="314" r:id="rId6"/>
    <p:sldId id="303" r:id="rId7"/>
    <p:sldId id="318" r:id="rId8"/>
    <p:sldId id="320" r:id="rId9"/>
    <p:sldId id="322" r:id="rId10"/>
    <p:sldId id="321" r:id="rId11"/>
    <p:sldId id="338" r:id="rId12"/>
    <p:sldId id="339" r:id="rId13"/>
    <p:sldId id="340" r:id="rId14"/>
    <p:sldId id="341" r:id="rId15"/>
    <p:sldId id="342" r:id="rId16"/>
    <p:sldId id="344" r:id="rId17"/>
    <p:sldId id="319" r:id="rId18"/>
    <p:sldId id="325" r:id="rId19"/>
    <p:sldId id="327" r:id="rId20"/>
    <p:sldId id="324" r:id="rId21"/>
    <p:sldId id="326" r:id="rId22"/>
    <p:sldId id="346" r:id="rId23"/>
    <p:sldId id="331" r:id="rId24"/>
    <p:sldId id="316" r:id="rId25"/>
    <p:sldId id="335" r:id="rId26"/>
    <p:sldId id="336" r:id="rId27"/>
    <p:sldId id="332" r:id="rId28"/>
    <p:sldId id="337" r:id="rId29"/>
    <p:sldId id="328" r:id="rId30"/>
    <p:sldId id="315" r:id="rId31"/>
    <p:sldId id="304" r:id="rId32"/>
    <p:sldId id="330" r:id="rId33"/>
    <p:sldId id="305" r:id="rId34"/>
    <p:sldId id="343" r:id="rId35"/>
  </p:sldIdLst>
  <p:sldSz cx="9144000" cy="6858000" type="screen4x3"/>
  <p:notesSz cx="6940550" cy="90805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29C3"/>
    <a:srgbClr val="4232DE"/>
    <a:srgbClr val="897709"/>
    <a:srgbClr val="7F6D08"/>
    <a:srgbClr val="1091E1"/>
    <a:srgbClr val="938E05"/>
    <a:srgbClr val="7E7A04"/>
    <a:srgbClr val="716412"/>
    <a:srgbClr val="808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 autoAdjust="0"/>
  </p:normalViewPr>
  <p:slideViewPr>
    <p:cSldViewPr snapToGrid="0" snapToObjects="1">
      <p:cViewPr varScale="1">
        <p:scale>
          <a:sx n="222" d="100"/>
          <a:sy n="222" d="100"/>
        </p:scale>
        <p:origin x="-2040" y="-1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12"/>
    </p:cViewPr>
  </p:sorterViewPr>
  <p:notesViewPr>
    <p:cSldViewPr snapToGrid="0">
      <p:cViewPr varScale="1">
        <p:scale>
          <a:sx n="169" d="100"/>
          <a:sy n="169" d="100"/>
        </p:scale>
        <p:origin x="-6224" y="-120"/>
      </p:cViewPr>
      <p:guideLst>
        <p:guide orient="horz" pos="2860"/>
        <p:guide pos="21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9" Type="http://schemas.openxmlformats.org/officeDocument/2006/relationships/slide" Target="slides/slide6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37" Type="http://schemas.openxmlformats.org/officeDocument/2006/relationships/handoutMaster" Target="handoutMasters/handout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3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340225"/>
            <a:ext cx="5049837" cy="410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581" tIns="46085" rIns="90581" bIns="460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687388"/>
            <a:ext cx="4522788" cy="3392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891742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2438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04875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57313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09750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 smtClean="0"/>
              <a:t>Takes a village to make me successful</a:t>
            </a:r>
          </a:p>
          <a:p>
            <a:r>
              <a:rPr lang="en-US"/>
              <a:t>Mohamed Ebeida, lead author with me at Sandia National Laboratories</a:t>
            </a:r>
          </a:p>
          <a:p>
            <a:r>
              <a:rPr lang="en-US"/>
              <a:t>Spends saturdays mentoring undergrad students at Alexandria, his undergrad </a:t>
            </a:r>
          </a:p>
          <a:p>
            <a:endParaRPr lang="en-US"/>
          </a:p>
          <a:p>
            <a:r>
              <a:rPr lang="en-US"/>
              <a:t>Mohamed – his idea</a:t>
            </a:r>
          </a:p>
          <a:p>
            <a:r>
              <a:rPr lang="en-US"/>
              <a:t>Alexandria -- implementation</a:t>
            </a:r>
          </a:p>
          <a:p>
            <a:r>
              <a:rPr lang="en-US"/>
              <a:t>Me – algorithmic correctness proofs</a:t>
            </a:r>
          </a:p>
          <a:p>
            <a:r>
              <a:rPr lang="en-US"/>
              <a:t>Alexander Rand – quality measurements and relationships</a:t>
            </a:r>
          </a:p>
          <a:p>
            <a:r>
              <a:rPr lang="en-US"/>
              <a:t>John - graphics prof at UC Davis, Ebeida’s PhD there</a:t>
            </a:r>
          </a:p>
          <a:p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87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87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87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xmlns:p14="http://schemas.microsoft.com/office/powerpoint/2010/main"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0988"/>
            <a:ext cx="1943100" cy="5815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0988"/>
            <a:ext cx="5676900" cy="5815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xmlns:p14="http://schemas.microsoft.com/office/powerpoint/2010/main"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Ovr>
    <a:masterClrMapping/>
  </p:clrMapOvr>
  <p:transition xmlns:p14="http://schemas.microsoft.com/office/powerpoint/2010/main">
    <p:fade/>
  </p:transition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wmf"/><Relationship Id="rId14" Type="http://schemas.openxmlformats.org/officeDocument/2006/relationships/image" Target="../media/image2.wmf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Subtitle 24 pt</a:t>
            </a:r>
          </a:p>
          <a:p>
            <a:pPr lvl="1"/>
            <a:r>
              <a:rPr lang="en-US" smtClean="0"/>
              <a:t>Second level 22 pt</a:t>
            </a:r>
          </a:p>
          <a:p>
            <a:pPr lvl="2"/>
            <a:r>
              <a:rPr lang="en-US" smtClean="0"/>
              <a:t>Third level 20 pt</a:t>
            </a:r>
          </a:p>
          <a:p>
            <a:pPr lvl="3"/>
            <a:r>
              <a:rPr lang="en-US" smtClean="0"/>
              <a:t>Fourth level 18pt</a:t>
            </a:r>
          </a:p>
          <a:p>
            <a:pPr lvl="4"/>
            <a:r>
              <a:rPr lang="en-US" smtClean="0"/>
              <a:t>Fifth level 18pt</a:t>
            </a:r>
          </a:p>
        </p:txBody>
      </p:sp>
      <p:pic>
        <p:nvPicPr>
          <p:cNvPr id="1027" name="Picture 3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2578100" cy="1473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817563" y="1143000"/>
            <a:ext cx="75898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 - 28 Point Helvetica Bold</a:t>
            </a:r>
          </a:p>
        </p:txBody>
      </p:sp>
      <p:pic>
        <p:nvPicPr>
          <p:cNvPr id="1030" name="Picture 6"/>
          <p:cNvPicPr>
            <a:picLocks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153400" y="6418263"/>
            <a:ext cx="889000" cy="3635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xmlns:p14="http://schemas.microsoft.com/office/powerpoint/2010/main"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34290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200" b="1">
          <a:solidFill>
            <a:srgbClr val="000000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000000"/>
          </a:solidFill>
          <a:latin typeface="+mn-lt"/>
        </a:defRPr>
      </a:lvl3pPr>
      <a:lvl4pPr marL="15430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b="1">
          <a:solidFill>
            <a:srgbClr val="000000"/>
          </a:solidFill>
          <a:latin typeface="+mn-lt"/>
        </a:defRPr>
      </a:lvl4pPr>
      <a:lvl5pPr marL="19431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5pPr>
      <a:lvl6pPr marL="24003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6pPr>
      <a:lvl7pPr marL="28575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7pPr>
      <a:lvl8pPr marL="33147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8pPr>
      <a:lvl9pPr marL="37719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 xmlns:p14="http://schemas.microsoft.com/office/powerpoint/2010/main"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D771677C-296E-4E05-9FC7-F008514896F5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5/3/13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fld id="{299FDB2A-C068-4C80-BA8C-7D72F53B1678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xmlns:p14="http://schemas.microsoft.com/office/powerpoint/2010/main"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image" Target="../media/image5.jpeg"/><Relationship Id="rId6" Type="http://schemas.openxmlformats.org/officeDocument/2006/relationships/image" Target="../media/image6.emf"/><Relationship Id="rId7" Type="http://schemas.openxmlformats.org/officeDocument/2006/relationships/image" Target="../media/image7.png"/><Relationship Id="rId8" Type="http://schemas.openxmlformats.org/officeDocument/2006/relationships/image" Target="../media/image8.jpg"/><Relationship Id="rId9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jpg"/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gi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emf"/><Relationship Id="rId3" Type="http://schemas.openxmlformats.org/officeDocument/2006/relationships/image" Target="../media/image3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emf"/><Relationship Id="rId3" Type="http://schemas.openxmlformats.org/officeDocument/2006/relationships/image" Target="../media/image34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emf"/><Relationship Id="rId3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4176"/>
            <a:ext cx="9144000" cy="1623060"/>
          </a:xfrm>
          <a:prstGeom prst="rect">
            <a:avLst/>
          </a:prstGeom>
        </p:spPr>
      </p:pic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981200" y="6283325"/>
            <a:ext cx="5180013" cy="4984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Sandia is a multiprogram laboratory operated by Sandia Corporation, a Lockheed Martin Company,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for the United States Department of Energy’s National Nuclear Security Administration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 under contract DE-AC04-94AL85000.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0700" y="5786566"/>
            <a:ext cx="8070850" cy="521213"/>
          </a:xfrm>
          <a:noFill/>
          <a:ln/>
        </p:spPr>
        <p:txBody>
          <a:bodyPr/>
          <a:lstStyle/>
          <a:p>
            <a:pPr marL="342900" indent="-171450">
              <a:lnSpc>
                <a:spcPct val="80000"/>
              </a:lnSpc>
            </a:pPr>
            <a:r>
              <a:rPr lang="en-US" sz="1600" dirty="0" smtClean="0">
                <a:solidFill>
                  <a:schemeClr val="tx1"/>
                </a:solidFill>
              </a:rPr>
              <a:t>Eurographics 2013</a:t>
            </a: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101" name="Picture 5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924800" y="6324600"/>
            <a:ext cx="1104900" cy="444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pic>
        <p:nvPicPr>
          <p:cNvPr id="4106" name="Picture 10" descr="NNSAlogo0410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6343650"/>
            <a:ext cx="914400" cy="333375"/>
          </a:xfrm>
          <a:prstGeom prst="rect">
            <a:avLst/>
          </a:prstGeom>
          <a:noFill/>
        </p:spPr>
      </p:pic>
      <p:sp>
        <p:nvSpPr>
          <p:cNvPr id="144" name="TextBox 143"/>
          <p:cNvSpPr txBox="1"/>
          <p:nvPr/>
        </p:nvSpPr>
        <p:spPr>
          <a:xfrm>
            <a:off x="292100" y="225215"/>
            <a:ext cx="868680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Verdana" pitchFamily="34" charset="0"/>
                <a:ea typeface="Verdana" pitchFamily="34" charset="0"/>
                <a:cs typeface="Verdana" pitchFamily="34" charset="0"/>
              </a:rPr>
              <a:t>Sifted Disks</a:t>
            </a:r>
          </a:p>
          <a:p>
            <a:pPr algn="ctr"/>
            <a:r>
              <a:rPr lang="en-US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reducing the number of sample points </a:t>
            </a:r>
            <a:br>
              <a:rPr lang="en-US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retaining randomness </a:t>
            </a:r>
            <a:br>
              <a:rPr lang="en-US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2000" i="1" dirty="0">
                <a:latin typeface="Verdana" pitchFamily="34" charset="0"/>
                <a:ea typeface="Verdana" pitchFamily="34" charset="0"/>
                <a:cs typeface="Verdana" pitchFamily="34" charset="0"/>
              </a:rPr>
              <a:t>improving quality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63550" y="2026500"/>
            <a:ext cx="83121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1091E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Mohamed S. Ebeida </a:t>
            </a:r>
            <a:br>
              <a:rPr lang="en-US" sz="1600" b="1" dirty="0">
                <a:solidFill>
                  <a:srgbClr val="1091E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1600" b="1" dirty="0">
                <a:solidFill>
                  <a:srgbClr val="FF0000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Ahmed H. Mahmoud - Muhammad A. Awad - Mohammed A. Mohammed </a:t>
            </a:r>
            <a:r>
              <a:rPr lang="en-US" sz="1600" b="1" dirty="0">
                <a:solidFill>
                  <a:srgbClr val="1091E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Scott A. Mitchell </a:t>
            </a:r>
            <a:br>
              <a:rPr lang="en-US" sz="1600" b="1" dirty="0">
                <a:solidFill>
                  <a:srgbClr val="1091E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</a:br>
            <a:r>
              <a:rPr lang="en-US" sz="1600" b="1" dirty="0">
                <a:solidFill>
                  <a:srgbClr val="3729C3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Alexander Rand</a:t>
            </a:r>
            <a:r>
              <a:rPr lang="en-US" sz="16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 - </a:t>
            </a:r>
            <a:r>
              <a:rPr lang="en-US" sz="1600" b="1" dirty="0">
                <a:solidFill>
                  <a:srgbClr val="897709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John D. Owens</a:t>
            </a:r>
          </a:p>
        </p:txBody>
      </p:sp>
      <p:pic>
        <p:nvPicPr>
          <p:cNvPr id="161" name="Picture 16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21595" y="3008492"/>
            <a:ext cx="1666847" cy="4269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11"/>
          <p:cNvGrpSpPr/>
          <p:nvPr/>
        </p:nvGrpSpPr>
        <p:grpSpPr>
          <a:xfrm>
            <a:off x="5003800" y="3327400"/>
            <a:ext cx="1223412" cy="2108199"/>
            <a:chOff x="1771650" y="3714750"/>
            <a:chExt cx="1223412" cy="2108199"/>
          </a:xfrm>
        </p:grpSpPr>
        <p:pic>
          <p:nvPicPr>
            <p:cNvPr id="2" name="Picture 1" descr="University_ar_clr.png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60550" y="4337050"/>
              <a:ext cx="1002982" cy="1485899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1771650" y="3714750"/>
              <a:ext cx="122341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>
                  <a:solidFill>
                    <a:srgbClr val="FF0000"/>
                  </a:solidFill>
                </a:rPr>
                <a:t>Alexandria</a:t>
              </a:r>
              <a:br>
                <a:rPr lang="en-US" sz="1800">
                  <a:solidFill>
                    <a:srgbClr val="FF0000"/>
                  </a:solidFill>
                </a:rPr>
              </a:br>
              <a:r>
                <a:rPr lang="en-US" sz="1800">
                  <a:solidFill>
                    <a:srgbClr val="FF0000"/>
                  </a:solidFill>
                </a:rPr>
                <a:t>University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362200" y="3406558"/>
            <a:ext cx="2419579" cy="836768"/>
            <a:chOff x="3429000" y="3724058"/>
            <a:chExt cx="2419579" cy="836768"/>
          </a:xfrm>
        </p:grpSpPr>
        <p:pic>
          <p:nvPicPr>
            <p:cNvPr id="9" name="Picture 8" descr="sandia_national_laboratories_71354_crop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29000" y="3724058"/>
              <a:ext cx="2006600" cy="797142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4229100" y="3746500"/>
              <a:ext cx="1619479" cy="814326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>
                <a:lnSpc>
                  <a:spcPts val="1800"/>
                </a:lnSpc>
              </a:pPr>
              <a:r>
                <a:rPr lang="en-US" sz="1800">
                  <a:solidFill>
                    <a:srgbClr val="1091E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Sandia</a:t>
              </a:r>
              <a:br>
                <a:rPr lang="en-US" sz="1800">
                  <a:solidFill>
                    <a:srgbClr val="1091E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</a:br>
              <a:r>
                <a:rPr lang="en-US" sz="1800">
                  <a:solidFill>
                    <a:srgbClr val="1091E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National</a:t>
              </a:r>
            </a:p>
            <a:p>
              <a:pPr>
                <a:lnSpc>
                  <a:spcPts val="1800"/>
                </a:lnSpc>
              </a:pPr>
              <a:r>
                <a:rPr lang="en-US" sz="1800">
                  <a:solidFill>
                    <a:srgbClr val="1091E1"/>
                  </a:solidFill>
                  <a:latin typeface="Verdana" pitchFamily="34" charset="0"/>
                  <a:ea typeface="Verdana" pitchFamily="34" charset="0"/>
                  <a:cs typeface="Verdana" pitchFamily="34" charset="0"/>
                </a:rPr>
                <a:t>Laboratories</a:t>
              </a:r>
              <a:endParaRPr lang="en-US" sz="1800">
                <a:solidFill>
                  <a:srgbClr val="FF0000"/>
                </a:solidFill>
              </a:endParaRPr>
            </a:p>
          </p:txBody>
        </p:sp>
      </p:grpSp>
      <p:pic>
        <p:nvPicPr>
          <p:cNvPr id="10" name="Picture 9" descr="CD-adapco_Logo-1024x411.jpg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7550" y="2719257"/>
            <a:ext cx="1720848" cy="6906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45437" y="5734050"/>
            <a:ext cx="201850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Verdana" pitchFamily="34" charset="0"/>
                <a:ea typeface="Verdana" pitchFamily="34" charset="0"/>
                <a:cs typeface="Verdana" pitchFamily="34" charset="0"/>
              </a:rPr>
              <a:t>presenter = Scott</a:t>
            </a:r>
          </a:p>
          <a:p>
            <a:endParaRPr lang="en-US" sz="1600"/>
          </a:p>
        </p:txBody>
      </p:sp>
      <p:sp>
        <p:nvSpPr>
          <p:cNvPr id="14" name="TextBox 13"/>
          <p:cNvSpPr txBox="1"/>
          <p:nvPr/>
        </p:nvSpPr>
        <p:spPr>
          <a:xfrm>
            <a:off x="8702954" y="2368550"/>
            <a:ext cx="441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7!</a:t>
            </a:r>
          </a:p>
        </p:txBody>
      </p:sp>
    </p:spTree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mar_colo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326" y="70884"/>
            <a:ext cx="8955019" cy="671626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57200" y="0"/>
            <a:ext cx="7624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800">
                <a:solidFill>
                  <a:srgbClr val="FF0000"/>
                </a:solidFill>
                <a:latin typeface="Calibri"/>
              </a:rPr>
              <a:t>Mohamed Ebeida’s (first author’s) kids, in full color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62200" y="1447800"/>
            <a:ext cx="871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1F497D"/>
                </a:solidFill>
                <a:latin typeface="Calibri"/>
              </a:rPr>
              <a:t>Meera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1219200"/>
            <a:ext cx="7745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1F497D"/>
                </a:solidFill>
                <a:latin typeface="Calibri"/>
              </a:rPr>
              <a:t>Omar</a:t>
            </a:r>
          </a:p>
        </p:txBody>
      </p:sp>
    </p:spTree>
    <p:extLst>
      <p:ext uri="{BB962C8B-B14F-4D97-AF65-F5344CB8AC3E}">
        <p14:creationId xmlns:p14="http://schemas.microsoft.com/office/powerpoint/2010/main" val="308603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">
        <p:cut/>
      </p:transition>
    </mc:Choice>
    <mc:Fallback xmlns="">
      <p:transition xmlns:p14="http://schemas.microsoft.com/office/powerpoint/2010/main" advClick="0" advTm="3000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mar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914400"/>
            <a:ext cx="274320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-76200" y="45720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/>
              </a:rPr>
              <a:t> 1. grayscale -&gt; sizing function for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715000"/>
            <a:ext cx="1318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/>
              </a:rPr>
              <a:t>edge-detect</a:t>
            </a:r>
          </a:p>
        </p:txBody>
      </p:sp>
      <p:cxnSp>
        <p:nvCxnSpPr>
          <p:cNvPr id="14" name="Straight Arrow Connector 13"/>
          <p:cNvCxnSpPr>
            <a:stCxn id="4" idx="2"/>
          </p:cNvCxnSpPr>
          <p:nvPr/>
        </p:nvCxnSpPr>
        <p:spPr>
          <a:xfrm>
            <a:off x="1371600" y="2971800"/>
            <a:ext cx="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2743200" y="4610100"/>
            <a:ext cx="381000" cy="1143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2895600" y="1219200"/>
            <a:ext cx="17526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055124" y="628471"/>
            <a:ext cx="15452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/>
              </a:rPr>
              <a:t>2. Stippling via</a:t>
            </a:r>
            <a:br>
              <a:rPr lang="en-US" sz="1800">
                <a:solidFill>
                  <a:prstClr val="black"/>
                </a:solidFill>
                <a:latin typeface="Calibri"/>
              </a:rPr>
            </a:br>
            <a:r>
              <a:rPr lang="en-US" sz="1800">
                <a:solidFill>
                  <a:prstClr val="black"/>
                </a:solidFill>
                <a:latin typeface="Calibri"/>
              </a:rPr>
              <a:t>Maximal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/>
              </a:rPr>
              <a:t>Poisson-Disk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/>
              </a:rPr>
              <a:t>Sampling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743200" y="1752600"/>
            <a:ext cx="6400800" cy="4882896"/>
            <a:chOff x="2743200" y="1752600"/>
            <a:chExt cx="6400800" cy="4882896"/>
          </a:xfrm>
        </p:grpSpPr>
        <p:pic>
          <p:nvPicPr>
            <p:cNvPr id="10" name="Picture 9" descr="sippling_sifted2-screenshot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78146" y="3520440"/>
              <a:ext cx="4165854" cy="3115056"/>
            </a:xfrm>
            <a:prstGeom prst="rect">
              <a:avLst/>
            </a:prstGeom>
          </p:spPr>
        </p:pic>
        <p:cxnSp>
          <p:nvCxnSpPr>
            <p:cNvPr id="18" name="Straight Arrow Connector 17"/>
            <p:cNvCxnSpPr/>
            <p:nvPr/>
          </p:nvCxnSpPr>
          <p:spPr>
            <a:xfrm flipV="1">
              <a:off x="2743200" y="4191000"/>
              <a:ext cx="381000" cy="41910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4876800" y="1752600"/>
              <a:ext cx="0" cy="3276600"/>
            </a:xfrm>
            <a:prstGeom prst="straightConnector1">
              <a:avLst/>
            </a:prstGeom>
            <a:ln>
              <a:solidFill>
                <a:schemeClr val="tx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/>
            <p:cNvSpPr txBox="1"/>
            <p:nvPr/>
          </p:nvSpPr>
          <p:spPr>
            <a:xfrm>
              <a:off x="3048000" y="2133600"/>
              <a:ext cx="2133900" cy="2862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rgbClr val="FF0000"/>
                  </a:solidFill>
                  <a:latin typeface="Calibri"/>
                </a:rPr>
                <a:t>3. </a:t>
              </a:r>
              <a:br>
                <a:rPr lang="en-US" sz="1800" dirty="0">
                  <a:solidFill>
                    <a:srgbClr val="FF0000"/>
                  </a:solidFill>
                  <a:latin typeface="Calibri"/>
                </a:rPr>
              </a:br>
              <a:r>
                <a:rPr lang="en-US" sz="1800" dirty="0">
                  <a:solidFill>
                    <a:srgbClr val="FF0000"/>
                  </a:solidFill>
                  <a:latin typeface="Calibri"/>
                </a:rPr>
                <a:t>Sift points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 sz="1800" dirty="0">
                <a:solidFill>
                  <a:srgbClr val="FF0000"/>
                </a:solidFill>
                <a:latin typeface="Calibri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rgbClr val="FF0000"/>
                  </a:solidFill>
                  <a:latin typeface="Calibri"/>
                </a:rPr>
                <a:t>Replace 2 for 1.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 sz="1800" dirty="0">
                <a:solidFill>
                  <a:srgbClr val="FF0000"/>
                </a:solidFill>
                <a:latin typeface="Calibri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rgbClr val="FF0000"/>
                  </a:solidFill>
                  <a:latin typeface="Calibri"/>
                </a:rPr>
                <a:t>Respect original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rgbClr val="FF0000"/>
                  </a:solidFill>
                  <a:latin typeface="Calibri"/>
                </a:rPr>
                <a:t>sizing function.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 sz="1800" dirty="0">
                <a:solidFill>
                  <a:srgbClr val="FF0000"/>
                </a:solidFill>
                <a:latin typeface="Calibri"/>
              </a:endParaRP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rgbClr val="FF0000"/>
                  </a:solidFill>
                  <a:latin typeface="Calibri"/>
                </a:rPr>
                <a:t>Fewer points</a:t>
              </a:r>
            </a:p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r>
                <a:rPr lang="en-US" sz="1800" dirty="0">
                  <a:solidFill>
                    <a:srgbClr val="FF0000"/>
                  </a:solidFill>
                  <a:latin typeface="Calibri"/>
                </a:rPr>
                <a:t>Minimal quality loss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14300" y="63500"/>
            <a:ext cx="1637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4235" y="5378647"/>
            <a:ext cx="2133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0000FF"/>
                </a:solidFill>
                <a:latin typeface="Calibri"/>
              </a:rPr>
              <a:t>Universally lighter, but features still distinct</a:t>
            </a:r>
          </a:p>
        </p:txBody>
      </p:sp>
      <p:pic>
        <p:nvPicPr>
          <p:cNvPr id="21" name="Picture 20" descr="stipling_mps2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1350" y="80010"/>
            <a:ext cx="4182650" cy="3133052"/>
          </a:xfrm>
          <a:prstGeom prst="rect">
            <a:avLst/>
          </a:prstGeom>
        </p:spPr>
      </p:pic>
      <p:pic>
        <p:nvPicPr>
          <p:cNvPr id="8" name="Picture 7" descr="omar_bw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36" y="3674427"/>
            <a:ext cx="2720764" cy="2040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50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4000">
        <p:cut/>
      </p:transition>
    </mc:Choice>
    <mc:Fallback xmlns="">
      <p:transition xmlns:p14="http://schemas.microsoft.com/office/powerpoint/2010/main" advClick="0" advTm="14000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0950"/>
            <a:ext cx="7772400" cy="4845050"/>
          </a:xfrm>
        </p:spPr>
        <p:txBody>
          <a:bodyPr/>
          <a:lstStyle/>
          <a:p>
            <a:r>
              <a:rPr lang="en-US" sz="2000" dirty="0"/>
              <a:t>Input: point sample distribution</a:t>
            </a:r>
            <a:br>
              <a:rPr lang="en-US" sz="2000" dirty="0"/>
            </a:br>
            <a:r>
              <a:rPr lang="en-US" sz="2000" dirty="0"/>
              <a:t>Poisson disks, Delaunay Refinement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Sizing function </a:t>
            </a:r>
          </a:p>
          <a:p>
            <a:pPr lvl="2"/>
            <a:r>
              <a:rPr lang="en-US" sz="1800" dirty="0">
                <a:solidFill>
                  <a:schemeClr val="accent2"/>
                </a:solidFill>
              </a:rPr>
              <a:t>Adheres approximately</a:t>
            </a:r>
          </a:p>
          <a:p>
            <a:r>
              <a:rPr lang="en-US" sz="2000" dirty="0"/>
              <a:t>Observe: </a:t>
            </a:r>
            <a:r>
              <a:rPr lang="en-US" sz="2000" dirty="0">
                <a:solidFill>
                  <a:srgbClr val="FF0000"/>
                </a:solidFill>
              </a:rPr>
              <a:t>other distributions also respect sizing function, </a:t>
            </a:r>
            <a:br>
              <a:rPr lang="en-US" sz="2000" dirty="0">
                <a:solidFill>
                  <a:srgbClr val="FF0000"/>
                </a:solidFill>
              </a:rPr>
            </a:br>
            <a:r>
              <a:rPr lang="en-US" sz="2000" dirty="0">
                <a:solidFill>
                  <a:srgbClr val="FF0000"/>
                </a:solidFill>
              </a:rPr>
              <a:t>	        might be smaller</a:t>
            </a:r>
          </a:p>
          <a:p>
            <a:r>
              <a:rPr lang="en-US" sz="2000" dirty="0"/>
              <a:t>Process</a:t>
            </a:r>
          </a:p>
          <a:p>
            <a:pPr lvl="1"/>
            <a:r>
              <a:rPr lang="en-US" sz="2000" dirty="0">
                <a:solidFill>
                  <a:schemeClr val="accent2"/>
                </a:solidFill>
              </a:rPr>
              <a:t>Replace points 2-for-1</a:t>
            </a:r>
          </a:p>
          <a:p>
            <a:pPr lvl="1"/>
            <a:r>
              <a:rPr lang="en-US" sz="2000" dirty="0"/>
              <a:t>Adhere to sizing function</a:t>
            </a:r>
          </a:p>
          <a:p>
            <a:r>
              <a:rPr lang="en-US" sz="2000" dirty="0"/>
              <a:t>Result</a:t>
            </a:r>
          </a:p>
          <a:p>
            <a:pPr lvl="1"/>
            <a:r>
              <a:rPr lang="en-US" sz="2000" dirty="0" smtClean="0"/>
              <a:t>Goal 1: Fewer </a:t>
            </a:r>
            <a:r>
              <a:rPr lang="en-US" sz="2000" dirty="0"/>
              <a:t>points --- how many?</a:t>
            </a:r>
          </a:p>
          <a:p>
            <a:pPr lvl="1"/>
            <a:r>
              <a:rPr lang="en-US" sz="2000" dirty="0" smtClean="0"/>
              <a:t>Goal 2: Retained </a:t>
            </a:r>
            <a:r>
              <a:rPr lang="en-US" sz="2000" dirty="0"/>
              <a:t>randomness --- surprise!</a:t>
            </a:r>
          </a:p>
          <a:p>
            <a:endParaRPr lang="en-US" sz="2000" dirty="0"/>
          </a:p>
        </p:txBody>
      </p:sp>
      <p:grpSp>
        <p:nvGrpSpPr>
          <p:cNvPr id="29" name="Group 28"/>
          <p:cNvGrpSpPr/>
          <p:nvPr/>
        </p:nvGrpSpPr>
        <p:grpSpPr>
          <a:xfrm>
            <a:off x="5092700" y="3460750"/>
            <a:ext cx="3111500" cy="1219200"/>
            <a:chOff x="4965700" y="4044950"/>
            <a:chExt cx="3111500" cy="1219200"/>
          </a:xfrm>
        </p:grpSpPr>
        <p:sp>
          <p:nvSpPr>
            <p:cNvPr id="6" name="Oval 5"/>
            <p:cNvSpPr/>
            <p:nvPr/>
          </p:nvSpPr>
          <p:spPr bwMode="auto">
            <a:xfrm>
              <a:off x="7359650" y="4476750"/>
              <a:ext cx="88900" cy="107950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4965700" y="4044950"/>
              <a:ext cx="3111500" cy="1219200"/>
              <a:chOff x="4749800" y="3740150"/>
              <a:chExt cx="3111500" cy="1219200"/>
            </a:xfrm>
          </p:grpSpPr>
          <p:sp>
            <p:nvSpPr>
              <p:cNvPr id="7" name="Right Arrow 6"/>
              <p:cNvSpPr/>
              <p:nvPr/>
            </p:nvSpPr>
            <p:spPr bwMode="auto">
              <a:xfrm>
                <a:off x="6127750" y="4171950"/>
                <a:ext cx="374650" cy="177800"/>
              </a:xfrm>
              <a:prstGeom prst="rightArrow">
                <a:avLst/>
              </a:prstGeom>
              <a:solidFill>
                <a:schemeClr val="accent2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grpSp>
            <p:nvGrpSpPr>
              <p:cNvPr id="16" name="Group 15"/>
              <p:cNvGrpSpPr/>
              <p:nvPr/>
            </p:nvGrpSpPr>
            <p:grpSpPr>
              <a:xfrm>
                <a:off x="4749800" y="3746500"/>
                <a:ext cx="1219200" cy="1212850"/>
                <a:chOff x="4749800" y="3746500"/>
                <a:chExt cx="1219200" cy="1212850"/>
              </a:xfrm>
            </p:grpSpPr>
            <p:grpSp>
              <p:nvGrpSpPr>
                <p:cNvPr id="14" name="Group 13"/>
                <p:cNvGrpSpPr/>
                <p:nvPr/>
              </p:nvGrpSpPr>
              <p:grpSpPr>
                <a:xfrm>
                  <a:off x="4895850" y="3835400"/>
                  <a:ext cx="863600" cy="946150"/>
                  <a:chOff x="4438650" y="3759200"/>
                  <a:chExt cx="863600" cy="946150"/>
                </a:xfrm>
              </p:grpSpPr>
              <p:sp>
                <p:nvSpPr>
                  <p:cNvPr id="4" name="Oval 3"/>
                  <p:cNvSpPr/>
                  <p:nvPr/>
                </p:nvSpPr>
                <p:spPr bwMode="auto">
                  <a:xfrm>
                    <a:off x="4864100" y="3975100"/>
                    <a:ext cx="88900" cy="10795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5" name="Oval 4"/>
                  <p:cNvSpPr/>
                  <p:nvPr/>
                </p:nvSpPr>
                <p:spPr bwMode="auto">
                  <a:xfrm>
                    <a:off x="4870450" y="4330700"/>
                    <a:ext cx="88900" cy="107950"/>
                  </a:xfrm>
                  <a:prstGeom prst="ellipse">
                    <a:avLst/>
                  </a:prstGeom>
                  <a:solidFill>
                    <a:srgbClr val="FF0000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8" name="Oval 7"/>
                  <p:cNvSpPr/>
                  <p:nvPr/>
                </p:nvSpPr>
                <p:spPr bwMode="auto">
                  <a:xfrm>
                    <a:off x="5162550" y="41021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9" name="Oval 8"/>
                  <p:cNvSpPr/>
                  <p:nvPr/>
                </p:nvSpPr>
                <p:spPr bwMode="auto">
                  <a:xfrm>
                    <a:off x="5035550" y="37592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10" name="Oval 9"/>
                  <p:cNvSpPr/>
                  <p:nvPr/>
                </p:nvSpPr>
                <p:spPr bwMode="auto">
                  <a:xfrm>
                    <a:off x="4438650" y="38354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11" name="Oval 10"/>
                  <p:cNvSpPr/>
                  <p:nvPr/>
                </p:nvSpPr>
                <p:spPr bwMode="auto">
                  <a:xfrm>
                    <a:off x="4502150" y="43688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12" name="Oval 11"/>
                  <p:cNvSpPr/>
                  <p:nvPr/>
                </p:nvSpPr>
                <p:spPr bwMode="auto">
                  <a:xfrm>
                    <a:off x="5213350" y="446405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13" name="Oval 12"/>
                  <p:cNvSpPr/>
                  <p:nvPr/>
                </p:nvSpPr>
                <p:spPr bwMode="auto">
                  <a:xfrm>
                    <a:off x="4711700" y="45974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sp>
              <p:nvSpPr>
                <p:cNvPr id="15" name="Rectangle 14"/>
                <p:cNvSpPr/>
                <p:nvPr/>
              </p:nvSpPr>
              <p:spPr bwMode="auto">
                <a:xfrm>
                  <a:off x="4749800" y="3746500"/>
                  <a:ext cx="1219200" cy="121285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</p:grpSp>
          <p:grpSp>
            <p:nvGrpSpPr>
              <p:cNvPr id="17" name="Group 16"/>
              <p:cNvGrpSpPr/>
              <p:nvPr/>
            </p:nvGrpSpPr>
            <p:grpSpPr>
              <a:xfrm>
                <a:off x="6642100" y="3740150"/>
                <a:ext cx="1219200" cy="1212850"/>
                <a:chOff x="4749800" y="3765550"/>
                <a:chExt cx="1219200" cy="1212850"/>
              </a:xfrm>
            </p:grpSpPr>
            <p:grpSp>
              <p:nvGrpSpPr>
                <p:cNvPr id="18" name="Group 17"/>
                <p:cNvGrpSpPr/>
                <p:nvPr/>
              </p:nvGrpSpPr>
              <p:grpSpPr>
                <a:xfrm>
                  <a:off x="4895850" y="3835400"/>
                  <a:ext cx="863600" cy="946150"/>
                  <a:chOff x="4438650" y="3759200"/>
                  <a:chExt cx="863600" cy="946150"/>
                </a:xfrm>
              </p:grpSpPr>
              <p:sp>
                <p:nvSpPr>
                  <p:cNvPr id="22" name="Oval 21"/>
                  <p:cNvSpPr/>
                  <p:nvPr/>
                </p:nvSpPr>
                <p:spPr bwMode="auto">
                  <a:xfrm>
                    <a:off x="5162550" y="41021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3" name="Oval 22"/>
                  <p:cNvSpPr/>
                  <p:nvPr/>
                </p:nvSpPr>
                <p:spPr bwMode="auto">
                  <a:xfrm>
                    <a:off x="5035550" y="37592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4" name="Oval 23"/>
                  <p:cNvSpPr/>
                  <p:nvPr/>
                </p:nvSpPr>
                <p:spPr bwMode="auto">
                  <a:xfrm>
                    <a:off x="4438650" y="38354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5" name="Oval 24"/>
                  <p:cNvSpPr/>
                  <p:nvPr/>
                </p:nvSpPr>
                <p:spPr bwMode="auto">
                  <a:xfrm>
                    <a:off x="4502150" y="43688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6" name="Oval 25"/>
                  <p:cNvSpPr/>
                  <p:nvPr/>
                </p:nvSpPr>
                <p:spPr bwMode="auto">
                  <a:xfrm>
                    <a:off x="5213350" y="446405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  <p:sp>
                <p:nvSpPr>
                  <p:cNvPr id="27" name="Oval 26"/>
                  <p:cNvSpPr/>
                  <p:nvPr/>
                </p:nvSpPr>
                <p:spPr bwMode="auto">
                  <a:xfrm>
                    <a:off x="4711700" y="4597400"/>
                    <a:ext cx="88900" cy="107950"/>
                  </a:xfrm>
                  <a:prstGeom prst="ellipse">
                    <a:avLst/>
                  </a:prstGeom>
                  <a:solidFill>
                    <a:schemeClr val="tx1"/>
                  </a:solidFill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en-US" sz="24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" pitchFamily="18" charset="0"/>
                    </a:endParaRPr>
                  </a:p>
                </p:txBody>
              </p:sp>
            </p:grpSp>
            <p:sp>
              <p:nvSpPr>
                <p:cNvPr id="19" name="Rectangle 18"/>
                <p:cNvSpPr/>
                <p:nvPr/>
              </p:nvSpPr>
              <p:spPr bwMode="auto">
                <a:xfrm>
                  <a:off x="4749800" y="3765550"/>
                  <a:ext cx="1219200" cy="1212850"/>
                </a:xfrm>
                <a:prstGeom prst="rect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en-US" sz="24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2650020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8750" y="95250"/>
            <a:ext cx="4984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solidFill>
                  <a:prstClr val="black"/>
                </a:solidFill>
                <a:latin typeface="Calibri"/>
              </a:rPr>
              <a:t>Input point sets – improve them</a:t>
            </a:r>
            <a:r>
              <a:rPr lang="en-US" sz="1800" dirty="0">
                <a:solidFill>
                  <a:prstClr val="black"/>
                </a:solidFill>
                <a:latin typeface="Calibri"/>
              </a:rPr>
              <a:t/>
            </a:r>
            <a:br>
              <a:rPr lang="en-US" sz="1800" dirty="0">
                <a:solidFill>
                  <a:prstClr val="black"/>
                </a:solidFill>
                <a:latin typeface="Calibri"/>
              </a:rPr>
            </a:br>
            <a:r>
              <a:rPr lang="en-US" sz="1800" dirty="0">
                <a:solidFill>
                  <a:prstClr val="black"/>
                </a:solidFill>
                <a:latin typeface="Calibri"/>
              </a:rPr>
              <a:t>Sifting </a:t>
            </a:r>
            <a:r>
              <a:rPr lang="en-US" sz="1800" dirty="0" smtClean="0">
                <a:solidFill>
                  <a:prstClr val="black"/>
                </a:solidFill>
                <a:latin typeface="Calibri"/>
              </a:rPr>
              <a:t>points from</a:t>
            </a:r>
            <a:endParaRPr lang="en-US" sz="1800" dirty="0">
              <a:solidFill>
                <a:prstClr val="black"/>
              </a:solidFill>
              <a:latin typeface="Calibri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1800" b="1" dirty="0">
                <a:solidFill>
                  <a:prstClr val="black"/>
                </a:solidFill>
                <a:latin typeface="Calibri"/>
              </a:rPr>
              <a:t>DR</a:t>
            </a:r>
            <a:r>
              <a:rPr lang="en-US" sz="1800" dirty="0">
                <a:solidFill>
                  <a:prstClr val="black"/>
                </a:solidFill>
                <a:latin typeface="Calibri"/>
              </a:rPr>
              <a:t> Delaunay Refinement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prstClr val="black"/>
                </a:solidFill>
                <a:latin typeface="Calibri"/>
              </a:rPr>
              <a:t>      </a:t>
            </a:r>
            <a:r>
              <a:rPr lang="en-US" sz="1800" b="1" dirty="0">
                <a:solidFill>
                  <a:prstClr val="black"/>
                </a:solidFill>
                <a:latin typeface="Calibri"/>
              </a:rPr>
              <a:t>ODR</a:t>
            </a:r>
            <a:r>
              <a:rPr lang="en-US" sz="1800" dirty="0">
                <a:solidFill>
                  <a:prstClr val="black"/>
                </a:solidFill>
                <a:latin typeface="Calibri"/>
              </a:rPr>
              <a:t> Delaunay Refinement w/ Off-centers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prstClr val="black"/>
                </a:solidFill>
                <a:latin typeface="Calibri"/>
              </a:rPr>
              <a:t>    MPS</a:t>
            </a:r>
            <a:r>
              <a:rPr lang="en-US" sz="1800" dirty="0">
                <a:solidFill>
                  <a:prstClr val="black"/>
                </a:solidFill>
                <a:latin typeface="Calibri"/>
              </a:rPr>
              <a:t> Maximal Poisson-disk Sampling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287" y="1968500"/>
            <a:ext cx="30675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MPS – Maximal Poisson-disk Sampling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solidFill>
                  <a:srgbClr val="FF0000"/>
                </a:solidFill>
              </a:rPr>
              <a:t>new disk</a:t>
            </a:r>
          </a:p>
          <a:p>
            <a:pPr algn="ctr"/>
            <a:r>
              <a:rPr lang="en-US" sz="1400" dirty="0"/>
              <a:t>global uniform random locations</a:t>
            </a:r>
          </a:p>
          <a:p>
            <a:pPr algn="ctr"/>
            <a:r>
              <a:rPr lang="en-US" sz="1400" dirty="0"/>
              <a:t>outside </a:t>
            </a:r>
            <a:r>
              <a:rPr lang="en-US" sz="1400" dirty="0">
                <a:solidFill>
                  <a:schemeClr val="tx2"/>
                </a:solidFill>
              </a:rPr>
              <a:t>prior disks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91043" y="3082927"/>
            <a:ext cx="3589866" cy="3547533"/>
            <a:chOff x="957793" y="2543177"/>
            <a:chExt cx="3589866" cy="3547533"/>
          </a:xfrm>
        </p:grpSpPr>
        <p:sp>
          <p:nvSpPr>
            <p:cNvPr id="28" name="Rectangle 27"/>
            <p:cNvSpPr/>
            <p:nvPr/>
          </p:nvSpPr>
          <p:spPr bwMode="auto">
            <a:xfrm>
              <a:off x="1382183" y="2965450"/>
              <a:ext cx="2743200" cy="2743200"/>
            </a:xfrm>
            <a:prstGeom prst="rect">
              <a:avLst/>
            </a:prstGeom>
            <a:solidFill>
              <a:srgbClr val="FFFF00">
                <a:alpha val="1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grpSp>
          <p:nvGrpSpPr>
            <p:cNvPr id="29" name="Group 28"/>
            <p:cNvGrpSpPr/>
            <p:nvPr/>
          </p:nvGrpSpPr>
          <p:grpSpPr>
            <a:xfrm>
              <a:off x="1287992" y="4431244"/>
              <a:ext cx="914400" cy="914400"/>
              <a:chOff x="1014942" y="4818592"/>
              <a:chExt cx="914400" cy="914400"/>
            </a:xfrm>
          </p:grpSpPr>
          <p:sp>
            <p:nvSpPr>
              <p:cNvPr id="8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/>
            <p:cNvGrpSpPr/>
            <p:nvPr/>
          </p:nvGrpSpPr>
          <p:grpSpPr>
            <a:xfrm>
              <a:off x="3116793" y="3262843"/>
              <a:ext cx="914400" cy="914400"/>
              <a:chOff x="1014942" y="4818592"/>
              <a:chExt cx="914400" cy="914400"/>
            </a:xfrm>
          </p:grpSpPr>
          <p:sp>
            <p:nvSpPr>
              <p:cNvPr id="8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1033993" y="2593977"/>
              <a:ext cx="914400" cy="914400"/>
              <a:chOff x="1014942" y="4818592"/>
              <a:chExt cx="914400" cy="914400"/>
            </a:xfrm>
          </p:grpSpPr>
          <p:sp>
            <p:nvSpPr>
              <p:cNvPr id="8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957793" y="3728510"/>
              <a:ext cx="914400" cy="914400"/>
              <a:chOff x="1014942" y="4818592"/>
              <a:chExt cx="914400" cy="914400"/>
            </a:xfrm>
          </p:grpSpPr>
          <p:sp>
            <p:nvSpPr>
              <p:cNvPr id="8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1694393" y="3796243"/>
              <a:ext cx="914400" cy="914400"/>
              <a:chOff x="1014942" y="4818592"/>
              <a:chExt cx="914400" cy="914400"/>
            </a:xfrm>
          </p:grpSpPr>
          <p:sp>
            <p:nvSpPr>
              <p:cNvPr id="7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3633259" y="4625977"/>
              <a:ext cx="914400" cy="914400"/>
              <a:chOff x="1014942" y="4818592"/>
              <a:chExt cx="914400" cy="914400"/>
            </a:xfrm>
          </p:grpSpPr>
          <p:sp>
            <p:nvSpPr>
              <p:cNvPr id="7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3159126" y="4498977"/>
              <a:ext cx="914400" cy="914400"/>
              <a:chOff x="1014942" y="4818592"/>
              <a:chExt cx="914400" cy="914400"/>
            </a:xfrm>
          </p:grpSpPr>
          <p:sp>
            <p:nvSpPr>
              <p:cNvPr id="7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/>
            <p:cNvGrpSpPr/>
            <p:nvPr/>
          </p:nvGrpSpPr>
          <p:grpSpPr>
            <a:xfrm>
              <a:off x="2828926" y="4922311"/>
              <a:ext cx="914400" cy="914400"/>
              <a:chOff x="1014942" y="4818592"/>
              <a:chExt cx="914400" cy="914400"/>
            </a:xfrm>
          </p:grpSpPr>
          <p:sp>
            <p:nvSpPr>
              <p:cNvPr id="7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446992" y="2864910"/>
              <a:ext cx="914400" cy="914400"/>
              <a:chOff x="1014942" y="4818592"/>
              <a:chExt cx="914400" cy="914400"/>
            </a:xfrm>
          </p:grpSpPr>
          <p:sp>
            <p:nvSpPr>
              <p:cNvPr id="7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/>
            <p:cNvGrpSpPr/>
            <p:nvPr/>
          </p:nvGrpSpPr>
          <p:grpSpPr>
            <a:xfrm>
              <a:off x="2930526" y="2780244"/>
              <a:ext cx="914400" cy="914400"/>
              <a:chOff x="1014942" y="4818592"/>
              <a:chExt cx="914400" cy="914400"/>
            </a:xfrm>
          </p:grpSpPr>
          <p:sp>
            <p:nvSpPr>
              <p:cNvPr id="6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/>
          </p:nvGrpSpPr>
          <p:grpSpPr>
            <a:xfrm>
              <a:off x="2219325" y="5108577"/>
              <a:ext cx="914400" cy="914400"/>
              <a:chOff x="1014942" y="4818592"/>
              <a:chExt cx="914400" cy="914400"/>
            </a:xfrm>
          </p:grpSpPr>
          <p:sp>
            <p:nvSpPr>
              <p:cNvPr id="6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3303059" y="5125511"/>
              <a:ext cx="914400" cy="914400"/>
              <a:chOff x="1014942" y="4818592"/>
              <a:chExt cx="914400" cy="914400"/>
            </a:xfrm>
          </p:grpSpPr>
          <p:sp>
            <p:nvSpPr>
              <p:cNvPr id="6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/>
            <p:cNvGrpSpPr/>
            <p:nvPr/>
          </p:nvGrpSpPr>
          <p:grpSpPr>
            <a:xfrm>
              <a:off x="2100793" y="3008844"/>
              <a:ext cx="914400" cy="914400"/>
              <a:chOff x="1014942" y="4818592"/>
              <a:chExt cx="914400" cy="914400"/>
            </a:xfrm>
          </p:grpSpPr>
          <p:sp>
            <p:nvSpPr>
              <p:cNvPr id="6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>
              <a:off x="2160059" y="3593044"/>
              <a:ext cx="914400" cy="914400"/>
              <a:chOff x="1014942" y="4818592"/>
              <a:chExt cx="914400" cy="914400"/>
            </a:xfrm>
          </p:grpSpPr>
          <p:sp>
            <p:nvSpPr>
              <p:cNvPr id="6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1084792" y="3152777"/>
              <a:ext cx="914400" cy="914400"/>
              <a:chOff x="1014942" y="4818592"/>
              <a:chExt cx="914400" cy="914400"/>
            </a:xfrm>
          </p:grpSpPr>
          <p:sp>
            <p:nvSpPr>
              <p:cNvPr id="5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2287059" y="2543177"/>
              <a:ext cx="914400" cy="914400"/>
              <a:chOff x="1014942" y="4818592"/>
              <a:chExt cx="914400" cy="914400"/>
            </a:xfrm>
          </p:grpSpPr>
          <p:sp>
            <p:nvSpPr>
              <p:cNvPr id="5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/>
            <p:cNvGrpSpPr/>
            <p:nvPr/>
          </p:nvGrpSpPr>
          <p:grpSpPr>
            <a:xfrm>
              <a:off x="1626659" y="2577043"/>
              <a:ext cx="914400" cy="914400"/>
              <a:chOff x="1014942" y="4818592"/>
              <a:chExt cx="914400" cy="914400"/>
            </a:xfrm>
          </p:grpSpPr>
          <p:sp>
            <p:nvSpPr>
              <p:cNvPr id="5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2227792" y="4338111"/>
              <a:ext cx="914400" cy="914400"/>
              <a:chOff x="1014942" y="4818592"/>
              <a:chExt cx="914400" cy="914400"/>
            </a:xfrm>
          </p:grpSpPr>
          <p:sp>
            <p:nvSpPr>
              <p:cNvPr id="5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1694391" y="5176310"/>
              <a:ext cx="914400" cy="914400"/>
              <a:chOff x="1014942" y="4818592"/>
              <a:chExt cx="914400" cy="914400"/>
            </a:xfrm>
          </p:grpSpPr>
          <p:sp>
            <p:nvSpPr>
              <p:cNvPr id="5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8" name="Group 47"/>
            <p:cNvGrpSpPr/>
            <p:nvPr/>
          </p:nvGrpSpPr>
          <p:grpSpPr>
            <a:xfrm>
              <a:off x="3616325" y="3313643"/>
              <a:ext cx="914400" cy="914400"/>
              <a:chOff x="1014942" y="4818592"/>
              <a:chExt cx="914400" cy="914400"/>
            </a:xfrm>
          </p:grpSpPr>
          <p:sp>
            <p:nvSpPr>
              <p:cNvPr id="4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91" name="Straight Arrow Connector 90"/>
          <p:cNvCxnSpPr>
            <a:stCxn id="26" idx="2"/>
          </p:cNvCxnSpPr>
          <p:nvPr/>
        </p:nvCxnSpPr>
        <p:spPr>
          <a:xfrm>
            <a:off x="2174083" y="2922607"/>
            <a:ext cx="486567" cy="19224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>
            <a:stCxn id="26" idx="2"/>
          </p:cNvCxnSpPr>
          <p:nvPr/>
        </p:nvCxnSpPr>
        <p:spPr>
          <a:xfrm flipH="1">
            <a:off x="1428753" y="2922607"/>
            <a:ext cx="745330" cy="13255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/>
          <p:cNvCxnSpPr>
            <a:stCxn id="26" idx="2"/>
          </p:cNvCxnSpPr>
          <p:nvPr/>
        </p:nvCxnSpPr>
        <p:spPr>
          <a:xfrm flipH="1">
            <a:off x="1562103" y="2922607"/>
            <a:ext cx="611980" cy="272254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26" idx="2"/>
          </p:cNvCxnSpPr>
          <p:nvPr/>
        </p:nvCxnSpPr>
        <p:spPr>
          <a:xfrm flipH="1">
            <a:off x="901703" y="2922607"/>
            <a:ext cx="1272380" cy="317339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Group 136"/>
          <p:cNvGrpSpPr/>
          <p:nvPr/>
        </p:nvGrpSpPr>
        <p:grpSpPr>
          <a:xfrm>
            <a:off x="5705476" y="2456394"/>
            <a:ext cx="1857374" cy="2692400"/>
            <a:chOff x="5705476" y="2456394"/>
            <a:chExt cx="1857374" cy="2692400"/>
          </a:xfrm>
        </p:grpSpPr>
        <p:grpSp>
          <p:nvGrpSpPr>
            <p:cNvPr id="103" name="Group 102"/>
            <p:cNvGrpSpPr/>
            <p:nvPr/>
          </p:nvGrpSpPr>
          <p:grpSpPr>
            <a:xfrm>
              <a:off x="5705476" y="4113744"/>
              <a:ext cx="914400" cy="914400"/>
              <a:chOff x="1014942" y="4818592"/>
              <a:chExt cx="914400" cy="914400"/>
            </a:xfrm>
          </p:grpSpPr>
          <p:sp>
            <p:nvSpPr>
              <p:cNvPr id="10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6" name="Group 105"/>
            <p:cNvGrpSpPr/>
            <p:nvPr/>
          </p:nvGrpSpPr>
          <p:grpSpPr>
            <a:xfrm>
              <a:off x="6423026" y="4234394"/>
              <a:ext cx="914400" cy="914400"/>
              <a:chOff x="1014942" y="4818592"/>
              <a:chExt cx="914400" cy="914400"/>
            </a:xfrm>
          </p:grpSpPr>
          <p:sp>
            <p:nvSpPr>
              <p:cNvPr id="10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9" name="Group 108"/>
            <p:cNvGrpSpPr/>
            <p:nvPr/>
          </p:nvGrpSpPr>
          <p:grpSpPr>
            <a:xfrm>
              <a:off x="6124576" y="2456394"/>
              <a:ext cx="914400" cy="914400"/>
              <a:chOff x="1014942" y="4818592"/>
              <a:chExt cx="914400" cy="914400"/>
            </a:xfrm>
          </p:grpSpPr>
          <p:sp>
            <p:nvSpPr>
              <p:cNvPr id="11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2" name="Group 111"/>
            <p:cNvGrpSpPr/>
            <p:nvPr/>
          </p:nvGrpSpPr>
          <p:grpSpPr>
            <a:xfrm>
              <a:off x="5762626" y="2921000"/>
              <a:ext cx="1800224" cy="1795994"/>
              <a:chOff x="1014942" y="4818592"/>
              <a:chExt cx="914400" cy="914400"/>
            </a:xfrm>
          </p:grpSpPr>
          <p:sp>
            <p:nvSpPr>
              <p:cNvPr id="11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noFill/>
              <a:ln w="254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5" name="Group 114"/>
          <p:cNvGrpSpPr/>
          <p:nvPr/>
        </p:nvGrpSpPr>
        <p:grpSpPr>
          <a:xfrm>
            <a:off x="2225676" y="4450294"/>
            <a:ext cx="914400" cy="914400"/>
            <a:chOff x="1014942" y="4818592"/>
            <a:chExt cx="914400" cy="914400"/>
          </a:xfrm>
        </p:grpSpPr>
        <p:sp>
          <p:nvSpPr>
            <p:cNvPr id="116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rgbClr val="FF0000">
                <a:alpha val="50000"/>
              </a:srgbClr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5" name="TextBox 134"/>
          <p:cNvSpPr txBox="1"/>
          <p:nvPr/>
        </p:nvSpPr>
        <p:spPr>
          <a:xfrm>
            <a:off x="5440656" y="1663700"/>
            <a:ext cx="25092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DR – Delaunay Refinement</a:t>
            </a:r>
            <a:r>
              <a:rPr lang="en-US" sz="1400" dirty="0"/>
              <a:t/>
            </a:r>
            <a:br>
              <a:rPr lang="en-US" sz="1400" dirty="0"/>
            </a:br>
            <a:r>
              <a:rPr lang="en-US" sz="1400" dirty="0">
                <a:solidFill>
                  <a:srgbClr val="FF0000"/>
                </a:solidFill>
              </a:rPr>
              <a:t>new disk</a:t>
            </a:r>
          </a:p>
          <a:p>
            <a:pPr algn="ctr"/>
            <a:r>
              <a:rPr lang="en-US" sz="1400" dirty="0"/>
              <a:t>center of large empty dual circle</a:t>
            </a:r>
          </a:p>
        </p:txBody>
      </p:sp>
      <p:grpSp>
        <p:nvGrpSpPr>
          <p:cNvPr id="138" name="Group 137"/>
          <p:cNvGrpSpPr/>
          <p:nvPr/>
        </p:nvGrpSpPr>
        <p:grpSpPr>
          <a:xfrm>
            <a:off x="6200776" y="3358094"/>
            <a:ext cx="914400" cy="914400"/>
            <a:chOff x="1014942" y="4818592"/>
            <a:chExt cx="914400" cy="914400"/>
          </a:xfrm>
        </p:grpSpPr>
        <p:sp>
          <p:nvSpPr>
            <p:cNvPr id="139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rgbClr val="FF0000">
                <a:alpha val="50000"/>
              </a:srgbClr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1794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3000">
        <p:cut/>
      </p:transition>
    </mc:Choice>
    <mc:Fallback xmlns="">
      <p:transition xmlns:p14="http://schemas.microsoft.com/office/powerpoint/2010/main" advClick="0" advTm="13000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250950"/>
          </a:xfrm>
        </p:spPr>
        <p:txBody>
          <a:bodyPr/>
          <a:lstStyle/>
          <a:p>
            <a:r>
              <a:rPr lang="en-US" smtClean="0"/>
              <a:t>Problem</a:t>
            </a:r>
            <a:br>
              <a:rPr lang="en-US" smtClean="0"/>
            </a:br>
            <a:r>
              <a:rPr lang="en-US" sz="2000" smtClean="0"/>
              <a:t>Painting Yourself Into a Corner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15525" y="1301750"/>
            <a:ext cx="3917950" cy="1498600"/>
          </a:xfrm>
        </p:spPr>
        <p:txBody>
          <a:bodyPr/>
          <a:lstStyle/>
          <a:p>
            <a:pPr marL="171450" indent="0">
              <a:buNone/>
            </a:pPr>
            <a:r>
              <a:rPr lang="en-US" sz="2000"/>
              <a:t>MPS, DR</a:t>
            </a:r>
            <a:br>
              <a:rPr lang="en-US" sz="2000"/>
            </a:br>
            <a:r>
              <a:rPr lang="en-US" sz="2000"/>
              <a:t>easy to introduce a small gap that later forces </a:t>
            </a:r>
          </a:p>
          <a:p>
            <a:pPr lvl="1"/>
            <a:r>
              <a:rPr lang="en-US" sz="1800"/>
              <a:t>distance = r + eps</a:t>
            </a:r>
          </a:p>
          <a:p>
            <a:pPr lvl="1"/>
            <a:r>
              <a:rPr lang="en-US" sz="1800"/>
              <a:t>dense sampling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89380" y="3546211"/>
            <a:ext cx="108565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</a:rPr>
              <a:t>gap</a:t>
            </a:r>
          </a:p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  <a:sym typeface="Wingdings"/>
              </a:rPr>
              <a:t></a:t>
            </a:r>
            <a:endParaRPr lang="en-US" sz="1600" b="1" kern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</a:rPr>
              <a:t>disk later </a:t>
            </a:r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4780200" y="3328187"/>
            <a:ext cx="4335990" cy="2976233"/>
            <a:chOff x="4808010" y="3161309"/>
            <a:chExt cx="4335990" cy="2976233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08010" y="3254016"/>
              <a:ext cx="4335990" cy="2883526"/>
            </a:xfrm>
            <a:prstGeom prst="rect">
              <a:avLst/>
            </a:prstGeom>
          </p:spPr>
        </p:pic>
        <p:sp>
          <p:nvSpPr>
            <p:cNvPr id="45" name="Oval 44"/>
            <p:cNvSpPr/>
            <p:nvPr/>
          </p:nvSpPr>
          <p:spPr bwMode="auto">
            <a:xfrm>
              <a:off x="4903997" y="3161309"/>
              <a:ext cx="426433" cy="1557477"/>
            </a:xfrm>
            <a:prstGeom prst="ellipse">
              <a:avLst/>
            </a:prstGeom>
            <a:noFill/>
            <a:ln w="127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330430" y="3632321"/>
              <a:ext cx="16295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smtClean="0">
                  <a:solidFill>
                    <a:srgbClr val="FF0000"/>
                  </a:solidFill>
                </a:rPr>
                <a:t>many || edge || ≈ r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143339" y="1394458"/>
            <a:ext cx="1866900" cy="4822110"/>
            <a:chOff x="2145242" y="1294000"/>
            <a:chExt cx="1866900" cy="4822110"/>
          </a:xfrm>
        </p:grpSpPr>
        <p:grpSp>
          <p:nvGrpSpPr>
            <p:cNvPr id="315" name="Group 314"/>
            <p:cNvGrpSpPr/>
            <p:nvPr/>
          </p:nvGrpSpPr>
          <p:grpSpPr>
            <a:xfrm>
              <a:off x="2145242" y="1726144"/>
              <a:ext cx="914400" cy="914400"/>
              <a:chOff x="1014942" y="4818592"/>
              <a:chExt cx="914400" cy="914400"/>
            </a:xfrm>
          </p:grpSpPr>
          <p:sp>
            <p:nvSpPr>
              <p:cNvPr id="37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7" name="Oval 37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4" name="Group 323"/>
            <p:cNvGrpSpPr/>
            <p:nvPr/>
          </p:nvGrpSpPr>
          <p:grpSpPr>
            <a:xfrm>
              <a:off x="3085042" y="2464860"/>
              <a:ext cx="914400" cy="914400"/>
              <a:chOff x="1014942" y="4818592"/>
              <a:chExt cx="914400" cy="914400"/>
            </a:xfrm>
          </p:grpSpPr>
          <p:sp>
            <p:nvSpPr>
              <p:cNvPr id="35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9" name="Oval 35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0" name="Group 309"/>
            <p:cNvGrpSpPr/>
            <p:nvPr/>
          </p:nvGrpSpPr>
          <p:grpSpPr>
            <a:xfrm>
              <a:off x="2411941" y="2445810"/>
              <a:ext cx="914400" cy="914400"/>
              <a:chOff x="1014942" y="4818592"/>
              <a:chExt cx="914400" cy="914400"/>
            </a:xfrm>
          </p:grpSpPr>
          <p:sp>
            <p:nvSpPr>
              <p:cNvPr id="31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2" name="Oval 31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5" name="Straight Arrow Connector 134"/>
            <p:cNvCxnSpPr/>
            <p:nvPr/>
          </p:nvCxnSpPr>
          <p:spPr>
            <a:xfrm flipH="1" flipV="1">
              <a:off x="3121026" y="2486028"/>
              <a:ext cx="889956" cy="1001272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4" name="Group 143"/>
            <p:cNvGrpSpPr/>
            <p:nvPr/>
          </p:nvGrpSpPr>
          <p:grpSpPr>
            <a:xfrm>
              <a:off x="2157942" y="4355043"/>
              <a:ext cx="1854200" cy="1761067"/>
              <a:chOff x="2145242" y="4659843"/>
              <a:chExt cx="1854200" cy="1761067"/>
            </a:xfrm>
          </p:grpSpPr>
          <p:grpSp>
            <p:nvGrpSpPr>
              <p:cNvPr id="165" name="Group 164"/>
              <p:cNvGrpSpPr/>
              <p:nvPr/>
            </p:nvGrpSpPr>
            <p:grpSpPr>
              <a:xfrm>
                <a:off x="2145242" y="4767794"/>
                <a:ext cx="914400" cy="914400"/>
                <a:chOff x="1014942" y="4818592"/>
                <a:chExt cx="914400" cy="914400"/>
              </a:xfrm>
            </p:grpSpPr>
            <p:sp>
              <p:nvSpPr>
                <p:cNvPr id="17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Oval 17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6" name="Group 165"/>
              <p:cNvGrpSpPr/>
              <p:nvPr/>
            </p:nvGrpSpPr>
            <p:grpSpPr>
              <a:xfrm>
                <a:off x="2907243" y="4659843"/>
                <a:ext cx="914400" cy="914400"/>
                <a:chOff x="1014942" y="4818592"/>
                <a:chExt cx="914400" cy="914400"/>
              </a:xfrm>
            </p:grpSpPr>
            <p:sp>
              <p:nvSpPr>
                <p:cNvPr id="17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Oval 17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7" name="Group 166"/>
              <p:cNvGrpSpPr/>
              <p:nvPr/>
            </p:nvGrpSpPr>
            <p:grpSpPr>
              <a:xfrm>
                <a:off x="3085042" y="5506510"/>
                <a:ext cx="914400" cy="914400"/>
                <a:chOff x="1014942" y="4818592"/>
                <a:chExt cx="914400" cy="914400"/>
              </a:xfrm>
            </p:grpSpPr>
            <p:sp>
              <p:nvSpPr>
                <p:cNvPr id="17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Oval 17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8" name="Group 167"/>
              <p:cNvGrpSpPr/>
              <p:nvPr/>
            </p:nvGrpSpPr>
            <p:grpSpPr>
              <a:xfrm>
                <a:off x="2411941" y="5487460"/>
                <a:ext cx="914400" cy="914400"/>
                <a:chOff x="1014942" y="4818592"/>
                <a:chExt cx="914400" cy="914400"/>
              </a:xfrm>
            </p:grpSpPr>
            <p:sp>
              <p:nvSpPr>
                <p:cNvPr id="16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Oval 16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8" name="Group 177"/>
            <p:cNvGrpSpPr/>
            <p:nvPr/>
          </p:nvGrpSpPr>
          <p:grpSpPr>
            <a:xfrm>
              <a:off x="2874963" y="1592794"/>
              <a:ext cx="914400" cy="914400"/>
              <a:chOff x="1014942" y="4818592"/>
              <a:chExt cx="914400" cy="914400"/>
            </a:xfrm>
          </p:grpSpPr>
          <p:sp>
            <p:nvSpPr>
              <p:cNvPr id="17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/>
            <p:cNvGrpSpPr/>
            <p:nvPr/>
          </p:nvGrpSpPr>
          <p:grpSpPr>
            <a:xfrm>
              <a:off x="2608263" y="4729694"/>
              <a:ext cx="914400" cy="914400"/>
              <a:chOff x="1014942" y="4818592"/>
              <a:chExt cx="914400" cy="914400"/>
            </a:xfrm>
          </p:grpSpPr>
          <p:sp>
            <p:nvSpPr>
              <p:cNvPr id="18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9" name="Oval 18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2" name="Straight Arrow Connector 191"/>
            <p:cNvCxnSpPr/>
            <p:nvPr/>
          </p:nvCxnSpPr>
          <p:spPr>
            <a:xfrm flipH="1">
              <a:off x="3099722" y="4262256"/>
              <a:ext cx="896909" cy="90411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2626782" y="1294000"/>
              <a:ext cx="5440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MPS</a:t>
              </a:r>
              <a:endParaRPr lang="en-US" sz="1400">
                <a:solidFill>
                  <a:schemeClr val="tx2"/>
                </a:solidFill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2253039" y="1241068"/>
            <a:ext cx="2209666" cy="5429250"/>
            <a:chOff x="-150679" y="1262594"/>
            <a:chExt cx="2209666" cy="5429250"/>
          </a:xfrm>
        </p:grpSpPr>
        <p:grpSp>
          <p:nvGrpSpPr>
            <p:cNvPr id="114" name="Group 113"/>
            <p:cNvGrpSpPr/>
            <p:nvPr/>
          </p:nvGrpSpPr>
          <p:grpSpPr>
            <a:xfrm>
              <a:off x="201613" y="1262594"/>
              <a:ext cx="1857374" cy="2692400"/>
              <a:chOff x="5705476" y="2456394"/>
              <a:chExt cx="1857374" cy="2692400"/>
            </a:xfrm>
          </p:grpSpPr>
          <p:grpSp>
            <p:nvGrpSpPr>
              <p:cNvPr id="115" name="Group 114"/>
              <p:cNvGrpSpPr/>
              <p:nvPr/>
            </p:nvGrpSpPr>
            <p:grpSpPr>
              <a:xfrm>
                <a:off x="5705476" y="4113744"/>
                <a:ext cx="914400" cy="914400"/>
                <a:chOff x="1014942" y="4818592"/>
                <a:chExt cx="914400" cy="914400"/>
              </a:xfrm>
            </p:grpSpPr>
            <p:sp>
              <p:nvSpPr>
                <p:cNvPr id="12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Oval 12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" name="Group 115"/>
              <p:cNvGrpSpPr/>
              <p:nvPr/>
            </p:nvGrpSpPr>
            <p:grpSpPr>
              <a:xfrm>
                <a:off x="6423026" y="4234394"/>
                <a:ext cx="914400" cy="914400"/>
                <a:chOff x="1014942" y="4818592"/>
                <a:chExt cx="914400" cy="914400"/>
              </a:xfrm>
            </p:grpSpPr>
            <p:sp>
              <p:nvSpPr>
                <p:cNvPr id="12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Oval 12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/>
              <p:cNvGrpSpPr/>
              <p:nvPr/>
            </p:nvGrpSpPr>
            <p:grpSpPr>
              <a:xfrm>
                <a:off x="6124576" y="2456394"/>
                <a:ext cx="914400" cy="914400"/>
                <a:chOff x="1014942" y="4818592"/>
                <a:chExt cx="914400" cy="914400"/>
              </a:xfrm>
            </p:grpSpPr>
            <p:sp>
              <p:nvSpPr>
                <p:cNvPr id="12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Oval 12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" name="Group 117"/>
              <p:cNvGrpSpPr/>
              <p:nvPr/>
            </p:nvGrpSpPr>
            <p:grpSpPr>
              <a:xfrm>
                <a:off x="5762626" y="2921000"/>
                <a:ext cx="1800224" cy="1795994"/>
                <a:chOff x="1014942" y="4818592"/>
                <a:chExt cx="914400" cy="914400"/>
              </a:xfrm>
            </p:grpSpPr>
            <p:sp>
              <p:nvSpPr>
                <p:cNvPr id="11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7" name="Group 126"/>
            <p:cNvGrpSpPr/>
            <p:nvPr/>
          </p:nvGrpSpPr>
          <p:grpSpPr>
            <a:xfrm>
              <a:off x="696913" y="2164294"/>
              <a:ext cx="914400" cy="914400"/>
              <a:chOff x="1014942" y="4818592"/>
              <a:chExt cx="914400" cy="914400"/>
            </a:xfrm>
          </p:grpSpPr>
          <p:sp>
            <p:nvSpPr>
              <p:cNvPr id="12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2" name="Straight Arrow Connector 131"/>
            <p:cNvCxnSpPr/>
            <p:nvPr/>
          </p:nvCxnSpPr>
          <p:spPr>
            <a:xfrm flipV="1">
              <a:off x="-136329" y="3105151"/>
              <a:ext cx="1212655" cy="496958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5" name="Group 144"/>
            <p:cNvGrpSpPr/>
            <p:nvPr/>
          </p:nvGrpSpPr>
          <p:grpSpPr>
            <a:xfrm>
              <a:off x="214313" y="3999444"/>
              <a:ext cx="1631950" cy="2692400"/>
              <a:chOff x="8215313" y="1395944"/>
              <a:chExt cx="1631950" cy="2692400"/>
            </a:xfrm>
          </p:grpSpPr>
          <p:grpSp>
            <p:nvGrpSpPr>
              <p:cNvPr id="149" name="Group 148"/>
              <p:cNvGrpSpPr/>
              <p:nvPr/>
            </p:nvGrpSpPr>
            <p:grpSpPr>
              <a:xfrm>
                <a:off x="8215313" y="1395944"/>
                <a:ext cx="1631950" cy="2692400"/>
                <a:chOff x="5705476" y="2456394"/>
                <a:chExt cx="1631950" cy="2692400"/>
              </a:xfrm>
            </p:grpSpPr>
            <p:grpSp>
              <p:nvGrpSpPr>
                <p:cNvPr id="153" name="Group 152"/>
                <p:cNvGrpSpPr/>
                <p:nvPr/>
              </p:nvGrpSpPr>
              <p:grpSpPr>
                <a:xfrm>
                  <a:off x="5705476" y="411374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163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4" name="Oval 163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4" name="Group 153"/>
                <p:cNvGrpSpPr/>
                <p:nvPr/>
              </p:nvGrpSpPr>
              <p:grpSpPr>
                <a:xfrm>
                  <a:off x="6423026" y="42343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161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" name="Oval 161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5" name="Group 154"/>
                <p:cNvGrpSpPr/>
                <p:nvPr/>
              </p:nvGrpSpPr>
              <p:grpSpPr>
                <a:xfrm>
                  <a:off x="6124576" y="2456394"/>
                  <a:ext cx="914400" cy="914400"/>
                  <a:chOff x="1014942" y="4818592"/>
                  <a:chExt cx="914400" cy="914400"/>
                </a:xfrm>
              </p:grpSpPr>
              <p:sp>
                <p:nvSpPr>
                  <p:cNvPr id="159" name="Flowchart: Connector 9"/>
                  <p:cNvSpPr/>
                  <p:nvPr/>
                </p:nvSpPr>
                <p:spPr>
                  <a:xfrm>
                    <a:off x="1014942" y="4818592"/>
                    <a:ext cx="914400" cy="914400"/>
                  </a:xfrm>
                  <a:prstGeom prst="flowChartConnector">
                    <a:avLst/>
                  </a:prstGeom>
                  <a:solidFill>
                    <a:schemeClr val="accent1">
                      <a:lumMod val="60000"/>
                      <a:lumOff val="40000"/>
                      <a:alpha val="50000"/>
                    </a:schemeClr>
                  </a:solidFill>
                  <a:ln w="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0" name="Oval 159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chemeClr val="tx2"/>
                  </a:solidFill>
                  <a:ln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56" name="Group 155"/>
                <p:cNvGrpSpPr/>
                <p:nvPr/>
              </p:nvGrpSpPr>
              <p:grpSpPr>
                <a:xfrm>
                  <a:off x="6118222" y="3810016"/>
                  <a:ext cx="941389" cy="964127"/>
                  <a:chOff x="1195563" y="5271220"/>
                  <a:chExt cx="478166" cy="490869"/>
                </a:xfrm>
              </p:grpSpPr>
              <p:sp>
                <p:nvSpPr>
                  <p:cNvPr id="157" name="Flowchart: Connector 9"/>
                  <p:cNvSpPr/>
                  <p:nvPr/>
                </p:nvSpPr>
                <p:spPr>
                  <a:xfrm>
                    <a:off x="1195563" y="5284142"/>
                    <a:ext cx="478166" cy="477947"/>
                  </a:xfrm>
                  <a:prstGeom prst="flowChartConnector">
                    <a:avLst/>
                  </a:prstGeom>
                  <a:noFill/>
                  <a:ln w="25400">
                    <a:solidFill>
                      <a:srgbClr val="008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none"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58" name="Oval 157"/>
                  <p:cNvSpPr/>
                  <p:nvPr/>
                </p:nvSpPr>
                <p:spPr>
                  <a:xfrm>
                    <a:off x="1467570" y="5271220"/>
                    <a:ext cx="18288" cy="18288"/>
                  </a:xfrm>
                  <a:prstGeom prst="ellipse">
                    <a:avLst/>
                  </a:prstGeom>
                  <a:solidFill>
                    <a:srgbClr val="008000"/>
                  </a:solidFill>
                  <a:ln>
                    <a:solidFill>
                      <a:srgbClr val="008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152" name="Oval 151"/>
              <p:cNvSpPr/>
              <p:nvPr/>
            </p:nvSpPr>
            <p:spPr>
              <a:xfrm>
                <a:off x="9163241" y="2750272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82" name="Flowchart: Connector 9"/>
            <p:cNvSpPr/>
            <p:nvPr/>
          </p:nvSpPr>
          <p:spPr>
            <a:xfrm>
              <a:off x="716492" y="4903260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/>
            <p:cNvSpPr/>
            <p:nvPr/>
          </p:nvSpPr>
          <p:spPr>
            <a:xfrm>
              <a:off x="1169120" y="5355888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4" name="Group 183"/>
            <p:cNvGrpSpPr/>
            <p:nvPr/>
          </p:nvGrpSpPr>
          <p:grpSpPr>
            <a:xfrm>
              <a:off x="646113" y="5390094"/>
              <a:ext cx="914400" cy="914400"/>
              <a:chOff x="1014942" y="4818592"/>
              <a:chExt cx="914400" cy="914400"/>
            </a:xfrm>
          </p:grpSpPr>
          <p:sp>
            <p:nvSpPr>
              <p:cNvPr id="18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90" name="Straight Arrow Connector 189"/>
            <p:cNvCxnSpPr/>
            <p:nvPr/>
          </p:nvCxnSpPr>
          <p:spPr>
            <a:xfrm>
              <a:off x="-150679" y="4391416"/>
              <a:ext cx="1219797" cy="1449454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TextBox 78"/>
            <p:cNvSpPr txBox="1"/>
            <p:nvPr/>
          </p:nvSpPr>
          <p:spPr>
            <a:xfrm>
              <a:off x="70722" y="1634998"/>
              <a:ext cx="4340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/>
                <a:t>DR</a:t>
              </a:r>
            </a:p>
          </p:txBody>
        </p:sp>
      </p:grpSp>
      <p:sp>
        <p:nvSpPr>
          <p:cNvPr id="94" name="Rectangle 93"/>
          <p:cNvSpPr/>
          <p:nvPr/>
        </p:nvSpPr>
        <p:spPr>
          <a:xfrm>
            <a:off x="2099340" y="2105646"/>
            <a:ext cx="2987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144111" y="5027796"/>
            <a:ext cx="29878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3239685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6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4891" y="3834344"/>
            <a:ext cx="4335990" cy="288352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250950"/>
          </a:xfrm>
        </p:spPr>
        <p:txBody>
          <a:bodyPr/>
          <a:lstStyle/>
          <a:p>
            <a:r>
              <a:rPr lang="en-US" smtClean="0"/>
              <a:t>DR Solution</a:t>
            </a:r>
            <a:br>
              <a:rPr lang="en-US" smtClean="0"/>
            </a:br>
            <a:r>
              <a:rPr lang="en-US" smtClean="0"/>
              <a:t>off-centers DR (ODR)</a:t>
            </a:r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01613" y="1262594"/>
            <a:ext cx="2094477" cy="2692400"/>
            <a:chOff x="201613" y="1262594"/>
            <a:chExt cx="2094477" cy="2692400"/>
          </a:xfrm>
        </p:grpSpPr>
        <p:grpSp>
          <p:nvGrpSpPr>
            <p:cNvPr id="114" name="Group 113"/>
            <p:cNvGrpSpPr/>
            <p:nvPr/>
          </p:nvGrpSpPr>
          <p:grpSpPr>
            <a:xfrm>
              <a:off x="201613" y="1262594"/>
              <a:ext cx="1857374" cy="2692400"/>
              <a:chOff x="5705476" y="2456394"/>
              <a:chExt cx="1857374" cy="2692400"/>
            </a:xfrm>
          </p:grpSpPr>
          <p:grpSp>
            <p:nvGrpSpPr>
              <p:cNvPr id="115" name="Group 114"/>
              <p:cNvGrpSpPr/>
              <p:nvPr/>
            </p:nvGrpSpPr>
            <p:grpSpPr>
              <a:xfrm>
                <a:off x="5705476" y="4113744"/>
                <a:ext cx="914400" cy="914400"/>
                <a:chOff x="1014942" y="4818592"/>
                <a:chExt cx="914400" cy="914400"/>
              </a:xfrm>
            </p:grpSpPr>
            <p:sp>
              <p:nvSpPr>
                <p:cNvPr id="12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Oval 12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6" name="Group 115"/>
              <p:cNvGrpSpPr/>
              <p:nvPr/>
            </p:nvGrpSpPr>
            <p:grpSpPr>
              <a:xfrm>
                <a:off x="6423026" y="4234394"/>
                <a:ext cx="914400" cy="914400"/>
                <a:chOff x="1014942" y="4818592"/>
                <a:chExt cx="914400" cy="914400"/>
              </a:xfrm>
            </p:grpSpPr>
            <p:sp>
              <p:nvSpPr>
                <p:cNvPr id="12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Oval 12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/>
              <p:cNvGrpSpPr/>
              <p:nvPr/>
            </p:nvGrpSpPr>
            <p:grpSpPr>
              <a:xfrm>
                <a:off x="6124576" y="2456394"/>
                <a:ext cx="914400" cy="914400"/>
                <a:chOff x="1014942" y="4818592"/>
                <a:chExt cx="914400" cy="914400"/>
              </a:xfrm>
            </p:grpSpPr>
            <p:sp>
              <p:nvSpPr>
                <p:cNvPr id="12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Oval 12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8" name="Group 117"/>
              <p:cNvGrpSpPr/>
              <p:nvPr/>
            </p:nvGrpSpPr>
            <p:grpSpPr>
              <a:xfrm>
                <a:off x="5762626" y="2921000"/>
                <a:ext cx="1800224" cy="1795994"/>
                <a:chOff x="1014942" y="4818592"/>
                <a:chExt cx="914400" cy="914400"/>
              </a:xfrm>
            </p:grpSpPr>
            <p:sp>
              <p:nvSpPr>
                <p:cNvPr id="11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Oval 11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7" name="Group 126"/>
            <p:cNvGrpSpPr/>
            <p:nvPr/>
          </p:nvGrpSpPr>
          <p:grpSpPr>
            <a:xfrm>
              <a:off x="696913" y="2164294"/>
              <a:ext cx="914400" cy="914400"/>
              <a:chOff x="1014942" y="4818592"/>
              <a:chExt cx="914400" cy="914400"/>
            </a:xfrm>
          </p:grpSpPr>
          <p:sp>
            <p:nvSpPr>
              <p:cNvPr id="12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2" name="Straight Arrow Connector 131"/>
            <p:cNvCxnSpPr/>
            <p:nvPr/>
          </p:nvCxnSpPr>
          <p:spPr>
            <a:xfrm flipH="1" flipV="1">
              <a:off x="1076326" y="3105150"/>
              <a:ext cx="1219764" cy="374976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Rectangle 32"/>
          <p:cNvSpPr/>
          <p:nvPr/>
        </p:nvSpPr>
        <p:spPr>
          <a:xfrm>
            <a:off x="2022276" y="3039418"/>
            <a:ext cx="108565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</a:rPr>
              <a:t>DR</a:t>
            </a:r>
          </a:p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</a:rPr>
              <a:t>gap</a:t>
            </a:r>
          </a:p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  <a:sym typeface="Wingdings"/>
              </a:rPr>
              <a:t></a:t>
            </a:r>
            <a:endParaRPr lang="en-US" sz="1600" b="1" kern="0">
              <a:solidFill>
                <a:srgbClr val="000000"/>
              </a:solidFill>
              <a:latin typeface="Arial"/>
            </a:endParaRPr>
          </a:p>
          <a:p>
            <a:pPr algn="ctr"/>
            <a:r>
              <a:rPr lang="en-US" sz="1600" b="1" kern="0">
                <a:solidFill>
                  <a:srgbClr val="000000"/>
                </a:solidFill>
                <a:latin typeface="Arial"/>
              </a:rPr>
              <a:t>disk later </a:t>
            </a:r>
            <a:endParaRPr lang="en-US"/>
          </a:p>
        </p:txBody>
      </p:sp>
      <p:grpSp>
        <p:nvGrpSpPr>
          <p:cNvPr id="145" name="Group 144"/>
          <p:cNvGrpSpPr/>
          <p:nvPr/>
        </p:nvGrpSpPr>
        <p:grpSpPr>
          <a:xfrm>
            <a:off x="214313" y="3999444"/>
            <a:ext cx="1631950" cy="2692400"/>
            <a:chOff x="8215313" y="1395944"/>
            <a:chExt cx="1631950" cy="2692400"/>
          </a:xfrm>
        </p:grpSpPr>
        <p:grpSp>
          <p:nvGrpSpPr>
            <p:cNvPr id="149" name="Group 148"/>
            <p:cNvGrpSpPr/>
            <p:nvPr/>
          </p:nvGrpSpPr>
          <p:grpSpPr>
            <a:xfrm>
              <a:off x="8215313" y="1395944"/>
              <a:ext cx="1631950" cy="2692400"/>
              <a:chOff x="5705476" y="2456394"/>
              <a:chExt cx="1631950" cy="2692400"/>
            </a:xfrm>
          </p:grpSpPr>
          <p:grpSp>
            <p:nvGrpSpPr>
              <p:cNvPr id="153" name="Group 152"/>
              <p:cNvGrpSpPr/>
              <p:nvPr/>
            </p:nvGrpSpPr>
            <p:grpSpPr>
              <a:xfrm>
                <a:off x="5705476" y="4113744"/>
                <a:ext cx="914400" cy="914400"/>
                <a:chOff x="1014942" y="4818592"/>
                <a:chExt cx="914400" cy="914400"/>
              </a:xfrm>
            </p:grpSpPr>
            <p:sp>
              <p:nvSpPr>
                <p:cNvPr id="16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Oval 16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4" name="Group 153"/>
              <p:cNvGrpSpPr/>
              <p:nvPr/>
            </p:nvGrpSpPr>
            <p:grpSpPr>
              <a:xfrm>
                <a:off x="6423026" y="4234394"/>
                <a:ext cx="914400" cy="914400"/>
                <a:chOff x="1014942" y="4818592"/>
                <a:chExt cx="914400" cy="914400"/>
              </a:xfrm>
            </p:grpSpPr>
            <p:sp>
              <p:nvSpPr>
                <p:cNvPr id="16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Oval 16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5" name="Group 154"/>
              <p:cNvGrpSpPr/>
              <p:nvPr/>
            </p:nvGrpSpPr>
            <p:grpSpPr>
              <a:xfrm>
                <a:off x="6124576" y="2456394"/>
                <a:ext cx="914400" cy="914400"/>
                <a:chOff x="1014942" y="4818592"/>
                <a:chExt cx="914400" cy="914400"/>
              </a:xfrm>
            </p:grpSpPr>
            <p:sp>
              <p:nvSpPr>
                <p:cNvPr id="15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Oval 15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6" name="Group 155"/>
              <p:cNvGrpSpPr/>
              <p:nvPr/>
            </p:nvGrpSpPr>
            <p:grpSpPr>
              <a:xfrm>
                <a:off x="6118222" y="3810016"/>
                <a:ext cx="941389" cy="964127"/>
                <a:chOff x="1195563" y="5271220"/>
                <a:chExt cx="478166" cy="490869"/>
              </a:xfrm>
            </p:grpSpPr>
            <p:sp>
              <p:nvSpPr>
                <p:cNvPr id="157" name="Flowchart: Connector 9"/>
                <p:cNvSpPr/>
                <p:nvPr/>
              </p:nvSpPr>
              <p:spPr>
                <a:xfrm>
                  <a:off x="1195563" y="5284142"/>
                  <a:ext cx="478166" cy="477947"/>
                </a:xfrm>
                <a:prstGeom prst="flowChartConnector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Oval 157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52" name="Oval 151"/>
            <p:cNvSpPr/>
            <p:nvPr/>
          </p:nvSpPr>
          <p:spPr>
            <a:xfrm>
              <a:off x="9163241" y="2750272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2" name="Flowchart: Connector 9"/>
          <p:cNvSpPr/>
          <p:nvPr/>
        </p:nvSpPr>
        <p:spPr>
          <a:xfrm>
            <a:off x="716492" y="4903260"/>
            <a:ext cx="914400" cy="914400"/>
          </a:xfrm>
          <a:prstGeom prst="flowChartConnector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183" name="Oval 182"/>
          <p:cNvSpPr/>
          <p:nvPr/>
        </p:nvSpPr>
        <p:spPr>
          <a:xfrm>
            <a:off x="1169120" y="5355888"/>
            <a:ext cx="18288" cy="18288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4" name="Group 183"/>
          <p:cNvGrpSpPr/>
          <p:nvPr/>
        </p:nvGrpSpPr>
        <p:grpSpPr>
          <a:xfrm>
            <a:off x="646113" y="5390094"/>
            <a:ext cx="914400" cy="914400"/>
            <a:chOff x="1014942" y="4818592"/>
            <a:chExt cx="914400" cy="914400"/>
          </a:xfrm>
        </p:grpSpPr>
        <p:sp>
          <p:nvSpPr>
            <p:cNvPr id="185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rgbClr val="FF0000">
                <a:alpha val="50000"/>
              </a:srgbClr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0" name="Straight Arrow Connector 189"/>
          <p:cNvCxnSpPr/>
          <p:nvPr/>
        </p:nvCxnSpPr>
        <p:spPr>
          <a:xfrm flipH="1">
            <a:off x="1339851" y="4090044"/>
            <a:ext cx="1078219" cy="133920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Group 87"/>
          <p:cNvGrpSpPr/>
          <p:nvPr/>
        </p:nvGrpSpPr>
        <p:grpSpPr>
          <a:xfrm>
            <a:off x="5300663" y="1249894"/>
            <a:ext cx="1857374" cy="2692400"/>
            <a:chOff x="5705476" y="2456394"/>
            <a:chExt cx="1857374" cy="2692400"/>
          </a:xfrm>
        </p:grpSpPr>
        <p:grpSp>
          <p:nvGrpSpPr>
            <p:cNvPr id="93" name="Group 92"/>
            <p:cNvGrpSpPr/>
            <p:nvPr/>
          </p:nvGrpSpPr>
          <p:grpSpPr>
            <a:xfrm>
              <a:off x="5705476" y="4113744"/>
              <a:ext cx="914400" cy="914400"/>
              <a:chOff x="1014942" y="4818592"/>
              <a:chExt cx="914400" cy="914400"/>
            </a:xfrm>
          </p:grpSpPr>
          <p:sp>
            <p:nvSpPr>
              <p:cNvPr id="10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4" name="Group 93"/>
            <p:cNvGrpSpPr/>
            <p:nvPr/>
          </p:nvGrpSpPr>
          <p:grpSpPr>
            <a:xfrm>
              <a:off x="6423026" y="4234394"/>
              <a:ext cx="914400" cy="914400"/>
              <a:chOff x="1014942" y="4818592"/>
              <a:chExt cx="914400" cy="914400"/>
            </a:xfrm>
          </p:grpSpPr>
          <p:sp>
            <p:nvSpPr>
              <p:cNvPr id="10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Oval 10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6124576" y="2456394"/>
              <a:ext cx="914400" cy="914400"/>
              <a:chOff x="1014942" y="4818592"/>
              <a:chExt cx="914400" cy="914400"/>
            </a:xfrm>
          </p:grpSpPr>
          <p:sp>
            <p:nvSpPr>
              <p:cNvPr id="9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6" name="Group 95"/>
            <p:cNvGrpSpPr/>
            <p:nvPr/>
          </p:nvGrpSpPr>
          <p:grpSpPr>
            <a:xfrm>
              <a:off x="5762626" y="2921000"/>
              <a:ext cx="1800224" cy="1795994"/>
              <a:chOff x="1014942" y="4818592"/>
              <a:chExt cx="914400" cy="914400"/>
            </a:xfrm>
          </p:grpSpPr>
          <p:sp>
            <p:nvSpPr>
              <p:cNvPr id="98" name="Oval 9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noFill/>
              <a:ln w="254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89" name="Group 88"/>
          <p:cNvGrpSpPr/>
          <p:nvPr/>
        </p:nvGrpSpPr>
        <p:grpSpPr>
          <a:xfrm>
            <a:off x="5783263" y="2297644"/>
            <a:ext cx="914400" cy="914400"/>
            <a:chOff x="1014942" y="4818592"/>
            <a:chExt cx="914400" cy="914400"/>
          </a:xfrm>
        </p:grpSpPr>
        <p:sp>
          <p:nvSpPr>
            <p:cNvPr id="91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rgbClr val="FF0000">
                <a:alpha val="50000"/>
              </a:srgbClr>
            </a:solidFill>
            <a:ln w="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90" name="Straight Arrow Connector 89"/>
          <p:cNvCxnSpPr/>
          <p:nvPr/>
        </p:nvCxnSpPr>
        <p:spPr>
          <a:xfrm>
            <a:off x="4845050" y="3187700"/>
            <a:ext cx="1167836" cy="125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4098726" y="2937818"/>
            <a:ext cx="857126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kern="0">
                <a:solidFill>
                  <a:srgbClr val="000000"/>
                </a:solidFill>
                <a:latin typeface="Arial"/>
              </a:rPr>
              <a:t>ODR</a:t>
            </a:r>
          </a:p>
          <a:p>
            <a:r>
              <a:rPr lang="en-US" sz="1600" b="1" kern="0">
                <a:solidFill>
                  <a:srgbClr val="000000"/>
                </a:solidFill>
                <a:latin typeface="Arial"/>
              </a:rPr>
              <a:t>no gap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3298414" y="1752971"/>
            <a:ext cx="2077211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kern="0">
                <a:solidFill>
                  <a:srgbClr val="000000"/>
                </a:solidFill>
                <a:latin typeface="Arial"/>
              </a:rPr>
              <a:t>move disk </a:t>
            </a:r>
            <a:br>
              <a:rPr lang="en-US" sz="1600" b="1" kern="0">
                <a:solidFill>
                  <a:srgbClr val="000000"/>
                </a:solidFill>
                <a:latin typeface="Arial"/>
              </a:rPr>
            </a:br>
            <a:r>
              <a:rPr lang="en-US" sz="1600" b="1" kern="0">
                <a:solidFill>
                  <a:srgbClr val="000000"/>
                </a:solidFill>
                <a:latin typeface="Arial"/>
              </a:rPr>
              <a:t>towards short edge</a:t>
            </a:r>
          </a:p>
        </p:txBody>
      </p:sp>
      <p:sp>
        <p:nvSpPr>
          <p:cNvPr id="137" name="Oval 136"/>
          <p:cNvSpPr/>
          <p:nvPr/>
        </p:nvSpPr>
        <p:spPr bwMode="auto">
          <a:xfrm>
            <a:off x="4016839" y="4552286"/>
            <a:ext cx="349250" cy="361558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6771823" y="4546164"/>
            <a:ext cx="10695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many 1.6 r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139" name="Oval 138"/>
          <p:cNvSpPr/>
          <p:nvPr/>
        </p:nvSpPr>
        <p:spPr bwMode="auto">
          <a:xfrm>
            <a:off x="5868105" y="4765140"/>
            <a:ext cx="1180395" cy="891654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362326" y="4301083"/>
            <a:ext cx="16406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fewer || edge || ≈ r</a:t>
            </a:r>
            <a:endParaRPr 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16277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lper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56" y="1183167"/>
            <a:ext cx="9084448" cy="549762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46050"/>
            <a:ext cx="7772400" cy="1149350"/>
          </a:xfrm>
        </p:spPr>
        <p:txBody>
          <a:bodyPr/>
          <a:lstStyle/>
          <a:p>
            <a:r>
              <a:rPr lang="en-US" smtClean="0"/>
              <a:t>Offcenters reduces density…</a:t>
            </a:r>
            <a:br>
              <a:rPr lang="en-US" smtClean="0"/>
            </a:br>
            <a:r>
              <a:rPr lang="en-US" sz="2000" smtClean="0"/>
              <a:t>by a lot for non-uniform sizing functions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07470" y="1206795"/>
            <a:ext cx="4970197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“Off-centers: A new type of Steiner points for computing size-optimal quality-guaranteed Delaunay triangulations”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4775200"/>
            <a:ext cx="123623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/>
              <a:t>(a) input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13200" y="4787900"/>
            <a:ext cx="104803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/>
              <a:t>(b) DR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24650" y="4800600"/>
            <a:ext cx="1253017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/>
              <a:t>(c) ODR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8701" y="492499"/>
            <a:ext cx="1894369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rgbClr val="FF0000"/>
                </a:solidFill>
              </a:rPr>
              <a:t>But we will focus on </a:t>
            </a:r>
          </a:p>
          <a:p>
            <a:r>
              <a:rPr lang="en-US" sz="1600">
                <a:solidFill>
                  <a:srgbClr val="FF0000"/>
                </a:solidFill>
              </a:rPr>
              <a:t>r = 1, uniform</a:t>
            </a:r>
          </a:p>
        </p:txBody>
      </p:sp>
    </p:spTree>
    <p:extLst>
      <p:ext uri="{BB962C8B-B14F-4D97-AF65-F5344CB8AC3E}">
        <p14:creationId xmlns:p14="http://schemas.microsoft.com/office/powerpoint/2010/main" val="123632980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Our MPS-like Solution: Sifting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77636"/>
            <a:ext cx="7772400" cy="1726046"/>
          </a:xfrm>
        </p:spPr>
        <p:txBody>
          <a:bodyPr/>
          <a:lstStyle/>
          <a:p>
            <a:r>
              <a:rPr lang="en-US" sz="1800" dirty="0">
                <a:solidFill>
                  <a:prstClr val="black"/>
                </a:solidFill>
                <a:latin typeface="Calibri"/>
              </a:rPr>
              <a:t>Post-process</a:t>
            </a:r>
          </a:p>
          <a:p>
            <a:r>
              <a:rPr lang="en-US" sz="1800" dirty="0">
                <a:solidFill>
                  <a:prstClr val="black"/>
                </a:solidFill>
                <a:latin typeface="Calibri"/>
              </a:rPr>
              <a:t>For all pairs of points with overlapping disks</a:t>
            </a:r>
          </a:p>
          <a:p>
            <a:pPr lvl="1"/>
            <a:r>
              <a:rPr lang="en-US" sz="1800" dirty="0">
                <a:solidFill>
                  <a:prstClr val="black"/>
                </a:solidFill>
                <a:latin typeface="Calibri"/>
              </a:rPr>
              <a:t>Try to replace 2-for-1</a:t>
            </a:r>
          </a:p>
          <a:p>
            <a:pPr lvl="1"/>
            <a:r>
              <a:rPr lang="en-US" sz="1800" dirty="0">
                <a:solidFill>
                  <a:prstClr val="black"/>
                </a:solidFill>
                <a:latin typeface="Calibri"/>
              </a:rPr>
              <a:t>(Replacing changes the set of overlapping pairs)</a:t>
            </a:r>
          </a:p>
          <a:p>
            <a:r>
              <a:rPr lang="en-US" sz="1800" dirty="0">
                <a:solidFill>
                  <a:prstClr val="black"/>
                </a:solidFill>
                <a:latin typeface="Calibri"/>
              </a:rPr>
              <a:t>Quit when no pair can be replaced</a:t>
            </a:r>
          </a:p>
          <a:p>
            <a:pPr lvl="1"/>
            <a:endParaRPr lang="en-US" sz="18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012546" y="4355667"/>
            <a:ext cx="671979" cy="380459"/>
            <a:chOff x="8012546" y="4355667"/>
            <a:chExt cx="671979" cy="380459"/>
          </a:xfrm>
        </p:grpSpPr>
        <p:sp>
          <p:nvSpPr>
            <p:cNvPr id="15" name="Oval 14"/>
            <p:cNvSpPr/>
            <p:nvPr/>
          </p:nvSpPr>
          <p:spPr>
            <a:xfrm>
              <a:off x="8354198" y="4700206"/>
              <a:ext cx="36004" cy="35920"/>
            </a:xfrm>
            <a:prstGeom prst="ellipse">
              <a:avLst/>
            </a:prstGeom>
            <a:solidFill>
              <a:srgbClr val="008000"/>
            </a:solidFill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/>
            <p:cNvSpPr/>
            <p:nvPr/>
          </p:nvSpPr>
          <p:spPr>
            <a:xfrm>
              <a:off x="8476301" y="4355667"/>
              <a:ext cx="18288" cy="18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8012546" y="4398818"/>
              <a:ext cx="6719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/>
                <a:t>replaced</a:t>
              </a:r>
            </a:p>
          </p:txBody>
        </p:sp>
        <p:sp>
          <p:nvSpPr>
            <p:cNvPr id="87" name="Oval 86"/>
            <p:cNvSpPr/>
            <p:nvPr/>
          </p:nvSpPr>
          <p:spPr>
            <a:xfrm>
              <a:off x="8230383" y="4357976"/>
              <a:ext cx="18288" cy="18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1615380" y="3455075"/>
            <a:ext cx="2556163" cy="2222501"/>
            <a:chOff x="1615380" y="3455075"/>
            <a:chExt cx="2556163" cy="2222501"/>
          </a:xfrm>
        </p:grpSpPr>
        <p:grpSp>
          <p:nvGrpSpPr>
            <p:cNvPr id="10" name="Group 9"/>
            <p:cNvGrpSpPr/>
            <p:nvPr/>
          </p:nvGrpSpPr>
          <p:grpSpPr>
            <a:xfrm>
              <a:off x="2066229" y="4726807"/>
              <a:ext cx="914400" cy="914400"/>
              <a:chOff x="1014942" y="4818592"/>
              <a:chExt cx="914400" cy="914400"/>
            </a:xfrm>
          </p:grpSpPr>
          <p:sp>
            <p:nvSpPr>
              <p:cNvPr id="2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Oval 2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2791283" y="3479321"/>
              <a:ext cx="914400" cy="914400"/>
              <a:chOff x="1014942" y="4818592"/>
              <a:chExt cx="914400" cy="914400"/>
            </a:xfrm>
          </p:grpSpPr>
          <p:sp>
            <p:nvSpPr>
              <p:cNvPr id="1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/>
            <p:cNvGrpSpPr/>
            <p:nvPr/>
          </p:nvGrpSpPr>
          <p:grpSpPr>
            <a:xfrm>
              <a:off x="1641934" y="3722931"/>
              <a:ext cx="914400" cy="914400"/>
              <a:chOff x="1014942" y="4818592"/>
              <a:chExt cx="914400" cy="914400"/>
            </a:xfrm>
          </p:grpSpPr>
          <p:sp>
            <p:nvSpPr>
              <p:cNvPr id="2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1615380" y="4354466"/>
              <a:ext cx="914400" cy="914400"/>
              <a:chOff x="1014942" y="4818592"/>
              <a:chExt cx="914400" cy="914400"/>
            </a:xfrm>
          </p:grpSpPr>
          <p:sp>
            <p:nvSpPr>
              <p:cNvPr id="3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3257143" y="4275957"/>
              <a:ext cx="914400" cy="914400"/>
              <a:chOff x="1014942" y="4818592"/>
              <a:chExt cx="914400" cy="914400"/>
            </a:xfrm>
          </p:grpSpPr>
          <p:sp>
            <p:nvSpPr>
              <p:cNvPr id="3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3219042" y="3799131"/>
              <a:ext cx="914400" cy="914400"/>
              <a:chOff x="1014942" y="4818592"/>
              <a:chExt cx="914400" cy="914400"/>
            </a:xfrm>
          </p:grpSpPr>
          <p:sp>
            <p:nvSpPr>
              <p:cNvPr id="3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/>
            <p:cNvGrpSpPr/>
            <p:nvPr/>
          </p:nvGrpSpPr>
          <p:grpSpPr>
            <a:xfrm>
              <a:off x="2280396" y="3455075"/>
              <a:ext cx="914400" cy="914400"/>
              <a:chOff x="1014942" y="4818592"/>
              <a:chExt cx="914400" cy="914400"/>
            </a:xfrm>
          </p:grpSpPr>
          <p:sp>
            <p:nvSpPr>
              <p:cNvPr id="4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2652160" y="4577294"/>
              <a:ext cx="914400" cy="914400"/>
              <a:chOff x="1014942" y="4818592"/>
              <a:chExt cx="914400" cy="914400"/>
            </a:xfrm>
          </p:grpSpPr>
          <p:sp>
            <p:nvSpPr>
              <p:cNvPr id="4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2076620" y="3982704"/>
              <a:ext cx="914400" cy="914400"/>
              <a:chOff x="1014942" y="4818592"/>
              <a:chExt cx="914400" cy="914400"/>
            </a:xfrm>
          </p:grpSpPr>
          <p:sp>
            <p:nvSpPr>
              <p:cNvPr id="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2777430" y="4054286"/>
              <a:ext cx="914400" cy="914400"/>
              <a:chOff x="1014942" y="4818592"/>
              <a:chExt cx="914400" cy="914400"/>
            </a:xfrm>
          </p:grpSpPr>
          <p:sp>
            <p:nvSpPr>
              <p:cNvPr id="4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0" name="Group 89"/>
            <p:cNvGrpSpPr/>
            <p:nvPr/>
          </p:nvGrpSpPr>
          <p:grpSpPr>
            <a:xfrm>
              <a:off x="3167087" y="4763176"/>
              <a:ext cx="914400" cy="914400"/>
              <a:chOff x="1014942" y="4818592"/>
              <a:chExt cx="914400" cy="914400"/>
            </a:xfrm>
          </p:grpSpPr>
          <p:sp>
            <p:nvSpPr>
              <p:cNvPr id="9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" name="Group 3"/>
          <p:cNvGrpSpPr/>
          <p:nvPr/>
        </p:nvGrpSpPr>
        <p:grpSpPr>
          <a:xfrm>
            <a:off x="4960087" y="3445837"/>
            <a:ext cx="2556163" cy="2216728"/>
            <a:chOff x="4960087" y="3445837"/>
            <a:chExt cx="2556163" cy="2216728"/>
          </a:xfrm>
        </p:grpSpPr>
        <p:grpSp>
          <p:nvGrpSpPr>
            <p:cNvPr id="54" name="Group 53"/>
            <p:cNvGrpSpPr/>
            <p:nvPr/>
          </p:nvGrpSpPr>
          <p:grpSpPr>
            <a:xfrm>
              <a:off x="5410936" y="4717569"/>
              <a:ext cx="914400" cy="914400"/>
              <a:chOff x="1014942" y="4818592"/>
              <a:chExt cx="914400" cy="914400"/>
            </a:xfrm>
          </p:grpSpPr>
          <p:sp>
            <p:nvSpPr>
              <p:cNvPr id="8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6135990" y="3470083"/>
              <a:ext cx="914400" cy="914400"/>
              <a:chOff x="1014942" y="4818592"/>
              <a:chExt cx="914400" cy="914400"/>
            </a:xfrm>
          </p:grpSpPr>
          <p:sp>
            <p:nvSpPr>
              <p:cNvPr id="8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4986641" y="3713693"/>
              <a:ext cx="914400" cy="914400"/>
              <a:chOff x="1014942" y="4818592"/>
              <a:chExt cx="914400" cy="914400"/>
            </a:xfrm>
          </p:grpSpPr>
          <p:sp>
            <p:nvSpPr>
              <p:cNvPr id="7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7" name="Group 56"/>
            <p:cNvGrpSpPr/>
            <p:nvPr/>
          </p:nvGrpSpPr>
          <p:grpSpPr>
            <a:xfrm>
              <a:off x="4960087" y="4345228"/>
              <a:ext cx="914400" cy="914400"/>
              <a:chOff x="1014942" y="4818592"/>
              <a:chExt cx="914400" cy="914400"/>
            </a:xfrm>
          </p:grpSpPr>
          <p:sp>
            <p:nvSpPr>
              <p:cNvPr id="7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6601850" y="4266719"/>
              <a:ext cx="914400" cy="914400"/>
              <a:chOff x="1014942" y="4818592"/>
              <a:chExt cx="914400" cy="914400"/>
            </a:xfrm>
          </p:grpSpPr>
          <p:sp>
            <p:nvSpPr>
              <p:cNvPr id="7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9" name="Group 58"/>
            <p:cNvGrpSpPr/>
            <p:nvPr/>
          </p:nvGrpSpPr>
          <p:grpSpPr>
            <a:xfrm>
              <a:off x="6563749" y="3789893"/>
              <a:ext cx="914400" cy="914400"/>
              <a:chOff x="1014942" y="4818592"/>
              <a:chExt cx="914400" cy="914400"/>
            </a:xfrm>
          </p:grpSpPr>
          <p:sp>
            <p:nvSpPr>
              <p:cNvPr id="7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5625103" y="3445837"/>
              <a:ext cx="914400" cy="914400"/>
              <a:chOff x="1014942" y="4818592"/>
              <a:chExt cx="914400" cy="914400"/>
            </a:xfrm>
          </p:grpSpPr>
          <p:sp>
            <p:nvSpPr>
              <p:cNvPr id="7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/>
            <p:cNvGrpSpPr/>
            <p:nvPr/>
          </p:nvGrpSpPr>
          <p:grpSpPr>
            <a:xfrm>
              <a:off x="5996867" y="4568056"/>
              <a:ext cx="914400" cy="914400"/>
              <a:chOff x="1014942" y="4818592"/>
              <a:chExt cx="914400" cy="914400"/>
            </a:xfrm>
          </p:grpSpPr>
          <p:sp>
            <p:nvSpPr>
              <p:cNvPr id="6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9" name="Group 48"/>
            <p:cNvGrpSpPr/>
            <p:nvPr/>
          </p:nvGrpSpPr>
          <p:grpSpPr>
            <a:xfrm>
              <a:off x="5752382" y="4083150"/>
              <a:ext cx="914400" cy="914400"/>
              <a:chOff x="1014942" y="4818592"/>
              <a:chExt cx="914400" cy="914400"/>
            </a:xfrm>
          </p:grpSpPr>
          <p:sp>
            <p:nvSpPr>
              <p:cNvPr id="5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2">
                  <a:alpha val="50000"/>
                </a:schemeClr>
              </a:solidFill>
              <a:ln w="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1470955" y="5271220"/>
                <a:ext cx="27432" cy="27432"/>
              </a:xfrm>
              <a:prstGeom prst="ellipse">
                <a:avLst/>
              </a:prstGeom>
              <a:solidFill>
                <a:schemeClr val="accent2">
                  <a:lumMod val="75000"/>
                </a:schemeClr>
              </a:solidFill>
              <a:ln>
                <a:solidFill>
                  <a:schemeClr val="accent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5" name="Oval 64"/>
            <p:cNvSpPr/>
            <p:nvPr/>
          </p:nvSpPr>
          <p:spPr>
            <a:xfrm>
              <a:off x="6574765" y="4497676"/>
              <a:ext cx="18288" cy="18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5873955" y="4426094"/>
              <a:ext cx="18288" cy="1828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3" name="Group 92"/>
            <p:cNvGrpSpPr/>
            <p:nvPr/>
          </p:nvGrpSpPr>
          <p:grpSpPr>
            <a:xfrm>
              <a:off x="6517574" y="4748165"/>
              <a:ext cx="914400" cy="914400"/>
              <a:chOff x="1014942" y="4818592"/>
              <a:chExt cx="914400" cy="914400"/>
            </a:xfrm>
          </p:grpSpPr>
          <p:sp>
            <p:nvSpPr>
              <p:cNvPr id="9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5411593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7727"/>
            <a:ext cx="7772400" cy="1237673"/>
          </a:xfrm>
        </p:spPr>
        <p:txBody>
          <a:bodyPr/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Sifting Algorithm</a:t>
            </a:r>
            <a:br>
              <a:rPr lang="en-US">
                <a:solidFill>
                  <a:prstClr val="black"/>
                </a:solidFill>
                <a:latin typeface="Calibri"/>
              </a:rPr>
            </a:br>
            <a:r>
              <a:rPr lang="en-US">
                <a:solidFill>
                  <a:prstClr val="black"/>
                </a:solidFill>
                <a:latin typeface="Calibri"/>
              </a:rPr>
              <a:t>Gather Boundary Disks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7909" y="1373910"/>
            <a:ext cx="3371273" cy="1079500"/>
          </a:xfrm>
        </p:spPr>
        <p:txBody>
          <a:bodyPr/>
          <a:lstStyle/>
          <a:p>
            <a:pPr marL="171450" indent="0">
              <a:buNone/>
            </a:pPr>
            <a:r>
              <a:rPr lang="en-US" sz="1800">
                <a:solidFill>
                  <a:prstClr val="black"/>
                </a:solidFill>
                <a:latin typeface="Calibri"/>
              </a:rPr>
              <a:t>1. Gather disks overlapping P</a:t>
            </a:r>
          </a:p>
          <a:p>
            <a:pPr lvl="1"/>
            <a:r>
              <a:rPr lang="en-US" sz="1600">
                <a:solidFill>
                  <a:prstClr val="black"/>
                </a:solidFill>
                <a:latin typeface="Calibri"/>
              </a:rPr>
              <a:t>(Q)</a:t>
            </a:r>
          </a:p>
          <a:p>
            <a:pPr marL="171450" indent="0">
              <a:buNone/>
            </a:pPr>
            <a:r>
              <a:rPr lang="en-US" sz="1800">
                <a:solidFill>
                  <a:prstClr val="black"/>
                </a:solidFill>
                <a:latin typeface="Calibri"/>
              </a:rPr>
              <a:t>Sort by angle around P (Q)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421666" y="1192152"/>
            <a:ext cx="2094923" cy="2222501"/>
            <a:chOff x="1464712" y="4528802"/>
            <a:chExt cx="2094923" cy="2222501"/>
          </a:xfrm>
        </p:grpSpPr>
        <p:grpSp>
          <p:nvGrpSpPr>
            <p:cNvPr id="121" name="Group 120"/>
            <p:cNvGrpSpPr/>
            <p:nvPr/>
          </p:nvGrpSpPr>
          <p:grpSpPr>
            <a:xfrm>
              <a:off x="2179375" y="4553048"/>
              <a:ext cx="914400" cy="914400"/>
              <a:chOff x="1014942" y="4818592"/>
              <a:chExt cx="914400" cy="914400"/>
            </a:xfrm>
          </p:grpSpPr>
          <p:sp>
            <p:nvSpPr>
              <p:cNvPr id="14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4" name="Group 123"/>
            <p:cNvGrpSpPr/>
            <p:nvPr/>
          </p:nvGrpSpPr>
          <p:grpSpPr>
            <a:xfrm>
              <a:off x="2645235" y="5349684"/>
              <a:ext cx="914400" cy="914400"/>
              <a:chOff x="1014942" y="4818592"/>
              <a:chExt cx="914400" cy="914400"/>
            </a:xfrm>
          </p:grpSpPr>
          <p:sp>
            <p:nvSpPr>
              <p:cNvPr id="14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/>
            <p:cNvGrpSpPr/>
            <p:nvPr/>
          </p:nvGrpSpPr>
          <p:grpSpPr>
            <a:xfrm>
              <a:off x="2607134" y="4872858"/>
              <a:ext cx="914400" cy="914400"/>
              <a:chOff x="1014942" y="4818592"/>
              <a:chExt cx="914400" cy="914400"/>
            </a:xfrm>
          </p:grpSpPr>
          <p:sp>
            <p:nvSpPr>
              <p:cNvPr id="14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/>
            <p:cNvGrpSpPr/>
            <p:nvPr/>
          </p:nvGrpSpPr>
          <p:grpSpPr>
            <a:xfrm>
              <a:off x="1668488" y="4528802"/>
              <a:ext cx="914400" cy="914400"/>
              <a:chOff x="1014942" y="4818592"/>
              <a:chExt cx="914400" cy="914400"/>
            </a:xfrm>
          </p:grpSpPr>
          <p:sp>
            <p:nvSpPr>
              <p:cNvPr id="13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/>
            <p:cNvGrpSpPr/>
            <p:nvPr/>
          </p:nvGrpSpPr>
          <p:grpSpPr>
            <a:xfrm>
              <a:off x="2040252" y="5651021"/>
              <a:ext cx="914400" cy="914400"/>
              <a:chOff x="1014942" y="4818592"/>
              <a:chExt cx="914400" cy="914400"/>
            </a:xfrm>
          </p:grpSpPr>
          <p:sp>
            <p:nvSpPr>
              <p:cNvPr id="13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8" name="Group 127"/>
            <p:cNvGrpSpPr/>
            <p:nvPr/>
          </p:nvGrpSpPr>
          <p:grpSpPr>
            <a:xfrm>
              <a:off x="1464712" y="5056431"/>
              <a:ext cx="914400" cy="914400"/>
              <a:chOff x="1014942" y="4818592"/>
              <a:chExt cx="914400" cy="914400"/>
            </a:xfrm>
          </p:grpSpPr>
          <p:sp>
            <p:nvSpPr>
              <p:cNvPr id="13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4" name="Oval 133"/>
            <p:cNvSpPr/>
            <p:nvPr/>
          </p:nvSpPr>
          <p:spPr>
            <a:xfrm>
              <a:off x="2618150" y="5580641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0" name="Group 129"/>
            <p:cNvGrpSpPr/>
            <p:nvPr/>
          </p:nvGrpSpPr>
          <p:grpSpPr>
            <a:xfrm>
              <a:off x="2555179" y="5836903"/>
              <a:ext cx="914400" cy="914400"/>
              <a:chOff x="1014942" y="4818592"/>
              <a:chExt cx="914400" cy="914400"/>
            </a:xfrm>
          </p:grpSpPr>
          <p:sp>
            <p:nvSpPr>
              <p:cNvPr id="13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336142" y="1200232"/>
            <a:ext cx="2090303" cy="2186132"/>
            <a:chOff x="1000005" y="2233566"/>
            <a:chExt cx="2090303" cy="2186132"/>
          </a:xfrm>
        </p:grpSpPr>
        <p:grpSp>
          <p:nvGrpSpPr>
            <p:cNvPr id="154" name="Group 153"/>
            <p:cNvGrpSpPr/>
            <p:nvPr/>
          </p:nvGrpSpPr>
          <p:grpSpPr>
            <a:xfrm>
              <a:off x="1450854" y="3505298"/>
              <a:ext cx="914400" cy="914400"/>
              <a:chOff x="1014942" y="4818592"/>
              <a:chExt cx="914400" cy="914400"/>
            </a:xfrm>
          </p:grpSpPr>
          <p:sp>
            <p:nvSpPr>
              <p:cNvPr id="18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Oval 18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Group 154"/>
            <p:cNvGrpSpPr/>
            <p:nvPr/>
          </p:nvGrpSpPr>
          <p:grpSpPr>
            <a:xfrm>
              <a:off x="2175908" y="2257812"/>
              <a:ext cx="914400" cy="914400"/>
              <a:chOff x="1014942" y="4818592"/>
              <a:chExt cx="914400" cy="914400"/>
            </a:xfrm>
          </p:grpSpPr>
          <p:sp>
            <p:nvSpPr>
              <p:cNvPr id="18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Oval 18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Group 155"/>
            <p:cNvGrpSpPr/>
            <p:nvPr/>
          </p:nvGrpSpPr>
          <p:grpSpPr>
            <a:xfrm>
              <a:off x="1026559" y="2501422"/>
              <a:ext cx="914400" cy="914400"/>
              <a:chOff x="1014942" y="4818592"/>
              <a:chExt cx="914400" cy="914400"/>
            </a:xfrm>
          </p:grpSpPr>
          <p:sp>
            <p:nvSpPr>
              <p:cNvPr id="18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2" name="Oval 18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Group 156"/>
            <p:cNvGrpSpPr/>
            <p:nvPr/>
          </p:nvGrpSpPr>
          <p:grpSpPr>
            <a:xfrm>
              <a:off x="1000005" y="3132957"/>
              <a:ext cx="914400" cy="914400"/>
              <a:chOff x="1014942" y="4818592"/>
              <a:chExt cx="914400" cy="914400"/>
            </a:xfrm>
          </p:grpSpPr>
          <p:sp>
            <p:nvSpPr>
              <p:cNvPr id="17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0" name="Oval 17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0" name="Group 159"/>
            <p:cNvGrpSpPr/>
            <p:nvPr/>
          </p:nvGrpSpPr>
          <p:grpSpPr>
            <a:xfrm>
              <a:off x="1665021" y="2233566"/>
              <a:ext cx="914400" cy="914400"/>
              <a:chOff x="1014942" y="4818592"/>
              <a:chExt cx="914400" cy="914400"/>
            </a:xfrm>
          </p:grpSpPr>
          <p:sp>
            <p:nvSpPr>
              <p:cNvPr id="17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4" name="Oval 17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1" name="Group 160"/>
            <p:cNvGrpSpPr/>
            <p:nvPr/>
          </p:nvGrpSpPr>
          <p:grpSpPr>
            <a:xfrm>
              <a:off x="2036785" y="3355785"/>
              <a:ext cx="914400" cy="914400"/>
              <a:chOff x="1014942" y="4818592"/>
              <a:chExt cx="914400" cy="914400"/>
            </a:xfrm>
          </p:grpSpPr>
          <p:sp>
            <p:nvSpPr>
              <p:cNvPr id="17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2" name="Oval 17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0" name="Oval 169"/>
            <p:cNvSpPr/>
            <p:nvPr/>
          </p:nvSpPr>
          <p:spPr>
            <a:xfrm>
              <a:off x="1913873" y="3213823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3" name="Group 162"/>
            <p:cNvGrpSpPr/>
            <p:nvPr/>
          </p:nvGrpSpPr>
          <p:grpSpPr>
            <a:xfrm>
              <a:off x="2162055" y="2832777"/>
              <a:ext cx="914400" cy="914400"/>
              <a:chOff x="1014942" y="4818592"/>
              <a:chExt cx="914400" cy="914400"/>
            </a:xfrm>
          </p:grpSpPr>
          <p:sp>
            <p:nvSpPr>
              <p:cNvPr id="16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FF0000">
                  <a:alpha val="50000"/>
                </a:srgbClr>
              </a:solidFill>
              <a:ln w="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" name="TextBox 3"/>
          <p:cNvSpPr txBox="1"/>
          <p:nvPr/>
        </p:nvSpPr>
        <p:spPr>
          <a:xfrm>
            <a:off x="1148772" y="2366819"/>
            <a:ext cx="30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Calibri"/>
                <a:cs typeface="Calibri"/>
              </a:rPr>
              <a:t>P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988126" y="2305628"/>
            <a:ext cx="33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Calibri"/>
                <a:cs typeface="Calibri"/>
              </a:rPr>
              <a:t>Q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640116" y="2336800"/>
            <a:ext cx="33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Calibri"/>
                <a:cs typeface="Calibri"/>
              </a:rPr>
              <a:t>Q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771899" y="2374900"/>
            <a:ext cx="303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>
                <a:latin typeface="Calibri"/>
                <a:cs typeface="Calibri"/>
              </a:rPr>
              <a:t>P</a:t>
            </a:r>
          </a:p>
        </p:txBody>
      </p:sp>
      <p:sp>
        <p:nvSpPr>
          <p:cNvPr id="19" name="Freeform 18"/>
          <p:cNvSpPr/>
          <p:nvPr/>
        </p:nvSpPr>
        <p:spPr>
          <a:xfrm>
            <a:off x="117557" y="1356579"/>
            <a:ext cx="2341625" cy="2170545"/>
          </a:xfrm>
          <a:custGeom>
            <a:avLst/>
            <a:gdLst>
              <a:gd name="connsiteX0" fmla="*/ 2341625 w 2341625"/>
              <a:gd name="connsiteY0" fmla="*/ 1933863 h 2387879"/>
              <a:gd name="connsiteX1" fmla="*/ 1816307 w 2341625"/>
              <a:gd name="connsiteY1" fmla="*/ 2234045 h 2387879"/>
              <a:gd name="connsiteX2" fmla="*/ 1094716 w 2341625"/>
              <a:gd name="connsiteY2" fmla="*/ 2372591 h 2387879"/>
              <a:gd name="connsiteX3" fmla="*/ 223034 w 2341625"/>
              <a:gd name="connsiteY3" fmla="*/ 1881909 h 2387879"/>
              <a:gd name="connsiteX4" fmla="*/ 9443 w 2341625"/>
              <a:gd name="connsiteY4" fmla="*/ 790863 h 2387879"/>
              <a:gd name="connsiteX5" fmla="*/ 442398 w 2341625"/>
              <a:gd name="connsiteY5" fmla="*/ 0 h 2387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1625" h="2387879">
                <a:moveTo>
                  <a:pt x="2341625" y="1933863"/>
                </a:moveTo>
                <a:cubicBezTo>
                  <a:pt x="2182875" y="2047393"/>
                  <a:pt x="2024125" y="2160924"/>
                  <a:pt x="1816307" y="2234045"/>
                </a:cubicBezTo>
                <a:cubicBezTo>
                  <a:pt x="1608489" y="2307166"/>
                  <a:pt x="1360261" y="2431280"/>
                  <a:pt x="1094716" y="2372591"/>
                </a:cubicBezTo>
                <a:cubicBezTo>
                  <a:pt x="829170" y="2313902"/>
                  <a:pt x="403913" y="2145530"/>
                  <a:pt x="223034" y="1881909"/>
                </a:cubicBezTo>
                <a:cubicBezTo>
                  <a:pt x="42155" y="1618288"/>
                  <a:pt x="-27118" y="1104514"/>
                  <a:pt x="9443" y="790863"/>
                </a:cubicBezTo>
                <a:cubicBezTo>
                  <a:pt x="46004" y="477212"/>
                  <a:pt x="442398" y="0"/>
                  <a:pt x="442398" y="0"/>
                </a:cubicBezTo>
              </a:path>
            </a:pathLst>
          </a:custGeom>
          <a:ln>
            <a:solidFill>
              <a:schemeClr val="accent2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93" name="Freeform 192"/>
          <p:cNvSpPr/>
          <p:nvPr/>
        </p:nvSpPr>
        <p:spPr>
          <a:xfrm>
            <a:off x="3185184" y="1310398"/>
            <a:ext cx="2341625" cy="2357582"/>
          </a:xfrm>
          <a:custGeom>
            <a:avLst/>
            <a:gdLst>
              <a:gd name="connsiteX0" fmla="*/ 2341625 w 2341625"/>
              <a:gd name="connsiteY0" fmla="*/ 1933863 h 2387879"/>
              <a:gd name="connsiteX1" fmla="*/ 1816307 w 2341625"/>
              <a:gd name="connsiteY1" fmla="*/ 2234045 h 2387879"/>
              <a:gd name="connsiteX2" fmla="*/ 1094716 w 2341625"/>
              <a:gd name="connsiteY2" fmla="*/ 2372591 h 2387879"/>
              <a:gd name="connsiteX3" fmla="*/ 223034 w 2341625"/>
              <a:gd name="connsiteY3" fmla="*/ 1881909 h 2387879"/>
              <a:gd name="connsiteX4" fmla="*/ 9443 w 2341625"/>
              <a:gd name="connsiteY4" fmla="*/ 790863 h 2387879"/>
              <a:gd name="connsiteX5" fmla="*/ 442398 w 2341625"/>
              <a:gd name="connsiteY5" fmla="*/ 0 h 2387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1625" h="2387879">
                <a:moveTo>
                  <a:pt x="2341625" y="1933863"/>
                </a:moveTo>
                <a:cubicBezTo>
                  <a:pt x="2182875" y="2047393"/>
                  <a:pt x="2024125" y="2160924"/>
                  <a:pt x="1816307" y="2234045"/>
                </a:cubicBezTo>
                <a:cubicBezTo>
                  <a:pt x="1608489" y="2307166"/>
                  <a:pt x="1360261" y="2431280"/>
                  <a:pt x="1094716" y="2372591"/>
                </a:cubicBezTo>
                <a:cubicBezTo>
                  <a:pt x="829170" y="2313902"/>
                  <a:pt x="403913" y="2145530"/>
                  <a:pt x="223034" y="1881909"/>
                </a:cubicBezTo>
                <a:cubicBezTo>
                  <a:pt x="42155" y="1618288"/>
                  <a:pt x="-27118" y="1104514"/>
                  <a:pt x="9443" y="790863"/>
                </a:cubicBezTo>
                <a:cubicBezTo>
                  <a:pt x="46004" y="477212"/>
                  <a:pt x="442398" y="0"/>
                  <a:pt x="442398" y="0"/>
                </a:cubicBezTo>
              </a:path>
            </a:pathLst>
          </a:custGeom>
          <a:ln>
            <a:solidFill>
              <a:schemeClr val="accent2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1596906" y="3557812"/>
            <a:ext cx="2582719" cy="2231738"/>
            <a:chOff x="1573815" y="4054281"/>
            <a:chExt cx="2582719" cy="2231738"/>
          </a:xfrm>
        </p:grpSpPr>
        <p:grpSp>
          <p:nvGrpSpPr>
            <p:cNvPr id="195" name="Group 194"/>
            <p:cNvGrpSpPr/>
            <p:nvPr/>
          </p:nvGrpSpPr>
          <p:grpSpPr>
            <a:xfrm>
              <a:off x="2024664" y="5326013"/>
              <a:ext cx="914400" cy="914400"/>
              <a:chOff x="1014942" y="4818592"/>
              <a:chExt cx="914400" cy="914400"/>
            </a:xfrm>
          </p:grpSpPr>
          <p:sp>
            <p:nvSpPr>
              <p:cNvPr id="21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Oval 21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6" name="Group 195"/>
            <p:cNvGrpSpPr/>
            <p:nvPr/>
          </p:nvGrpSpPr>
          <p:grpSpPr>
            <a:xfrm>
              <a:off x="2749718" y="4078527"/>
              <a:ext cx="914400" cy="914400"/>
              <a:chOff x="1014942" y="4818592"/>
              <a:chExt cx="914400" cy="914400"/>
            </a:xfrm>
          </p:grpSpPr>
          <p:sp>
            <p:nvSpPr>
              <p:cNvPr id="21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7" name="Group 196"/>
            <p:cNvGrpSpPr/>
            <p:nvPr/>
          </p:nvGrpSpPr>
          <p:grpSpPr>
            <a:xfrm>
              <a:off x="1600369" y="4322137"/>
              <a:ext cx="914400" cy="914400"/>
              <a:chOff x="1014942" y="4818592"/>
              <a:chExt cx="914400" cy="914400"/>
            </a:xfrm>
          </p:grpSpPr>
          <p:sp>
            <p:nvSpPr>
              <p:cNvPr id="21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8" name="Group 197"/>
            <p:cNvGrpSpPr/>
            <p:nvPr/>
          </p:nvGrpSpPr>
          <p:grpSpPr>
            <a:xfrm>
              <a:off x="1573815" y="4953672"/>
              <a:ext cx="914400" cy="914400"/>
              <a:chOff x="1014942" y="4818592"/>
              <a:chExt cx="914400" cy="914400"/>
            </a:xfrm>
          </p:grpSpPr>
          <p:sp>
            <p:nvSpPr>
              <p:cNvPr id="21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2" name="Oval 21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9" name="Group 198"/>
            <p:cNvGrpSpPr/>
            <p:nvPr/>
          </p:nvGrpSpPr>
          <p:grpSpPr>
            <a:xfrm>
              <a:off x="2238831" y="4054281"/>
              <a:ext cx="914400" cy="914400"/>
              <a:chOff x="1014942" y="4818592"/>
              <a:chExt cx="914400" cy="914400"/>
            </a:xfrm>
          </p:grpSpPr>
          <p:sp>
            <p:nvSpPr>
              <p:cNvPr id="20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0" name="Group 199"/>
            <p:cNvGrpSpPr/>
            <p:nvPr/>
          </p:nvGrpSpPr>
          <p:grpSpPr>
            <a:xfrm>
              <a:off x="2610595" y="5176500"/>
              <a:ext cx="914400" cy="914400"/>
              <a:chOff x="1014942" y="4818592"/>
              <a:chExt cx="914400" cy="914400"/>
            </a:xfrm>
          </p:grpSpPr>
          <p:sp>
            <p:nvSpPr>
              <p:cNvPr id="20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9" name="Group 218"/>
            <p:cNvGrpSpPr/>
            <p:nvPr/>
          </p:nvGrpSpPr>
          <p:grpSpPr>
            <a:xfrm>
              <a:off x="2265387" y="4063518"/>
              <a:ext cx="1891147" cy="2222501"/>
              <a:chOff x="1668488" y="4528802"/>
              <a:chExt cx="1891147" cy="2222501"/>
            </a:xfrm>
          </p:grpSpPr>
          <p:grpSp>
            <p:nvGrpSpPr>
              <p:cNvPr id="220" name="Group 219"/>
              <p:cNvGrpSpPr/>
              <p:nvPr/>
            </p:nvGrpSpPr>
            <p:grpSpPr>
              <a:xfrm>
                <a:off x="2179375" y="4553048"/>
                <a:ext cx="914400" cy="914400"/>
                <a:chOff x="1014942" y="4818592"/>
                <a:chExt cx="914400" cy="914400"/>
              </a:xfrm>
            </p:grpSpPr>
            <p:sp>
              <p:nvSpPr>
                <p:cNvPr id="242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3" name="Oval 242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1" name="Group 220"/>
              <p:cNvGrpSpPr/>
              <p:nvPr/>
            </p:nvGrpSpPr>
            <p:grpSpPr>
              <a:xfrm>
                <a:off x="2645235" y="5349684"/>
                <a:ext cx="914400" cy="914400"/>
                <a:chOff x="1014942" y="4818592"/>
                <a:chExt cx="914400" cy="914400"/>
              </a:xfrm>
            </p:grpSpPr>
            <p:sp>
              <p:nvSpPr>
                <p:cNvPr id="240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1" name="Oval 240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2" name="Group 221"/>
              <p:cNvGrpSpPr/>
              <p:nvPr/>
            </p:nvGrpSpPr>
            <p:grpSpPr>
              <a:xfrm>
                <a:off x="2607134" y="4872858"/>
                <a:ext cx="914400" cy="914400"/>
                <a:chOff x="1014942" y="4818592"/>
                <a:chExt cx="914400" cy="914400"/>
              </a:xfrm>
            </p:grpSpPr>
            <p:sp>
              <p:nvSpPr>
                <p:cNvPr id="238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9" name="Oval 238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3" name="Group 222"/>
              <p:cNvGrpSpPr/>
              <p:nvPr/>
            </p:nvGrpSpPr>
            <p:grpSpPr>
              <a:xfrm>
                <a:off x="1668488" y="4528802"/>
                <a:ext cx="914400" cy="914400"/>
                <a:chOff x="1014942" y="4818592"/>
                <a:chExt cx="914400" cy="914400"/>
              </a:xfrm>
            </p:grpSpPr>
            <p:sp>
              <p:nvSpPr>
                <p:cNvPr id="236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7" name="Oval 236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4" name="Group 223"/>
              <p:cNvGrpSpPr/>
              <p:nvPr/>
            </p:nvGrpSpPr>
            <p:grpSpPr>
              <a:xfrm>
                <a:off x="2040252" y="5651021"/>
                <a:ext cx="914400" cy="914400"/>
                <a:chOff x="1014942" y="4818592"/>
                <a:chExt cx="914400" cy="914400"/>
              </a:xfrm>
            </p:grpSpPr>
            <p:sp>
              <p:nvSpPr>
                <p:cNvPr id="234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5" name="Oval 234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27" name="Group 226"/>
              <p:cNvGrpSpPr/>
              <p:nvPr/>
            </p:nvGrpSpPr>
            <p:grpSpPr>
              <a:xfrm>
                <a:off x="2555179" y="5836903"/>
                <a:ext cx="914400" cy="914400"/>
                <a:chOff x="1014942" y="4818592"/>
                <a:chExt cx="914400" cy="914400"/>
              </a:xfrm>
            </p:grpSpPr>
            <p:sp>
              <p:nvSpPr>
                <p:cNvPr id="228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" name="Oval 228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244" name="Freeform 243"/>
          <p:cNvSpPr/>
          <p:nvPr/>
        </p:nvSpPr>
        <p:spPr>
          <a:xfrm>
            <a:off x="1328675" y="3573303"/>
            <a:ext cx="3104780" cy="2533075"/>
          </a:xfrm>
          <a:custGeom>
            <a:avLst/>
            <a:gdLst>
              <a:gd name="connsiteX0" fmla="*/ 2341625 w 2341625"/>
              <a:gd name="connsiteY0" fmla="*/ 1933863 h 2387879"/>
              <a:gd name="connsiteX1" fmla="*/ 1816307 w 2341625"/>
              <a:gd name="connsiteY1" fmla="*/ 2234045 h 2387879"/>
              <a:gd name="connsiteX2" fmla="*/ 1094716 w 2341625"/>
              <a:gd name="connsiteY2" fmla="*/ 2372591 h 2387879"/>
              <a:gd name="connsiteX3" fmla="*/ 223034 w 2341625"/>
              <a:gd name="connsiteY3" fmla="*/ 1881909 h 2387879"/>
              <a:gd name="connsiteX4" fmla="*/ 9443 w 2341625"/>
              <a:gd name="connsiteY4" fmla="*/ 790863 h 2387879"/>
              <a:gd name="connsiteX5" fmla="*/ 442398 w 2341625"/>
              <a:gd name="connsiteY5" fmla="*/ 0 h 2387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1625" h="2387879">
                <a:moveTo>
                  <a:pt x="2341625" y="1933863"/>
                </a:moveTo>
                <a:cubicBezTo>
                  <a:pt x="2182875" y="2047393"/>
                  <a:pt x="2024125" y="2160924"/>
                  <a:pt x="1816307" y="2234045"/>
                </a:cubicBezTo>
                <a:cubicBezTo>
                  <a:pt x="1608489" y="2307166"/>
                  <a:pt x="1360261" y="2431280"/>
                  <a:pt x="1094716" y="2372591"/>
                </a:cubicBezTo>
                <a:cubicBezTo>
                  <a:pt x="829170" y="2313902"/>
                  <a:pt x="403913" y="2145530"/>
                  <a:pt x="223034" y="1881909"/>
                </a:cubicBezTo>
                <a:cubicBezTo>
                  <a:pt x="42155" y="1618288"/>
                  <a:pt x="-27118" y="1104514"/>
                  <a:pt x="9443" y="790863"/>
                </a:cubicBezTo>
                <a:cubicBezTo>
                  <a:pt x="46004" y="477212"/>
                  <a:pt x="442398" y="0"/>
                  <a:pt x="442398" y="0"/>
                </a:cubicBezTo>
              </a:path>
            </a:pathLst>
          </a:custGeom>
          <a:ln>
            <a:solidFill>
              <a:schemeClr val="accent2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84" name="Content Placeholder 2"/>
          <p:cNvSpPr txBox="1">
            <a:spLocks/>
          </p:cNvSpPr>
          <p:nvPr/>
        </p:nvSpPr>
        <p:spPr bwMode="auto">
          <a:xfrm>
            <a:off x="1457036" y="6020955"/>
            <a:ext cx="3371273" cy="76777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800">
                <a:solidFill>
                  <a:prstClr val="black"/>
                </a:solidFill>
                <a:latin typeface="Calibri"/>
              </a:rPr>
              <a:t>2. Stitch lists together</a:t>
            </a:r>
          </a:p>
          <a:p>
            <a:pPr lvl="1"/>
            <a:r>
              <a:rPr lang="en-US" sz="1600">
                <a:solidFill>
                  <a:prstClr val="black"/>
                </a:solidFill>
                <a:latin typeface="Calibri"/>
              </a:rPr>
              <a:t>Replace Q in ListP by ListQ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5178306" y="4275958"/>
            <a:ext cx="2995877" cy="2720591"/>
            <a:chOff x="5178306" y="4195136"/>
            <a:chExt cx="2995877" cy="2720591"/>
          </a:xfrm>
        </p:grpSpPr>
        <p:grpSp>
          <p:nvGrpSpPr>
            <p:cNvPr id="246" name="Group 245"/>
            <p:cNvGrpSpPr/>
            <p:nvPr/>
          </p:nvGrpSpPr>
          <p:grpSpPr>
            <a:xfrm>
              <a:off x="5629155" y="5466868"/>
              <a:ext cx="914400" cy="914400"/>
              <a:chOff x="1014942" y="4818592"/>
              <a:chExt cx="914400" cy="914400"/>
            </a:xfrm>
          </p:grpSpPr>
          <p:sp>
            <p:nvSpPr>
              <p:cNvPr id="28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7" name="Group 246"/>
            <p:cNvGrpSpPr/>
            <p:nvPr/>
          </p:nvGrpSpPr>
          <p:grpSpPr>
            <a:xfrm>
              <a:off x="6354209" y="4219382"/>
              <a:ext cx="914400" cy="914400"/>
              <a:chOff x="1014942" y="4818592"/>
              <a:chExt cx="914400" cy="914400"/>
            </a:xfrm>
          </p:grpSpPr>
          <p:sp>
            <p:nvSpPr>
              <p:cNvPr id="27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0" name="Oval 27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Group 247"/>
            <p:cNvGrpSpPr/>
            <p:nvPr/>
          </p:nvGrpSpPr>
          <p:grpSpPr>
            <a:xfrm>
              <a:off x="5204860" y="4462992"/>
              <a:ext cx="914400" cy="914400"/>
              <a:chOff x="1014942" y="4818592"/>
              <a:chExt cx="914400" cy="914400"/>
            </a:xfrm>
          </p:grpSpPr>
          <p:sp>
            <p:nvSpPr>
              <p:cNvPr id="27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8" name="Oval 27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Group 248"/>
            <p:cNvGrpSpPr/>
            <p:nvPr/>
          </p:nvGrpSpPr>
          <p:grpSpPr>
            <a:xfrm>
              <a:off x="5178306" y="5094527"/>
              <a:ext cx="914400" cy="914400"/>
              <a:chOff x="1014942" y="4818592"/>
              <a:chExt cx="914400" cy="914400"/>
            </a:xfrm>
          </p:grpSpPr>
          <p:sp>
            <p:nvSpPr>
              <p:cNvPr id="27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Group 249"/>
            <p:cNvGrpSpPr/>
            <p:nvPr/>
          </p:nvGrpSpPr>
          <p:grpSpPr>
            <a:xfrm>
              <a:off x="5843322" y="4195136"/>
              <a:ext cx="914400" cy="914400"/>
              <a:chOff x="1014942" y="4818592"/>
              <a:chExt cx="914400" cy="914400"/>
            </a:xfrm>
          </p:grpSpPr>
          <p:sp>
            <p:nvSpPr>
              <p:cNvPr id="27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4" name="Oval 27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Group 250"/>
            <p:cNvGrpSpPr/>
            <p:nvPr/>
          </p:nvGrpSpPr>
          <p:grpSpPr>
            <a:xfrm>
              <a:off x="6215086" y="5317355"/>
              <a:ext cx="914400" cy="914400"/>
              <a:chOff x="1014942" y="4818592"/>
              <a:chExt cx="914400" cy="914400"/>
            </a:xfrm>
          </p:grpSpPr>
          <p:sp>
            <p:nvSpPr>
              <p:cNvPr id="27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2" name="Oval 27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4" name="Group 253"/>
            <p:cNvGrpSpPr/>
            <p:nvPr/>
          </p:nvGrpSpPr>
          <p:grpSpPr>
            <a:xfrm>
              <a:off x="6817760" y="5019483"/>
              <a:ext cx="914400" cy="914400"/>
              <a:chOff x="1014942" y="4818592"/>
              <a:chExt cx="914400" cy="914400"/>
            </a:xfrm>
          </p:grpSpPr>
          <p:sp>
            <p:nvSpPr>
              <p:cNvPr id="26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8" name="Oval 26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5" name="Group 254"/>
            <p:cNvGrpSpPr/>
            <p:nvPr/>
          </p:nvGrpSpPr>
          <p:grpSpPr>
            <a:xfrm>
              <a:off x="6779659" y="4542657"/>
              <a:ext cx="914400" cy="914400"/>
              <a:chOff x="1014942" y="4818592"/>
              <a:chExt cx="914400" cy="914400"/>
            </a:xfrm>
          </p:grpSpPr>
          <p:sp>
            <p:nvSpPr>
              <p:cNvPr id="26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6" name="Oval 26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8" name="Group 257"/>
            <p:cNvGrpSpPr/>
            <p:nvPr/>
          </p:nvGrpSpPr>
          <p:grpSpPr>
            <a:xfrm>
              <a:off x="6727704" y="5506702"/>
              <a:ext cx="914400" cy="914400"/>
              <a:chOff x="1014942" y="4818592"/>
              <a:chExt cx="914400" cy="914400"/>
            </a:xfrm>
          </p:grpSpPr>
          <p:sp>
            <p:nvSpPr>
              <p:cNvPr id="25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0" name="Oval 25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5" name="Content Placeholder 2"/>
            <p:cNvSpPr txBox="1">
              <a:spLocks/>
            </p:cNvSpPr>
            <p:nvPr/>
          </p:nvSpPr>
          <p:spPr bwMode="auto">
            <a:xfrm>
              <a:off x="5267037" y="6329218"/>
              <a:ext cx="2907146" cy="586509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pPr marL="171450" indent="0">
                <a:buNone/>
              </a:pPr>
              <a:r>
                <a:rPr lang="en-US" sz="1800">
                  <a:solidFill>
                    <a:prstClr val="black"/>
                  </a:solidFill>
                  <a:latin typeface="Calibri"/>
                </a:rPr>
                <a:t>3. Remove duplicate disks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9103917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7727"/>
            <a:ext cx="7772400" cy="1237673"/>
          </a:xfrm>
        </p:spPr>
        <p:txBody>
          <a:bodyPr/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Sifting Algorithm</a:t>
            </a:r>
            <a:br>
              <a:rPr lang="en-US">
                <a:solidFill>
                  <a:prstClr val="black"/>
                </a:solidFill>
                <a:latin typeface="Calibri"/>
              </a:rPr>
            </a:br>
            <a:r>
              <a:rPr lang="en-US">
                <a:solidFill>
                  <a:prstClr val="black"/>
                </a:solidFill>
                <a:latin typeface="Calibri"/>
              </a:rPr>
              <a:t>Winnow Non-Bounding Disks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77636"/>
            <a:ext cx="7772400" cy="733137"/>
          </a:xfrm>
        </p:spPr>
        <p:txBody>
          <a:bodyPr/>
          <a:lstStyle/>
          <a:p>
            <a:r>
              <a:rPr lang="en-US" sz="1600">
                <a:solidFill>
                  <a:prstClr val="black"/>
                </a:solidFill>
                <a:latin typeface="Calibri"/>
              </a:rPr>
              <a:t>Remove disks not bounding the white area</a:t>
            </a:r>
          </a:p>
          <a:p>
            <a:pPr lvl="1"/>
            <a:r>
              <a:rPr lang="en-US" sz="1600">
                <a:solidFill>
                  <a:prstClr val="black"/>
                </a:solidFill>
                <a:latin typeface="Calibri"/>
              </a:rPr>
              <a:t>Test consecutive disks in list, see if left point of intersection is inside next disk</a:t>
            </a:r>
          </a:p>
        </p:txBody>
      </p:sp>
      <p:grpSp>
        <p:nvGrpSpPr>
          <p:cNvPr id="104" name="Group 103"/>
          <p:cNvGrpSpPr/>
          <p:nvPr/>
        </p:nvGrpSpPr>
        <p:grpSpPr>
          <a:xfrm>
            <a:off x="1790290" y="3203951"/>
            <a:ext cx="914400" cy="914400"/>
            <a:chOff x="1014942" y="4818592"/>
            <a:chExt cx="914400" cy="914400"/>
          </a:xfrm>
        </p:grpSpPr>
        <p:sp>
          <p:nvSpPr>
            <p:cNvPr id="198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5" name="Group 104"/>
          <p:cNvGrpSpPr/>
          <p:nvPr/>
        </p:nvGrpSpPr>
        <p:grpSpPr>
          <a:xfrm>
            <a:off x="2515344" y="1956465"/>
            <a:ext cx="914400" cy="914400"/>
            <a:chOff x="1014942" y="4818592"/>
            <a:chExt cx="914400" cy="914400"/>
          </a:xfrm>
        </p:grpSpPr>
        <p:sp>
          <p:nvSpPr>
            <p:cNvPr id="196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6" name="Group 105"/>
          <p:cNvGrpSpPr/>
          <p:nvPr/>
        </p:nvGrpSpPr>
        <p:grpSpPr>
          <a:xfrm>
            <a:off x="1365995" y="2200075"/>
            <a:ext cx="914400" cy="914400"/>
            <a:chOff x="1014942" y="4818592"/>
            <a:chExt cx="914400" cy="914400"/>
          </a:xfrm>
        </p:grpSpPr>
        <p:sp>
          <p:nvSpPr>
            <p:cNvPr id="194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7" name="Group 106"/>
          <p:cNvGrpSpPr/>
          <p:nvPr/>
        </p:nvGrpSpPr>
        <p:grpSpPr>
          <a:xfrm>
            <a:off x="1339441" y="2831610"/>
            <a:ext cx="914400" cy="914400"/>
            <a:chOff x="1014942" y="4818592"/>
            <a:chExt cx="914400" cy="914400"/>
          </a:xfrm>
        </p:grpSpPr>
        <p:sp>
          <p:nvSpPr>
            <p:cNvPr id="192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8" name="Group 107"/>
          <p:cNvGrpSpPr/>
          <p:nvPr/>
        </p:nvGrpSpPr>
        <p:grpSpPr>
          <a:xfrm>
            <a:off x="2004457" y="1932219"/>
            <a:ext cx="914400" cy="914400"/>
            <a:chOff x="1014942" y="4818592"/>
            <a:chExt cx="914400" cy="914400"/>
          </a:xfrm>
        </p:grpSpPr>
        <p:sp>
          <p:nvSpPr>
            <p:cNvPr id="190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2376221" y="3054438"/>
            <a:ext cx="914400" cy="914400"/>
            <a:chOff x="1014942" y="4818592"/>
            <a:chExt cx="914400" cy="914400"/>
          </a:xfrm>
        </p:grpSpPr>
        <p:sp>
          <p:nvSpPr>
            <p:cNvPr id="188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0" name="Group 109"/>
          <p:cNvGrpSpPr/>
          <p:nvPr/>
        </p:nvGrpSpPr>
        <p:grpSpPr>
          <a:xfrm>
            <a:off x="2978895" y="2756566"/>
            <a:ext cx="914400" cy="914400"/>
            <a:chOff x="1014942" y="4818592"/>
            <a:chExt cx="914400" cy="914400"/>
          </a:xfrm>
        </p:grpSpPr>
        <p:sp>
          <p:nvSpPr>
            <p:cNvPr id="118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1" name="Group 110"/>
          <p:cNvGrpSpPr/>
          <p:nvPr/>
        </p:nvGrpSpPr>
        <p:grpSpPr>
          <a:xfrm>
            <a:off x="2940794" y="2279740"/>
            <a:ext cx="914400" cy="914400"/>
            <a:chOff x="1014942" y="4818592"/>
            <a:chExt cx="914400" cy="914400"/>
          </a:xfrm>
        </p:grpSpPr>
        <p:sp>
          <p:nvSpPr>
            <p:cNvPr id="116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888839" y="3243785"/>
            <a:ext cx="914400" cy="914400"/>
            <a:chOff x="1014942" y="4818592"/>
            <a:chExt cx="914400" cy="914400"/>
          </a:xfrm>
        </p:grpSpPr>
        <p:sp>
          <p:nvSpPr>
            <p:cNvPr id="114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0" name="Group 199"/>
          <p:cNvGrpSpPr/>
          <p:nvPr/>
        </p:nvGrpSpPr>
        <p:grpSpPr>
          <a:xfrm>
            <a:off x="4851568" y="1940301"/>
            <a:ext cx="2553854" cy="2186132"/>
            <a:chOff x="1633851" y="2307458"/>
            <a:chExt cx="2553854" cy="2186132"/>
          </a:xfrm>
        </p:grpSpPr>
        <p:grpSp>
          <p:nvGrpSpPr>
            <p:cNvPr id="201" name="Group 200"/>
            <p:cNvGrpSpPr/>
            <p:nvPr/>
          </p:nvGrpSpPr>
          <p:grpSpPr>
            <a:xfrm>
              <a:off x="2084700" y="3579190"/>
              <a:ext cx="914400" cy="914400"/>
              <a:chOff x="1014942" y="4818592"/>
              <a:chExt cx="914400" cy="914400"/>
            </a:xfrm>
          </p:grpSpPr>
          <p:sp>
            <p:nvSpPr>
              <p:cNvPr id="22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2" name="Group 201"/>
            <p:cNvGrpSpPr/>
            <p:nvPr/>
          </p:nvGrpSpPr>
          <p:grpSpPr>
            <a:xfrm>
              <a:off x="2809754" y="2331704"/>
              <a:ext cx="914400" cy="914400"/>
              <a:chOff x="1014942" y="4818592"/>
              <a:chExt cx="914400" cy="914400"/>
            </a:xfrm>
          </p:grpSpPr>
          <p:sp>
            <p:nvSpPr>
              <p:cNvPr id="22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Oval 22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3" name="Group 202"/>
            <p:cNvGrpSpPr/>
            <p:nvPr/>
          </p:nvGrpSpPr>
          <p:grpSpPr>
            <a:xfrm>
              <a:off x="1660405" y="2575314"/>
              <a:ext cx="914400" cy="914400"/>
              <a:chOff x="1014942" y="4818592"/>
              <a:chExt cx="914400" cy="914400"/>
            </a:xfrm>
          </p:grpSpPr>
          <p:sp>
            <p:nvSpPr>
              <p:cNvPr id="22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4" name="Group 203"/>
            <p:cNvGrpSpPr/>
            <p:nvPr/>
          </p:nvGrpSpPr>
          <p:grpSpPr>
            <a:xfrm>
              <a:off x="1633851" y="3206849"/>
              <a:ext cx="914400" cy="914400"/>
              <a:chOff x="1014942" y="4818592"/>
              <a:chExt cx="914400" cy="914400"/>
            </a:xfrm>
          </p:grpSpPr>
          <p:sp>
            <p:nvSpPr>
              <p:cNvPr id="22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Oval 22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5" name="Group 204"/>
            <p:cNvGrpSpPr/>
            <p:nvPr/>
          </p:nvGrpSpPr>
          <p:grpSpPr>
            <a:xfrm>
              <a:off x="2298867" y="2307458"/>
              <a:ext cx="914400" cy="914400"/>
              <a:chOff x="1014942" y="4818592"/>
              <a:chExt cx="914400" cy="914400"/>
            </a:xfrm>
          </p:grpSpPr>
          <p:sp>
            <p:nvSpPr>
              <p:cNvPr id="21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6" name="Group 205"/>
            <p:cNvGrpSpPr/>
            <p:nvPr/>
          </p:nvGrpSpPr>
          <p:grpSpPr>
            <a:xfrm>
              <a:off x="2670631" y="3429677"/>
              <a:ext cx="914400" cy="914400"/>
              <a:chOff x="1014942" y="4818592"/>
              <a:chExt cx="914400" cy="914400"/>
            </a:xfrm>
          </p:grpSpPr>
          <p:sp>
            <p:nvSpPr>
              <p:cNvPr id="21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7" name="Group 206"/>
            <p:cNvGrpSpPr/>
            <p:nvPr/>
          </p:nvGrpSpPr>
          <p:grpSpPr>
            <a:xfrm>
              <a:off x="3273305" y="3131805"/>
              <a:ext cx="914400" cy="914400"/>
              <a:chOff x="1014942" y="4818592"/>
              <a:chExt cx="914400" cy="914400"/>
            </a:xfrm>
          </p:grpSpPr>
          <p:sp>
            <p:nvSpPr>
              <p:cNvPr id="21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8" name="Group 207"/>
            <p:cNvGrpSpPr/>
            <p:nvPr/>
          </p:nvGrpSpPr>
          <p:grpSpPr>
            <a:xfrm>
              <a:off x="3235204" y="2654979"/>
              <a:ext cx="914400" cy="914400"/>
              <a:chOff x="1014942" y="4818592"/>
              <a:chExt cx="914400" cy="914400"/>
            </a:xfrm>
          </p:grpSpPr>
          <p:sp>
            <p:nvSpPr>
              <p:cNvPr id="21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8" name="Content Placeholder 2"/>
          <p:cNvSpPr txBox="1">
            <a:spLocks/>
          </p:cNvSpPr>
          <p:nvPr/>
        </p:nvSpPr>
        <p:spPr bwMode="auto">
          <a:xfrm>
            <a:off x="1926929" y="2844801"/>
            <a:ext cx="1276926" cy="586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171450" indent="0">
              <a:buNone/>
            </a:pPr>
            <a:r>
              <a:rPr lang="en-US" sz="1100" b="0">
                <a:solidFill>
                  <a:prstClr val="black"/>
                </a:solidFill>
                <a:latin typeface="Calibri"/>
              </a:rPr>
              <a:t>bounding me?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556167" y="4704296"/>
            <a:ext cx="1517074" cy="1401619"/>
            <a:chOff x="3302167" y="4865932"/>
            <a:chExt cx="1517074" cy="1401619"/>
          </a:xfrm>
        </p:grpSpPr>
        <p:grpSp>
          <p:nvGrpSpPr>
            <p:cNvPr id="232" name="Group 231"/>
            <p:cNvGrpSpPr/>
            <p:nvPr/>
          </p:nvGrpSpPr>
          <p:grpSpPr>
            <a:xfrm>
              <a:off x="3302167" y="5163804"/>
              <a:ext cx="914400" cy="914400"/>
              <a:chOff x="1014942" y="4818592"/>
              <a:chExt cx="914400" cy="914400"/>
            </a:xfrm>
          </p:grpSpPr>
          <p:sp>
            <p:nvSpPr>
              <p:cNvPr id="23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4" name="Oval 23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5" name="Group 234"/>
            <p:cNvGrpSpPr/>
            <p:nvPr/>
          </p:nvGrpSpPr>
          <p:grpSpPr>
            <a:xfrm>
              <a:off x="3904841" y="4865932"/>
              <a:ext cx="914400" cy="914400"/>
              <a:chOff x="1014942" y="4818592"/>
              <a:chExt cx="914400" cy="914400"/>
            </a:xfrm>
          </p:grpSpPr>
          <p:sp>
            <p:nvSpPr>
              <p:cNvPr id="23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7" name="Oval 23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8" name="Group 237"/>
            <p:cNvGrpSpPr/>
            <p:nvPr/>
          </p:nvGrpSpPr>
          <p:grpSpPr>
            <a:xfrm>
              <a:off x="3814785" y="5353151"/>
              <a:ext cx="914400" cy="914400"/>
              <a:chOff x="1014942" y="4818592"/>
              <a:chExt cx="914400" cy="914400"/>
            </a:xfrm>
          </p:grpSpPr>
          <p:sp>
            <p:nvSpPr>
              <p:cNvPr id="23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2" name="Group 241"/>
            <p:cNvGrpSpPr>
              <a:grpSpLocks noChangeAspect="1"/>
            </p:cNvGrpSpPr>
            <p:nvPr/>
          </p:nvGrpSpPr>
          <p:grpSpPr>
            <a:xfrm>
              <a:off x="3770877" y="5212771"/>
              <a:ext cx="639486" cy="637984"/>
              <a:chOff x="1014942" y="4818592"/>
              <a:chExt cx="914400" cy="914400"/>
            </a:xfrm>
          </p:grpSpPr>
          <p:sp>
            <p:nvSpPr>
              <p:cNvPr id="243" name="Oval 24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noFill/>
              <a:ln w="254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45" name="Content Placeholder 2"/>
          <p:cNvSpPr txBox="1">
            <a:spLocks/>
          </p:cNvSpPr>
          <p:nvPr/>
        </p:nvSpPr>
        <p:spPr bwMode="auto">
          <a:xfrm>
            <a:off x="1625600" y="6023264"/>
            <a:ext cx="7772400" cy="733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lvl="1"/>
            <a:r>
              <a:rPr lang="en-US" sz="1600">
                <a:solidFill>
                  <a:prstClr val="black"/>
                </a:solidFill>
                <a:latin typeface="Calibri"/>
              </a:rPr>
              <a:t>In-circle test speeds up intersection point test by 3x </a:t>
            </a:r>
            <a:br>
              <a:rPr lang="en-US" sz="1600">
                <a:solidFill>
                  <a:prstClr val="black"/>
                </a:solidFill>
                <a:latin typeface="Calibri"/>
              </a:rPr>
            </a:br>
            <a:r>
              <a:rPr lang="en-US" sz="1600">
                <a:solidFill>
                  <a:prstClr val="black"/>
                </a:solidFill>
                <a:latin typeface="Calibri"/>
              </a:rPr>
              <a:t>	technical for non-constant radius, details in paper </a:t>
            </a:r>
            <a:r>
              <a:rPr lang="en-US" sz="1600">
                <a:solidFill>
                  <a:prstClr val="black"/>
                </a:solidFill>
                <a:latin typeface="Calibri"/>
                <a:sym typeface="Wingdings"/>
              </a:rPr>
              <a:t></a:t>
            </a:r>
            <a:endParaRPr lang="en-US" sz="1600">
              <a:solidFill>
                <a:prstClr val="black"/>
              </a:solidFill>
              <a:latin typeface="Calibri"/>
            </a:endParaRPr>
          </a:p>
          <a:p>
            <a:pPr marL="457200" lvl="1" indent="0">
              <a:buFontTx/>
              <a:buNone/>
            </a:pPr>
            <a:endParaRPr lang="en-US" sz="18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46" name="Freeform 245"/>
          <p:cNvSpPr/>
          <p:nvPr/>
        </p:nvSpPr>
        <p:spPr>
          <a:xfrm>
            <a:off x="976540" y="1985803"/>
            <a:ext cx="3104780" cy="2533075"/>
          </a:xfrm>
          <a:custGeom>
            <a:avLst/>
            <a:gdLst>
              <a:gd name="connsiteX0" fmla="*/ 2341625 w 2341625"/>
              <a:gd name="connsiteY0" fmla="*/ 1933863 h 2387879"/>
              <a:gd name="connsiteX1" fmla="*/ 1816307 w 2341625"/>
              <a:gd name="connsiteY1" fmla="*/ 2234045 h 2387879"/>
              <a:gd name="connsiteX2" fmla="*/ 1094716 w 2341625"/>
              <a:gd name="connsiteY2" fmla="*/ 2372591 h 2387879"/>
              <a:gd name="connsiteX3" fmla="*/ 223034 w 2341625"/>
              <a:gd name="connsiteY3" fmla="*/ 1881909 h 2387879"/>
              <a:gd name="connsiteX4" fmla="*/ 9443 w 2341625"/>
              <a:gd name="connsiteY4" fmla="*/ 790863 h 2387879"/>
              <a:gd name="connsiteX5" fmla="*/ 442398 w 2341625"/>
              <a:gd name="connsiteY5" fmla="*/ 0 h 2387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41625" h="2387879">
                <a:moveTo>
                  <a:pt x="2341625" y="1933863"/>
                </a:moveTo>
                <a:cubicBezTo>
                  <a:pt x="2182875" y="2047393"/>
                  <a:pt x="2024125" y="2160924"/>
                  <a:pt x="1816307" y="2234045"/>
                </a:cubicBezTo>
                <a:cubicBezTo>
                  <a:pt x="1608489" y="2307166"/>
                  <a:pt x="1360261" y="2431280"/>
                  <a:pt x="1094716" y="2372591"/>
                </a:cubicBezTo>
                <a:cubicBezTo>
                  <a:pt x="829170" y="2313902"/>
                  <a:pt x="403913" y="2145530"/>
                  <a:pt x="223034" y="1881909"/>
                </a:cubicBezTo>
                <a:cubicBezTo>
                  <a:pt x="42155" y="1618288"/>
                  <a:pt x="-27118" y="1104514"/>
                  <a:pt x="9443" y="790863"/>
                </a:cubicBezTo>
                <a:cubicBezTo>
                  <a:pt x="46004" y="477212"/>
                  <a:pt x="442398" y="0"/>
                  <a:pt x="442398" y="0"/>
                </a:cubicBezTo>
              </a:path>
            </a:pathLst>
          </a:custGeom>
          <a:ln>
            <a:solidFill>
              <a:schemeClr val="accent2"/>
            </a:solidFill>
            <a:headEnd type="arrow"/>
            <a:tailEnd type="none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28484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7727"/>
            <a:ext cx="7772400" cy="1237673"/>
          </a:xfrm>
        </p:spPr>
        <p:txBody>
          <a:bodyPr/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Sifting Algorithm</a:t>
            </a:r>
            <a:br>
              <a:rPr lang="en-US">
                <a:solidFill>
                  <a:prstClr val="black"/>
                </a:solidFill>
                <a:latin typeface="Calibri"/>
              </a:rPr>
            </a:br>
            <a:r>
              <a:rPr lang="en-US">
                <a:solidFill>
                  <a:schemeClr val="tx2"/>
                </a:solidFill>
                <a:latin typeface="Calibri"/>
              </a:rPr>
              <a:t>Exclusion</a:t>
            </a:r>
            <a:r>
              <a:rPr lang="en-US">
                <a:solidFill>
                  <a:prstClr val="black"/>
                </a:solidFill>
                <a:latin typeface="Calibri"/>
              </a:rPr>
              <a:t> – </a:t>
            </a:r>
            <a:r>
              <a:rPr lang="en-US">
                <a:solidFill>
                  <a:srgbClr val="660066"/>
                </a:solidFill>
                <a:latin typeface="Calibri"/>
              </a:rPr>
              <a:t>Inclusion</a:t>
            </a:r>
            <a:r>
              <a:rPr lang="en-US">
                <a:solidFill>
                  <a:prstClr val="black"/>
                </a:solidFill>
                <a:latin typeface="Calibri"/>
              </a:rPr>
              <a:t> Disks</a:t>
            </a:r>
            <a:endParaRPr lang="en-US"/>
          </a:p>
        </p:txBody>
      </p:sp>
      <p:grpSp>
        <p:nvGrpSpPr>
          <p:cNvPr id="200" name="Group 199"/>
          <p:cNvGrpSpPr/>
          <p:nvPr/>
        </p:nvGrpSpPr>
        <p:grpSpPr>
          <a:xfrm>
            <a:off x="48659" y="3585528"/>
            <a:ext cx="2553854" cy="2186132"/>
            <a:chOff x="1633851" y="2307458"/>
            <a:chExt cx="2553854" cy="2186132"/>
          </a:xfrm>
        </p:grpSpPr>
        <p:grpSp>
          <p:nvGrpSpPr>
            <p:cNvPr id="201" name="Group 200"/>
            <p:cNvGrpSpPr/>
            <p:nvPr/>
          </p:nvGrpSpPr>
          <p:grpSpPr>
            <a:xfrm>
              <a:off x="2084700" y="3579190"/>
              <a:ext cx="914400" cy="914400"/>
              <a:chOff x="1014942" y="4818592"/>
              <a:chExt cx="914400" cy="914400"/>
            </a:xfrm>
          </p:grpSpPr>
          <p:sp>
            <p:nvSpPr>
              <p:cNvPr id="22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2" name="Group 201"/>
            <p:cNvGrpSpPr/>
            <p:nvPr/>
          </p:nvGrpSpPr>
          <p:grpSpPr>
            <a:xfrm>
              <a:off x="2809754" y="2331704"/>
              <a:ext cx="914400" cy="914400"/>
              <a:chOff x="1014942" y="4818592"/>
              <a:chExt cx="914400" cy="914400"/>
            </a:xfrm>
          </p:grpSpPr>
          <p:sp>
            <p:nvSpPr>
              <p:cNvPr id="22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Oval 22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3" name="Group 202"/>
            <p:cNvGrpSpPr/>
            <p:nvPr/>
          </p:nvGrpSpPr>
          <p:grpSpPr>
            <a:xfrm>
              <a:off x="1660405" y="2575314"/>
              <a:ext cx="914400" cy="914400"/>
              <a:chOff x="1014942" y="4818592"/>
              <a:chExt cx="914400" cy="914400"/>
            </a:xfrm>
          </p:grpSpPr>
          <p:sp>
            <p:nvSpPr>
              <p:cNvPr id="22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4" name="Group 203"/>
            <p:cNvGrpSpPr/>
            <p:nvPr/>
          </p:nvGrpSpPr>
          <p:grpSpPr>
            <a:xfrm>
              <a:off x="1633851" y="3206849"/>
              <a:ext cx="914400" cy="914400"/>
              <a:chOff x="1014942" y="4818592"/>
              <a:chExt cx="914400" cy="914400"/>
            </a:xfrm>
          </p:grpSpPr>
          <p:sp>
            <p:nvSpPr>
              <p:cNvPr id="22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Oval 22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5" name="Group 204"/>
            <p:cNvGrpSpPr/>
            <p:nvPr/>
          </p:nvGrpSpPr>
          <p:grpSpPr>
            <a:xfrm>
              <a:off x="2298867" y="2307458"/>
              <a:ext cx="914400" cy="914400"/>
              <a:chOff x="1014942" y="4818592"/>
              <a:chExt cx="914400" cy="914400"/>
            </a:xfrm>
          </p:grpSpPr>
          <p:sp>
            <p:nvSpPr>
              <p:cNvPr id="21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6" name="Group 205"/>
            <p:cNvGrpSpPr/>
            <p:nvPr/>
          </p:nvGrpSpPr>
          <p:grpSpPr>
            <a:xfrm>
              <a:off x="2670631" y="3429677"/>
              <a:ext cx="914400" cy="914400"/>
              <a:chOff x="1014942" y="4818592"/>
              <a:chExt cx="914400" cy="914400"/>
            </a:xfrm>
          </p:grpSpPr>
          <p:sp>
            <p:nvSpPr>
              <p:cNvPr id="21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7" name="Oval 21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7" name="Group 206"/>
            <p:cNvGrpSpPr/>
            <p:nvPr/>
          </p:nvGrpSpPr>
          <p:grpSpPr>
            <a:xfrm>
              <a:off x="3273305" y="3131805"/>
              <a:ext cx="914400" cy="914400"/>
              <a:chOff x="1014942" y="4818592"/>
              <a:chExt cx="914400" cy="914400"/>
            </a:xfrm>
          </p:grpSpPr>
          <p:sp>
            <p:nvSpPr>
              <p:cNvPr id="21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8" name="Group 207"/>
            <p:cNvGrpSpPr/>
            <p:nvPr/>
          </p:nvGrpSpPr>
          <p:grpSpPr>
            <a:xfrm>
              <a:off x="3235204" y="2654979"/>
              <a:ext cx="914400" cy="914400"/>
              <a:chOff x="1014942" y="4818592"/>
              <a:chExt cx="914400" cy="914400"/>
            </a:xfrm>
          </p:grpSpPr>
          <p:sp>
            <p:nvSpPr>
              <p:cNvPr id="21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45" name="Content Placeholder 2"/>
          <p:cNvSpPr txBox="1">
            <a:spLocks/>
          </p:cNvSpPr>
          <p:nvPr/>
        </p:nvSpPr>
        <p:spPr bwMode="auto">
          <a:xfrm>
            <a:off x="0" y="1226127"/>
            <a:ext cx="6176818" cy="733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lvl="1"/>
            <a:r>
              <a:rPr lang="en-US" sz="1800" dirty="0">
                <a:solidFill>
                  <a:prstClr val="black"/>
                </a:solidFill>
                <a:latin typeface="Calibri"/>
              </a:rPr>
              <a:t>A new disk will cover all the white area</a:t>
            </a:r>
          </a:p>
          <a:p>
            <a:pPr lvl="2"/>
            <a:r>
              <a:rPr lang="en-US" sz="1400" dirty="0" err="1" smtClean="0">
                <a:solidFill>
                  <a:prstClr val="black"/>
                </a:solidFill>
                <a:latin typeface="Calibri"/>
              </a:rPr>
              <a:t>iff</a:t>
            </a:r>
            <a:r>
              <a:rPr lang="en-US" sz="1400" dirty="0" smtClean="0">
                <a:solidFill>
                  <a:prstClr val="black"/>
                </a:solidFill>
                <a:latin typeface="Calibri"/>
              </a:rPr>
              <a:t> </a:t>
            </a:r>
            <a:r>
              <a:rPr lang="en-US" sz="1400" dirty="0">
                <a:solidFill>
                  <a:prstClr val="black"/>
                </a:solidFill>
                <a:latin typeface="Calibri"/>
              </a:rPr>
              <a:t>it covers all the corners of intersection</a:t>
            </a:r>
          </a:p>
          <a:p>
            <a:pPr lvl="2"/>
            <a:r>
              <a:rPr lang="en-US" sz="1600" dirty="0">
                <a:solidFill>
                  <a:prstClr val="black"/>
                </a:solidFill>
                <a:latin typeface="Calibri"/>
              </a:rPr>
              <a:t>Reason: because disks are convex</a:t>
            </a:r>
          </a:p>
          <a:p>
            <a:pPr lvl="1"/>
            <a:r>
              <a:rPr lang="en-US" sz="1800" dirty="0">
                <a:solidFill>
                  <a:prstClr val="black"/>
                </a:solidFill>
                <a:latin typeface="Calibri"/>
              </a:rPr>
              <a:t>Need replacement disk</a:t>
            </a:r>
          </a:p>
          <a:p>
            <a:pPr lvl="2"/>
            <a:r>
              <a:rPr lang="en-US" sz="1600" dirty="0">
                <a:solidFill>
                  <a:prstClr val="black"/>
                </a:solidFill>
                <a:latin typeface="Calibri"/>
              </a:rPr>
              <a:t>Outside all </a:t>
            </a:r>
            <a:r>
              <a:rPr lang="en-US" sz="1600" dirty="0">
                <a:solidFill>
                  <a:schemeClr val="tx2"/>
                </a:solidFill>
                <a:latin typeface="Calibri"/>
              </a:rPr>
              <a:t>sample disks</a:t>
            </a:r>
          </a:p>
          <a:p>
            <a:pPr lvl="2"/>
            <a:r>
              <a:rPr lang="en-US" sz="1600" dirty="0">
                <a:solidFill>
                  <a:prstClr val="black"/>
                </a:solidFill>
                <a:latin typeface="Calibri"/>
              </a:rPr>
              <a:t>Inside all </a:t>
            </a:r>
            <a:r>
              <a:rPr lang="en-US" sz="1600" dirty="0">
                <a:solidFill>
                  <a:srgbClr val="660066"/>
                </a:solidFill>
                <a:latin typeface="Calibri"/>
              </a:rPr>
              <a:t>dual corner disks</a:t>
            </a:r>
          </a:p>
          <a:p>
            <a:pPr marL="457200" lvl="1" indent="0">
              <a:buFontTx/>
              <a:buNone/>
            </a:pPr>
            <a:endParaRPr lang="en-US" sz="20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487559" y="3587835"/>
            <a:ext cx="2553854" cy="2186132"/>
            <a:chOff x="4265059" y="3605155"/>
            <a:chExt cx="2553854" cy="2186132"/>
          </a:xfrm>
        </p:grpSpPr>
        <p:grpSp>
          <p:nvGrpSpPr>
            <p:cNvPr id="74" name="Group 73"/>
            <p:cNvGrpSpPr/>
            <p:nvPr/>
          </p:nvGrpSpPr>
          <p:grpSpPr>
            <a:xfrm>
              <a:off x="4715908" y="4876887"/>
              <a:ext cx="914400" cy="914400"/>
              <a:chOff x="1014942" y="4818592"/>
              <a:chExt cx="914400" cy="914400"/>
            </a:xfrm>
          </p:grpSpPr>
          <p:sp>
            <p:nvSpPr>
              <p:cNvPr id="9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5" name="Group 74"/>
            <p:cNvGrpSpPr/>
            <p:nvPr/>
          </p:nvGrpSpPr>
          <p:grpSpPr>
            <a:xfrm>
              <a:off x="5440962" y="3629401"/>
              <a:ext cx="914400" cy="914400"/>
              <a:chOff x="1014942" y="4818592"/>
              <a:chExt cx="914400" cy="914400"/>
            </a:xfrm>
          </p:grpSpPr>
          <p:sp>
            <p:nvSpPr>
              <p:cNvPr id="9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4291613" y="3873011"/>
              <a:ext cx="914400" cy="914400"/>
              <a:chOff x="1014942" y="4818592"/>
              <a:chExt cx="914400" cy="914400"/>
            </a:xfrm>
          </p:grpSpPr>
          <p:sp>
            <p:nvSpPr>
              <p:cNvPr id="9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4265059" y="4504546"/>
              <a:ext cx="914400" cy="914400"/>
              <a:chOff x="1014942" y="4818592"/>
              <a:chExt cx="914400" cy="914400"/>
            </a:xfrm>
          </p:grpSpPr>
          <p:sp>
            <p:nvSpPr>
              <p:cNvPr id="9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8" name="Group 77"/>
            <p:cNvGrpSpPr/>
            <p:nvPr/>
          </p:nvGrpSpPr>
          <p:grpSpPr>
            <a:xfrm>
              <a:off x="4930075" y="3605155"/>
              <a:ext cx="914400" cy="914400"/>
              <a:chOff x="1014942" y="4818592"/>
              <a:chExt cx="914400" cy="914400"/>
            </a:xfrm>
          </p:grpSpPr>
          <p:sp>
            <p:nvSpPr>
              <p:cNvPr id="8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5301839" y="4727374"/>
              <a:ext cx="914400" cy="914400"/>
              <a:chOff x="1014942" y="4818592"/>
              <a:chExt cx="914400" cy="914400"/>
            </a:xfrm>
          </p:grpSpPr>
          <p:sp>
            <p:nvSpPr>
              <p:cNvPr id="8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5904513" y="4429502"/>
              <a:ext cx="914400" cy="914400"/>
              <a:chOff x="1014942" y="4818592"/>
              <a:chExt cx="914400" cy="914400"/>
            </a:xfrm>
          </p:grpSpPr>
          <p:sp>
            <p:nvSpPr>
              <p:cNvPr id="8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5866412" y="3952676"/>
              <a:ext cx="914400" cy="914400"/>
              <a:chOff x="1014942" y="4818592"/>
              <a:chExt cx="914400" cy="914400"/>
            </a:xfrm>
          </p:grpSpPr>
          <p:sp>
            <p:nvSpPr>
              <p:cNvPr id="8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7" name="Group 136"/>
            <p:cNvGrpSpPr/>
            <p:nvPr/>
          </p:nvGrpSpPr>
          <p:grpSpPr>
            <a:xfrm>
              <a:off x="5424799" y="4084869"/>
              <a:ext cx="914400" cy="914400"/>
              <a:chOff x="1014942" y="4818592"/>
              <a:chExt cx="914400" cy="914400"/>
            </a:xfrm>
          </p:grpSpPr>
          <p:sp>
            <p:nvSpPr>
              <p:cNvPr id="13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0" name="Group 139"/>
            <p:cNvGrpSpPr/>
            <p:nvPr/>
          </p:nvGrpSpPr>
          <p:grpSpPr>
            <a:xfrm>
              <a:off x="5496381" y="4219952"/>
              <a:ext cx="914400" cy="914400"/>
              <a:chOff x="1014942" y="4818592"/>
              <a:chExt cx="914400" cy="914400"/>
            </a:xfrm>
          </p:grpSpPr>
          <p:sp>
            <p:nvSpPr>
              <p:cNvPr id="14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3" name="Group 142"/>
            <p:cNvGrpSpPr/>
            <p:nvPr/>
          </p:nvGrpSpPr>
          <p:grpSpPr>
            <a:xfrm>
              <a:off x="5458281" y="4303078"/>
              <a:ext cx="914400" cy="914400"/>
              <a:chOff x="1014942" y="4818592"/>
              <a:chExt cx="914400" cy="914400"/>
            </a:xfrm>
          </p:grpSpPr>
          <p:sp>
            <p:nvSpPr>
              <p:cNvPr id="14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6" name="Group 145"/>
            <p:cNvGrpSpPr/>
            <p:nvPr/>
          </p:nvGrpSpPr>
          <p:grpSpPr>
            <a:xfrm>
              <a:off x="4912181" y="4467023"/>
              <a:ext cx="914400" cy="914400"/>
              <a:chOff x="1014942" y="4818592"/>
              <a:chExt cx="914400" cy="914400"/>
            </a:xfrm>
          </p:grpSpPr>
          <p:sp>
            <p:nvSpPr>
              <p:cNvPr id="14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8" name="Oval 14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9" name="Group 148"/>
            <p:cNvGrpSpPr/>
            <p:nvPr/>
          </p:nvGrpSpPr>
          <p:grpSpPr>
            <a:xfrm>
              <a:off x="4712444" y="4405833"/>
              <a:ext cx="914400" cy="914400"/>
              <a:chOff x="1014942" y="4818592"/>
              <a:chExt cx="914400" cy="914400"/>
            </a:xfrm>
          </p:grpSpPr>
          <p:sp>
            <p:nvSpPr>
              <p:cNvPr id="15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2" name="Group 151"/>
            <p:cNvGrpSpPr/>
            <p:nvPr/>
          </p:nvGrpSpPr>
          <p:grpSpPr>
            <a:xfrm>
              <a:off x="5165026" y="3992506"/>
              <a:ext cx="914400" cy="914400"/>
              <a:chOff x="1014942" y="4818592"/>
              <a:chExt cx="914400" cy="914400"/>
            </a:xfrm>
          </p:grpSpPr>
          <p:sp>
            <p:nvSpPr>
              <p:cNvPr id="15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Group 154"/>
            <p:cNvGrpSpPr/>
            <p:nvPr/>
          </p:nvGrpSpPr>
          <p:grpSpPr>
            <a:xfrm>
              <a:off x="4734381" y="4012133"/>
              <a:ext cx="914400" cy="914400"/>
              <a:chOff x="1014942" y="4818592"/>
              <a:chExt cx="914400" cy="914400"/>
            </a:xfrm>
          </p:grpSpPr>
          <p:sp>
            <p:nvSpPr>
              <p:cNvPr id="15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Group 157"/>
            <p:cNvGrpSpPr/>
            <p:nvPr/>
          </p:nvGrpSpPr>
          <p:grpSpPr>
            <a:xfrm>
              <a:off x="4609690" y="4193397"/>
              <a:ext cx="914400" cy="914400"/>
              <a:chOff x="1014942" y="4818592"/>
              <a:chExt cx="914400" cy="914400"/>
            </a:xfrm>
          </p:grpSpPr>
          <p:sp>
            <p:nvSpPr>
              <p:cNvPr id="15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1" name="Group 160"/>
          <p:cNvGrpSpPr/>
          <p:nvPr/>
        </p:nvGrpSpPr>
        <p:grpSpPr>
          <a:xfrm>
            <a:off x="3335651" y="3576292"/>
            <a:ext cx="2553854" cy="2186132"/>
            <a:chOff x="1633851" y="2307458"/>
            <a:chExt cx="2553854" cy="2186132"/>
          </a:xfrm>
        </p:grpSpPr>
        <p:grpSp>
          <p:nvGrpSpPr>
            <p:cNvPr id="162" name="Group 161"/>
            <p:cNvGrpSpPr/>
            <p:nvPr/>
          </p:nvGrpSpPr>
          <p:grpSpPr>
            <a:xfrm>
              <a:off x="2084700" y="3579190"/>
              <a:ext cx="914400" cy="914400"/>
              <a:chOff x="1014942" y="4818592"/>
              <a:chExt cx="914400" cy="914400"/>
            </a:xfrm>
          </p:grpSpPr>
          <p:sp>
            <p:nvSpPr>
              <p:cNvPr id="18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Oval 18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3" name="Group 162"/>
            <p:cNvGrpSpPr/>
            <p:nvPr/>
          </p:nvGrpSpPr>
          <p:grpSpPr>
            <a:xfrm>
              <a:off x="2809754" y="2331704"/>
              <a:ext cx="914400" cy="914400"/>
              <a:chOff x="1014942" y="4818592"/>
              <a:chExt cx="914400" cy="914400"/>
            </a:xfrm>
          </p:grpSpPr>
          <p:sp>
            <p:nvSpPr>
              <p:cNvPr id="18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3" name="Oval 18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4" name="Group 163"/>
            <p:cNvGrpSpPr/>
            <p:nvPr/>
          </p:nvGrpSpPr>
          <p:grpSpPr>
            <a:xfrm>
              <a:off x="1660405" y="2575314"/>
              <a:ext cx="914400" cy="914400"/>
              <a:chOff x="1014942" y="4818592"/>
              <a:chExt cx="914400" cy="914400"/>
            </a:xfrm>
          </p:grpSpPr>
          <p:sp>
            <p:nvSpPr>
              <p:cNvPr id="18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Oval 18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5" name="Group 164"/>
            <p:cNvGrpSpPr/>
            <p:nvPr/>
          </p:nvGrpSpPr>
          <p:grpSpPr>
            <a:xfrm>
              <a:off x="1633851" y="3206849"/>
              <a:ext cx="914400" cy="914400"/>
              <a:chOff x="1014942" y="4818592"/>
              <a:chExt cx="914400" cy="914400"/>
            </a:xfrm>
          </p:grpSpPr>
          <p:sp>
            <p:nvSpPr>
              <p:cNvPr id="178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9" name="Oval 178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6" name="Group 165"/>
            <p:cNvGrpSpPr/>
            <p:nvPr/>
          </p:nvGrpSpPr>
          <p:grpSpPr>
            <a:xfrm>
              <a:off x="2298867" y="2307458"/>
              <a:ext cx="914400" cy="914400"/>
              <a:chOff x="1014942" y="4818592"/>
              <a:chExt cx="914400" cy="914400"/>
            </a:xfrm>
          </p:grpSpPr>
          <p:sp>
            <p:nvSpPr>
              <p:cNvPr id="176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7" name="Oval 176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7" name="Group 166"/>
            <p:cNvGrpSpPr/>
            <p:nvPr/>
          </p:nvGrpSpPr>
          <p:grpSpPr>
            <a:xfrm>
              <a:off x="2670631" y="3429677"/>
              <a:ext cx="914400" cy="914400"/>
              <a:chOff x="1014942" y="4818592"/>
              <a:chExt cx="914400" cy="914400"/>
            </a:xfrm>
          </p:grpSpPr>
          <p:sp>
            <p:nvSpPr>
              <p:cNvPr id="174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8" name="Group 167"/>
            <p:cNvGrpSpPr/>
            <p:nvPr/>
          </p:nvGrpSpPr>
          <p:grpSpPr>
            <a:xfrm>
              <a:off x="3273305" y="3131805"/>
              <a:ext cx="914400" cy="914400"/>
              <a:chOff x="1014942" y="4818592"/>
              <a:chExt cx="914400" cy="914400"/>
            </a:xfrm>
          </p:grpSpPr>
          <p:sp>
            <p:nvSpPr>
              <p:cNvPr id="172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Oval 172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9" name="Group 168"/>
            <p:cNvGrpSpPr/>
            <p:nvPr/>
          </p:nvGrpSpPr>
          <p:grpSpPr>
            <a:xfrm>
              <a:off x="3235204" y="2654979"/>
              <a:ext cx="914400" cy="914400"/>
              <a:chOff x="1014942" y="4818592"/>
              <a:chExt cx="914400" cy="914400"/>
            </a:xfrm>
          </p:grpSpPr>
          <p:sp>
            <p:nvSpPr>
              <p:cNvPr id="17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1" name="Oval 17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11" name="Group 210"/>
          <p:cNvGrpSpPr/>
          <p:nvPr/>
        </p:nvGrpSpPr>
        <p:grpSpPr>
          <a:xfrm>
            <a:off x="3785343" y="4385051"/>
            <a:ext cx="914400" cy="914400"/>
            <a:chOff x="6224899" y="1646469"/>
            <a:chExt cx="914400" cy="914400"/>
          </a:xfrm>
        </p:grpSpPr>
        <p:sp>
          <p:nvSpPr>
            <p:cNvPr id="229" name="Flowchart: Connector 9"/>
            <p:cNvSpPr/>
            <p:nvPr/>
          </p:nvSpPr>
          <p:spPr>
            <a:xfrm>
              <a:off x="6224899" y="1646469"/>
              <a:ext cx="914400" cy="914400"/>
            </a:xfrm>
            <a:prstGeom prst="flowChartConnector">
              <a:avLst/>
            </a:prstGeom>
            <a:solidFill>
              <a:srgbClr val="660066">
                <a:alpha val="10000"/>
              </a:srgbClr>
            </a:solidFill>
            <a:ln w="0"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/>
            <p:cNvSpPr/>
            <p:nvPr/>
          </p:nvSpPr>
          <p:spPr>
            <a:xfrm>
              <a:off x="6677527" y="2099097"/>
              <a:ext cx="18288" cy="18288"/>
            </a:xfrm>
            <a:prstGeom prst="ellipse">
              <a:avLst/>
            </a:prstGeom>
            <a:solidFill>
              <a:srgbClr val="660066"/>
            </a:solidFill>
            <a:ln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" name="Straight Arrow Connector 10"/>
          <p:cNvCxnSpPr>
            <a:endCxn id="159" idx="6"/>
          </p:cNvCxnSpPr>
          <p:nvPr/>
        </p:nvCxnSpPr>
        <p:spPr bwMode="auto">
          <a:xfrm>
            <a:off x="6863773" y="3146136"/>
            <a:ext cx="882817" cy="148714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101772" y="2909455"/>
            <a:ext cx="19045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rgbClr val="660066"/>
                </a:solidFill>
              </a:rPr>
              <a:t>Is there a common intersection?</a:t>
            </a:r>
          </a:p>
        </p:txBody>
      </p:sp>
    </p:spTree>
    <p:extLst>
      <p:ext uri="{BB962C8B-B14F-4D97-AF65-F5344CB8AC3E}">
        <p14:creationId xmlns:p14="http://schemas.microsoft.com/office/powerpoint/2010/main" val="70316082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7727"/>
            <a:ext cx="7772400" cy="1237673"/>
          </a:xfrm>
        </p:spPr>
        <p:txBody>
          <a:bodyPr/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Sifting Algorithm</a:t>
            </a:r>
            <a:br>
              <a:rPr lang="en-US">
                <a:solidFill>
                  <a:prstClr val="black"/>
                </a:solidFill>
                <a:latin typeface="Calibri"/>
              </a:rPr>
            </a:br>
            <a:r>
              <a:rPr lang="en-US">
                <a:solidFill>
                  <a:schemeClr val="tx2"/>
                </a:solidFill>
                <a:latin typeface="Calibri"/>
              </a:rPr>
              <a:t>Search for Random Location – Using “Simple MPS”</a:t>
            </a:r>
            <a:endParaRPr lang="en-US"/>
          </a:p>
        </p:txBody>
      </p:sp>
      <p:sp>
        <p:nvSpPr>
          <p:cNvPr id="245" name="Content Placeholder 2"/>
          <p:cNvSpPr txBox="1">
            <a:spLocks/>
          </p:cNvSpPr>
          <p:nvPr/>
        </p:nvSpPr>
        <p:spPr bwMode="auto">
          <a:xfrm>
            <a:off x="-431209" y="3505523"/>
            <a:ext cx="4536559" cy="202340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lvl="1"/>
            <a:r>
              <a:rPr lang="en-US" sz="1400" dirty="0" smtClean="0">
                <a:solidFill>
                  <a:schemeClr val="tx1"/>
                </a:solidFill>
                <a:latin typeface="Calibri"/>
              </a:rPr>
              <a:t>Solution</a:t>
            </a:r>
          </a:p>
          <a:p>
            <a:pPr lvl="2"/>
            <a:r>
              <a:rPr lang="en-US" sz="1200" dirty="0" smtClean="0">
                <a:solidFill>
                  <a:schemeClr val="tx1"/>
                </a:solidFill>
                <a:latin typeface="Calibri"/>
              </a:rPr>
              <a:t>Simple </a:t>
            </a:r>
            <a:r>
              <a:rPr lang="en-US" sz="1200" dirty="0">
                <a:solidFill>
                  <a:schemeClr val="tx1"/>
                </a:solidFill>
                <a:latin typeface="Calibri"/>
              </a:rPr>
              <a:t>MPS [Ebeida et al. </a:t>
            </a:r>
            <a:r>
              <a:rPr lang="en-US" sz="1200" dirty="0" err="1">
                <a:solidFill>
                  <a:schemeClr val="tx1"/>
                </a:solidFill>
                <a:latin typeface="Calibri"/>
              </a:rPr>
              <a:t>Eurographics</a:t>
            </a:r>
            <a:r>
              <a:rPr lang="en-US" sz="1200" dirty="0">
                <a:solidFill>
                  <a:schemeClr val="tx1"/>
                </a:solidFill>
                <a:latin typeface="Calibri"/>
              </a:rPr>
              <a:t> 2012] </a:t>
            </a:r>
          </a:p>
          <a:p>
            <a:pPr lvl="2"/>
            <a:r>
              <a:rPr lang="en-US" sz="1200" dirty="0">
                <a:solidFill>
                  <a:schemeClr val="tx1"/>
                </a:solidFill>
                <a:latin typeface="Calibri"/>
              </a:rPr>
              <a:t>extended for purple inclusion </a:t>
            </a:r>
            <a:r>
              <a:rPr lang="en-US" sz="1200" dirty="0" smtClean="0">
                <a:solidFill>
                  <a:schemeClr val="tx1"/>
                </a:solidFill>
                <a:latin typeface="Calibri"/>
              </a:rPr>
              <a:t>disks</a:t>
            </a:r>
          </a:p>
          <a:p>
            <a:pPr lvl="2"/>
            <a:r>
              <a:rPr lang="en-US" sz="1200" dirty="0" smtClean="0">
                <a:solidFill>
                  <a:schemeClr val="tx1"/>
                </a:solidFill>
                <a:latin typeface="Calibri"/>
              </a:rPr>
              <a:t>Flat quadtree </a:t>
            </a:r>
          </a:p>
          <a:p>
            <a:pPr lvl="3"/>
            <a:r>
              <a:rPr lang="en-US" sz="1200" dirty="0" smtClean="0">
                <a:solidFill>
                  <a:schemeClr val="tx1"/>
                </a:solidFill>
                <a:latin typeface="Calibri"/>
              </a:rPr>
              <a:t>approximates acceptable region</a:t>
            </a:r>
            <a:endParaRPr lang="en-US" sz="1200" dirty="0">
              <a:solidFill>
                <a:schemeClr val="tx1"/>
              </a:solidFill>
              <a:latin typeface="Calibri"/>
            </a:endParaRPr>
          </a:p>
          <a:p>
            <a:pPr marL="457200" lvl="1" indent="0">
              <a:buFontTx/>
              <a:buNone/>
            </a:pPr>
            <a:endParaRPr lang="en-US" sz="1200" dirty="0">
              <a:solidFill>
                <a:prstClr val="black"/>
              </a:solidFill>
              <a:latin typeface="Calibri"/>
            </a:endParaRPr>
          </a:p>
        </p:txBody>
      </p:sp>
      <p:grpSp>
        <p:nvGrpSpPr>
          <p:cNvPr id="135" name="Group 134"/>
          <p:cNvGrpSpPr/>
          <p:nvPr/>
        </p:nvGrpSpPr>
        <p:grpSpPr>
          <a:xfrm>
            <a:off x="1376545" y="2302809"/>
            <a:ext cx="914400" cy="914400"/>
            <a:chOff x="1014942" y="4818592"/>
            <a:chExt cx="914400" cy="914400"/>
          </a:xfrm>
        </p:grpSpPr>
        <p:sp>
          <p:nvSpPr>
            <p:cNvPr id="191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2" name="Oval 121"/>
          <p:cNvSpPr/>
          <p:nvPr/>
        </p:nvSpPr>
        <p:spPr>
          <a:xfrm>
            <a:off x="1448748" y="2492777"/>
            <a:ext cx="18288" cy="1828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/>
          <p:nvPr/>
        </p:nvSpPr>
        <p:spPr>
          <a:xfrm>
            <a:off x="1235158" y="2446595"/>
            <a:ext cx="18288" cy="1828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/>
          <p:nvPr/>
        </p:nvSpPr>
        <p:spPr>
          <a:xfrm>
            <a:off x="1136156" y="2227520"/>
            <a:ext cx="18288" cy="1828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/>
          <p:nvPr/>
        </p:nvSpPr>
        <p:spPr>
          <a:xfrm>
            <a:off x="1254497" y="2045967"/>
            <a:ext cx="18288" cy="1828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/>
          <p:nvPr/>
        </p:nvSpPr>
        <p:spPr>
          <a:xfrm>
            <a:off x="1694378" y="2023166"/>
            <a:ext cx="18288" cy="1828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/>
          <p:nvPr/>
        </p:nvSpPr>
        <p:spPr>
          <a:xfrm>
            <a:off x="1957615" y="2114086"/>
            <a:ext cx="18288" cy="1828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/>
          <p:nvPr/>
        </p:nvSpPr>
        <p:spPr>
          <a:xfrm>
            <a:off x="2019095" y="2248302"/>
            <a:ext cx="18288" cy="1828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1991097" y="2329120"/>
            <a:ext cx="18288" cy="18288"/>
          </a:xfrm>
          <a:prstGeom prst="ellipse">
            <a:avLst/>
          </a:prstGeom>
          <a:solidFill>
            <a:srgbClr val="660066"/>
          </a:solidFill>
          <a:ln>
            <a:solidFill>
              <a:srgbClr val="66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1" name="Group 230"/>
          <p:cNvGrpSpPr/>
          <p:nvPr/>
        </p:nvGrpSpPr>
        <p:grpSpPr>
          <a:xfrm>
            <a:off x="781665" y="1994257"/>
            <a:ext cx="914400" cy="914400"/>
            <a:chOff x="6224899" y="1646469"/>
            <a:chExt cx="914400" cy="914400"/>
          </a:xfrm>
        </p:grpSpPr>
        <p:sp>
          <p:nvSpPr>
            <p:cNvPr id="232" name="Flowchart: Connector 9"/>
            <p:cNvSpPr/>
            <p:nvPr/>
          </p:nvSpPr>
          <p:spPr>
            <a:xfrm>
              <a:off x="6224899" y="1646469"/>
              <a:ext cx="914400" cy="914400"/>
            </a:xfrm>
            <a:prstGeom prst="flowChartConnector">
              <a:avLst/>
            </a:prstGeom>
            <a:solidFill>
              <a:srgbClr val="660066">
                <a:alpha val="10000"/>
              </a:srgbClr>
            </a:solidFill>
            <a:ln w="0"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233" name="Oval 232"/>
            <p:cNvSpPr/>
            <p:nvPr/>
          </p:nvSpPr>
          <p:spPr>
            <a:xfrm>
              <a:off x="6677527" y="2099097"/>
              <a:ext cx="18288" cy="18288"/>
            </a:xfrm>
            <a:prstGeom prst="ellipse">
              <a:avLst/>
            </a:prstGeom>
            <a:solidFill>
              <a:srgbClr val="660066"/>
            </a:solidFill>
            <a:ln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40356" y="2568844"/>
            <a:ext cx="424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660066"/>
                </a:solidFill>
              </a:rPr>
              <a:t>in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116606" y="2905394"/>
            <a:ext cx="5822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tx2"/>
                </a:solidFill>
              </a:rPr>
              <a:t>out</a:t>
            </a:r>
          </a:p>
        </p:txBody>
      </p:sp>
      <p:sp>
        <p:nvSpPr>
          <p:cNvPr id="235" name="Content Placeholder 2"/>
          <p:cNvSpPr txBox="1">
            <a:spLocks/>
          </p:cNvSpPr>
          <p:nvPr/>
        </p:nvSpPr>
        <p:spPr bwMode="auto">
          <a:xfrm>
            <a:off x="-407580" y="1203037"/>
            <a:ext cx="3886226" cy="90978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lvl="1"/>
            <a:r>
              <a:rPr lang="en-US" sz="1400" dirty="0">
                <a:solidFill>
                  <a:prstClr val="black"/>
                </a:solidFill>
                <a:latin typeface="Calibri"/>
              </a:rPr>
              <a:t>Problem: find random point that is</a:t>
            </a:r>
          </a:p>
          <a:p>
            <a:pPr lvl="2"/>
            <a:r>
              <a:rPr lang="en-US" sz="1200" dirty="0">
                <a:solidFill>
                  <a:prstClr val="black"/>
                </a:solidFill>
                <a:latin typeface="Calibri"/>
              </a:rPr>
              <a:t>Outside all </a:t>
            </a:r>
            <a:r>
              <a:rPr lang="en-US" sz="1200" dirty="0">
                <a:solidFill>
                  <a:schemeClr val="tx2"/>
                </a:solidFill>
                <a:latin typeface="Calibri"/>
              </a:rPr>
              <a:t>sample disks</a:t>
            </a:r>
          </a:p>
          <a:p>
            <a:pPr lvl="2"/>
            <a:r>
              <a:rPr lang="en-US" sz="1200" dirty="0">
                <a:solidFill>
                  <a:prstClr val="black"/>
                </a:solidFill>
                <a:latin typeface="Calibri"/>
              </a:rPr>
              <a:t>Inside all </a:t>
            </a:r>
            <a:r>
              <a:rPr lang="en-US" sz="1200" dirty="0">
                <a:solidFill>
                  <a:srgbClr val="660066"/>
                </a:solidFill>
                <a:latin typeface="Calibri"/>
              </a:rPr>
              <a:t>dual corner disks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273026" y="1539974"/>
            <a:ext cx="923636" cy="508000"/>
            <a:chOff x="6251864" y="1599045"/>
            <a:chExt cx="923636" cy="508000"/>
          </a:xfrm>
        </p:grpSpPr>
        <p:grpSp>
          <p:nvGrpSpPr>
            <p:cNvPr id="9" name="Group 8"/>
            <p:cNvGrpSpPr/>
            <p:nvPr/>
          </p:nvGrpSpPr>
          <p:grpSpPr>
            <a:xfrm>
              <a:off x="6259868" y="1605239"/>
              <a:ext cx="901227" cy="487899"/>
              <a:chOff x="845050" y="4428104"/>
              <a:chExt cx="901227" cy="487899"/>
            </a:xfrm>
          </p:grpSpPr>
          <p:sp>
            <p:nvSpPr>
              <p:cNvPr id="111" name="Oval 110"/>
              <p:cNvSpPr/>
              <p:nvPr/>
            </p:nvSpPr>
            <p:spPr>
              <a:xfrm>
                <a:off x="1157642" y="4897715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/>
              <p:cNvSpPr/>
              <p:nvPr/>
            </p:nvSpPr>
            <p:spPr>
              <a:xfrm>
                <a:off x="944052" y="4851533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/>
              <p:cNvSpPr/>
              <p:nvPr/>
            </p:nvSpPr>
            <p:spPr>
              <a:xfrm>
                <a:off x="845050" y="4632458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4" name="Oval 113"/>
              <p:cNvSpPr/>
              <p:nvPr/>
            </p:nvSpPr>
            <p:spPr>
              <a:xfrm>
                <a:off x="963391" y="4450905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/>
              <p:cNvSpPr/>
              <p:nvPr/>
            </p:nvSpPr>
            <p:spPr>
              <a:xfrm>
                <a:off x="1403272" y="4428104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1666509" y="4519024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/>
              <p:cNvSpPr/>
              <p:nvPr/>
            </p:nvSpPr>
            <p:spPr>
              <a:xfrm>
                <a:off x="1727989" y="465324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/>
              <p:cNvSpPr/>
              <p:nvPr/>
            </p:nvSpPr>
            <p:spPr>
              <a:xfrm>
                <a:off x="1699991" y="4734058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/>
            <p:cNvSpPr/>
            <p:nvPr/>
          </p:nvSpPr>
          <p:spPr bwMode="auto">
            <a:xfrm>
              <a:off x="6251864" y="1599045"/>
              <a:ext cx="923636" cy="508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236" name="Group 235"/>
          <p:cNvGrpSpPr/>
          <p:nvPr/>
        </p:nvGrpSpPr>
        <p:grpSpPr>
          <a:xfrm>
            <a:off x="4286880" y="2165737"/>
            <a:ext cx="923636" cy="508000"/>
            <a:chOff x="6251864" y="1599045"/>
            <a:chExt cx="923636" cy="508000"/>
          </a:xfrm>
        </p:grpSpPr>
        <p:grpSp>
          <p:nvGrpSpPr>
            <p:cNvPr id="237" name="Group 236"/>
            <p:cNvGrpSpPr/>
            <p:nvPr/>
          </p:nvGrpSpPr>
          <p:grpSpPr>
            <a:xfrm>
              <a:off x="6259868" y="1605239"/>
              <a:ext cx="901227" cy="487899"/>
              <a:chOff x="845050" y="4428104"/>
              <a:chExt cx="901227" cy="487899"/>
            </a:xfrm>
          </p:grpSpPr>
          <p:sp>
            <p:nvSpPr>
              <p:cNvPr id="239" name="Oval 238"/>
              <p:cNvSpPr/>
              <p:nvPr/>
            </p:nvSpPr>
            <p:spPr>
              <a:xfrm>
                <a:off x="1157642" y="4897715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0" name="Oval 239"/>
              <p:cNvSpPr/>
              <p:nvPr/>
            </p:nvSpPr>
            <p:spPr>
              <a:xfrm>
                <a:off x="944052" y="4851533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1" name="Oval 240"/>
              <p:cNvSpPr/>
              <p:nvPr/>
            </p:nvSpPr>
            <p:spPr>
              <a:xfrm>
                <a:off x="845050" y="4632458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2" name="Oval 241"/>
              <p:cNvSpPr/>
              <p:nvPr/>
            </p:nvSpPr>
            <p:spPr>
              <a:xfrm>
                <a:off x="963391" y="4450905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3" name="Oval 242"/>
              <p:cNvSpPr/>
              <p:nvPr/>
            </p:nvSpPr>
            <p:spPr>
              <a:xfrm>
                <a:off x="1403272" y="4428104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4" name="Oval 243"/>
              <p:cNvSpPr/>
              <p:nvPr/>
            </p:nvSpPr>
            <p:spPr>
              <a:xfrm>
                <a:off x="1666509" y="4519024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6" name="Oval 245"/>
              <p:cNvSpPr/>
              <p:nvPr/>
            </p:nvSpPr>
            <p:spPr>
              <a:xfrm>
                <a:off x="1727989" y="4653240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7" name="Oval 246"/>
              <p:cNvSpPr/>
              <p:nvPr/>
            </p:nvSpPr>
            <p:spPr>
              <a:xfrm>
                <a:off x="1699991" y="4734058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38" name="Rectangle 237"/>
            <p:cNvSpPr/>
            <p:nvPr/>
          </p:nvSpPr>
          <p:spPr bwMode="auto">
            <a:xfrm>
              <a:off x="6251864" y="1599045"/>
              <a:ext cx="923636" cy="50800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cxnSp>
        <p:nvCxnSpPr>
          <p:cNvPr id="15" name="Straight Connector 14"/>
          <p:cNvCxnSpPr/>
          <p:nvPr/>
        </p:nvCxnSpPr>
        <p:spPr bwMode="auto">
          <a:xfrm>
            <a:off x="4482287" y="2166604"/>
            <a:ext cx="3175" cy="5048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8" name="Straight Connector 247"/>
          <p:cNvCxnSpPr/>
          <p:nvPr/>
        </p:nvCxnSpPr>
        <p:spPr bwMode="auto">
          <a:xfrm>
            <a:off x="4669612" y="2169779"/>
            <a:ext cx="3175" cy="5048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9" name="Straight Connector 248"/>
          <p:cNvCxnSpPr/>
          <p:nvPr/>
        </p:nvCxnSpPr>
        <p:spPr bwMode="auto">
          <a:xfrm>
            <a:off x="4856937" y="2163429"/>
            <a:ext cx="3175" cy="5048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0" name="Straight Connector 249"/>
          <p:cNvCxnSpPr/>
          <p:nvPr/>
        </p:nvCxnSpPr>
        <p:spPr bwMode="auto">
          <a:xfrm>
            <a:off x="5041087" y="2163429"/>
            <a:ext cx="3175" cy="5048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1" name="Straight Connector 250"/>
          <p:cNvCxnSpPr/>
          <p:nvPr/>
        </p:nvCxnSpPr>
        <p:spPr bwMode="auto">
          <a:xfrm flipH="1">
            <a:off x="4291787" y="2341229"/>
            <a:ext cx="9144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2" name="Straight Connector 251"/>
          <p:cNvCxnSpPr/>
          <p:nvPr/>
        </p:nvCxnSpPr>
        <p:spPr bwMode="auto">
          <a:xfrm flipH="1">
            <a:off x="4288612" y="2509504"/>
            <a:ext cx="914400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Rectangle 23"/>
          <p:cNvSpPr/>
          <p:nvPr/>
        </p:nvSpPr>
        <p:spPr bwMode="auto">
          <a:xfrm>
            <a:off x="4410518" y="3140296"/>
            <a:ext cx="180975" cy="18288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24099" y="1224073"/>
            <a:ext cx="3762568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>
                <a:latin typeface="Calibri"/>
                <a:cs typeface="Calibri"/>
              </a:rPr>
              <a:t>Simple MPS Algorithm Details 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Initialize</a:t>
            </a:r>
          </a:p>
          <a:p>
            <a:r>
              <a:rPr lang="en-US" sz="1400" dirty="0">
                <a:latin typeface="Calibri"/>
                <a:cs typeface="Calibri"/>
              </a:rPr>
              <a:t>    bounding box of purple corners</a:t>
            </a:r>
          </a:p>
          <a:p>
            <a:r>
              <a:rPr lang="en-US" sz="1400" dirty="0">
                <a:latin typeface="Calibri"/>
                <a:cs typeface="Calibri"/>
              </a:rPr>
              <a:t>    subdivide into squares - diagonal about radius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endParaRPr lang="en-US" sz="1400" dirty="0">
              <a:latin typeface="Calibri"/>
              <a:cs typeface="Calibri"/>
            </a:endParaRP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  Sample C | #square times |</a:t>
            </a:r>
          </a:p>
          <a:p>
            <a:r>
              <a:rPr lang="en-US" sz="1400" dirty="0">
                <a:latin typeface="Calibri"/>
                <a:cs typeface="Calibri"/>
              </a:rPr>
              <a:t>      pick a square</a:t>
            </a:r>
          </a:p>
          <a:p>
            <a:r>
              <a:rPr lang="en-US" sz="1400" dirty="0">
                <a:latin typeface="Calibri"/>
                <a:cs typeface="Calibri"/>
              </a:rPr>
              <a:t>      pick a point p in the square</a:t>
            </a:r>
          </a:p>
          <a:p>
            <a:r>
              <a:rPr lang="en-US" sz="1400" dirty="0">
                <a:latin typeface="Calibri"/>
                <a:cs typeface="Calibri"/>
              </a:rPr>
              <a:t>      keep p if out-blue &amp; in-purple</a:t>
            </a:r>
          </a:p>
          <a:p>
            <a:r>
              <a:rPr lang="en-US" sz="1400" dirty="0">
                <a:latin typeface="Calibri"/>
                <a:cs typeface="Calibri"/>
              </a:rPr>
              <a:t>        success!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  Refine all squares</a:t>
            </a:r>
          </a:p>
          <a:p>
            <a:r>
              <a:rPr lang="en-US" sz="1400" dirty="0">
                <a:latin typeface="Calibri"/>
                <a:cs typeface="Calibri"/>
              </a:rPr>
              <a:t>      center inside a blue circle - delta? Discard</a:t>
            </a:r>
          </a:p>
          <a:p>
            <a:r>
              <a:rPr lang="en-US" sz="1400" dirty="0">
                <a:latin typeface="Calibri"/>
                <a:cs typeface="Calibri"/>
              </a:rPr>
              <a:t>      center outside a purple circle + delta? Discard</a:t>
            </a:r>
          </a:p>
          <a:p>
            <a:endParaRPr lang="en-US" sz="1400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Repeat with refined squares</a:t>
            </a:r>
            <a:br>
              <a:rPr lang="en-US" sz="1400" dirty="0">
                <a:latin typeface="Calibri"/>
                <a:cs typeface="Calibri"/>
              </a:rPr>
            </a:br>
            <a:endParaRPr lang="en-US" sz="1400" dirty="0">
              <a:latin typeface="Calibri"/>
              <a:cs typeface="Calibri"/>
            </a:endParaRPr>
          </a:p>
          <a:p>
            <a:r>
              <a:rPr lang="en-US" sz="1400" dirty="0">
                <a:latin typeface="Calibri"/>
                <a:cs typeface="Calibri"/>
              </a:rPr>
              <a:t>                No squares? No replacement exists</a:t>
            </a:r>
          </a:p>
        </p:txBody>
      </p:sp>
      <p:sp>
        <p:nvSpPr>
          <p:cNvPr id="254" name="Oval 253"/>
          <p:cNvSpPr/>
          <p:nvPr/>
        </p:nvSpPr>
        <p:spPr>
          <a:xfrm>
            <a:off x="4518633" y="3222705"/>
            <a:ext cx="12790" cy="12760"/>
          </a:xfrm>
          <a:prstGeom prst="ellipse">
            <a:avLst/>
          </a:prstGeom>
          <a:solidFill>
            <a:srgbClr val="008000"/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7" name="Group 256"/>
          <p:cNvGrpSpPr/>
          <p:nvPr/>
        </p:nvGrpSpPr>
        <p:grpSpPr>
          <a:xfrm>
            <a:off x="3668996" y="2902750"/>
            <a:ext cx="914400" cy="914400"/>
            <a:chOff x="6224899" y="1646469"/>
            <a:chExt cx="914400" cy="914400"/>
          </a:xfrm>
        </p:grpSpPr>
        <p:sp>
          <p:nvSpPr>
            <p:cNvPr id="258" name="Flowchart: Connector 9"/>
            <p:cNvSpPr/>
            <p:nvPr/>
          </p:nvSpPr>
          <p:spPr>
            <a:xfrm>
              <a:off x="6224899" y="1646469"/>
              <a:ext cx="914400" cy="914400"/>
            </a:xfrm>
            <a:prstGeom prst="flowChartConnector">
              <a:avLst/>
            </a:prstGeom>
            <a:solidFill>
              <a:srgbClr val="660066">
                <a:alpha val="10000"/>
              </a:srgbClr>
            </a:solidFill>
            <a:ln w="0"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259" name="Oval 258"/>
            <p:cNvSpPr/>
            <p:nvPr/>
          </p:nvSpPr>
          <p:spPr>
            <a:xfrm>
              <a:off x="6677527" y="2099097"/>
              <a:ext cx="18288" cy="18288"/>
            </a:xfrm>
            <a:prstGeom prst="ellipse">
              <a:avLst/>
            </a:prstGeom>
            <a:solidFill>
              <a:srgbClr val="660066"/>
            </a:solidFill>
            <a:ln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0" name="TextBox 259"/>
          <p:cNvSpPr txBox="1"/>
          <p:nvPr/>
        </p:nvSpPr>
        <p:spPr>
          <a:xfrm>
            <a:off x="3911640" y="3796315"/>
            <a:ext cx="404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rgbClr val="660066"/>
                </a:solidFill>
              </a:rPr>
              <a:t>in?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4760031" y="3878865"/>
            <a:ext cx="4937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tx2"/>
                </a:solidFill>
              </a:rPr>
              <a:t>out?</a:t>
            </a:r>
          </a:p>
        </p:txBody>
      </p:sp>
      <p:grpSp>
        <p:nvGrpSpPr>
          <p:cNvPr id="262" name="Group 261"/>
          <p:cNvGrpSpPr/>
          <p:nvPr/>
        </p:nvGrpSpPr>
        <p:grpSpPr>
          <a:xfrm>
            <a:off x="4488341" y="3016372"/>
            <a:ext cx="914400" cy="914400"/>
            <a:chOff x="1014942" y="4818592"/>
            <a:chExt cx="914400" cy="914400"/>
          </a:xfrm>
        </p:grpSpPr>
        <p:sp>
          <p:nvSpPr>
            <p:cNvPr id="263" name="Flowchart: Connector 9"/>
            <p:cNvSpPr/>
            <p:nvPr/>
          </p:nvSpPr>
          <p:spPr>
            <a:xfrm>
              <a:off x="1014942" y="4818592"/>
              <a:ext cx="914400" cy="914400"/>
            </a:xfrm>
            <a:prstGeom prst="flowChartConnector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 w="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264" name="Oval 263"/>
            <p:cNvSpPr/>
            <p:nvPr/>
          </p:nvSpPr>
          <p:spPr>
            <a:xfrm>
              <a:off x="1467570" y="5271220"/>
              <a:ext cx="18288" cy="18288"/>
            </a:xfrm>
            <a:prstGeom prst="ellipse">
              <a:avLst/>
            </a:prstGeom>
            <a:solidFill>
              <a:schemeClr val="tx2"/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5" name="Group 304"/>
          <p:cNvGrpSpPr/>
          <p:nvPr/>
        </p:nvGrpSpPr>
        <p:grpSpPr>
          <a:xfrm>
            <a:off x="3078493" y="5466974"/>
            <a:ext cx="1295246" cy="1233546"/>
            <a:chOff x="4299318" y="5500144"/>
            <a:chExt cx="1295246" cy="1233546"/>
          </a:xfrm>
        </p:grpSpPr>
        <p:sp>
          <p:nvSpPr>
            <p:cNvPr id="279" name="Rectangle 278"/>
            <p:cNvSpPr/>
            <p:nvPr/>
          </p:nvSpPr>
          <p:spPr bwMode="auto">
            <a:xfrm>
              <a:off x="5379221" y="5725581"/>
              <a:ext cx="91440" cy="9144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grpSp>
          <p:nvGrpSpPr>
            <p:cNvPr id="280" name="Group 279"/>
            <p:cNvGrpSpPr/>
            <p:nvPr/>
          </p:nvGrpSpPr>
          <p:grpSpPr>
            <a:xfrm>
              <a:off x="4484930" y="5544594"/>
              <a:ext cx="914400" cy="914400"/>
              <a:chOff x="6224899" y="1646469"/>
              <a:chExt cx="914400" cy="914400"/>
            </a:xfrm>
          </p:grpSpPr>
          <p:sp>
            <p:nvSpPr>
              <p:cNvPr id="281" name="Flowchart: Connector 9"/>
              <p:cNvSpPr/>
              <p:nvPr/>
            </p:nvSpPr>
            <p:spPr>
              <a:xfrm>
                <a:off x="6224899" y="1646469"/>
                <a:ext cx="914400" cy="914400"/>
              </a:xfrm>
              <a:prstGeom prst="flowChartConnector">
                <a:avLst/>
              </a:prstGeom>
              <a:solidFill>
                <a:srgbClr val="660066">
                  <a:alpha val="10000"/>
                </a:srgbClr>
              </a:solidFill>
              <a:ln w="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2" name="Oval 281"/>
              <p:cNvSpPr/>
              <p:nvPr/>
            </p:nvSpPr>
            <p:spPr>
              <a:xfrm>
                <a:off x="6677527" y="2099097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3" name="Group 282"/>
            <p:cNvGrpSpPr/>
            <p:nvPr/>
          </p:nvGrpSpPr>
          <p:grpSpPr>
            <a:xfrm>
              <a:off x="4440480" y="5500144"/>
              <a:ext cx="1005840" cy="1005840"/>
              <a:chOff x="6224899" y="1646469"/>
              <a:chExt cx="914400" cy="914400"/>
            </a:xfrm>
          </p:grpSpPr>
          <p:sp>
            <p:nvSpPr>
              <p:cNvPr id="284" name="Flowchart: Connector 9"/>
              <p:cNvSpPr/>
              <p:nvPr/>
            </p:nvSpPr>
            <p:spPr>
              <a:xfrm>
                <a:off x="6224899" y="1646469"/>
                <a:ext cx="914400" cy="914400"/>
              </a:xfrm>
              <a:prstGeom prst="flowChartConnector">
                <a:avLst/>
              </a:prstGeom>
              <a:noFill/>
              <a:ln w="1905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5" name="Oval 284"/>
              <p:cNvSpPr/>
              <p:nvPr/>
            </p:nvSpPr>
            <p:spPr>
              <a:xfrm>
                <a:off x="6677527" y="2099097"/>
                <a:ext cx="18288" cy="18288"/>
              </a:xfrm>
              <a:prstGeom prst="ellipse">
                <a:avLst/>
              </a:prstGeom>
              <a:solidFill>
                <a:srgbClr val="660066"/>
              </a:solidFill>
              <a:ln w="19050">
                <a:solidFill>
                  <a:srgbClr val="66006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7" name="Oval 286"/>
            <p:cNvSpPr/>
            <p:nvPr/>
          </p:nvSpPr>
          <p:spPr>
            <a:xfrm>
              <a:off x="5417117" y="5766124"/>
              <a:ext cx="12790" cy="1276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TextBox 287"/>
            <p:cNvSpPr txBox="1"/>
            <p:nvPr/>
          </p:nvSpPr>
          <p:spPr>
            <a:xfrm>
              <a:off x="4299318" y="6456691"/>
              <a:ext cx="12952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rgbClr val="660066"/>
                  </a:solidFill>
                </a:rPr>
                <a:t>!in then discard </a:t>
              </a:r>
              <a:r>
                <a:rPr lang="en-US" sz="1200">
                  <a:latin typeface="Wingdings"/>
                  <a:ea typeface="Wingdings"/>
                  <a:cs typeface="Wingdings"/>
                  <a:sym typeface="Wingdings"/>
                </a:rPr>
                <a:t></a:t>
              </a:r>
              <a:endParaRPr lang="en-US" sz="1200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4290532" y="4562990"/>
            <a:ext cx="777875" cy="189230"/>
            <a:chOff x="3764811" y="3824619"/>
            <a:chExt cx="777875" cy="189230"/>
          </a:xfrm>
        </p:grpSpPr>
        <p:grpSp>
          <p:nvGrpSpPr>
            <p:cNvPr id="31" name="Group 30"/>
            <p:cNvGrpSpPr/>
            <p:nvPr/>
          </p:nvGrpSpPr>
          <p:grpSpPr>
            <a:xfrm>
              <a:off x="4361711" y="3824619"/>
              <a:ext cx="180975" cy="182880"/>
              <a:chOff x="4399811" y="4078619"/>
              <a:chExt cx="180975" cy="182880"/>
            </a:xfrm>
          </p:grpSpPr>
          <p:sp>
            <p:nvSpPr>
              <p:cNvPr id="265" name="Rectangle 264"/>
              <p:cNvSpPr/>
              <p:nvPr/>
            </p:nvSpPr>
            <p:spPr bwMode="auto">
              <a:xfrm>
                <a:off x="4399811" y="4078619"/>
                <a:ext cx="180975" cy="182880"/>
              </a:xfrm>
              <a:prstGeom prst="rect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cxnSp>
            <p:nvCxnSpPr>
              <p:cNvPr id="28" name="Straight Connector 27"/>
              <p:cNvCxnSpPr>
                <a:stCxn id="265" idx="0"/>
                <a:endCxn id="265" idx="2"/>
              </p:cNvCxnSpPr>
              <p:nvPr/>
            </p:nvCxnSpPr>
            <p:spPr bwMode="auto">
              <a:xfrm>
                <a:off x="4490299" y="4078619"/>
                <a:ext cx="0" cy="18288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30" name="Straight Connector 29"/>
              <p:cNvCxnSpPr>
                <a:stCxn id="265" idx="1"/>
                <a:endCxn id="265" idx="3"/>
              </p:cNvCxnSpPr>
              <p:nvPr/>
            </p:nvCxnSpPr>
            <p:spPr bwMode="auto">
              <a:xfrm>
                <a:off x="4399811" y="4170059"/>
                <a:ext cx="180975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cxnSp>
          <p:nvCxnSpPr>
            <p:cNvPr id="290" name="Straight Arrow Connector 289"/>
            <p:cNvCxnSpPr/>
            <p:nvPr/>
          </p:nvCxnSpPr>
          <p:spPr bwMode="auto">
            <a:xfrm flipV="1">
              <a:off x="4000501" y="3916694"/>
              <a:ext cx="315173" cy="10781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292" name="Rectangle 291"/>
            <p:cNvSpPr/>
            <p:nvPr/>
          </p:nvSpPr>
          <p:spPr bwMode="auto">
            <a:xfrm>
              <a:off x="3764811" y="3830969"/>
              <a:ext cx="180975" cy="18288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295" name="TextBox 294"/>
          <p:cNvSpPr txBox="1"/>
          <p:nvPr/>
        </p:nvSpPr>
        <p:spPr>
          <a:xfrm>
            <a:off x="4174059" y="3901312"/>
            <a:ext cx="723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solidFill>
                  <a:schemeClr val="accent2"/>
                </a:solidFill>
              </a:rPr>
              <a:t>success</a:t>
            </a:r>
          </a:p>
        </p:txBody>
      </p:sp>
      <p:cxnSp>
        <p:nvCxnSpPr>
          <p:cNvPr id="71" name="Straight Connector 70"/>
          <p:cNvCxnSpPr/>
          <p:nvPr/>
        </p:nvCxnSpPr>
        <p:spPr bwMode="auto">
          <a:xfrm>
            <a:off x="5511209" y="3042093"/>
            <a:ext cx="35442" cy="22860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04" name="Group 303"/>
          <p:cNvGrpSpPr/>
          <p:nvPr/>
        </p:nvGrpSpPr>
        <p:grpSpPr>
          <a:xfrm>
            <a:off x="4211063" y="4943273"/>
            <a:ext cx="1372191" cy="1171315"/>
            <a:chOff x="2983698" y="5560952"/>
            <a:chExt cx="1372191" cy="1171315"/>
          </a:xfrm>
        </p:grpSpPr>
        <p:grpSp>
          <p:nvGrpSpPr>
            <p:cNvPr id="274" name="Group 273"/>
            <p:cNvGrpSpPr/>
            <p:nvPr/>
          </p:nvGrpSpPr>
          <p:grpSpPr>
            <a:xfrm>
              <a:off x="3172532" y="5560952"/>
              <a:ext cx="914400" cy="914400"/>
              <a:chOff x="1014942" y="4818592"/>
              <a:chExt cx="914400" cy="914400"/>
            </a:xfrm>
          </p:grpSpPr>
          <p:sp>
            <p:nvSpPr>
              <p:cNvPr id="27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6" name="Oval 27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8" name="TextBox 277"/>
            <p:cNvSpPr txBox="1"/>
            <p:nvPr/>
          </p:nvSpPr>
          <p:spPr>
            <a:xfrm>
              <a:off x="2983698" y="6455268"/>
              <a:ext cx="13721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>
                  <a:solidFill>
                    <a:schemeClr val="tx2"/>
                  </a:solidFill>
                </a:rPr>
                <a:t>!out then discard </a:t>
              </a:r>
              <a:r>
                <a:rPr lang="en-US" sz="1200">
                  <a:solidFill>
                    <a:srgbClr val="000000"/>
                  </a:solidFill>
                  <a:latin typeface="Wingdings"/>
                  <a:ea typeface="Wingdings"/>
                  <a:cs typeface="Wingdings"/>
                  <a:sym typeface="Wingdings"/>
                </a:rPr>
                <a:t></a:t>
              </a: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302" name="Flowchart: Connector 9"/>
            <p:cNvSpPr>
              <a:spLocks noChangeAspect="1"/>
            </p:cNvSpPr>
            <p:nvPr/>
          </p:nvSpPr>
          <p:spPr>
            <a:xfrm>
              <a:off x="3230571" y="5615816"/>
              <a:ext cx="795528" cy="795528"/>
            </a:xfrm>
            <a:prstGeom prst="flowChartConnector">
              <a:avLst/>
            </a:prstGeom>
            <a:noFill/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/>
            <p:cNvSpPr/>
            <p:nvPr/>
          </p:nvSpPr>
          <p:spPr>
            <a:xfrm>
              <a:off x="3380624" y="5728152"/>
              <a:ext cx="12790" cy="1276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7" name="Rectangle 276"/>
            <p:cNvSpPr/>
            <p:nvPr/>
          </p:nvSpPr>
          <p:spPr bwMode="auto">
            <a:xfrm>
              <a:off x="3342728" y="5688642"/>
              <a:ext cx="91440" cy="91440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8551460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Well Did We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 1: Number of points = density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62080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575050" y="397504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srgbClr val="FF0000"/>
                </a:solidFill>
                <a:latin typeface="Calibri"/>
              </a:rPr>
              <a:t>Sift-&gt;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/>
          <a:lstStyle/>
          <a:p>
            <a:r>
              <a:rPr lang="en-US"/>
              <a:t>Sifting Improves All </a:t>
            </a:r>
            <a:br>
              <a:rPr lang="en-US"/>
            </a:br>
            <a:r>
              <a:rPr lang="en-US"/>
              <a:t>Uniform Test Distributions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66750" y="1181100"/>
            <a:ext cx="7772400" cy="546100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000">
                <a:solidFill>
                  <a:prstClr val="black"/>
                </a:solidFill>
                <a:latin typeface="Calibri"/>
              </a:rPr>
              <a:t>Sifting improves, MPS, DR and </a:t>
            </a:r>
            <a:r>
              <a:rPr lang="en-US" sz="2000">
                <a:solidFill>
                  <a:srgbClr val="FF0000"/>
                </a:solidFill>
                <a:latin typeface="Calibri"/>
              </a:rPr>
              <a:t>further improves ODR</a:t>
            </a:r>
          </a:p>
        </p:txBody>
      </p:sp>
      <p:pic>
        <p:nvPicPr>
          <p:cNvPr id="11" name="Picture 10" descr="Delaunay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8250" y="4387850"/>
            <a:ext cx="2470262" cy="2476500"/>
          </a:xfrm>
          <a:prstGeom prst="rect">
            <a:avLst/>
          </a:prstGeom>
        </p:spPr>
      </p:pic>
      <p:pic>
        <p:nvPicPr>
          <p:cNvPr id="12" name="Picture 11" descr="Delaunay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0200" y="4381613"/>
            <a:ext cx="2470150" cy="247638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75583" y="5433368"/>
            <a:ext cx="54113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DR</a:t>
            </a:r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663633" y="5306368"/>
            <a:ext cx="6615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sDR</a:t>
            </a:r>
            <a:endParaRPr lang="en-US"/>
          </a:p>
        </p:txBody>
      </p:sp>
      <p:pic>
        <p:nvPicPr>
          <p:cNvPr id="14" name="Picture 13" descr="Delaunay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1900" y="1543049"/>
            <a:ext cx="2470150" cy="2476387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59683" y="2436168"/>
            <a:ext cx="7482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MPS</a:t>
            </a:r>
            <a:endParaRPr lang="en-US"/>
          </a:p>
        </p:txBody>
      </p:sp>
      <p:pic>
        <p:nvPicPr>
          <p:cNvPr id="15" name="Picture 14" descr="Delaunay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3850" y="1574800"/>
            <a:ext cx="2451388" cy="24638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650933" y="2563168"/>
            <a:ext cx="86859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prstClr val="black"/>
                </a:solidFill>
                <a:latin typeface="Calibri"/>
              </a:rPr>
              <a:t>sMPS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649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3000">
        <p:cut/>
      </p:transition>
    </mc:Choice>
    <mc:Fallback xmlns="">
      <p:transition xmlns:p14="http://schemas.microsoft.com/office/powerpoint/2010/main" advClick="0" advTm="13000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7150"/>
            <a:ext cx="7772400" cy="1238250"/>
          </a:xfrm>
        </p:spPr>
        <p:txBody>
          <a:bodyPr/>
          <a:lstStyle/>
          <a:p>
            <a:r>
              <a:rPr lang="en-US"/>
              <a:t>Sifting reduces</a:t>
            </a:r>
            <a:br>
              <a:rPr lang="en-US"/>
            </a:br>
            <a:r>
              <a:rPr lang="en-US"/>
              <a:t> number of points by ≈25%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0" y="1263650"/>
            <a:ext cx="2438400" cy="927100"/>
          </a:xfrm>
        </p:spPr>
        <p:txBody>
          <a:bodyPr/>
          <a:lstStyle/>
          <a:p>
            <a:pPr marL="171450" indent="0">
              <a:buNone/>
            </a:pPr>
            <a:r>
              <a:rPr lang="en-US" sz="1400"/>
              <a:t>density bracketed by non-random tilings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92200" y="3384550"/>
            <a:ext cx="4495800" cy="1847850"/>
            <a:chOff x="6553200" y="2819400"/>
            <a:chExt cx="2286000" cy="914400"/>
          </a:xfrm>
        </p:grpSpPr>
        <p:sp>
          <p:nvSpPr>
            <p:cNvPr id="5" name="Rectangle 4"/>
            <p:cNvSpPr/>
            <p:nvPr/>
          </p:nvSpPr>
          <p:spPr>
            <a:xfrm>
              <a:off x="6553200" y="2819400"/>
              <a:ext cx="2286000" cy="4572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553200" y="3276600"/>
              <a:ext cx="22860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en-US" sz="1800">
                <a:solidFill>
                  <a:prstClr val="white"/>
                </a:solidFill>
                <a:latin typeface="Calibri"/>
              </a:endParaRPr>
            </a:p>
          </p:txBody>
        </p: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549" y="1460500"/>
            <a:ext cx="4969287" cy="4711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050" y="3639072"/>
            <a:ext cx="8745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50" y="4464572"/>
            <a:ext cx="916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sifted</a:t>
            </a:r>
          </a:p>
        </p:txBody>
      </p:sp>
      <p:sp>
        <p:nvSpPr>
          <p:cNvPr id="10" name="Rounded Rectangle 9"/>
          <p:cNvSpPr/>
          <p:nvPr/>
        </p:nvSpPr>
        <p:spPr bwMode="auto">
          <a:xfrm>
            <a:off x="3314700" y="1606550"/>
            <a:ext cx="1022350" cy="4292600"/>
          </a:xfrm>
          <a:prstGeom prst="round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78" name="Title 1"/>
          <p:cNvSpPr txBox="1">
            <a:spLocks/>
          </p:cNvSpPr>
          <p:nvPr/>
        </p:nvSpPr>
        <p:spPr bwMode="auto">
          <a:xfrm>
            <a:off x="5597525" y="3371850"/>
            <a:ext cx="1889125" cy="660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600" b="0"/>
              <a:t>r edge length</a:t>
            </a:r>
          </a:p>
        </p:txBody>
      </p:sp>
      <p:sp>
        <p:nvSpPr>
          <p:cNvPr id="79" name="Title 1"/>
          <p:cNvSpPr txBox="1">
            <a:spLocks/>
          </p:cNvSpPr>
          <p:nvPr/>
        </p:nvSpPr>
        <p:spPr bwMode="auto">
          <a:xfrm>
            <a:off x="5654675" y="3740150"/>
            <a:ext cx="1889125" cy="660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600" b="0"/>
              <a:t>r circumcircles</a:t>
            </a:r>
          </a:p>
        </p:txBody>
      </p:sp>
      <p:grpSp>
        <p:nvGrpSpPr>
          <p:cNvPr id="112" name="Group 111"/>
          <p:cNvGrpSpPr/>
          <p:nvPr/>
        </p:nvGrpSpPr>
        <p:grpSpPr>
          <a:xfrm>
            <a:off x="6264968" y="4616450"/>
            <a:ext cx="1116907" cy="1114425"/>
            <a:chOff x="6201468" y="4140200"/>
            <a:chExt cx="1116907" cy="1114425"/>
          </a:xfrm>
        </p:grpSpPr>
        <p:grpSp>
          <p:nvGrpSpPr>
            <p:cNvPr id="51" name="Group 50"/>
            <p:cNvGrpSpPr/>
            <p:nvPr/>
          </p:nvGrpSpPr>
          <p:grpSpPr>
            <a:xfrm>
              <a:off x="6267450" y="4210050"/>
              <a:ext cx="1050925" cy="1044575"/>
              <a:chOff x="3867150" y="3219450"/>
              <a:chExt cx="704850" cy="704850"/>
            </a:xfrm>
          </p:grpSpPr>
          <p:sp>
            <p:nvSpPr>
              <p:cNvPr id="52" name="Rectangle 51"/>
              <p:cNvSpPr>
                <a:spLocks noChangeAspect="1"/>
              </p:cNvSpPr>
              <p:nvPr/>
            </p:nvSpPr>
            <p:spPr>
              <a:xfrm>
                <a:off x="3867150" y="32194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53" name="Rectangle 52"/>
              <p:cNvSpPr>
                <a:spLocks noChangeAspect="1"/>
              </p:cNvSpPr>
              <p:nvPr/>
            </p:nvSpPr>
            <p:spPr>
              <a:xfrm>
                <a:off x="4102100" y="32194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54" name="Rectangle 53"/>
              <p:cNvSpPr>
                <a:spLocks noChangeAspect="1"/>
              </p:cNvSpPr>
              <p:nvPr/>
            </p:nvSpPr>
            <p:spPr>
              <a:xfrm>
                <a:off x="3867150" y="345440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55" name="Rectangle 54"/>
              <p:cNvSpPr>
                <a:spLocks noChangeAspect="1"/>
              </p:cNvSpPr>
              <p:nvPr/>
            </p:nvSpPr>
            <p:spPr>
              <a:xfrm>
                <a:off x="4102100" y="345440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56" name="Rectangle 55"/>
              <p:cNvSpPr>
                <a:spLocks noChangeAspect="1"/>
              </p:cNvSpPr>
              <p:nvPr/>
            </p:nvSpPr>
            <p:spPr>
              <a:xfrm>
                <a:off x="3867150" y="36893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57" name="Rectangle 56"/>
              <p:cNvSpPr>
                <a:spLocks noChangeAspect="1"/>
              </p:cNvSpPr>
              <p:nvPr/>
            </p:nvSpPr>
            <p:spPr>
              <a:xfrm>
                <a:off x="4102100" y="36893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58" name="Rectangle 57"/>
              <p:cNvSpPr>
                <a:spLocks noChangeAspect="1"/>
              </p:cNvSpPr>
              <p:nvPr/>
            </p:nvSpPr>
            <p:spPr>
              <a:xfrm>
                <a:off x="4337050" y="32194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59" name="Rectangle 58"/>
              <p:cNvSpPr>
                <a:spLocks noChangeAspect="1"/>
              </p:cNvSpPr>
              <p:nvPr/>
            </p:nvSpPr>
            <p:spPr>
              <a:xfrm>
                <a:off x="4337050" y="345440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60" name="Rectangle 59"/>
              <p:cNvSpPr>
                <a:spLocks noChangeAspect="1"/>
              </p:cNvSpPr>
              <p:nvPr/>
            </p:nvSpPr>
            <p:spPr>
              <a:xfrm>
                <a:off x="4337050" y="36893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</p:grpSp>
        <p:grpSp>
          <p:nvGrpSpPr>
            <p:cNvPr id="89" name="Group 88"/>
            <p:cNvGrpSpPr>
              <a:grpSpLocks noChangeAspect="1"/>
            </p:cNvGrpSpPr>
            <p:nvPr/>
          </p:nvGrpSpPr>
          <p:grpSpPr>
            <a:xfrm>
              <a:off x="6201468" y="4140200"/>
              <a:ext cx="502831" cy="501650"/>
              <a:chOff x="1014942" y="4818592"/>
              <a:chExt cx="914400" cy="914400"/>
            </a:xfrm>
          </p:grpSpPr>
          <p:sp>
            <p:nvSpPr>
              <p:cNvPr id="90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noFill/>
              <a:ln w="254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1" name="Group 110"/>
          <p:cNvGrpSpPr/>
          <p:nvPr/>
        </p:nvGrpSpPr>
        <p:grpSpPr>
          <a:xfrm>
            <a:off x="7144413" y="5613174"/>
            <a:ext cx="1593187" cy="1181325"/>
            <a:chOff x="7023763" y="5321074"/>
            <a:chExt cx="1593187" cy="1181325"/>
          </a:xfrm>
        </p:grpSpPr>
        <p:grpSp>
          <p:nvGrpSpPr>
            <p:cNvPr id="61" name="Group 60"/>
            <p:cNvGrpSpPr>
              <a:grpSpLocks noChangeAspect="1"/>
            </p:cNvGrpSpPr>
            <p:nvPr/>
          </p:nvGrpSpPr>
          <p:grpSpPr>
            <a:xfrm>
              <a:off x="7023763" y="5321074"/>
              <a:ext cx="1593187" cy="1181325"/>
              <a:chOff x="1866900" y="2596930"/>
              <a:chExt cx="1302004" cy="965419"/>
            </a:xfrm>
          </p:grpSpPr>
          <p:grpSp>
            <p:nvGrpSpPr>
              <p:cNvPr id="62" name="Group 61"/>
              <p:cNvGrpSpPr/>
              <p:nvPr/>
            </p:nvGrpSpPr>
            <p:grpSpPr>
              <a:xfrm>
                <a:off x="2054225" y="2596930"/>
                <a:ext cx="1114679" cy="317719"/>
                <a:chOff x="2054225" y="2596930"/>
                <a:chExt cx="1114679" cy="317719"/>
              </a:xfrm>
            </p:grpSpPr>
            <p:sp>
              <p:nvSpPr>
                <p:cNvPr id="75" name="Isosceles Triangle 74"/>
                <p:cNvSpPr>
                  <a:spLocks noChangeAspect="1"/>
                </p:cNvSpPr>
                <p:nvPr/>
              </p:nvSpPr>
              <p:spPr>
                <a:xfrm>
                  <a:off x="2800350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76" name="Isosceles Triangle 75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77" name="Isosceles Triangle 76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63" name="Group 62"/>
              <p:cNvGrpSpPr/>
              <p:nvPr/>
            </p:nvGrpSpPr>
            <p:grpSpPr>
              <a:xfrm>
                <a:off x="1866900" y="2920780"/>
                <a:ext cx="1114679" cy="317719"/>
                <a:chOff x="2054225" y="2596930"/>
                <a:chExt cx="1114679" cy="317719"/>
              </a:xfrm>
            </p:grpSpPr>
            <p:sp>
              <p:nvSpPr>
                <p:cNvPr id="72" name="Isosceles Triangle 71"/>
                <p:cNvSpPr>
                  <a:spLocks noChangeAspect="1"/>
                </p:cNvSpPr>
                <p:nvPr/>
              </p:nvSpPr>
              <p:spPr>
                <a:xfrm>
                  <a:off x="2800350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73" name="Isosceles Triangle 72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74" name="Isosceles Triangle 73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64" name="Group 63"/>
              <p:cNvGrpSpPr/>
              <p:nvPr/>
            </p:nvGrpSpPr>
            <p:grpSpPr>
              <a:xfrm>
                <a:off x="2054225" y="3244630"/>
                <a:ext cx="743204" cy="317719"/>
                <a:chOff x="2054225" y="2596930"/>
                <a:chExt cx="743204" cy="317719"/>
              </a:xfrm>
            </p:grpSpPr>
            <p:sp>
              <p:nvSpPr>
                <p:cNvPr id="70" name="Isosceles Triangle 69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71" name="Isosceles Triangle 70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cxnSp>
            <p:nvCxnSpPr>
              <p:cNvPr id="65" name="Straight Connector 64"/>
              <p:cNvCxnSpPr/>
              <p:nvPr/>
            </p:nvCxnSpPr>
            <p:spPr>
              <a:xfrm>
                <a:off x="1866900" y="3238499"/>
                <a:ext cx="187325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>
              <a:xfrm>
                <a:off x="2238502" y="2596930"/>
                <a:ext cx="374650" cy="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>
              <a:xfrm>
                <a:off x="2613152" y="2596930"/>
                <a:ext cx="371475" cy="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 flipV="1">
                <a:off x="2981579" y="2914649"/>
                <a:ext cx="187325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 flipV="1">
                <a:off x="2797429" y="3238499"/>
                <a:ext cx="184150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97"/>
            <p:cNvGrpSpPr>
              <a:grpSpLocks noChangeAspect="1"/>
            </p:cNvGrpSpPr>
            <p:nvPr/>
          </p:nvGrpSpPr>
          <p:grpSpPr>
            <a:xfrm>
              <a:off x="7687368" y="5334000"/>
              <a:ext cx="502831" cy="501650"/>
              <a:chOff x="1014942" y="4818592"/>
              <a:chExt cx="914400" cy="914400"/>
            </a:xfrm>
          </p:grpSpPr>
          <p:sp>
            <p:nvSpPr>
              <p:cNvPr id="9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noFill/>
              <a:ln w="254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24" name="Group 123"/>
          <p:cNvGrpSpPr/>
          <p:nvPr/>
        </p:nvGrpSpPr>
        <p:grpSpPr>
          <a:xfrm>
            <a:off x="7270750" y="2470150"/>
            <a:ext cx="787400" cy="781049"/>
            <a:chOff x="6934200" y="2324100"/>
            <a:chExt cx="787400" cy="781049"/>
          </a:xfrm>
        </p:grpSpPr>
        <p:grpSp>
          <p:nvGrpSpPr>
            <p:cNvPr id="28" name="Group 27"/>
            <p:cNvGrpSpPr/>
            <p:nvPr/>
          </p:nvGrpSpPr>
          <p:grpSpPr>
            <a:xfrm>
              <a:off x="6934200" y="2324100"/>
              <a:ext cx="787400" cy="781049"/>
              <a:chOff x="3867150" y="3219450"/>
              <a:chExt cx="704850" cy="704850"/>
            </a:xfrm>
          </p:grpSpPr>
          <p:sp>
            <p:nvSpPr>
              <p:cNvPr id="29" name="Rectangle 28"/>
              <p:cNvSpPr>
                <a:spLocks noChangeAspect="1"/>
              </p:cNvSpPr>
              <p:nvPr/>
            </p:nvSpPr>
            <p:spPr>
              <a:xfrm>
                <a:off x="3867150" y="32194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30" name="Rectangle 29"/>
              <p:cNvSpPr>
                <a:spLocks noChangeAspect="1"/>
              </p:cNvSpPr>
              <p:nvPr/>
            </p:nvSpPr>
            <p:spPr>
              <a:xfrm>
                <a:off x="4102100" y="32194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31" name="Rectangle 30"/>
              <p:cNvSpPr>
                <a:spLocks noChangeAspect="1"/>
              </p:cNvSpPr>
              <p:nvPr/>
            </p:nvSpPr>
            <p:spPr>
              <a:xfrm>
                <a:off x="3867150" y="345440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32" name="Rectangle 31"/>
              <p:cNvSpPr>
                <a:spLocks noChangeAspect="1"/>
              </p:cNvSpPr>
              <p:nvPr/>
            </p:nvSpPr>
            <p:spPr>
              <a:xfrm>
                <a:off x="4102100" y="345440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33" name="Rectangle 32"/>
              <p:cNvSpPr>
                <a:spLocks noChangeAspect="1"/>
              </p:cNvSpPr>
              <p:nvPr/>
            </p:nvSpPr>
            <p:spPr>
              <a:xfrm>
                <a:off x="3867150" y="36893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34" name="Rectangle 33"/>
              <p:cNvSpPr>
                <a:spLocks noChangeAspect="1"/>
              </p:cNvSpPr>
              <p:nvPr/>
            </p:nvSpPr>
            <p:spPr>
              <a:xfrm>
                <a:off x="4102100" y="36893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35" name="Rectangle 34"/>
              <p:cNvSpPr>
                <a:spLocks noChangeAspect="1"/>
              </p:cNvSpPr>
              <p:nvPr/>
            </p:nvSpPr>
            <p:spPr>
              <a:xfrm>
                <a:off x="4337050" y="32194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36" name="Rectangle 35"/>
              <p:cNvSpPr>
                <a:spLocks noChangeAspect="1"/>
              </p:cNvSpPr>
              <p:nvPr/>
            </p:nvSpPr>
            <p:spPr>
              <a:xfrm>
                <a:off x="4337050" y="345440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  <p:sp>
            <p:nvSpPr>
              <p:cNvPr id="37" name="Rectangle 36"/>
              <p:cNvSpPr>
                <a:spLocks noChangeAspect="1"/>
              </p:cNvSpPr>
              <p:nvPr/>
            </p:nvSpPr>
            <p:spPr>
              <a:xfrm>
                <a:off x="4337050" y="3689350"/>
                <a:ext cx="234950" cy="234950"/>
              </a:xfrm>
              <a:prstGeom prst="rect">
                <a:avLst/>
              </a:prstGeom>
              <a:noFill/>
              <a:ln w="25400"/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lvl1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>
                  <a:defRPr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en-US" kern="1200"/>
              </a:p>
            </p:txBody>
          </p:sp>
        </p:grpSp>
        <p:grpSp>
          <p:nvGrpSpPr>
            <p:cNvPr id="104" name="Group 103"/>
            <p:cNvGrpSpPr>
              <a:grpSpLocks noChangeAspect="1"/>
            </p:cNvGrpSpPr>
            <p:nvPr/>
          </p:nvGrpSpPr>
          <p:grpSpPr>
            <a:xfrm>
              <a:off x="6944418" y="2597150"/>
              <a:ext cx="502831" cy="501650"/>
              <a:chOff x="1014942" y="4818592"/>
              <a:chExt cx="914400" cy="914400"/>
            </a:xfrm>
          </p:grpSpPr>
          <p:sp>
            <p:nvSpPr>
              <p:cNvPr id="10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noFill/>
              <a:ln w="254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Oval 10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17" name="Group 116"/>
          <p:cNvGrpSpPr/>
          <p:nvPr/>
        </p:nvGrpSpPr>
        <p:grpSpPr>
          <a:xfrm>
            <a:off x="7728956" y="3292304"/>
            <a:ext cx="1611894" cy="1317796"/>
            <a:chOff x="7906756" y="3285954"/>
            <a:chExt cx="1611894" cy="1317796"/>
          </a:xfrm>
        </p:grpSpPr>
        <p:grpSp>
          <p:nvGrpSpPr>
            <p:cNvPr id="110" name="Group 109"/>
            <p:cNvGrpSpPr/>
            <p:nvPr/>
          </p:nvGrpSpPr>
          <p:grpSpPr>
            <a:xfrm>
              <a:off x="7906756" y="3285954"/>
              <a:ext cx="1611894" cy="1287078"/>
              <a:chOff x="8002006" y="2333454"/>
              <a:chExt cx="1611894" cy="1287078"/>
            </a:xfrm>
          </p:grpSpPr>
          <p:grpSp>
            <p:nvGrpSpPr>
              <p:cNvPr id="38" name="Group 37"/>
              <p:cNvGrpSpPr>
                <a:grpSpLocks noChangeAspect="1"/>
              </p:cNvGrpSpPr>
              <p:nvPr/>
            </p:nvGrpSpPr>
            <p:grpSpPr>
              <a:xfrm>
                <a:off x="8002006" y="2333454"/>
                <a:ext cx="1611894" cy="1287078"/>
                <a:chOff x="5229062" y="2532038"/>
                <a:chExt cx="1110013" cy="886333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5229062" y="2681263"/>
                  <a:ext cx="592488" cy="587883"/>
                  <a:chOff x="5229062" y="2681263"/>
                  <a:chExt cx="592488" cy="587883"/>
                </a:xfrm>
              </p:grpSpPr>
              <p:sp>
                <p:nvSpPr>
                  <p:cNvPr id="48" name="Hexagon 47"/>
                  <p:cNvSpPr>
                    <a:spLocks noChangeAspect="1"/>
                  </p:cNvSpPr>
                  <p:nvPr/>
                </p:nvSpPr>
                <p:spPr>
                  <a:xfrm>
                    <a:off x="5229062" y="2681263"/>
                    <a:ext cx="332138" cy="292608"/>
                  </a:xfrm>
                  <a:prstGeom prst="hexagon">
                    <a:avLst/>
                  </a:prstGeom>
                  <a:noFill/>
                  <a:ln w="25400"/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lvl1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kern="1200"/>
                  </a:p>
                </p:txBody>
              </p:sp>
              <p:sp>
                <p:nvSpPr>
                  <p:cNvPr id="49" name="Hexagon 48"/>
                  <p:cNvSpPr>
                    <a:spLocks noChangeAspect="1"/>
                  </p:cNvSpPr>
                  <p:nvPr/>
                </p:nvSpPr>
                <p:spPr>
                  <a:xfrm>
                    <a:off x="5489412" y="2830488"/>
                    <a:ext cx="332138" cy="292608"/>
                  </a:xfrm>
                  <a:prstGeom prst="hexagon">
                    <a:avLst/>
                  </a:prstGeom>
                  <a:noFill/>
                  <a:ln w="25400"/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lvl1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kern="1200"/>
                  </a:p>
                </p:txBody>
              </p:sp>
              <p:sp>
                <p:nvSpPr>
                  <p:cNvPr id="50" name="Hexagon 49"/>
                  <p:cNvSpPr>
                    <a:spLocks noChangeAspect="1"/>
                  </p:cNvSpPr>
                  <p:nvPr/>
                </p:nvSpPr>
                <p:spPr>
                  <a:xfrm>
                    <a:off x="5229062" y="2976538"/>
                    <a:ext cx="332138" cy="292608"/>
                  </a:xfrm>
                  <a:prstGeom prst="hexagon">
                    <a:avLst/>
                  </a:prstGeom>
                  <a:noFill/>
                  <a:ln w="25400"/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lvl1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kern="1200"/>
                  </a:p>
                </p:txBody>
              </p:sp>
            </p:grpSp>
            <p:grpSp>
              <p:nvGrpSpPr>
                <p:cNvPr id="40" name="Group 39"/>
                <p:cNvGrpSpPr/>
                <p:nvPr/>
              </p:nvGrpSpPr>
              <p:grpSpPr>
                <a:xfrm>
                  <a:off x="5746587" y="2681263"/>
                  <a:ext cx="592488" cy="587883"/>
                  <a:chOff x="5229062" y="2681263"/>
                  <a:chExt cx="592488" cy="587883"/>
                </a:xfrm>
              </p:grpSpPr>
              <p:sp>
                <p:nvSpPr>
                  <p:cNvPr id="45" name="Hexagon 44"/>
                  <p:cNvSpPr>
                    <a:spLocks noChangeAspect="1"/>
                  </p:cNvSpPr>
                  <p:nvPr/>
                </p:nvSpPr>
                <p:spPr>
                  <a:xfrm>
                    <a:off x="5229062" y="2681263"/>
                    <a:ext cx="332138" cy="292608"/>
                  </a:xfrm>
                  <a:prstGeom prst="hexagon">
                    <a:avLst/>
                  </a:prstGeom>
                  <a:noFill/>
                  <a:ln w="25400"/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lvl1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kern="1200"/>
                  </a:p>
                </p:txBody>
              </p:sp>
              <p:sp>
                <p:nvSpPr>
                  <p:cNvPr id="46" name="Hexagon 45"/>
                  <p:cNvSpPr>
                    <a:spLocks noChangeAspect="1"/>
                  </p:cNvSpPr>
                  <p:nvPr/>
                </p:nvSpPr>
                <p:spPr>
                  <a:xfrm>
                    <a:off x="5489412" y="2830488"/>
                    <a:ext cx="332138" cy="292608"/>
                  </a:xfrm>
                  <a:prstGeom prst="hexagon">
                    <a:avLst/>
                  </a:prstGeom>
                  <a:noFill/>
                  <a:ln w="25400"/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lvl1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kern="1200"/>
                  </a:p>
                </p:txBody>
              </p:sp>
              <p:sp>
                <p:nvSpPr>
                  <p:cNvPr id="47" name="Hexagon 46"/>
                  <p:cNvSpPr>
                    <a:spLocks noChangeAspect="1"/>
                  </p:cNvSpPr>
                  <p:nvPr/>
                </p:nvSpPr>
                <p:spPr>
                  <a:xfrm>
                    <a:off x="5229062" y="2976538"/>
                    <a:ext cx="332138" cy="292608"/>
                  </a:xfrm>
                  <a:prstGeom prst="hexagon">
                    <a:avLst/>
                  </a:prstGeom>
                  <a:noFill/>
                  <a:ln w="25400"/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lvl1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>
                      <a:defRPr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kern="1200"/>
                  </a:p>
                </p:txBody>
              </p:sp>
            </p:grpSp>
            <p:sp>
              <p:nvSpPr>
                <p:cNvPr id="41" name="Hexagon 40"/>
                <p:cNvSpPr>
                  <a:spLocks noChangeAspect="1"/>
                </p:cNvSpPr>
                <p:nvPr/>
              </p:nvSpPr>
              <p:spPr>
                <a:xfrm>
                  <a:off x="5486237" y="2535213"/>
                  <a:ext cx="332138" cy="292608"/>
                </a:xfrm>
                <a:prstGeom prst="hexagon">
                  <a:avLst/>
                </a:prstGeom>
                <a:noFill/>
                <a:ln w="25400"/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42" name="Hexagon 41"/>
                <p:cNvSpPr>
                  <a:spLocks noChangeAspect="1"/>
                </p:cNvSpPr>
                <p:nvPr/>
              </p:nvSpPr>
              <p:spPr>
                <a:xfrm>
                  <a:off x="5486237" y="3125763"/>
                  <a:ext cx="332138" cy="292608"/>
                </a:xfrm>
                <a:prstGeom prst="hexagon">
                  <a:avLst/>
                </a:prstGeom>
                <a:noFill/>
                <a:ln w="25400"/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43" name="Hexagon 42"/>
                <p:cNvSpPr>
                  <a:spLocks noChangeAspect="1"/>
                </p:cNvSpPr>
                <p:nvPr/>
              </p:nvSpPr>
              <p:spPr>
                <a:xfrm>
                  <a:off x="6003762" y="3122588"/>
                  <a:ext cx="332138" cy="292608"/>
                </a:xfrm>
                <a:prstGeom prst="hexagon">
                  <a:avLst/>
                </a:prstGeom>
                <a:noFill/>
                <a:ln w="25400"/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44" name="Hexagon 43"/>
                <p:cNvSpPr>
                  <a:spLocks noChangeAspect="1"/>
                </p:cNvSpPr>
                <p:nvPr/>
              </p:nvSpPr>
              <p:spPr>
                <a:xfrm>
                  <a:off x="6003762" y="2532038"/>
                  <a:ext cx="332138" cy="292608"/>
                </a:xfrm>
                <a:prstGeom prst="hexagon">
                  <a:avLst/>
                </a:prstGeom>
                <a:noFill/>
                <a:ln w="25400"/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107" name="Group 106"/>
              <p:cNvGrpSpPr>
                <a:grpSpLocks noChangeAspect="1"/>
              </p:cNvGrpSpPr>
              <p:nvPr/>
            </p:nvGrpSpPr>
            <p:grpSpPr>
              <a:xfrm>
                <a:off x="8239818" y="2514600"/>
                <a:ext cx="502831" cy="906050"/>
                <a:chOff x="1234346" y="3637974"/>
                <a:chExt cx="914400" cy="1651534"/>
              </a:xfrm>
            </p:grpSpPr>
            <p:sp>
              <p:nvSpPr>
                <p:cNvPr id="108" name="Flowchart: Connector 9"/>
                <p:cNvSpPr/>
                <p:nvPr/>
              </p:nvSpPr>
              <p:spPr>
                <a:xfrm>
                  <a:off x="1234346" y="3637974"/>
                  <a:ext cx="914400" cy="914400"/>
                </a:xfrm>
                <a:prstGeom prst="flowChartConnector">
                  <a:avLst/>
                </a:prstGeom>
                <a:noFill/>
                <a:ln w="25400"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8000"/>
                </a:solidFill>
                <a:ln>
                  <a:solidFill>
                    <a:srgbClr val="008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116" name="Flowchart: Connector 9"/>
            <p:cNvSpPr/>
            <p:nvPr/>
          </p:nvSpPr>
          <p:spPr>
            <a:xfrm>
              <a:off x="8271568" y="4102100"/>
              <a:ext cx="502831" cy="501650"/>
            </a:xfrm>
            <a:prstGeom prst="flowChartConnector">
              <a:avLst/>
            </a:prstGeom>
            <a:noFill/>
            <a:ln w="254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19" name="Straight Arrow Connector 118"/>
          <p:cNvCxnSpPr/>
          <p:nvPr/>
        </p:nvCxnSpPr>
        <p:spPr bwMode="auto">
          <a:xfrm flipH="1" flipV="1">
            <a:off x="6184900" y="1733550"/>
            <a:ext cx="19050" cy="188595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0" name="Straight Arrow Connector 119"/>
          <p:cNvCxnSpPr/>
          <p:nvPr/>
        </p:nvCxnSpPr>
        <p:spPr bwMode="auto">
          <a:xfrm>
            <a:off x="6210300" y="4279900"/>
            <a:ext cx="12700" cy="219075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26" name="Group 125"/>
          <p:cNvGrpSpPr/>
          <p:nvPr/>
        </p:nvGrpSpPr>
        <p:grpSpPr>
          <a:xfrm>
            <a:off x="6330950" y="1771650"/>
            <a:ext cx="930424" cy="711200"/>
            <a:chOff x="5994400" y="1752600"/>
            <a:chExt cx="930424" cy="711200"/>
          </a:xfrm>
        </p:grpSpPr>
        <p:grpSp>
          <p:nvGrpSpPr>
            <p:cNvPr id="11" name="Group 10"/>
            <p:cNvGrpSpPr>
              <a:grpSpLocks noChangeAspect="1"/>
            </p:cNvGrpSpPr>
            <p:nvPr/>
          </p:nvGrpSpPr>
          <p:grpSpPr>
            <a:xfrm>
              <a:off x="5994400" y="1752600"/>
              <a:ext cx="930424" cy="689896"/>
              <a:chOff x="1866900" y="2596930"/>
              <a:chExt cx="1302004" cy="965419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2054225" y="2596930"/>
                <a:ext cx="1114679" cy="317719"/>
                <a:chOff x="2054225" y="2596930"/>
                <a:chExt cx="1114679" cy="317719"/>
              </a:xfrm>
            </p:grpSpPr>
            <p:sp>
              <p:nvSpPr>
                <p:cNvPr id="25" name="Isosceles Triangle 24"/>
                <p:cNvSpPr>
                  <a:spLocks noChangeAspect="1"/>
                </p:cNvSpPr>
                <p:nvPr/>
              </p:nvSpPr>
              <p:spPr>
                <a:xfrm>
                  <a:off x="2800350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6" name="Isosceles Triangle 25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7" name="Isosceles Triangle 26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1866900" y="2920780"/>
                <a:ext cx="1114679" cy="317719"/>
                <a:chOff x="2054225" y="2596930"/>
                <a:chExt cx="1114679" cy="317719"/>
              </a:xfrm>
            </p:grpSpPr>
            <p:sp>
              <p:nvSpPr>
                <p:cNvPr id="22" name="Isosceles Triangle 21"/>
                <p:cNvSpPr>
                  <a:spLocks noChangeAspect="1"/>
                </p:cNvSpPr>
                <p:nvPr/>
              </p:nvSpPr>
              <p:spPr>
                <a:xfrm>
                  <a:off x="2800350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3" name="Isosceles Triangle 22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4" name="Isosceles Triangle 23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2054225" y="3244630"/>
                <a:ext cx="743204" cy="317719"/>
                <a:chOff x="2054225" y="2596930"/>
                <a:chExt cx="743204" cy="317719"/>
              </a:xfrm>
            </p:grpSpPr>
            <p:sp>
              <p:nvSpPr>
                <p:cNvPr id="20" name="Isosceles Triangle 19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1" name="Isosceles Triangle 20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cxnSp>
            <p:nvCxnSpPr>
              <p:cNvPr id="15" name="Straight Connector 14"/>
              <p:cNvCxnSpPr/>
              <p:nvPr/>
            </p:nvCxnSpPr>
            <p:spPr>
              <a:xfrm>
                <a:off x="1866900" y="3238499"/>
                <a:ext cx="187325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2238502" y="2596930"/>
                <a:ext cx="374650" cy="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2613152" y="2596930"/>
                <a:ext cx="371475" cy="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2981579" y="2914649"/>
                <a:ext cx="187325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flipV="1">
                <a:off x="2797429" y="3238499"/>
                <a:ext cx="184150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5" name="Flowchart: Connector 9"/>
            <p:cNvSpPr/>
            <p:nvPr/>
          </p:nvSpPr>
          <p:spPr>
            <a:xfrm>
              <a:off x="6271318" y="1962150"/>
              <a:ext cx="502831" cy="501650"/>
            </a:xfrm>
            <a:prstGeom prst="flowChartConnector">
              <a:avLst/>
            </a:prstGeom>
            <a:noFill/>
            <a:ln w="254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</p:grpSp>
      <p:sp>
        <p:nvSpPr>
          <p:cNvPr id="128" name="Title 1"/>
          <p:cNvSpPr txBox="1">
            <a:spLocks/>
          </p:cNvSpPr>
          <p:nvPr/>
        </p:nvSpPr>
        <p:spPr bwMode="auto">
          <a:xfrm>
            <a:off x="7248525" y="3683000"/>
            <a:ext cx="682625" cy="4191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000000"/>
                </a:solidFill>
                <a:latin typeface="Arial" charset="0"/>
              </a:defRPr>
            </a:lvl9pPr>
          </a:lstStyle>
          <a:p>
            <a:r>
              <a:rPr lang="en-US" sz="1600" b="0"/>
              <a:t>both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1600" y="2305050"/>
            <a:ext cx="1180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densest possible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0" y="5600700"/>
            <a:ext cx="12147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sparsest possible</a:t>
            </a:r>
          </a:p>
        </p:txBody>
      </p:sp>
    </p:spTree>
    <p:extLst>
      <p:ext uri="{BB962C8B-B14F-4D97-AF65-F5344CB8AC3E}">
        <p14:creationId xmlns:p14="http://schemas.microsoft.com/office/powerpoint/2010/main" val="45219863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15" y="1256880"/>
            <a:ext cx="8365497" cy="5563235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219200"/>
          </a:xfrm>
        </p:spPr>
        <p:txBody>
          <a:bodyPr/>
          <a:lstStyle/>
          <a:p>
            <a:r>
              <a:rPr lang="en-US"/>
              <a:t>Sifting changes triangulation</a:t>
            </a:r>
            <a:br>
              <a:rPr lang="en-US"/>
            </a:br>
            <a:r>
              <a:rPr lang="en-US"/>
              <a:t>edge lengths, angles, Voronoi cell squish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84400" y="1428750"/>
            <a:ext cx="525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C0504D"/>
                </a:solidFill>
                <a:latin typeface="Calibri"/>
              </a:rPr>
              <a:t>Removes most of the short edges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C0504D"/>
                </a:solidFill>
                <a:latin typeface="Calibri"/>
              </a:rPr>
              <a:t>	adds long edges</a:t>
            </a:r>
          </a:p>
        </p:txBody>
      </p:sp>
      <p:sp>
        <p:nvSpPr>
          <p:cNvPr id="4" name="Oval 3"/>
          <p:cNvSpPr/>
          <p:nvPr/>
        </p:nvSpPr>
        <p:spPr bwMode="auto">
          <a:xfrm>
            <a:off x="769436" y="4705350"/>
            <a:ext cx="1414964" cy="806450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5" name="Oval 14"/>
          <p:cNvSpPr/>
          <p:nvPr/>
        </p:nvSpPr>
        <p:spPr bwMode="auto">
          <a:xfrm>
            <a:off x="685800" y="1149350"/>
            <a:ext cx="593502" cy="3111500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" name="Oval 15"/>
          <p:cNvSpPr/>
          <p:nvPr/>
        </p:nvSpPr>
        <p:spPr bwMode="auto">
          <a:xfrm>
            <a:off x="6822947" y="4060567"/>
            <a:ext cx="769435" cy="1724350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91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3000">
        <p:cut/>
      </p:transition>
    </mc:Choice>
    <mc:Fallback xmlns="">
      <p:transition xmlns:p14="http://schemas.microsoft.com/office/powerpoint/2010/main" advClick="0" advTm="13000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219200"/>
          </a:xfrm>
        </p:spPr>
        <p:txBody>
          <a:bodyPr/>
          <a:lstStyle/>
          <a:p>
            <a:r>
              <a:rPr lang="en-US"/>
              <a:t>Sifting changes triangulation</a:t>
            </a:r>
            <a:br>
              <a:rPr lang="en-US"/>
            </a:br>
            <a:r>
              <a:rPr lang="en-US"/>
              <a:t>edge lengths, angles, Voronoi cell squish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9700" y="1885950"/>
            <a:ext cx="3695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C0504D"/>
                </a:solidFill>
                <a:latin typeface="Calibri"/>
              </a:rPr>
              <a:t>spreads Voronoi cell aspect 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" y="1847850"/>
            <a:ext cx="3752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C0504D"/>
                </a:solidFill>
                <a:latin typeface="Calibri"/>
              </a:rPr>
              <a:t>shifts Voronoi cell area distribution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548" y="2582927"/>
            <a:ext cx="4789895" cy="340594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36" y="2527300"/>
            <a:ext cx="4724113" cy="349833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3780" y="2235200"/>
            <a:ext cx="535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5600" y="2228850"/>
            <a:ext cx="5692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sparse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1900" y="2296467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/>
              <a:t>round</a:t>
            </a:r>
            <a:br>
              <a:rPr lang="en-US" sz="1200"/>
            </a:br>
            <a:r>
              <a:rPr lang="en-US" sz="1200"/>
              <a:t>cells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9852" y="2296467"/>
            <a:ext cx="740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stretched</a:t>
            </a:r>
            <a:br>
              <a:rPr lang="en-US" sz="1200" dirty="0"/>
            </a:br>
            <a:r>
              <a:rPr lang="en-US" sz="1200" dirty="0"/>
              <a:t>cells </a:t>
            </a:r>
          </a:p>
        </p:txBody>
      </p:sp>
    </p:spTree>
    <p:extLst>
      <p:ext uri="{BB962C8B-B14F-4D97-AF65-F5344CB8AC3E}">
        <p14:creationId xmlns:p14="http://schemas.microsoft.com/office/powerpoint/2010/main" val="331897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3000">
        <p:cut/>
      </p:transition>
    </mc:Choice>
    <mc:Fallback xmlns="">
      <p:transition xmlns:p14="http://schemas.microsoft.com/office/powerpoint/2010/main" advClick="0" advTm="13000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76200"/>
            <a:ext cx="7772400" cy="1219200"/>
          </a:xfrm>
        </p:spPr>
        <p:txBody>
          <a:bodyPr/>
          <a:lstStyle/>
          <a:p>
            <a:r>
              <a:rPr lang="en-US"/>
              <a:t>Sifting changes triangulation</a:t>
            </a:r>
            <a:br>
              <a:rPr lang="en-US"/>
            </a:br>
            <a:r>
              <a:rPr lang="en-US"/>
              <a:t>edge lengths, angles, Voronoi cell squish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225" y="2785681"/>
            <a:ext cx="4785866" cy="340308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9" y="2629412"/>
            <a:ext cx="4907882" cy="360570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7050" y="2152650"/>
            <a:ext cx="2940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C0504D"/>
                </a:solidFill>
                <a:latin typeface="Calibri"/>
              </a:rPr>
              <a:t>changes angle distributions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5455" y="1275050"/>
            <a:ext cx="3816599" cy="17353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320841" y="3007107"/>
            <a:ext cx="433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srgbClr val="C0504D"/>
                </a:solidFill>
                <a:latin typeface="Calibri"/>
              </a:rPr>
              <a:t>extremes the same, 25% fewer points</a:t>
            </a:r>
            <a:br>
              <a:rPr lang="en-US" sz="1800">
                <a:solidFill>
                  <a:srgbClr val="C0504D"/>
                </a:solidFill>
                <a:latin typeface="Calibri"/>
              </a:rPr>
            </a:br>
            <a:r>
              <a:rPr lang="en-US" sz="1800">
                <a:solidFill>
                  <a:srgbClr val="C0504D"/>
                </a:solidFill>
                <a:latin typeface="Calibri"/>
              </a:rPr>
              <a:t>angles are related to Voronoi aspect ratio …</a:t>
            </a:r>
          </a:p>
        </p:txBody>
      </p:sp>
      <p:sp>
        <p:nvSpPr>
          <p:cNvPr id="9" name="Oval 8"/>
          <p:cNvSpPr/>
          <p:nvPr/>
        </p:nvSpPr>
        <p:spPr bwMode="auto">
          <a:xfrm>
            <a:off x="5345422" y="1844106"/>
            <a:ext cx="459381" cy="229619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Oval 9"/>
          <p:cNvSpPr/>
          <p:nvPr/>
        </p:nvSpPr>
        <p:spPr bwMode="auto">
          <a:xfrm>
            <a:off x="6624341" y="1845821"/>
            <a:ext cx="459381" cy="235079"/>
          </a:xfrm>
          <a:prstGeom prst="ellipse">
            <a:avLst/>
          </a:prstGeom>
          <a:noFill/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70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13000">
        <p:cut/>
      </p:transition>
    </mc:Choice>
    <mc:Fallback xmlns="">
      <p:transition xmlns:p14="http://schemas.microsoft.com/office/powerpoint/2010/main" advClick="0" advTm="13000">
        <p:cut/>
      </p:transition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Well Did We Do?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Goal 2: Randomness</a:t>
            </a:r>
          </a:p>
        </p:txBody>
      </p:sp>
    </p:spTree>
    <p:extLst>
      <p:ext uri="{BB962C8B-B14F-4D97-AF65-F5344CB8AC3E}">
        <p14:creationId xmlns:p14="http://schemas.microsoft.com/office/powerpoint/2010/main" val="3029256063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/>
          <a:lstStyle/>
          <a:p>
            <a:r>
              <a:rPr lang="en-US"/>
              <a:t>DR and ODR </a:t>
            </a:r>
            <a:br>
              <a:rPr lang="en-US"/>
            </a:br>
            <a:r>
              <a:rPr lang="en-US" i="1"/>
              <a:t>Sometimes</a:t>
            </a:r>
            <a:r>
              <a:rPr lang="en-US"/>
              <a:t> Appear Random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8084"/>
            <a:ext cx="7772400" cy="789305"/>
          </a:xfrm>
        </p:spPr>
        <p:txBody>
          <a:bodyPr/>
          <a:lstStyle/>
          <a:p>
            <a:r>
              <a:rPr lang="en-US" sz="1600"/>
              <a:t>Many control parameters</a:t>
            </a:r>
          </a:p>
          <a:p>
            <a:pPr lvl="1"/>
            <a:r>
              <a:rPr lang="en-US" sz="1600"/>
              <a:t>Which circle (off) center to insert next?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3365" y="2533222"/>
            <a:ext cx="3950635" cy="37719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17339" y="1179739"/>
            <a:ext cx="3450133" cy="1200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Start with random-looking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DR, ODR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Not </a:t>
            </a:r>
            <a:r>
              <a:rPr lang="en-US" dirty="0">
                <a:solidFill>
                  <a:srgbClr val="FF0000"/>
                </a:solidFill>
              </a:rPr>
              <a:t>these!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0747" y="6396335"/>
            <a:ext cx="838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ODR</a:t>
            </a:r>
          </a:p>
        </p:txBody>
      </p:sp>
      <p:pic>
        <p:nvPicPr>
          <p:cNvPr id="9" name="Picture 8" descr="ODR_r_0p005_pts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56375"/>
            <a:ext cx="5101626" cy="510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801521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mall20al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72132"/>
            <a:ext cx="9144000" cy="569768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/>
          <a:lstStyle/>
          <a:p>
            <a:r>
              <a:rPr lang="en-US"/>
              <a:t>Sifting Retains Randomness</a:t>
            </a:r>
            <a:br>
              <a:rPr lang="en-US"/>
            </a:br>
            <a:r>
              <a:rPr lang="en-US"/>
              <a:t>Surprise! 		But not identical.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4367" y="4177863"/>
            <a:ext cx="920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1023" y="267208"/>
            <a:ext cx="12113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2648" y="1176784"/>
            <a:ext cx="80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8718" y="3760420"/>
            <a:ext cx="2135389" cy="430887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050" dirty="0">
                <a:solidFill>
                  <a:srgbClr val="FF0000"/>
                </a:solidFill>
              </a:rPr>
              <a:t>Can you tell me which is “better”?</a:t>
            </a:r>
            <a:br>
              <a:rPr lang="en-US" sz="1050" dirty="0">
                <a:solidFill>
                  <a:srgbClr val="FF0000"/>
                </a:solidFill>
              </a:rPr>
            </a:br>
            <a:r>
              <a:rPr lang="en-US" sz="1050" dirty="0">
                <a:solidFill>
                  <a:srgbClr val="FF0000"/>
                </a:solidFill>
              </a:rPr>
              <a:t>What’s ideal?</a:t>
            </a:r>
          </a:p>
        </p:txBody>
      </p:sp>
    </p:spTree>
    <p:extLst>
      <p:ext uri="{BB962C8B-B14F-4D97-AF65-F5344CB8AC3E}">
        <p14:creationId xmlns:p14="http://schemas.microsoft.com/office/powerpoint/2010/main" val="1316102668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mall22al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74048"/>
            <a:ext cx="9144000" cy="56839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/>
          <a:lstStyle/>
          <a:p>
            <a:r>
              <a:rPr lang="en-US"/>
              <a:t>Sifting (introduces?) Randomness</a:t>
            </a:r>
            <a:br>
              <a:rPr lang="en-US"/>
            </a:br>
            <a:r>
              <a:rPr lang="en-US"/>
              <a:t>Surprise! 		But not identical.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907" y="1198310"/>
            <a:ext cx="6122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9626" y="4199389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862" y="3749046"/>
            <a:ext cx="21353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rgbClr val="FF0000"/>
                </a:solidFill>
              </a:rPr>
              <a:t>Can you tell me which is “better”?</a:t>
            </a:r>
            <a:br>
              <a:rPr lang="en-US" sz="1050">
                <a:solidFill>
                  <a:srgbClr val="FF0000"/>
                </a:solidFill>
              </a:rPr>
            </a:br>
            <a:r>
              <a:rPr lang="en-US" sz="1050">
                <a:solidFill>
                  <a:srgbClr val="FF0000"/>
                </a:solidFill>
              </a:rPr>
              <a:t>What’s ideal?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1023" y="267208"/>
            <a:ext cx="9028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DR</a:t>
            </a:r>
          </a:p>
        </p:txBody>
      </p:sp>
    </p:spTree>
    <p:extLst>
      <p:ext uri="{BB962C8B-B14F-4D97-AF65-F5344CB8AC3E}">
        <p14:creationId xmlns:p14="http://schemas.microsoft.com/office/powerpoint/2010/main" val="222520342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mall23all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177636"/>
            <a:ext cx="9144000" cy="5680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/>
          <a:lstStyle/>
          <a:p>
            <a:r>
              <a:rPr lang="en-US"/>
              <a:t>Sifting (introduces?) Randomness</a:t>
            </a:r>
            <a:br>
              <a:rPr lang="en-US"/>
            </a:br>
            <a:r>
              <a:rPr lang="en-US"/>
              <a:t>Surprise! 		But not identical.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5757" y="1205486"/>
            <a:ext cx="8386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ODR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7476" y="4206565"/>
            <a:ext cx="9542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sODR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862" y="3749046"/>
            <a:ext cx="213538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>
                <a:solidFill>
                  <a:srgbClr val="FF0000"/>
                </a:solidFill>
              </a:rPr>
              <a:t>Can you tell me which is “better”?</a:t>
            </a:r>
            <a:br>
              <a:rPr lang="en-US" sz="1050">
                <a:solidFill>
                  <a:srgbClr val="FF0000"/>
                </a:solidFill>
              </a:rPr>
            </a:br>
            <a:r>
              <a:rPr lang="en-US" sz="1050">
                <a:solidFill>
                  <a:srgbClr val="FF0000"/>
                </a:solidFill>
              </a:rPr>
              <a:t>What’s ideal?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1023" y="267208"/>
            <a:ext cx="12747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>
                <a:solidFill>
                  <a:srgbClr val="FF0000"/>
                </a:solidFill>
              </a:rPr>
              <a:t>ODR</a:t>
            </a:r>
          </a:p>
        </p:txBody>
      </p:sp>
    </p:spTree>
    <p:extLst>
      <p:ext uri="{BB962C8B-B14F-4D97-AF65-F5344CB8AC3E}">
        <p14:creationId xmlns:p14="http://schemas.microsoft.com/office/powerpoint/2010/main" val="2810569832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Sifted-DR-0p00715_rp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8522" y="4286655"/>
            <a:ext cx="4041648" cy="2646318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78931"/>
            <a:ext cx="7772400" cy="1216469"/>
          </a:xfrm>
        </p:spPr>
        <p:txBody>
          <a:bodyPr/>
          <a:lstStyle/>
          <a:p>
            <a:r>
              <a:rPr lang="en-US"/>
              <a:t>Original distribution doesn’t </a:t>
            </a:r>
            <a:br>
              <a:rPr lang="en-US"/>
            </a:br>
            <a:r>
              <a:rPr lang="en-US"/>
              <a:t>seem to matter much</a:t>
            </a:r>
          </a:p>
        </p:txBody>
      </p:sp>
      <p:pic>
        <p:nvPicPr>
          <p:cNvPr id="7" name="Picture 6" descr="SiftedMPS_r_0p00715_rp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1167" y="1427929"/>
            <a:ext cx="4035166" cy="26603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16700" y="4192214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sDR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1155" y="1481583"/>
            <a:ext cx="736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86279" y="1485331"/>
            <a:ext cx="9204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sMPS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2" name="Straight Connector 21"/>
          <p:cNvCxnSpPr/>
          <p:nvPr/>
        </p:nvCxnSpPr>
        <p:spPr bwMode="auto">
          <a:xfrm flipH="1" flipV="1">
            <a:off x="676196" y="1494221"/>
            <a:ext cx="77724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25" name="Picture 24" descr="Sifted-DR-0p00715_rp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61669" y="1439689"/>
            <a:ext cx="4041648" cy="2646318"/>
          </a:xfrm>
          <a:prstGeom prst="rect">
            <a:avLst/>
          </a:prstGeom>
        </p:spPr>
      </p:pic>
      <p:cxnSp>
        <p:nvCxnSpPr>
          <p:cNvPr id="26" name="Straight Connector 25"/>
          <p:cNvCxnSpPr/>
          <p:nvPr/>
        </p:nvCxnSpPr>
        <p:spPr bwMode="auto">
          <a:xfrm flipH="1" flipV="1">
            <a:off x="670739" y="2285243"/>
            <a:ext cx="77724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flipH="1" flipV="1">
            <a:off x="665285" y="3521145"/>
            <a:ext cx="77724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Straight Connector 27"/>
          <p:cNvCxnSpPr/>
          <p:nvPr/>
        </p:nvCxnSpPr>
        <p:spPr bwMode="auto">
          <a:xfrm flipH="1" flipV="1">
            <a:off x="665282" y="2846647"/>
            <a:ext cx="7772400" cy="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7" name="Group 36"/>
          <p:cNvGrpSpPr/>
          <p:nvPr/>
        </p:nvGrpSpPr>
        <p:grpSpPr>
          <a:xfrm>
            <a:off x="963202" y="1494223"/>
            <a:ext cx="1499641" cy="5211128"/>
            <a:chOff x="963202" y="1494223"/>
            <a:chExt cx="1499641" cy="5211128"/>
          </a:xfrm>
        </p:grpSpPr>
        <p:cxnSp>
          <p:nvCxnSpPr>
            <p:cNvPr id="31" name="Straight Connector 30"/>
            <p:cNvCxnSpPr/>
            <p:nvPr/>
          </p:nvCxnSpPr>
          <p:spPr bwMode="auto">
            <a:xfrm flipV="1">
              <a:off x="963202" y="1494223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3" name="Straight Connector 32"/>
            <p:cNvCxnSpPr/>
            <p:nvPr/>
          </p:nvCxnSpPr>
          <p:spPr bwMode="auto">
            <a:xfrm flipV="1">
              <a:off x="1479802" y="1494223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4" name="Straight Connector 33"/>
            <p:cNvCxnSpPr/>
            <p:nvPr/>
          </p:nvCxnSpPr>
          <p:spPr bwMode="auto">
            <a:xfrm flipV="1">
              <a:off x="1788327" y="1494223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5" name="Straight Connector 34"/>
            <p:cNvCxnSpPr/>
            <p:nvPr/>
          </p:nvCxnSpPr>
          <p:spPr bwMode="auto">
            <a:xfrm flipV="1">
              <a:off x="2462843" y="1494227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6" name="Straight Connector 35"/>
            <p:cNvCxnSpPr/>
            <p:nvPr/>
          </p:nvCxnSpPr>
          <p:spPr bwMode="auto">
            <a:xfrm flipV="1">
              <a:off x="1165827" y="1495927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8" name="Group 37"/>
          <p:cNvGrpSpPr/>
          <p:nvPr/>
        </p:nvGrpSpPr>
        <p:grpSpPr>
          <a:xfrm>
            <a:off x="5076356" y="1495939"/>
            <a:ext cx="1499641" cy="5211128"/>
            <a:chOff x="963202" y="1494223"/>
            <a:chExt cx="1499641" cy="5211128"/>
          </a:xfrm>
        </p:grpSpPr>
        <p:cxnSp>
          <p:nvCxnSpPr>
            <p:cNvPr id="39" name="Straight Connector 38"/>
            <p:cNvCxnSpPr/>
            <p:nvPr/>
          </p:nvCxnSpPr>
          <p:spPr bwMode="auto">
            <a:xfrm flipV="1">
              <a:off x="963202" y="1494223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0" name="Straight Connector 39"/>
            <p:cNvCxnSpPr/>
            <p:nvPr/>
          </p:nvCxnSpPr>
          <p:spPr bwMode="auto">
            <a:xfrm flipV="1">
              <a:off x="1479802" y="1494223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1" name="Straight Connector 40"/>
            <p:cNvCxnSpPr/>
            <p:nvPr/>
          </p:nvCxnSpPr>
          <p:spPr bwMode="auto">
            <a:xfrm flipV="1">
              <a:off x="1788327" y="1494223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2" name="Straight Connector 41"/>
            <p:cNvCxnSpPr/>
            <p:nvPr/>
          </p:nvCxnSpPr>
          <p:spPr bwMode="auto">
            <a:xfrm flipV="1">
              <a:off x="2462843" y="1494227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43" name="Straight Connector 42"/>
            <p:cNvCxnSpPr/>
            <p:nvPr/>
          </p:nvCxnSpPr>
          <p:spPr bwMode="auto">
            <a:xfrm flipV="1">
              <a:off x="1165827" y="1495927"/>
              <a:ext cx="0" cy="5209424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44" name="TextBox 43"/>
          <p:cNvSpPr txBox="1"/>
          <p:nvPr/>
        </p:nvSpPr>
        <p:spPr>
          <a:xfrm>
            <a:off x="6993582" y="4692789"/>
            <a:ext cx="155617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 </a:t>
            </a:r>
            <a:r>
              <a:rPr lang="en-US" sz="1600" dirty="0"/>
              <a:t> </a:t>
            </a:r>
            <a:r>
              <a:rPr lang="en-US" sz="1400" dirty="0" err="1"/>
              <a:t>sDR</a:t>
            </a:r>
            <a:r>
              <a:rPr lang="en-US" sz="1400" dirty="0"/>
              <a:t> density 1.48</a:t>
            </a:r>
            <a:br>
              <a:rPr lang="en-US" sz="1400" dirty="0"/>
            </a:br>
            <a:r>
              <a:rPr lang="en-US" sz="1400" dirty="0" err="1"/>
              <a:t>sMPS</a:t>
            </a:r>
            <a:r>
              <a:rPr lang="en-US" sz="1400" dirty="0"/>
              <a:t> density </a:t>
            </a:r>
            <a:r>
              <a:rPr lang="en-US" sz="1400" dirty="0" smtClean="0"/>
              <a:t>1.33</a:t>
            </a:r>
          </a:p>
          <a:p>
            <a:r>
              <a:rPr lang="en-US" sz="1400" dirty="0" err="1" smtClean="0"/>
              <a:t>sODR</a:t>
            </a:r>
            <a:r>
              <a:rPr lang="en-US" sz="1400" dirty="0" smtClean="0"/>
              <a:t> density 1.33</a:t>
            </a:r>
            <a:r>
              <a:rPr lang="en-US" sz="1400" dirty="0"/>
              <a:t/>
            </a:r>
            <a:br>
              <a:rPr lang="en-US" sz="1400" dirty="0"/>
            </a:b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9124013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What’s happening?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83960"/>
            <a:ext cx="7772400" cy="1320295"/>
          </a:xfrm>
        </p:spPr>
        <p:txBody>
          <a:bodyPr/>
          <a:lstStyle/>
          <a:p>
            <a:r>
              <a:rPr lang="en-US" dirty="0"/>
              <a:t>Gets less dense but never gets close to “converging” to a structured mesh</a:t>
            </a:r>
          </a:p>
          <a:p>
            <a:pPr lvl="1"/>
            <a:r>
              <a:rPr lang="en-US" dirty="0"/>
              <a:t>No </a:t>
            </a:r>
            <a:r>
              <a:rPr lang="en-US" dirty="0">
                <a:solidFill>
                  <a:srgbClr val="0000FF"/>
                </a:solidFill>
              </a:rPr>
              <a:t>pair </a:t>
            </a:r>
            <a:r>
              <a:rPr lang="en-US" dirty="0"/>
              <a:t>can be replaced by </a:t>
            </a:r>
            <a:r>
              <a:rPr lang="en-US" dirty="0">
                <a:solidFill>
                  <a:schemeClr val="tx2"/>
                </a:solidFill>
              </a:rPr>
              <a:t>one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Stuck at a globally random configuration</a:t>
            </a:r>
            <a:endParaRPr lang="en-US" dirty="0"/>
          </a:p>
          <a:p>
            <a:pPr lvl="1"/>
            <a:r>
              <a:rPr lang="en-US" dirty="0">
                <a:solidFill>
                  <a:schemeClr val="tx1"/>
                </a:solidFill>
              </a:rPr>
              <a:t>A</a:t>
            </a:r>
            <a:r>
              <a:rPr lang="en-US" dirty="0">
                <a:solidFill>
                  <a:srgbClr val="0000FF"/>
                </a:solidFill>
              </a:rPr>
              <a:t> triple</a:t>
            </a:r>
            <a:r>
              <a:rPr lang="en-US" dirty="0"/>
              <a:t> can be replaced by </a:t>
            </a:r>
            <a:r>
              <a:rPr lang="en-US" dirty="0">
                <a:solidFill>
                  <a:srgbClr val="0000FF"/>
                </a:solidFill>
              </a:rPr>
              <a:t>two</a:t>
            </a:r>
            <a:r>
              <a:rPr lang="en-US" dirty="0"/>
              <a:t>? Would we want to?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101361" y="3619082"/>
            <a:ext cx="1593187" cy="1181325"/>
            <a:chOff x="7023763" y="5321074"/>
            <a:chExt cx="1593187" cy="1181325"/>
          </a:xfrm>
        </p:grpSpPr>
        <p:grpSp>
          <p:nvGrpSpPr>
            <p:cNvPr id="5" name="Group 4"/>
            <p:cNvGrpSpPr>
              <a:grpSpLocks noChangeAspect="1"/>
            </p:cNvGrpSpPr>
            <p:nvPr/>
          </p:nvGrpSpPr>
          <p:grpSpPr>
            <a:xfrm>
              <a:off x="7023763" y="5321074"/>
              <a:ext cx="1593187" cy="1181325"/>
              <a:chOff x="1866900" y="2596930"/>
              <a:chExt cx="1302004" cy="965419"/>
            </a:xfrm>
          </p:grpSpPr>
          <p:grpSp>
            <p:nvGrpSpPr>
              <p:cNvPr id="9" name="Group 8"/>
              <p:cNvGrpSpPr/>
              <p:nvPr/>
            </p:nvGrpSpPr>
            <p:grpSpPr>
              <a:xfrm>
                <a:off x="2054225" y="2596930"/>
                <a:ext cx="1114679" cy="317719"/>
                <a:chOff x="2054225" y="2596930"/>
                <a:chExt cx="1114679" cy="317719"/>
              </a:xfrm>
            </p:grpSpPr>
            <p:sp>
              <p:nvSpPr>
                <p:cNvPr id="22" name="Isosceles Triangle 21"/>
                <p:cNvSpPr>
                  <a:spLocks noChangeAspect="1"/>
                </p:cNvSpPr>
                <p:nvPr/>
              </p:nvSpPr>
              <p:spPr>
                <a:xfrm>
                  <a:off x="2800350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3" name="Isosceles Triangle 22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4" name="Isosceles Triangle 23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10" name="Group 9"/>
              <p:cNvGrpSpPr/>
              <p:nvPr/>
            </p:nvGrpSpPr>
            <p:grpSpPr>
              <a:xfrm>
                <a:off x="1866900" y="2920780"/>
                <a:ext cx="1114679" cy="317719"/>
                <a:chOff x="2054225" y="2596930"/>
                <a:chExt cx="1114679" cy="317719"/>
              </a:xfrm>
            </p:grpSpPr>
            <p:sp>
              <p:nvSpPr>
                <p:cNvPr id="19" name="Isosceles Triangle 18"/>
                <p:cNvSpPr>
                  <a:spLocks noChangeAspect="1"/>
                </p:cNvSpPr>
                <p:nvPr/>
              </p:nvSpPr>
              <p:spPr>
                <a:xfrm>
                  <a:off x="2800350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0" name="Isosceles Triangle 19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21" name="Isosceles Triangle 20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2054225" y="3244630"/>
                <a:ext cx="743204" cy="317719"/>
                <a:chOff x="2054225" y="2596930"/>
                <a:chExt cx="743204" cy="317719"/>
              </a:xfrm>
            </p:grpSpPr>
            <p:sp>
              <p:nvSpPr>
                <p:cNvPr id="17" name="Isosceles Triangle 16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18" name="Isosceles Triangle 17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cxnSp>
            <p:nvCxnSpPr>
              <p:cNvPr id="12" name="Straight Connector 11"/>
              <p:cNvCxnSpPr/>
              <p:nvPr/>
            </p:nvCxnSpPr>
            <p:spPr>
              <a:xfrm>
                <a:off x="1866900" y="3238499"/>
                <a:ext cx="187325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238502" y="2596930"/>
                <a:ext cx="374650" cy="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>
                <a:off x="2613152" y="2596930"/>
                <a:ext cx="371475" cy="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 flipV="1">
                <a:off x="2981579" y="2914649"/>
                <a:ext cx="187325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 flipV="1">
                <a:off x="2797429" y="3238499"/>
                <a:ext cx="184150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/>
            <p:cNvGrpSpPr>
              <a:grpSpLocks noChangeAspect="1"/>
            </p:cNvGrpSpPr>
            <p:nvPr/>
          </p:nvGrpSpPr>
          <p:grpSpPr>
            <a:xfrm>
              <a:off x="7687368" y="5334000"/>
              <a:ext cx="502831" cy="501650"/>
              <a:chOff x="1014942" y="4818592"/>
              <a:chExt cx="914400" cy="914400"/>
            </a:xfrm>
          </p:grpSpPr>
          <p:sp>
            <p:nvSpPr>
              <p:cNvPr id="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noFill/>
              <a:ln w="25400"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Oval 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rgbClr val="008000"/>
              </a:solidFill>
              <a:ln>
                <a:solidFill>
                  <a:srgbClr val="008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" name="Group 24"/>
          <p:cNvGrpSpPr/>
          <p:nvPr/>
        </p:nvGrpSpPr>
        <p:grpSpPr>
          <a:xfrm>
            <a:off x="626602" y="4068517"/>
            <a:ext cx="930424" cy="711200"/>
            <a:chOff x="5994400" y="1752600"/>
            <a:chExt cx="930424" cy="711200"/>
          </a:xfrm>
        </p:grpSpPr>
        <p:grpSp>
          <p:nvGrpSpPr>
            <p:cNvPr id="26" name="Group 25"/>
            <p:cNvGrpSpPr>
              <a:grpSpLocks noChangeAspect="1"/>
            </p:cNvGrpSpPr>
            <p:nvPr/>
          </p:nvGrpSpPr>
          <p:grpSpPr>
            <a:xfrm>
              <a:off x="5994400" y="1752600"/>
              <a:ext cx="930424" cy="689896"/>
              <a:chOff x="1866900" y="2596930"/>
              <a:chExt cx="1302004" cy="965419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2054225" y="2596930"/>
                <a:ext cx="1114679" cy="317719"/>
                <a:chOff x="2054225" y="2596930"/>
                <a:chExt cx="1114679" cy="317719"/>
              </a:xfrm>
            </p:grpSpPr>
            <p:sp>
              <p:nvSpPr>
                <p:cNvPr id="41" name="Isosceles Triangle 40"/>
                <p:cNvSpPr>
                  <a:spLocks noChangeAspect="1"/>
                </p:cNvSpPr>
                <p:nvPr/>
              </p:nvSpPr>
              <p:spPr>
                <a:xfrm>
                  <a:off x="2800350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42" name="Isosceles Triangle 41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43" name="Isosceles Triangle 42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29" name="Group 28"/>
              <p:cNvGrpSpPr/>
              <p:nvPr/>
            </p:nvGrpSpPr>
            <p:grpSpPr>
              <a:xfrm>
                <a:off x="1866900" y="2920780"/>
                <a:ext cx="1114679" cy="317719"/>
                <a:chOff x="2054225" y="2596930"/>
                <a:chExt cx="1114679" cy="317719"/>
              </a:xfrm>
            </p:grpSpPr>
            <p:sp>
              <p:nvSpPr>
                <p:cNvPr id="38" name="Isosceles Triangle 37"/>
                <p:cNvSpPr>
                  <a:spLocks noChangeAspect="1"/>
                </p:cNvSpPr>
                <p:nvPr/>
              </p:nvSpPr>
              <p:spPr>
                <a:xfrm>
                  <a:off x="2800350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39" name="Isosceles Triangle 38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40" name="Isosceles Triangle 39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grpSp>
            <p:nvGrpSpPr>
              <p:cNvPr id="30" name="Group 29"/>
              <p:cNvGrpSpPr/>
              <p:nvPr/>
            </p:nvGrpSpPr>
            <p:grpSpPr>
              <a:xfrm>
                <a:off x="2054225" y="3244630"/>
                <a:ext cx="743204" cy="317719"/>
                <a:chOff x="2054225" y="2596930"/>
                <a:chExt cx="743204" cy="317719"/>
              </a:xfrm>
            </p:grpSpPr>
            <p:sp>
              <p:nvSpPr>
                <p:cNvPr id="36" name="Isosceles Triangle 35"/>
                <p:cNvSpPr>
                  <a:spLocks noChangeAspect="1"/>
                </p:cNvSpPr>
                <p:nvPr/>
              </p:nvSpPr>
              <p:spPr>
                <a:xfrm>
                  <a:off x="242887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  <p:sp>
              <p:nvSpPr>
                <p:cNvPr id="37" name="Isosceles Triangle 36"/>
                <p:cNvSpPr>
                  <a:spLocks noChangeAspect="1"/>
                </p:cNvSpPr>
                <p:nvPr/>
              </p:nvSpPr>
              <p:spPr>
                <a:xfrm>
                  <a:off x="2054225" y="2596930"/>
                  <a:ext cx="368554" cy="317719"/>
                </a:xfrm>
                <a:prstGeom prst="triangle">
                  <a:avLst/>
                </a:prstGeom>
                <a:noFill/>
                <a:ln w="25400">
                  <a:solidFill>
                    <a:schemeClr val="accent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lvl1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>
                    <a:defRPr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kern="1200"/>
                </a:p>
              </p:txBody>
            </p:sp>
          </p:grpSp>
          <p:cxnSp>
            <p:nvCxnSpPr>
              <p:cNvPr id="31" name="Straight Connector 30"/>
              <p:cNvCxnSpPr/>
              <p:nvPr/>
            </p:nvCxnSpPr>
            <p:spPr>
              <a:xfrm>
                <a:off x="1866900" y="3238499"/>
                <a:ext cx="187325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2238502" y="2596930"/>
                <a:ext cx="374650" cy="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2613152" y="2596930"/>
                <a:ext cx="371475" cy="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V="1">
                <a:off x="2981579" y="2914649"/>
                <a:ext cx="187325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V="1">
                <a:off x="2797429" y="3238499"/>
                <a:ext cx="184150" cy="323850"/>
              </a:xfrm>
              <a:prstGeom prst="line">
                <a:avLst/>
              </a:prstGeom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Flowchart: Connector 9"/>
            <p:cNvSpPr/>
            <p:nvPr/>
          </p:nvSpPr>
          <p:spPr>
            <a:xfrm>
              <a:off x="6271318" y="1962150"/>
              <a:ext cx="502831" cy="501650"/>
            </a:xfrm>
            <a:prstGeom prst="flowChartConnector">
              <a:avLst/>
            </a:prstGeom>
            <a:noFill/>
            <a:ln w="25400"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</p:grpSp>
      <p:sp>
        <p:nvSpPr>
          <p:cNvPr id="44" name="TextBox 43"/>
          <p:cNvSpPr txBox="1"/>
          <p:nvPr/>
        </p:nvSpPr>
        <p:spPr>
          <a:xfrm>
            <a:off x="3860305" y="5662185"/>
            <a:ext cx="1073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density</a:t>
            </a:r>
          </a:p>
        </p:txBody>
      </p:sp>
      <p:cxnSp>
        <p:nvCxnSpPr>
          <p:cNvPr id="46" name="Straight Connector 45"/>
          <p:cNvCxnSpPr/>
          <p:nvPr/>
        </p:nvCxnSpPr>
        <p:spPr bwMode="auto">
          <a:xfrm flipV="1">
            <a:off x="1033241" y="4987686"/>
            <a:ext cx="6737589" cy="35877"/>
          </a:xfrm>
          <a:prstGeom prst="line">
            <a:avLst/>
          </a:prstGeom>
          <a:solidFill>
            <a:schemeClr val="accent1"/>
          </a:solidFill>
          <a:ln w="25400" cap="rnd" cmpd="sng" algn="ctr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pic>
        <p:nvPicPr>
          <p:cNvPr id="53" name="Picture 52" descr="Delaunay_zoom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9248" y="3727399"/>
            <a:ext cx="1114806" cy="1081024"/>
          </a:xfrm>
          <a:prstGeom prst="rect">
            <a:avLst/>
          </a:prstGeom>
        </p:spPr>
      </p:pic>
      <p:grpSp>
        <p:nvGrpSpPr>
          <p:cNvPr id="62" name="Group 61"/>
          <p:cNvGrpSpPr/>
          <p:nvPr/>
        </p:nvGrpSpPr>
        <p:grpSpPr>
          <a:xfrm>
            <a:off x="877106" y="5035875"/>
            <a:ext cx="7072405" cy="467127"/>
            <a:chOff x="877106" y="4812739"/>
            <a:chExt cx="7072405" cy="467127"/>
          </a:xfrm>
        </p:grpSpPr>
        <p:sp>
          <p:nvSpPr>
            <p:cNvPr id="47" name="TextBox 46"/>
            <p:cNvSpPr txBox="1"/>
            <p:nvPr/>
          </p:nvSpPr>
          <p:spPr>
            <a:xfrm>
              <a:off x="877106" y="4816487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3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222503" y="4818201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2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610957" y="4812739"/>
              <a:ext cx="3385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812597" y="4812740"/>
              <a:ext cx="5693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1.8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435929" y="4814454"/>
              <a:ext cx="56938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1.3</a:t>
              </a:r>
            </a:p>
          </p:txBody>
        </p:sp>
      </p:grpSp>
      <p:sp>
        <p:nvSpPr>
          <p:cNvPr id="56" name="Oval 55"/>
          <p:cNvSpPr/>
          <p:nvPr/>
        </p:nvSpPr>
        <p:spPr bwMode="auto">
          <a:xfrm>
            <a:off x="4341044" y="4958983"/>
            <a:ext cx="93279" cy="91440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7" name="Oval 56"/>
          <p:cNvSpPr/>
          <p:nvPr/>
        </p:nvSpPr>
        <p:spPr bwMode="auto">
          <a:xfrm>
            <a:off x="5045942" y="4953522"/>
            <a:ext cx="93279" cy="91440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8" name="Oval 57"/>
          <p:cNvSpPr/>
          <p:nvPr/>
        </p:nvSpPr>
        <p:spPr bwMode="auto">
          <a:xfrm>
            <a:off x="6673012" y="4937457"/>
            <a:ext cx="93279" cy="91440"/>
          </a:xfrm>
          <a:prstGeom prst="ellipse">
            <a:avLst/>
          </a:prstGeom>
          <a:solidFill>
            <a:schemeClr val="accent2"/>
          </a:solidFill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78738" y="3401896"/>
            <a:ext cx="595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MPS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37491" y="3389261"/>
            <a:ext cx="6751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sMPS</a:t>
            </a:r>
          </a:p>
        </p:txBody>
      </p:sp>
      <p:pic>
        <p:nvPicPr>
          <p:cNvPr id="61" name="Picture 60" descr="Delaunay_zoom2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74985" y="3727401"/>
            <a:ext cx="1114806" cy="108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413055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209" y="1669555"/>
            <a:ext cx="6944708" cy="517643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1295400"/>
          </a:xfrm>
        </p:spPr>
        <p:txBody>
          <a:bodyPr/>
          <a:lstStyle/>
          <a:p>
            <a:r>
              <a:rPr lang="en-US"/>
              <a:t>Time and Memory </a:t>
            </a:r>
            <a:br>
              <a:rPr lang="en-US"/>
            </a:br>
            <a:r>
              <a:rPr lang="en-US"/>
              <a:t>Effectively Linear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22067" y="1183960"/>
            <a:ext cx="5969835" cy="1255716"/>
          </a:xfrm>
        </p:spPr>
        <p:txBody>
          <a:bodyPr/>
          <a:lstStyle/>
          <a:p>
            <a:r>
              <a:rPr lang="en-US" sz="2000"/>
              <a:t>Sifting 4x slower than generating MPS</a:t>
            </a:r>
          </a:p>
          <a:p>
            <a:pPr marL="457200" lvl="1" indent="0">
              <a:buNone/>
            </a:pPr>
            <a:r>
              <a:rPr lang="en-US" sz="2000"/>
              <a:t>but done offline…</a:t>
            </a:r>
          </a:p>
          <a:p>
            <a:pPr marL="457200" lvl="1" indent="0">
              <a:buNone/>
            </a:pPr>
            <a:r>
              <a:rPr lang="en-US" sz="2000"/>
              <a:t>≈ 1.5 million / minute on CPU</a:t>
            </a:r>
          </a:p>
        </p:txBody>
      </p:sp>
    </p:spTree>
    <p:extLst>
      <p:ext uri="{BB962C8B-B14F-4D97-AF65-F5344CB8AC3E}">
        <p14:creationId xmlns:p14="http://schemas.microsoft.com/office/powerpoint/2010/main" val="280710129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280988"/>
            <a:ext cx="5865125" cy="1014412"/>
          </a:xfrm>
        </p:spPr>
        <p:txBody>
          <a:bodyPr/>
          <a:lstStyle/>
          <a:p>
            <a:r>
              <a:rPr lang="en-US"/>
              <a:t>Beyond Uniform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97688" y="1155700"/>
            <a:ext cx="4373030" cy="1792371"/>
          </a:xfrm>
        </p:spPr>
        <p:txBody>
          <a:bodyPr/>
          <a:lstStyle/>
          <a:p>
            <a:r>
              <a:rPr lang="en-US" sz="1600" dirty="0"/>
              <a:t>Prior explanation constant radius</a:t>
            </a:r>
          </a:p>
          <a:p>
            <a:r>
              <a:rPr lang="en-US" sz="1800" dirty="0"/>
              <a:t>Spatially varying radii </a:t>
            </a:r>
          </a:p>
          <a:p>
            <a:pPr lvl="1"/>
            <a:r>
              <a:rPr lang="en-US" sz="1600" dirty="0"/>
              <a:t>Theory</a:t>
            </a:r>
          </a:p>
          <a:p>
            <a:pPr lvl="2"/>
            <a:r>
              <a:rPr lang="en-US" sz="1400" dirty="0"/>
              <a:t>Maximum rate of change </a:t>
            </a:r>
            <a:r>
              <a:rPr lang="en-US" sz="1400" dirty="0" smtClean="0"/>
              <a:t>L</a:t>
            </a:r>
          </a:p>
          <a:p>
            <a:pPr lvl="2"/>
            <a:r>
              <a:rPr lang="en-US" sz="1400" dirty="0" smtClean="0"/>
              <a:t>L = 1, 1/2</a:t>
            </a:r>
            <a:endParaRPr lang="en-US" sz="1400" dirty="0"/>
          </a:p>
          <a:p>
            <a:pPr lvl="1"/>
            <a:r>
              <a:rPr lang="en-US" sz="1600" dirty="0"/>
              <a:t>Stippling application</a:t>
            </a:r>
          </a:p>
          <a:p>
            <a:pPr lvl="2"/>
            <a:r>
              <a:rPr lang="en-US" sz="1400" dirty="0"/>
              <a:t>L </a:t>
            </a:r>
            <a:r>
              <a:rPr lang="en-US" sz="1400" dirty="0" smtClean="0"/>
              <a:t>exceeds theory limit, </a:t>
            </a:r>
            <a:r>
              <a:rPr lang="en-US" sz="1400" dirty="0"/>
              <a:t>still </a:t>
            </a:r>
            <a:r>
              <a:rPr lang="en-US" sz="1400" dirty="0" smtClean="0"/>
              <a:t>works</a:t>
            </a:r>
          </a:p>
          <a:p>
            <a:pPr lvl="2"/>
            <a:r>
              <a:rPr lang="en-US" sz="1400" dirty="0" smtClean="0"/>
              <a:t>Disk radius ratio = 10</a:t>
            </a:r>
            <a:endParaRPr lang="en-US" sz="1400" dirty="0"/>
          </a:p>
        </p:txBody>
      </p:sp>
      <p:pic>
        <p:nvPicPr>
          <p:cNvPr id="5" name="Picture 4" descr="omar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2100" y="3433762"/>
            <a:ext cx="4159250" cy="31194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8300" y="6488668"/>
            <a:ext cx="386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/>
              </a:rPr>
              <a:t> grayscale sizing function, high contrast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2300" y="6488668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sz="1800">
                <a:solidFill>
                  <a:prstClr val="black"/>
                </a:solidFill>
                <a:latin typeface="Calibri"/>
              </a:rPr>
              <a:t>abrupt density changes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6106" y="3451225"/>
            <a:ext cx="4328379" cy="3076575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 bwMode="auto">
          <a:xfrm>
            <a:off x="5918819" y="1034411"/>
            <a:ext cx="3074337" cy="24710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0463" y="741354"/>
            <a:ext cx="2750603" cy="249767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5073" y="1195319"/>
            <a:ext cx="2096519" cy="167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05683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Beyond 2d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/>
              <a:t>Prior was all 2d</a:t>
            </a:r>
          </a:p>
          <a:p>
            <a:pPr lvl="1"/>
            <a:r>
              <a:rPr lang="en-US" sz="2000"/>
              <a:t>Higher dimensions</a:t>
            </a:r>
          </a:p>
          <a:p>
            <a:pPr lvl="2"/>
            <a:r>
              <a:rPr lang="en-US" sz="1800"/>
              <a:t>Seems straightforward to implement</a:t>
            </a:r>
          </a:p>
          <a:p>
            <a:pPr lvl="3"/>
            <a:r>
              <a:rPr lang="en-US" sz="1600"/>
              <a:t>Too many purple points for d&gt;5? 6? Kissing number ≈ 3</a:t>
            </a:r>
            <a:r>
              <a:rPr lang="en-US" sz="1600" baseline="30000"/>
              <a:t>d</a:t>
            </a:r>
          </a:p>
          <a:p>
            <a:pPr lvl="2"/>
            <a:r>
              <a:rPr lang="en-US" sz="1800"/>
              <a:t>Effectiveness unknown</a:t>
            </a:r>
          </a:p>
          <a:p>
            <a:pPr marL="171450" indent="0">
              <a:buNone/>
            </a:pPr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3335651" y="3576292"/>
            <a:ext cx="2553854" cy="2186132"/>
            <a:chOff x="1633851" y="2307458"/>
            <a:chExt cx="2553854" cy="2186132"/>
          </a:xfrm>
        </p:grpSpPr>
        <p:grpSp>
          <p:nvGrpSpPr>
            <p:cNvPr id="5" name="Group 4"/>
            <p:cNvGrpSpPr/>
            <p:nvPr/>
          </p:nvGrpSpPr>
          <p:grpSpPr>
            <a:xfrm>
              <a:off x="2084700" y="3579190"/>
              <a:ext cx="914400" cy="914400"/>
              <a:chOff x="1014942" y="4818592"/>
              <a:chExt cx="914400" cy="914400"/>
            </a:xfrm>
          </p:grpSpPr>
          <p:sp>
            <p:nvSpPr>
              <p:cNvPr id="2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Oval 2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2809754" y="2331704"/>
              <a:ext cx="914400" cy="914400"/>
              <a:chOff x="1014942" y="4818592"/>
              <a:chExt cx="914400" cy="914400"/>
            </a:xfrm>
          </p:grpSpPr>
          <p:sp>
            <p:nvSpPr>
              <p:cNvPr id="2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7" name="Group 6"/>
            <p:cNvGrpSpPr/>
            <p:nvPr/>
          </p:nvGrpSpPr>
          <p:grpSpPr>
            <a:xfrm>
              <a:off x="1660405" y="2575314"/>
              <a:ext cx="914400" cy="914400"/>
              <a:chOff x="1014942" y="4818592"/>
              <a:chExt cx="914400" cy="914400"/>
            </a:xfrm>
          </p:grpSpPr>
          <p:sp>
            <p:nvSpPr>
              <p:cNvPr id="2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/>
            <p:cNvGrpSpPr/>
            <p:nvPr/>
          </p:nvGrpSpPr>
          <p:grpSpPr>
            <a:xfrm>
              <a:off x="1633851" y="3206849"/>
              <a:ext cx="914400" cy="914400"/>
              <a:chOff x="1014942" y="4818592"/>
              <a:chExt cx="914400" cy="914400"/>
            </a:xfrm>
          </p:grpSpPr>
          <p:sp>
            <p:nvSpPr>
              <p:cNvPr id="21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Oval 21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/>
            <p:cNvGrpSpPr/>
            <p:nvPr/>
          </p:nvGrpSpPr>
          <p:grpSpPr>
            <a:xfrm>
              <a:off x="2298867" y="2307458"/>
              <a:ext cx="914400" cy="914400"/>
              <a:chOff x="1014942" y="4818592"/>
              <a:chExt cx="914400" cy="914400"/>
            </a:xfrm>
          </p:grpSpPr>
          <p:sp>
            <p:nvSpPr>
              <p:cNvPr id="19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2670631" y="3429677"/>
              <a:ext cx="914400" cy="914400"/>
              <a:chOff x="1014942" y="4818592"/>
              <a:chExt cx="914400" cy="914400"/>
            </a:xfrm>
          </p:grpSpPr>
          <p:sp>
            <p:nvSpPr>
              <p:cNvPr id="17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3273305" y="3131805"/>
              <a:ext cx="914400" cy="914400"/>
              <a:chOff x="1014942" y="4818592"/>
              <a:chExt cx="914400" cy="914400"/>
            </a:xfrm>
          </p:grpSpPr>
          <p:sp>
            <p:nvSpPr>
              <p:cNvPr id="15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>
              <a:off x="3235204" y="2654979"/>
              <a:ext cx="914400" cy="914400"/>
              <a:chOff x="1014942" y="4818592"/>
              <a:chExt cx="914400" cy="914400"/>
            </a:xfrm>
          </p:grpSpPr>
          <p:sp>
            <p:nvSpPr>
              <p:cNvPr id="13" name="Flowchart: Connector 9"/>
              <p:cNvSpPr/>
              <p:nvPr/>
            </p:nvSpPr>
            <p:spPr>
              <a:xfrm>
                <a:off x="1014942" y="4818592"/>
                <a:ext cx="914400" cy="914400"/>
              </a:xfrm>
              <a:prstGeom prst="flowChartConnector">
                <a:avLst/>
              </a:prstGeom>
              <a:solidFill>
                <a:schemeClr val="accent1">
                  <a:lumMod val="60000"/>
                  <a:lumOff val="40000"/>
                  <a:alpha val="50000"/>
                </a:schemeClr>
              </a:solidFill>
              <a:ln w="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1467570" y="5271220"/>
                <a:ext cx="18288" cy="18288"/>
              </a:xfrm>
              <a:prstGeom prst="ellipse">
                <a:avLst/>
              </a:prstGeom>
              <a:solidFill>
                <a:schemeClr val="tx2"/>
              </a:solidFill>
              <a:ln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9" name="Group 28"/>
          <p:cNvGrpSpPr/>
          <p:nvPr/>
        </p:nvGrpSpPr>
        <p:grpSpPr>
          <a:xfrm>
            <a:off x="3785343" y="4385051"/>
            <a:ext cx="914400" cy="914400"/>
            <a:chOff x="6224899" y="1646469"/>
            <a:chExt cx="914400" cy="914400"/>
          </a:xfrm>
        </p:grpSpPr>
        <p:sp>
          <p:nvSpPr>
            <p:cNvPr id="30" name="Flowchart: Connector 9"/>
            <p:cNvSpPr/>
            <p:nvPr/>
          </p:nvSpPr>
          <p:spPr>
            <a:xfrm>
              <a:off x="6224899" y="1646469"/>
              <a:ext cx="914400" cy="914400"/>
            </a:xfrm>
            <a:prstGeom prst="flowChartConnector">
              <a:avLst/>
            </a:prstGeom>
            <a:solidFill>
              <a:srgbClr val="660066">
                <a:alpha val="10000"/>
              </a:srgbClr>
            </a:solidFill>
            <a:ln w="0"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6677527" y="2099097"/>
              <a:ext cx="18288" cy="18288"/>
            </a:xfrm>
            <a:prstGeom prst="ellipse">
              <a:avLst/>
            </a:prstGeom>
            <a:solidFill>
              <a:srgbClr val="660066"/>
            </a:solidFill>
            <a:ln>
              <a:solidFill>
                <a:srgbClr val="6600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3227643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_space_for_all_sampling_methods2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302" y="789306"/>
            <a:ext cx="7853603" cy="60686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1755"/>
            <a:ext cx="7772400" cy="1223645"/>
          </a:xfrm>
        </p:spPr>
        <p:txBody>
          <a:bodyPr/>
          <a:lstStyle/>
          <a:p>
            <a:r>
              <a:rPr lang="en-US"/>
              <a:t>Bonus Thought</a:t>
            </a:r>
            <a:br>
              <a:rPr lang="en-US"/>
            </a:br>
            <a:r>
              <a:rPr lang="en-US"/>
              <a:t>how I think about sampling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77118" y="3207276"/>
            <a:ext cx="1313111" cy="1626020"/>
            <a:chOff x="177118" y="1888663"/>
            <a:chExt cx="1313111" cy="1626020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0809" y="1888663"/>
              <a:ext cx="942368" cy="901017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177118" y="2745242"/>
              <a:ext cx="131311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smtClean="0">
                  <a:solidFill>
                    <a:schemeClr val="accent2"/>
                  </a:solidFill>
                </a:rPr>
                <a:t>Variable Radii MPS </a:t>
              </a:r>
            </a:p>
            <a:p>
              <a:pPr algn="ctr"/>
              <a:r>
                <a:rPr lang="en-US" sz="1100" dirty="0" smtClean="0">
                  <a:solidFill>
                    <a:schemeClr val="accent2"/>
                  </a:solidFill>
                </a:rPr>
                <a:t>(two-radii variant)</a:t>
              </a:r>
              <a:br>
                <a:rPr lang="en-US" sz="1100" dirty="0" smtClean="0">
                  <a:solidFill>
                    <a:schemeClr val="accent2"/>
                  </a:solidFill>
                </a:rPr>
              </a:br>
              <a:r>
                <a:rPr lang="en-US" sz="1100" dirty="0" smtClean="0">
                  <a:solidFill>
                    <a:schemeClr val="accent2"/>
                  </a:solidFill>
                </a:rPr>
                <a:t>Mitchell et al.</a:t>
              </a:r>
            </a:p>
            <a:p>
              <a:pPr algn="ctr"/>
              <a:r>
                <a:rPr lang="en-US" sz="1100" dirty="0" smtClean="0">
                  <a:solidFill>
                    <a:schemeClr val="accent2"/>
                  </a:solidFill>
                </a:rPr>
                <a:t>CCCG 2012</a:t>
              </a:r>
              <a:endParaRPr lang="en-US" sz="1100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9112614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Sifting (replace 2-for-1) points </a:t>
            </a:r>
          </a:p>
          <a:p>
            <a:pPr lvl="1"/>
            <a:r>
              <a:rPr lang="en-US"/>
              <a:t>Reduces the number of points</a:t>
            </a:r>
          </a:p>
          <a:p>
            <a:pPr lvl="1"/>
            <a:r>
              <a:rPr lang="en-US"/>
              <a:t>Retains randomness and quality</a:t>
            </a:r>
          </a:p>
          <a:p>
            <a:pPr lvl="1"/>
            <a:r>
              <a:rPr lang="en-US"/>
              <a:t>Poisson-disk sampling as a subroutine - resample</a:t>
            </a:r>
          </a:p>
          <a:p>
            <a:r>
              <a:rPr lang="en-US"/>
              <a:t>To do</a:t>
            </a:r>
          </a:p>
          <a:p>
            <a:pPr lvl="1"/>
            <a:r>
              <a:rPr lang="en-US"/>
              <a:t>Theory for rapidly varying sizing function, L &gt;&gt; 1</a:t>
            </a:r>
          </a:p>
          <a:p>
            <a:pPr lvl="1"/>
            <a:r>
              <a:rPr lang="en-US"/>
              <a:t>High dimensions</a:t>
            </a:r>
          </a:p>
          <a:p>
            <a:pPr lvl="1"/>
            <a:r>
              <a:rPr lang="en-US"/>
              <a:t>Generate a sparser distribution to begin with</a:t>
            </a:r>
          </a:p>
        </p:txBody>
      </p:sp>
    </p:spTree>
    <p:extLst>
      <p:ext uri="{BB962C8B-B14F-4D97-AF65-F5344CB8AC3E}">
        <p14:creationId xmlns:p14="http://schemas.microsoft.com/office/powerpoint/2010/main" val="3342240509"/>
      </p:ext>
    </p:extLst>
  </p:cSld>
  <p:clrMapOvr>
    <a:masterClrMapping/>
  </p:clrMapOvr>
  <p:transition xmlns:p14="http://schemas.microsoft.com/office/powerpoint/2010/main" spd="med"/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685800" y="222754"/>
            <a:ext cx="7772400" cy="46327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>
                <a:solidFill>
                  <a:prstClr val="black"/>
                </a:solidFill>
                <a:latin typeface="Calibri"/>
              </a:rPr>
              <a:t>Representative image for website</a:t>
            </a:r>
          </a:p>
        </p:txBody>
      </p:sp>
      <p:grpSp>
        <p:nvGrpSpPr>
          <p:cNvPr id="108" name="Group 107"/>
          <p:cNvGrpSpPr/>
          <p:nvPr/>
        </p:nvGrpSpPr>
        <p:grpSpPr>
          <a:xfrm>
            <a:off x="1844994" y="1609281"/>
            <a:ext cx="2556163" cy="4782256"/>
            <a:chOff x="1844994" y="1609281"/>
            <a:chExt cx="2556163" cy="4782256"/>
          </a:xfrm>
        </p:grpSpPr>
        <p:grpSp>
          <p:nvGrpSpPr>
            <p:cNvPr id="3" name="Group 2"/>
            <p:cNvGrpSpPr/>
            <p:nvPr/>
          </p:nvGrpSpPr>
          <p:grpSpPr>
            <a:xfrm>
              <a:off x="1844994" y="1609281"/>
              <a:ext cx="2556163" cy="2222501"/>
              <a:chOff x="1615380" y="3455075"/>
              <a:chExt cx="2556163" cy="2222501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2066229" y="4726807"/>
                <a:ext cx="914400" cy="914400"/>
                <a:chOff x="1014942" y="4818592"/>
                <a:chExt cx="914400" cy="914400"/>
              </a:xfrm>
            </p:grpSpPr>
            <p:sp>
              <p:nvSpPr>
                <p:cNvPr id="3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" name="Group 4"/>
              <p:cNvGrpSpPr/>
              <p:nvPr/>
            </p:nvGrpSpPr>
            <p:grpSpPr>
              <a:xfrm>
                <a:off x="2791283" y="3479321"/>
                <a:ext cx="914400" cy="914400"/>
                <a:chOff x="1014942" y="4818592"/>
                <a:chExt cx="914400" cy="914400"/>
              </a:xfrm>
            </p:grpSpPr>
            <p:sp>
              <p:nvSpPr>
                <p:cNvPr id="3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Oval 3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" name="Group 5"/>
              <p:cNvGrpSpPr/>
              <p:nvPr/>
            </p:nvGrpSpPr>
            <p:grpSpPr>
              <a:xfrm>
                <a:off x="1641934" y="3722931"/>
                <a:ext cx="914400" cy="914400"/>
                <a:chOff x="1014942" y="4818592"/>
                <a:chExt cx="914400" cy="914400"/>
              </a:xfrm>
            </p:grpSpPr>
            <p:sp>
              <p:nvSpPr>
                <p:cNvPr id="3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" name="Group 6"/>
              <p:cNvGrpSpPr/>
              <p:nvPr/>
            </p:nvGrpSpPr>
            <p:grpSpPr>
              <a:xfrm>
                <a:off x="1615380" y="4354466"/>
                <a:ext cx="914400" cy="914400"/>
                <a:chOff x="1014942" y="4818592"/>
                <a:chExt cx="914400" cy="914400"/>
              </a:xfrm>
            </p:grpSpPr>
            <p:sp>
              <p:nvSpPr>
                <p:cNvPr id="2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" name="Group 7"/>
              <p:cNvGrpSpPr/>
              <p:nvPr/>
            </p:nvGrpSpPr>
            <p:grpSpPr>
              <a:xfrm>
                <a:off x="3257143" y="4275957"/>
                <a:ext cx="914400" cy="914400"/>
                <a:chOff x="1014942" y="4818592"/>
                <a:chExt cx="914400" cy="914400"/>
              </a:xfrm>
            </p:grpSpPr>
            <p:sp>
              <p:nvSpPr>
                <p:cNvPr id="27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" name="Group 8"/>
              <p:cNvGrpSpPr/>
              <p:nvPr/>
            </p:nvGrpSpPr>
            <p:grpSpPr>
              <a:xfrm>
                <a:off x="3219042" y="3799131"/>
                <a:ext cx="914400" cy="914400"/>
                <a:chOff x="1014942" y="4818592"/>
                <a:chExt cx="914400" cy="914400"/>
              </a:xfrm>
            </p:grpSpPr>
            <p:sp>
              <p:nvSpPr>
                <p:cNvPr id="2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" name="Group 9"/>
              <p:cNvGrpSpPr/>
              <p:nvPr/>
            </p:nvGrpSpPr>
            <p:grpSpPr>
              <a:xfrm>
                <a:off x="2280396" y="3455075"/>
                <a:ext cx="914400" cy="914400"/>
                <a:chOff x="1014942" y="4818592"/>
                <a:chExt cx="914400" cy="914400"/>
              </a:xfrm>
            </p:grpSpPr>
            <p:sp>
              <p:nvSpPr>
                <p:cNvPr id="2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4" name="Oval 2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" name="Group 10"/>
              <p:cNvGrpSpPr/>
              <p:nvPr/>
            </p:nvGrpSpPr>
            <p:grpSpPr>
              <a:xfrm>
                <a:off x="2652160" y="4577294"/>
                <a:ext cx="914400" cy="914400"/>
                <a:chOff x="1014942" y="4818592"/>
                <a:chExt cx="914400" cy="914400"/>
              </a:xfrm>
            </p:grpSpPr>
            <p:sp>
              <p:nvSpPr>
                <p:cNvPr id="2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Oval 2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" name="Group 11"/>
              <p:cNvGrpSpPr/>
              <p:nvPr/>
            </p:nvGrpSpPr>
            <p:grpSpPr>
              <a:xfrm>
                <a:off x="2076620" y="3982704"/>
                <a:ext cx="914400" cy="914400"/>
                <a:chOff x="1014942" y="4818592"/>
                <a:chExt cx="914400" cy="914400"/>
              </a:xfrm>
            </p:grpSpPr>
            <p:sp>
              <p:nvSpPr>
                <p:cNvPr id="1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FF0000">
                    <a:alpha val="50000"/>
                  </a:srgbClr>
                </a:solidFill>
                <a:ln w="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" name="Group 12"/>
              <p:cNvGrpSpPr/>
              <p:nvPr/>
            </p:nvGrpSpPr>
            <p:grpSpPr>
              <a:xfrm>
                <a:off x="2777430" y="4054286"/>
                <a:ext cx="914400" cy="914400"/>
                <a:chOff x="1014942" y="4818592"/>
                <a:chExt cx="914400" cy="914400"/>
              </a:xfrm>
            </p:grpSpPr>
            <p:sp>
              <p:nvSpPr>
                <p:cNvPr id="17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FF0000">
                    <a:alpha val="50000"/>
                  </a:srgbClr>
                </a:solidFill>
                <a:ln w="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4" name="Group 13"/>
              <p:cNvGrpSpPr/>
              <p:nvPr/>
            </p:nvGrpSpPr>
            <p:grpSpPr>
              <a:xfrm>
                <a:off x="3167087" y="4763176"/>
                <a:ext cx="914400" cy="914400"/>
                <a:chOff x="1014942" y="4818592"/>
                <a:chExt cx="914400" cy="914400"/>
              </a:xfrm>
            </p:grpSpPr>
            <p:sp>
              <p:nvSpPr>
                <p:cNvPr id="1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chemeClr val="accent1">
                    <a:lumMod val="60000"/>
                    <a:lumOff val="40000"/>
                    <a:alpha val="50000"/>
                  </a:schemeClr>
                </a:solidFill>
                <a:ln w="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0" name="Group 69"/>
            <p:cNvGrpSpPr/>
            <p:nvPr/>
          </p:nvGrpSpPr>
          <p:grpSpPr>
            <a:xfrm>
              <a:off x="1844994" y="4174809"/>
              <a:ext cx="2556163" cy="2216728"/>
              <a:chOff x="4960087" y="3445837"/>
              <a:chExt cx="2556163" cy="2216728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5410936" y="4717569"/>
                <a:ext cx="914400" cy="914400"/>
                <a:chOff x="1014942" y="4818592"/>
                <a:chExt cx="914400" cy="914400"/>
              </a:xfrm>
            </p:grpSpPr>
            <p:sp>
              <p:nvSpPr>
                <p:cNvPr id="10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2" name="Oval 10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2" name="Group 71"/>
              <p:cNvGrpSpPr/>
              <p:nvPr/>
            </p:nvGrpSpPr>
            <p:grpSpPr>
              <a:xfrm>
                <a:off x="6135990" y="3470083"/>
                <a:ext cx="914400" cy="914400"/>
                <a:chOff x="1014942" y="4818592"/>
                <a:chExt cx="914400" cy="914400"/>
              </a:xfrm>
            </p:grpSpPr>
            <p:sp>
              <p:nvSpPr>
                <p:cNvPr id="9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100" name="Oval 9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3" name="Group 72"/>
              <p:cNvGrpSpPr/>
              <p:nvPr/>
            </p:nvGrpSpPr>
            <p:grpSpPr>
              <a:xfrm>
                <a:off x="4986641" y="3713693"/>
                <a:ext cx="914400" cy="914400"/>
                <a:chOff x="1014942" y="4818592"/>
                <a:chExt cx="914400" cy="914400"/>
              </a:xfrm>
            </p:grpSpPr>
            <p:sp>
              <p:nvSpPr>
                <p:cNvPr id="97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8" name="Oval 97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4" name="Group 73"/>
              <p:cNvGrpSpPr/>
              <p:nvPr/>
            </p:nvGrpSpPr>
            <p:grpSpPr>
              <a:xfrm>
                <a:off x="4960087" y="4345228"/>
                <a:ext cx="914400" cy="914400"/>
                <a:chOff x="1014942" y="4818592"/>
                <a:chExt cx="914400" cy="914400"/>
              </a:xfrm>
            </p:grpSpPr>
            <p:sp>
              <p:nvSpPr>
                <p:cNvPr id="9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6" name="Oval 95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5" name="Group 74"/>
              <p:cNvGrpSpPr/>
              <p:nvPr/>
            </p:nvGrpSpPr>
            <p:grpSpPr>
              <a:xfrm>
                <a:off x="6601850" y="4266719"/>
                <a:ext cx="914400" cy="914400"/>
                <a:chOff x="1014942" y="4818592"/>
                <a:chExt cx="914400" cy="914400"/>
              </a:xfrm>
            </p:grpSpPr>
            <p:sp>
              <p:nvSpPr>
                <p:cNvPr id="9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4" name="Oval 9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6" name="Group 75"/>
              <p:cNvGrpSpPr/>
              <p:nvPr/>
            </p:nvGrpSpPr>
            <p:grpSpPr>
              <a:xfrm>
                <a:off x="6563749" y="3789893"/>
                <a:ext cx="914400" cy="914400"/>
                <a:chOff x="1014942" y="4818592"/>
                <a:chExt cx="914400" cy="914400"/>
              </a:xfrm>
            </p:grpSpPr>
            <p:sp>
              <p:nvSpPr>
                <p:cNvPr id="91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2" name="Oval 91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7" name="Group 76"/>
              <p:cNvGrpSpPr/>
              <p:nvPr/>
            </p:nvGrpSpPr>
            <p:grpSpPr>
              <a:xfrm>
                <a:off x="5625103" y="3445837"/>
                <a:ext cx="914400" cy="914400"/>
                <a:chOff x="1014942" y="4818592"/>
                <a:chExt cx="914400" cy="914400"/>
              </a:xfrm>
            </p:grpSpPr>
            <p:sp>
              <p:nvSpPr>
                <p:cNvPr id="89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90" name="Oval 89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8" name="Group 77"/>
              <p:cNvGrpSpPr/>
              <p:nvPr/>
            </p:nvGrpSpPr>
            <p:grpSpPr>
              <a:xfrm>
                <a:off x="5996867" y="4568056"/>
                <a:ext cx="914400" cy="914400"/>
                <a:chOff x="1014942" y="4818592"/>
                <a:chExt cx="914400" cy="914400"/>
              </a:xfrm>
            </p:grpSpPr>
            <p:sp>
              <p:nvSpPr>
                <p:cNvPr id="87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88" name="Oval 87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79" name="Group 78"/>
              <p:cNvGrpSpPr/>
              <p:nvPr/>
            </p:nvGrpSpPr>
            <p:grpSpPr>
              <a:xfrm>
                <a:off x="5752382" y="4083150"/>
                <a:ext cx="914400" cy="914400"/>
                <a:chOff x="1014942" y="4818592"/>
                <a:chExt cx="914400" cy="914400"/>
              </a:xfrm>
            </p:grpSpPr>
            <p:sp>
              <p:nvSpPr>
                <p:cNvPr id="85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00AE00">
                    <a:alpha val="50000"/>
                  </a:srgbClr>
                </a:solidFill>
                <a:ln w="0" cap="flat" cmpd="sng" algn="ctr">
                  <a:solidFill>
                    <a:srgbClr val="00AE00"/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86" name="Oval 85"/>
                <p:cNvSpPr/>
                <p:nvPr/>
              </p:nvSpPr>
              <p:spPr>
                <a:xfrm>
                  <a:off x="1470955" y="5271220"/>
                  <a:ext cx="27432" cy="27432"/>
                </a:xfrm>
                <a:prstGeom prst="ellipse">
                  <a:avLst/>
                </a:prstGeom>
                <a:solidFill>
                  <a:srgbClr val="00AE00">
                    <a:lumMod val="75000"/>
                  </a:srgbClr>
                </a:solidFill>
                <a:ln w="25400" cap="flat" cmpd="sng" algn="ctr">
                  <a:solidFill>
                    <a:srgbClr val="00AE00">
                      <a:lumMod val="75000"/>
                    </a:srgb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80" name="Oval 79"/>
              <p:cNvSpPr/>
              <p:nvPr/>
            </p:nvSpPr>
            <p:spPr>
              <a:xfrm>
                <a:off x="6574765" y="4497676"/>
                <a:ext cx="18288" cy="18288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1" name="Oval 80"/>
              <p:cNvSpPr/>
              <p:nvPr/>
            </p:nvSpPr>
            <p:spPr>
              <a:xfrm>
                <a:off x="5873955" y="4426094"/>
                <a:ext cx="18288" cy="18288"/>
              </a:xfrm>
              <a:prstGeom prst="ellipse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82" name="Group 81"/>
              <p:cNvGrpSpPr/>
              <p:nvPr/>
            </p:nvGrpSpPr>
            <p:grpSpPr>
              <a:xfrm>
                <a:off x="6517574" y="4748165"/>
                <a:ext cx="914400" cy="914400"/>
                <a:chOff x="1014942" y="4818592"/>
                <a:chExt cx="914400" cy="914400"/>
              </a:xfrm>
            </p:grpSpPr>
            <p:sp>
              <p:nvSpPr>
                <p:cNvPr id="83" name="Flowchart: Connector 9"/>
                <p:cNvSpPr/>
                <p:nvPr/>
              </p:nvSpPr>
              <p:spPr>
                <a:xfrm>
                  <a:off x="1014942" y="4818592"/>
                  <a:ext cx="914400" cy="914400"/>
                </a:xfrm>
                <a:prstGeom prst="flowChartConnector">
                  <a:avLst/>
                </a:prstGeom>
                <a:solidFill>
                  <a:srgbClr val="618FFD">
                    <a:lumMod val="60000"/>
                    <a:lumOff val="40000"/>
                    <a:alpha val="50000"/>
                  </a:srgbClr>
                </a:solidFill>
                <a:ln w="0" cap="flat" cmpd="sng" algn="ctr">
                  <a:solidFill>
                    <a:srgbClr val="618FFD">
                      <a:shade val="50000"/>
                    </a:srgbClr>
                  </a:solidFill>
                  <a:prstDash val="solid"/>
                </a:ln>
                <a:effectLst/>
              </p:spPr>
              <p:txBody>
                <a:bodyPr wrap="none"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84" name="Oval 83"/>
                <p:cNvSpPr/>
                <p:nvPr/>
              </p:nvSpPr>
              <p:spPr>
                <a:xfrm>
                  <a:off x="1467570" y="5271220"/>
                  <a:ext cx="18288" cy="18288"/>
                </a:xfrm>
                <a:prstGeom prst="ellipse">
                  <a:avLst/>
                </a:prstGeom>
                <a:solidFill>
                  <a:srgbClr val="0000FF"/>
                </a:solidFill>
                <a:ln w="25400" cap="flat" cmpd="sng" algn="ctr">
                  <a:solidFill>
                    <a:srgbClr val="0000FF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106" name="TextBox 105"/>
            <p:cNvSpPr txBox="1"/>
            <p:nvPr/>
          </p:nvSpPr>
          <p:spPr>
            <a:xfrm>
              <a:off x="2300387" y="3713144"/>
              <a:ext cx="16980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Sifted Disks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42931753"/>
      </p:ext>
    </p:extLst>
  </p:cSld>
  <p:clrMapOvr>
    <a:masterClrMapping/>
  </p:clrMapOvr>
  <p:transition xmlns:p14="http://schemas.microsoft.com/office/powerpoint/2010/main">
    <p:fade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64203</TotalTime>
  <Words>964</Words>
  <Application>Microsoft Macintosh PowerPoint</Application>
  <PresentationFormat>On-screen Show (4:3)</PresentationFormat>
  <Paragraphs>265</Paragraphs>
  <Slides>32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Default Design</vt:lpstr>
      <vt:lpstr>1_Office Theme</vt:lpstr>
      <vt:lpstr>2_Office Theme</vt:lpstr>
      <vt:lpstr>PowerPoint Presentation</vt:lpstr>
      <vt:lpstr>PowerPoint Presentation</vt:lpstr>
      <vt:lpstr>PowerPoint Presentation</vt:lpstr>
      <vt:lpstr>Overview</vt:lpstr>
      <vt:lpstr>PowerPoint Presentation</vt:lpstr>
      <vt:lpstr>Problem Painting Yourself Into a Corner</vt:lpstr>
      <vt:lpstr>DR Solution off-centers DR (ODR)</vt:lpstr>
      <vt:lpstr>Offcenters reduces density… by a lot for non-uniform sizing functions</vt:lpstr>
      <vt:lpstr>Our MPS-like Solution: Sifting</vt:lpstr>
      <vt:lpstr>Sifting Algorithm Gather Boundary Disks</vt:lpstr>
      <vt:lpstr>Sifting Algorithm Winnow Non-Bounding Disks</vt:lpstr>
      <vt:lpstr>Sifting Algorithm Exclusion – Inclusion Disks</vt:lpstr>
      <vt:lpstr>Sifting Algorithm Search for Random Location – Using “Simple MPS”</vt:lpstr>
      <vt:lpstr>How Well Did We Do?</vt:lpstr>
      <vt:lpstr>Sifting Improves All  Uniform Test Distributions</vt:lpstr>
      <vt:lpstr>Sifting reduces  number of points by ≈25% </vt:lpstr>
      <vt:lpstr>Sifting changes triangulation edge lengths, angles, Voronoi cell squish</vt:lpstr>
      <vt:lpstr>Sifting changes triangulation edge lengths, angles, Voronoi cell squish</vt:lpstr>
      <vt:lpstr>Sifting changes triangulation edge lengths, angles, Voronoi cell squish</vt:lpstr>
      <vt:lpstr>How Well Did We Do?</vt:lpstr>
      <vt:lpstr>DR and ODR  Sometimes Appear Random</vt:lpstr>
      <vt:lpstr>Sifting Retains Randomness Surprise!   But not identical.</vt:lpstr>
      <vt:lpstr>Sifting (introduces?) Randomness Surprise!   But not identical.</vt:lpstr>
      <vt:lpstr>Sifting (introduces?) Randomness Surprise!   But not identical.</vt:lpstr>
      <vt:lpstr>Original distribution doesn’t  seem to matter much</vt:lpstr>
      <vt:lpstr>What’s happening?</vt:lpstr>
      <vt:lpstr>Time and Memory  Effectively Linear</vt:lpstr>
      <vt:lpstr>Beyond Uniform</vt:lpstr>
      <vt:lpstr>Beyond 2d</vt:lpstr>
      <vt:lpstr>Bonus Thought how I think about sampling</vt:lpstr>
      <vt:lpstr>Summary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32pt</dc:title>
  <cp:lastModifiedBy>Scott Mitchell</cp:lastModifiedBy>
  <cp:revision>726</cp:revision>
  <cp:lastPrinted>2013-05-02T21:48:15Z</cp:lastPrinted>
  <dcterms:modified xsi:type="dcterms:W3CDTF">2013-05-04T00:37:13Z</dcterms:modified>
</cp:coreProperties>
</file>