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embeddings/oleObject1.bin" ContentType="application/vnd.openxmlformats-officedocument.oleObject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256" r:id="rId2"/>
    <p:sldId id="369" r:id="rId3"/>
    <p:sldId id="386" r:id="rId4"/>
    <p:sldId id="403" r:id="rId5"/>
    <p:sldId id="404" r:id="rId6"/>
    <p:sldId id="394" r:id="rId7"/>
    <p:sldId id="423" r:id="rId8"/>
    <p:sldId id="425" r:id="rId9"/>
    <p:sldId id="387" r:id="rId10"/>
    <p:sldId id="389" r:id="rId11"/>
    <p:sldId id="388" r:id="rId12"/>
    <p:sldId id="428" r:id="rId13"/>
    <p:sldId id="390" r:id="rId14"/>
    <p:sldId id="392" r:id="rId15"/>
    <p:sldId id="385" r:id="rId16"/>
    <p:sldId id="395" r:id="rId17"/>
    <p:sldId id="396" r:id="rId18"/>
    <p:sldId id="393" r:id="rId19"/>
    <p:sldId id="405" r:id="rId20"/>
    <p:sldId id="382" r:id="rId21"/>
    <p:sldId id="409" r:id="rId22"/>
    <p:sldId id="383" r:id="rId23"/>
    <p:sldId id="384" r:id="rId24"/>
    <p:sldId id="398" r:id="rId25"/>
    <p:sldId id="417" r:id="rId26"/>
    <p:sldId id="411" r:id="rId27"/>
    <p:sldId id="413" r:id="rId28"/>
    <p:sldId id="414" r:id="rId29"/>
    <p:sldId id="415" r:id="rId30"/>
    <p:sldId id="416" r:id="rId31"/>
    <p:sldId id="419" r:id="rId32"/>
    <p:sldId id="406" r:id="rId33"/>
    <p:sldId id="408" r:id="rId34"/>
    <p:sldId id="421" r:id="rId35"/>
    <p:sldId id="418" r:id="rId36"/>
    <p:sldId id="407" r:id="rId37"/>
    <p:sldId id="376" r:id="rId38"/>
    <p:sldId id="422" r:id="rId39"/>
    <p:sldId id="424" r:id="rId40"/>
    <p:sldId id="402" r:id="rId41"/>
    <p:sldId id="427" r:id="rId42"/>
  </p:sldIdLst>
  <p:sldSz cx="9144000" cy="6858000" type="screen4x3"/>
  <p:notesSz cx="6940550" cy="90805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60">
          <p15:clr>
            <a:srgbClr val="A4A3A4"/>
          </p15:clr>
        </p15:guide>
        <p15:guide id="2" pos="218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519A"/>
    <a:srgbClr val="263869"/>
    <a:srgbClr val="850085"/>
    <a:srgbClr val="01AAA0"/>
    <a:srgbClr val="FFD906"/>
    <a:srgbClr val="FF0000"/>
    <a:srgbClr val="00D200"/>
    <a:srgbClr val="FA0456"/>
    <a:srgbClr val="3366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86" autoAdjust="0"/>
    <p:restoredTop sz="94660" autoAdjust="0"/>
  </p:normalViewPr>
  <p:slideViewPr>
    <p:cSldViewPr snapToGrid="0">
      <p:cViewPr varScale="1">
        <p:scale>
          <a:sx n="168" d="100"/>
          <a:sy n="168" d="100"/>
        </p:scale>
        <p:origin x="-1856" y="-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5" d="100"/>
          <a:sy n="135" d="100"/>
        </p:scale>
        <p:origin x="-4672" y="-120"/>
      </p:cViewPr>
      <p:guideLst>
        <p:guide orient="horz" pos="2860"/>
        <p:guide pos="218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handoutMaster" Target="handoutMasters/handoutMaster1.xml"/><Relationship Id="rId45" Type="http://schemas.openxmlformats.org/officeDocument/2006/relationships/printerSettings" Target="printerSettings/printerSettings1.bin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7300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340225"/>
            <a:ext cx="5049837" cy="4105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581" tIns="46085" rIns="90581" bIns="460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9675" y="687388"/>
            <a:ext cx="4522788" cy="33924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sp>
    </p:spTree>
    <p:extLst>
      <p:ext uri="{BB962C8B-B14F-4D97-AF65-F5344CB8AC3E}">
        <p14:creationId xmlns:p14="http://schemas.microsoft.com/office/powerpoint/2010/main" val="28917420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2438"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04875"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57313"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09750"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I’m Scott and the lucky one who will give the talk, and I did the proofs, but</a:t>
            </a:r>
          </a:p>
          <a:p>
            <a:r>
              <a:rPr lang="en-US" dirty="0"/>
              <a:t>most of the original ideas are by Mohamed Ebeida in the anchor position, who is also here at the IMR</a:t>
            </a:r>
          </a:p>
          <a:p>
            <a:r>
              <a:rPr lang="en-US" dirty="0"/>
              <a:t>The hard work of implementation and figuring out what works best in practice was done by Mohammed Amr and Ahmed Hassan while they were undergraduates at Alexandria University in Egypt.</a:t>
            </a:r>
          </a:p>
        </p:txBody>
      </p:sp>
      <p:sp>
        <p:nvSpPr>
          <p:cNvPr id="51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19354458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26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I’m taking the unusually approach of telling you the whole algorithm first, because part of the beauty of the result is its simplicity</a:t>
            </a:r>
          </a:p>
        </p:txBody>
      </p:sp>
    </p:spTree>
    <p:extLst>
      <p:ext uri="{BB962C8B-B14F-4D97-AF65-F5344CB8AC3E}">
        <p14:creationId xmlns:p14="http://schemas.microsoft.com/office/powerpoint/2010/main" val="6757178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I’m taking the unusually approach of telling you the whole algorithm first, because part of the beauty of the result is its simplicity</a:t>
            </a:r>
          </a:p>
        </p:txBody>
      </p:sp>
    </p:spTree>
    <p:extLst>
      <p:ext uri="{BB962C8B-B14F-4D97-AF65-F5344CB8AC3E}">
        <p14:creationId xmlns:p14="http://schemas.microsoft.com/office/powerpoint/2010/main" val="6757178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I’m taking the unusually approach of telling you the whole algorithm first, because part of the beauty of the result is its simplicity</a:t>
            </a:r>
          </a:p>
        </p:txBody>
      </p:sp>
    </p:spTree>
    <p:extLst>
      <p:ext uri="{BB962C8B-B14F-4D97-AF65-F5344CB8AC3E}">
        <p14:creationId xmlns:p14="http://schemas.microsoft.com/office/powerpoint/2010/main" val="6757178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5537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5093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There has been a lot of good work on triangle matching.</a:t>
            </a:r>
          </a:p>
          <a:p>
            <a:r>
              <a:rPr lang="en-US" smtClean="0"/>
              <a:t>Why isn’t this a solved problem?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068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There has been a lot of good work on triangle matching.</a:t>
            </a:r>
          </a:p>
          <a:p>
            <a:r>
              <a:rPr lang="en-US" smtClean="0"/>
              <a:t>Why isn’t this a solved problem?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068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7155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4431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7810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7374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8228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1246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8109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9330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996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1744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3954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6610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3336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5870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4077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7663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4921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8153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053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03848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3861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1445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57759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11705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75610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07203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82613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1002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49776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3024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18542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226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80988"/>
            <a:ext cx="1943100" cy="58150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80988"/>
            <a:ext cx="5676900" cy="58150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wmf"/><Relationship Id="rId14" Type="http://schemas.openxmlformats.org/officeDocument/2006/relationships/image" Target="../media/image2.wmf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72400" cy="457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Subtitle 24 pt</a:t>
            </a:r>
          </a:p>
          <a:p>
            <a:pPr lvl="1"/>
            <a:r>
              <a:rPr lang="en-US" smtClean="0"/>
              <a:t>Second level 22 pt</a:t>
            </a:r>
          </a:p>
          <a:p>
            <a:pPr lvl="2"/>
            <a:r>
              <a:rPr lang="en-US" smtClean="0"/>
              <a:t>Third level 20 pt</a:t>
            </a:r>
          </a:p>
          <a:p>
            <a:pPr lvl="3"/>
            <a:r>
              <a:rPr lang="en-US" smtClean="0"/>
              <a:t>Fourth level 18pt</a:t>
            </a:r>
          </a:p>
          <a:p>
            <a:pPr lvl="4"/>
            <a:r>
              <a:rPr lang="en-US" smtClean="0"/>
              <a:t>Fifth level 18pt</a:t>
            </a:r>
          </a:p>
        </p:txBody>
      </p:sp>
      <p:pic>
        <p:nvPicPr>
          <p:cNvPr id="1027" name="Picture 3"/>
          <p:cNvPicPr>
            <a:picLocks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2578100" cy="1473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1028" name="Line 4"/>
          <p:cNvSpPr>
            <a:spLocks noChangeShapeType="1"/>
          </p:cNvSpPr>
          <p:nvPr/>
        </p:nvSpPr>
        <p:spPr bwMode="auto">
          <a:xfrm>
            <a:off x="817563" y="1143000"/>
            <a:ext cx="758983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80988"/>
            <a:ext cx="7772400" cy="10144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Title - 28 Point Helvetica Bold</a:t>
            </a:r>
          </a:p>
        </p:txBody>
      </p:sp>
      <p:pic>
        <p:nvPicPr>
          <p:cNvPr id="1030" name="Picture 6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153400" y="6418263"/>
            <a:ext cx="889000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9pPr>
    </p:titleStyle>
    <p:bodyStyle>
      <a:lvl1pPr marL="342900" indent="-17145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 b="1">
          <a:solidFill>
            <a:srgbClr val="000000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200" b="1">
          <a:solidFill>
            <a:srgbClr val="000000"/>
          </a:solidFill>
          <a:latin typeface="+mn-lt"/>
        </a:defRPr>
      </a:lvl2pPr>
      <a:lvl3pPr marL="1085850" indent="-17145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 b="1">
          <a:solidFill>
            <a:srgbClr val="000000"/>
          </a:solidFill>
          <a:latin typeface="+mn-lt"/>
        </a:defRPr>
      </a:lvl3pPr>
      <a:lvl4pPr marL="1543050" indent="-17145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b="1">
          <a:solidFill>
            <a:srgbClr val="000000"/>
          </a:solidFill>
          <a:latin typeface="+mn-lt"/>
        </a:defRPr>
      </a:lvl4pPr>
      <a:lvl5pPr marL="19431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5pPr>
      <a:lvl6pPr marL="24003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6pPr>
      <a:lvl7pPr marL="28575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7pPr>
      <a:lvl8pPr marL="33147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8pPr>
      <a:lvl9pPr marL="37719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4" Type="http://schemas.openxmlformats.org/officeDocument/2006/relationships/image" Target="../media/image4.jpeg"/><Relationship Id="rId5" Type="http://schemas.openxmlformats.org/officeDocument/2006/relationships/image" Target="../media/image5.emf"/><Relationship Id="rId6" Type="http://schemas.openxmlformats.org/officeDocument/2006/relationships/image" Target="../media/image6.emf"/><Relationship Id="rId7" Type="http://schemas.openxmlformats.org/officeDocument/2006/relationships/image" Target="../media/image7.emf"/><Relationship Id="rId8" Type="http://schemas.openxmlformats.org/officeDocument/2006/relationships/image" Target="../media/image8.emf"/><Relationship Id="rId9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www.cs.sandia.gov/~samitch/papers/delaunayquadproof.pdf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4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4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4" Type="http://schemas.openxmlformats.org/officeDocument/2006/relationships/image" Target="../media/image15.emf"/><Relationship Id="rId5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9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4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4" Type="http://schemas.openxmlformats.org/officeDocument/2006/relationships/image" Target="../media/image31.emf"/><Relationship Id="rId5" Type="http://schemas.openxmlformats.org/officeDocument/2006/relationships/image" Target="../media/image32.emf"/><Relationship Id="rId6" Type="http://schemas.openxmlformats.org/officeDocument/2006/relationships/image" Target="../media/image33.emf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4" Type="http://schemas.openxmlformats.org/officeDocument/2006/relationships/image" Target="../media/image40.emf"/><Relationship Id="rId5" Type="http://schemas.openxmlformats.org/officeDocument/2006/relationships/image" Target="../media/image41.emf"/><Relationship Id="rId6" Type="http://schemas.openxmlformats.org/officeDocument/2006/relationships/image" Target="../media/image42.emf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4" Type="http://schemas.openxmlformats.org/officeDocument/2006/relationships/image" Target="../media/image44.emf"/><Relationship Id="rId5" Type="http://schemas.openxmlformats.org/officeDocument/2006/relationships/image" Target="../media/image45.emf"/><Relationship Id="rId6" Type="http://schemas.openxmlformats.org/officeDocument/2006/relationships/image" Target="../media/image46.emf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emf"/><Relationship Id="rId6" Type="http://schemas.openxmlformats.org/officeDocument/2006/relationships/image" Target="../media/image52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3.e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Oval 68"/>
          <p:cNvSpPr/>
          <p:nvPr/>
        </p:nvSpPr>
        <p:spPr bwMode="auto">
          <a:xfrm>
            <a:off x="4058403" y="2623524"/>
            <a:ext cx="91440" cy="914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4107" name="Rectangle 11"/>
          <p:cNvSpPr>
            <a:spLocks noChangeArrowheads="1"/>
          </p:cNvSpPr>
          <p:nvPr/>
        </p:nvSpPr>
        <p:spPr bwMode="auto">
          <a:xfrm>
            <a:off x="1981200" y="6283325"/>
            <a:ext cx="5180013" cy="498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/>
            <a:r>
              <a:rPr lang="en-US" sz="900" dirty="0">
                <a:solidFill>
                  <a:srgbClr val="000000"/>
                </a:solidFill>
                <a:latin typeface="Helvetica" pitchFamily="34" charset="0"/>
              </a:rPr>
              <a:t>Sandia is a multiprogram laboratory operated by Sandia Corporation, a Lockheed Martin Company,</a:t>
            </a:r>
            <a:br>
              <a:rPr lang="en-US" sz="900" dirty="0">
                <a:solidFill>
                  <a:srgbClr val="000000"/>
                </a:solidFill>
                <a:latin typeface="Helvetica" pitchFamily="34" charset="0"/>
              </a:rPr>
            </a:br>
            <a:r>
              <a:rPr lang="en-US" sz="900" dirty="0">
                <a:solidFill>
                  <a:srgbClr val="000000"/>
                </a:solidFill>
                <a:latin typeface="Helvetica" pitchFamily="34" charset="0"/>
              </a:rPr>
              <a:t>for the United States Department of Energy’s National Nuclear Security Administration</a:t>
            </a:r>
            <a:br>
              <a:rPr lang="en-US" sz="900" dirty="0">
                <a:solidFill>
                  <a:srgbClr val="000000"/>
                </a:solidFill>
                <a:latin typeface="Helvetica" pitchFamily="34" charset="0"/>
              </a:rPr>
            </a:br>
            <a:r>
              <a:rPr lang="en-US" sz="900" dirty="0">
                <a:solidFill>
                  <a:srgbClr val="000000"/>
                </a:solidFill>
                <a:latin typeface="Helvetica" pitchFamily="34" charset="0"/>
              </a:rPr>
              <a:t> under contract DE-AC04-94AL85000.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62944" y="4392034"/>
            <a:ext cx="6752167" cy="1901522"/>
          </a:xfrm>
          <a:noFill/>
          <a:ln/>
        </p:spPr>
        <p:txBody>
          <a:bodyPr/>
          <a:lstStyle/>
          <a:p>
            <a:pPr marL="342900" indent="-171450">
              <a:lnSpc>
                <a:spcPct val="80000"/>
              </a:lnSpc>
            </a:pPr>
            <a:endParaRPr lang="en-US" sz="1600" dirty="0" smtClean="0">
              <a:solidFill>
                <a:srgbClr val="009D00"/>
              </a:solidFill>
            </a:endParaRPr>
          </a:p>
          <a:p>
            <a:pPr marL="342900" indent="-171450">
              <a:lnSpc>
                <a:spcPct val="80000"/>
              </a:lnSpc>
            </a:pPr>
            <a:r>
              <a:rPr lang="en-US" sz="1600" dirty="0" smtClean="0">
                <a:solidFill>
                  <a:srgbClr val="009D00"/>
                </a:solidFill>
              </a:rPr>
              <a:t>Scott </a:t>
            </a:r>
            <a:r>
              <a:rPr lang="en-US" sz="1600" dirty="0">
                <a:solidFill>
                  <a:srgbClr val="009D00"/>
                </a:solidFill>
              </a:rPr>
              <a:t>A. </a:t>
            </a:r>
            <a:r>
              <a:rPr lang="en-US" sz="1600" dirty="0" smtClean="0">
                <a:solidFill>
                  <a:srgbClr val="009D00"/>
                </a:solidFill>
              </a:rPr>
              <a:t>Mitchell, </a:t>
            </a:r>
            <a:r>
              <a:rPr lang="en-US" sz="1600" dirty="0" smtClean="0">
                <a:solidFill>
                  <a:srgbClr val="0000FF"/>
                </a:solidFill>
              </a:rPr>
              <a:t>Mohammed Amr Mohammed, 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Ahmed Hassan Mahmoud, </a:t>
            </a:r>
            <a:r>
              <a:rPr lang="en-US" sz="1600" dirty="0" smtClean="0">
                <a:solidFill>
                  <a:srgbClr val="009D00"/>
                </a:solidFill>
              </a:rPr>
              <a:t>Mohamed Salah Ebeida</a:t>
            </a:r>
          </a:p>
          <a:p>
            <a:pPr marL="342900" indent="-171450">
              <a:lnSpc>
                <a:spcPct val="80000"/>
              </a:lnSpc>
            </a:pPr>
            <a:endParaRPr lang="en-US" sz="400" dirty="0" smtClean="0">
              <a:solidFill>
                <a:schemeClr val="tx2"/>
              </a:solidFill>
            </a:endParaRPr>
          </a:p>
          <a:p>
            <a:pPr marL="342900" indent="-171450">
              <a:lnSpc>
                <a:spcPct val="80000"/>
              </a:lnSpc>
            </a:pPr>
            <a:r>
              <a:rPr lang="en-US" sz="1400" dirty="0">
                <a:solidFill>
                  <a:schemeClr val="accent6"/>
                </a:solidFill>
              </a:rPr>
              <a:t>Computing Research, Sandia National Labs</a:t>
            </a:r>
          </a:p>
          <a:p>
            <a:pPr marL="342900" indent="-171450">
              <a:lnSpc>
                <a:spcPct val="80000"/>
              </a:lnSpc>
            </a:pPr>
            <a:endParaRPr lang="en-US" sz="1000" dirty="0">
              <a:solidFill>
                <a:schemeClr val="accent6"/>
              </a:solidFill>
            </a:endParaRPr>
          </a:p>
          <a:p>
            <a:pPr marL="342900" indent="-171450">
              <a:lnSpc>
                <a:spcPct val="80000"/>
              </a:lnSpc>
            </a:pPr>
            <a:r>
              <a:rPr lang="en-US" sz="1600" dirty="0" smtClean="0">
                <a:solidFill>
                  <a:schemeClr val="tx1"/>
                </a:solidFill>
              </a:rPr>
              <a:t>23</a:t>
            </a:r>
            <a:r>
              <a:rPr lang="en-US" sz="1600" baseline="30000" dirty="0" smtClean="0">
                <a:solidFill>
                  <a:schemeClr val="tx1"/>
                </a:solidFill>
              </a:rPr>
              <a:t>rd</a:t>
            </a:r>
            <a:r>
              <a:rPr lang="en-US" sz="1600" dirty="0" smtClean="0">
                <a:solidFill>
                  <a:schemeClr val="tx1"/>
                </a:solidFill>
              </a:rPr>
              <a:t> International Meshing Roundtable (IMR23)</a:t>
            </a:r>
          </a:p>
          <a:p>
            <a:pPr marL="342900" indent="-171450">
              <a:lnSpc>
                <a:spcPct val="80000"/>
              </a:lnSpc>
            </a:pPr>
            <a:r>
              <a:rPr lang="en-US" sz="1400" dirty="0" smtClean="0">
                <a:solidFill>
                  <a:schemeClr val="tx1"/>
                </a:solidFill>
              </a:rPr>
              <a:t>London, 15 Oct 2014</a:t>
            </a:r>
          </a:p>
          <a:p>
            <a:pPr marL="342900" indent="-171450">
              <a:lnSpc>
                <a:spcPct val="80000"/>
              </a:lnSpc>
            </a:pPr>
            <a:r>
              <a:rPr lang="en-US" sz="1200" dirty="0">
                <a:solidFill>
                  <a:schemeClr val="tx1"/>
                </a:solidFill>
              </a:rPr>
              <a:t>11:30-11:55am Wed, 2</a:t>
            </a:r>
            <a:r>
              <a:rPr lang="en-US" sz="1200" dirty="0" smtClean="0">
                <a:solidFill>
                  <a:schemeClr val="tx1"/>
                </a:solidFill>
              </a:rPr>
              <a:t>0 minutes</a:t>
            </a:r>
            <a:endParaRPr lang="en-US" sz="1200" dirty="0">
              <a:solidFill>
                <a:schemeClr val="tx1"/>
              </a:solidFill>
            </a:endParaRPr>
          </a:p>
        </p:txBody>
      </p:sp>
      <p:pic>
        <p:nvPicPr>
          <p:cNvPr id="4101" name="Picture 5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24800" y="6324600"/>
            <a:ext cx="1104900" cy="444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pic>
        <p:nvPicPr>
          <p:cNvPr id="4106" name="Picture 10" descr="NNSAlogo0410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8600" y="6343650"/>
            <a:ext cx="914400" cy="333375"/>
          </a:xfrm>
          <a:prstGeom prst="rect">
            <a:avLst/>
          </a:prstGeom>
          <a:noFill/>
        </p:spPr>
      </p:pic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3227709"/>
            <a:ext cx="9143999" cy="1203559"/>
          </a:xfrm>
          <a:noFill/>
          <a:ln/>
        </p:spPr>
        <p:txBody>
          <a:bodyPr/>
          <a:lstStyle/>
          <a:p>
            <a:r>
              <a:rPr lang="en-US" sz="2400" dirty="0" smtClean="0">
                <a:solidFill>
                  <a:schemeClr val="tx1"/>
                </a:solidFill>
                <a:latin typeface="Helvetica" pitchFamily="34" charset="0"/>
              </a:rPr>
              <a:t/>
            </a:r>
            <a:br>
              <a:rPr lang="en-US" sz="2400" dirty="0" smtClean="0">
                <a:solidFill>
                  <a:schemeClr val="tx1"/>
                </a:solidFill>
                <a:latin typeface="Helvetica" pitchFamily="34" charset="0"/>
              </a:rPr>
            </a:br>
            <a:r>
              <a:rPr lang="en-US" sz="2400"/>
              <a:t>Delaunay quadrangulation by two-coloring vertices</a:t>
            </a:r>
            <a:br>
              <a:rPr lang="en-US" sz="2400"/>
            </a:br>
            <a:r>
              <a:rPr lang="en-US" sz="1800"/>
              <a:t>or </a:t>
            </a:r>
            <a:br>
              <a:rPr lang="en-US" sz="1800"/>
            </a:br>
            <a:r>
              <a:rPr lang="en-US" sz="1800"/>
              <a:t>How to turn a triangle mesh into a quad one with no global </a:t>
            </a:r>
            <a:r>
              <a:rPr lang="en-US" sz="1800" smtClean="0"/>
              <a:t>problems</a:t>
            </a:r>
            <a:endParaRPr lang="en-US" sz="2000" dirty="0">
              <a:solidFill>
                <a:schemeClr val="tx1"/>
              </a:solidFill>
              <a:latin typeface="Helvetica" pitchFamily="34" charset="0"/>
            </a:endParaRPr>
          </a:p>
        </p:txBody>
      </p:sp>
      <p:pic>
        <p:nvPicPr>
          <p:cNvPr id="8" name="Picture 7" descr="vectorstock_419186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3916543" y="2457346"/>
            <a:ext cx="1212845" cy="118731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70556" y="4968639"/>
            <a:ext cx="1625600" cy="1379989"/>
            <a:chOff x="211667" y="2520362"/>
            <a:chExt cx="1625600" cy="1379989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11667" y="2520362"/>
              <a:ext cx="1625600" cy="1371600"/>
            </a:xfrm>
            <a:prstGeom prst="rect">
              <a:avLst/>
            </a:prstGeom>
          </p:spPr>
        </p:pic>
        <p:sp>
          <p:nvSpPr>
            <p:cNvPr id="11" name="Oval 10"/>
            <p:cNvSpPr/>
            <p:nvPr/>
          </p:nvSpPr>
          <p:spPr bwMode="auto">
            <a:xfrm>
              <a:off x="942669" y="2633401"/>
              <a:ext cx="91440" cy="9144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2" name="Oval 11"/>
            <p:cNvSpPr/>
            <p:nvPr/>
          </p:nvSpPr>
          <p:spPr bwMode="auto">
            <a:xfrm>
              <a:off x="940008" y="3354378"/>
              <a:ext cx="91440" cy="9144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3" name="Oval 12"/>
            <p:cNvSpPr/>
            <p:nvPr/>
          </p:nvSpPr>
          <p:spPr bwMode="auto">
            <a:xfrm>
              <a:off x="1697885" y="3277871"/>
              <a:ext cx="91440" cy="9144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4" name="Oval 13"/>
            <p:cNvSpPr/>
            <p:nvPr/>
          </p:nvSpPr>
          <p:spPr bwMode="auto">
            <a:xfrm>
              <a:off x="1156202" y="3112754"/>
              <a:ext cx="91440" cy="91440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5" name="Oval 14"/>
            <p:cNvSpPr/>
            <p:nvPr/>
          </p:nvSpPr>
          <p:spPr bwMode="auto">
            <a:xfrm>
              <a:off x="241203" y="3808911"/>
              <a:ext cx="91440" cy="91440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6" name="Oval 15"/>
            <p:cNvSpPr/>
            <p:nvPr/>
          </p:nvSpPr>
          <p:spPr bwMode="auto">
            <a:xfrm>
              <a:off x="1303279" y="3688100"/>
              <a:ext cx="91440" cy="91440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7" name="Oval 16"/>
            <p:cNvSpPr/>
            <p:nvPr/>
          </p:nvSpPr>
          <p:spPr bwMode="auto">
            <a:xfrm>
              <a:off x="1714114" y="2540895"/>
              <a:ext cx="91440" cy="91440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</p:grpSp>
      <p:pic>
        <p:nvPicPr>
          <p:cNvPr id="2" name="Picture 1" descr="random.pdf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56" y="70560"/>
            <a:ext cx="4572000" cy="2995106"/>
          </a:xfrm>
          <a:prstGeom prst="rect">
            <a:avLst/>
          </a:prstGeom>
        </p:spPr>
      </p:pic>
      <p:pic>
        <p:nvPicPr>
          <p:cNvPr id="3" name="Picture 2" descr="structured.pdf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3168" y="70560"/>
            <a:ext cx="4572000" cy="2994760"/>
          </a:xfrm>
          <a:prstGeom prst="rect">
            <a:avLst/>
          </a:prstGeom>
        </p:spPr>
      </p:pic>
      <p:grpSp>
        <p:nvGrpSpPr>
          <p:cNvPr id="64" name="Group 63"/>
          <p:cNvGrpSpPr>
            <a:grpSpLocks noChangeAspect="1"/>
          </p:cNvGrpSpPr>
          <p:nvPr/>
        </p:nvGrpSpPr>
        <p:grpSpPr>
          <a:xfrm>
            <a:off x="7934701" y="4498629"/>
            <a:ext cx="1043876" cy="1776583"/>
            <a:chOff x="1866217" y="4159257"/>
            <a:chExt cx="1043876" cy="1776583"/>
          </a:xfrm>
        </p:grpSpPr>
        <p:pic>
          <p:nvPicPr>
            <p:cNvPr id="65" name="Picture 64" descr="University_ar_clr.png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38160" y="4663019"/>
              <a:ext cx="859154" cy="1272821"/>
            </a:xfrm>
            <a:prstGeom prst="rect">
              <a:avLst/>
            </a:prstGeom>
          </p:spPr>
        </p:pic>
        <p:sp>
          <p:nvSpPr>
            <p:cNvPr id="66" name="TextBox 65"/>
            <p:cNvSpPr txBox="1"/>
            <p:nvPr/>
          </p:nvSpPr>
          <p:spPr>
            <a:xfrm>
              <a:off x="1866217" y="4159257"/>
              <a:ext cx="104387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tx2"/>
                  </a:solidFill>
                </a:rPr>
                <a:t>Alexandria</a:t>
              </a:r>
              <a:br>
                <a:rPr lang="en-US" sz="1400" b="1">
                  <a:solidFill>
                    <a:schemeClr val="tx2"/>
                  </a:solidFill>
                </a:rPr>
              </a:br>
              <a:r>
                <a:rPr lang="en-US" sz="1400" b="1">
                  <a:solidFill>
                    <a:schemeClr val="tx2"/>
                  </a:solidFill>
                </a:rPr>
                <a:t>University</a:t>
              </a:r>
            </a:p>
          </p:txBody>
        </p:sp>
      </p:grpSp>
      <p:sp>
        <p:nvSpPr>
          <p:cNvPr id="68" name="Oval 67"/>
          <p:cNvSpPr/>
          <p:nvPr/>
        </p:nvSpPr>
        <p:spPr bwMode="auto">
          <a:xfrm>
            <a:off x="4216015" y="2446349"/>
            <a:ext cx="91440" cy="91440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23740"/>
            <a:ext cx="7772400" cy="1014412"/>
          </a:xfrm>
        </p:spPr>
        <p:txBody>
          <a:bodyPr/>
          <a:lstStyle/>
          <a:p>
            <a:r>
              <a:rPr lang="en-US" sz="2400" dirty="0" smtClean="0"/>
              <a:t>Outline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55072"/>
            <a:ext cx="7772400" cy="3531228"/>
          </a:xfrm>
        </p:spPr>
        <p:txBody>
          <a:bodyPr/>
          <a:lstStyle/>
          <a:p>
            <a:r>
              <a:rPr lang="en-US" sz="1400" dirty="0"/>
              <a:t>Algorithm on one page</a:t>
            </a:r>
          </a:p>
          <a:p>
            <a:r>
              <a:rPr lang="en-US" sz="1400" dirty="0"/>
              <a:t>Two-coloring idea</a:t>
            </a:r>
          </a:p>
          <a:p>
            <a:pPr lvl="1"/>
            <a:r>
              <a:rPr lang="en-US" sz="1200" dirty="0"/>
              <a:t>Contrast to Triangle Pairing</a:t>
            </a:r>
          </a:p>
          <a:p>
            <a:pPr lvl="1"/>
            <a:r>
              <a:rPr lang="en-US" sz="1200" dirty="0"/>
              <a:t>Even-sided polygons</a:t>
            </a:r>
          </a:p>
          <a:p>
            <a:pPr lvl="1"/>
            <a:r>
              <a:rPr lang="en-US" sz="1200" dirty="0"/>
              <a:t>Templates for provable quality (appendix on website)</a:t>
            </a:r>
          </a:p>
          <a:p>
            <a:pPr lvl="2"/>
            <a:r>
              <a:rPr lang="en-US" sz="1200" dirty="0"/>
              <a:t>Fixing by constrained incircle refinement</a:t>
            </a:r>
          </a:p>
          <a:p>
            <a:pPr lvl="3"/>
            <a:r>
              <a:rPr lang="en-US" sz="1050" dirty="0"/>
              <a:t>QTran</a:t>
            </a:r>
          </a:p>
          <a:p>
            <a:pPr lvl="2"/>
            <a:r>
              <a:rPr lang="en-US" sz="1200" dirty="0"/>
              <a:t>Constrained median refinement</a:t>
            </a:r>
          </a:p>
          <a:p>
            <a:r>
              <a:rPr lang="en-US" sz="1400" dirty="0" smtClean="0"/>
              <a:t>(Random Algorithm)</a:t>
            </a:r>
          </a:p>
          <a:p>
            <a:pPr lvl="1"/>
            <a:r>
              <a:rPr lang="en-US" sz="1200" dirty="0"/>
              <a:t>Well-spacedness properties, achieved by</a:t>
            </a:r>
          </a:p>
          <a:p>
            <a:pPr lvl="1"/>
            <a:r>
              <a:rPr lang="en-US" sz="1200" dirty="0"/>
              <a:t>Delaunay refinement triangulation as input</a:t>
            </a:r>
          </a:p>
          <a:p>
            <a:pPr lvl="1"/>
            <a:r>
              <a:rPr lang="en-US" sz="1200" dirty="0"/>
              <a:t>MPS (sphere packing) for provable quality triangulation</a:t>
            </a:r>
          </a:p>
          <a:p>
            <a:pPr lvl="2"/>
            <a:r>
              <a:rPr lang="en-US" sz="1000" dirty="0"/>
              <a:t>center director asks Mohamed, “can you do this for quad meshes?” no, but two years later...</a:t>
            </a:r>
          </a:p>
          <a:p>
            <a:pPr lvl="1"/>
            <a:r>
              <a:rPr lang="en-US" sz="1200" dirty="0"/>
              <a:t>Generating multi-class blue noise</a:t>
            </a:r>
          </a:p>
          <a:p>
            <a:pPr lvl="1"/>
            <a:r>
              <a:rPr lang="en-US" sz="1200" dirty="0"/>
              <a:t>Ideal spacing</a:t>
            </a:r>
          </a:p>
          <a:p>
            <a:pPr lvl="1"/>
            <a:r>
              <a:rPr lang="en-US" sz="1200" dirty="0" smtClean="0"/>
              <a:t>Heuristics for better quality</a:t>
            </a:r>
          </a:p>
          <a:p>
            <a:r>
              <a:rPr lang="en-US" sz="1400"/>
              <a:t>Example meshes</a:t>
            </a:r>
          </a:p>
          <a:p>
            <a:pPr lvl="1"/>
            <a:r>
              <a:rPr lang="en-US" sz="1200"/>
              <a:t>Dare to show raw output, before cleanup</a:t>
            </a:r>
          </a:p>
          <a:p>
            <a:r>
              <a:rPr lang="en-US" sz="1400" smtClean="0"/>
              <a:t>Advancing </a:t>
            </a:r>
            <a:r>
              <a:rPr lang="en-US" sz="1400" dirty="0"/>
              <a:t>Front Algorithm</a:t>
            </a:r>
          </a:p>
          <a:p>
            <a:pPr lvl="1"/>
            <a:r>
              <a:rPr lang="en-US" sz="1200" dirty="0"/>
              <a:t>Row, column, repeat. Reseed.</a:t>
            </a:r>
          </a:p>
          <a:p>
            <a:r>
              <a:rPr lang="en-US" sz="1400" smtClean="0"/>
              <a:t>Conclusions</a:t>
            </a:r>
            <a:endParaRPr lang="en-US" sz="1400" dirty="0"/>
          </a:p>
          <a:p>
            <a:pPr lvl="1"/>
            <a:r>
              <a:rPr lang="en-US" sz="1200" dirty="0"/>
              <a:t>Three centers: Circumcenter, Incenter, Centroid</a:t>
            </a:r>
          </a:p>
          <a:p>
            <a:pPr lvl="2"/>
            <a:r>
              <a:rPr lang="en-US" sz="1200" dirty="0"/>
              <a:t>orthocenter feeling left out</a:t>
            </a:r>
          </a:p>
          <a:p>
            <a:pPr lvl="1"/>
            <a:r>
              <a:rPr lang="en-US" sz="1200" dirty="0"/>
              <a:t>Some quad meshes are not two-colorable</a:t>
            </a:r>
          </a:p>
          <a:p>
            <a:pPr lvl="1"/>
            <a:r>
              <a:rPr lang="en-US" sz="1200" dirty="0"/>
              <a:t>Not for hex meshes</a:t>
            </a:r>
          </a:p>
        </p:txBody>
      </p:sp>
    </p:spTree>
    <p:extLst>
      <p:ext uri="{BB962C8B-B14F-4D97-AF65-F5344CB8AC3E}">
        <p14:creationId xmlns:p14="http://schemas.microsoft.com/office/powerpoint/2010/main" val="2962112408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6" name="Group 495"/>
          <p:cNvGrpSpPr>
            <a:grpSpLocks noChangeAspect="1"/>
          </p:cNvGrpSpPr>
          <p:nvPr/>
        </p:nvGrpSpPr>
        <p:grpSpPr>
          <a:xfrm>
            <a:off x="4784325" y="1527538"/>
            <a:ext cx="4226331" cy="4212862"/>
            <a:chOff x="5601968" y="1444988"/>
            <a:chExt cx="2983238" cy="2973730"/>
          </a:xfrm>
          <a:solidFill>
            <a:schemeClr val="tx1"/>
          </a:solidFill>
        </p:grpSpPr>
        <p:sp>
          <p:nvSpPr>
            <p:cNvPr id="497" name="Oval 496"/>
            <p:cNvSpPr/>
            <p:nvPr/>
          </p:nvSpPr>
          <p:spPr bwMode="auto">
            <a:xfrm rot="5400000">
              <a:off x="7407008" y="3262425"/>
              <a:ext cx="210312" cy="213651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498" name="Oval 497"/>
            <p:cNvSpPr/>
            <p:nvPr/>
          </p:nvSpPr>
          <p:spPr bwMode="auto">
            <a:xfrm rot="5400000">
              <a:off x="6223415" y="2240301"/>
              <a:ext cx="210312" cy="213651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499" name="Oval 498"/>
            <p:cNvSpPr/>
            <p:nvPr/>
          </p:nvSpPr>
          <p:spPr bwMode="auto">
            <a:xfrm rot="5400000">
              <a:off x="8358300" y="3478132"/>
              <a:ext cx="210312" cy="213651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00" name="Oval 499"/>
            <p:cNvSpPr/>
            <p:nvPr/>
          </p:nvSpPr>
          <p:spPr bwMode="auto">
            <a:xfrm rot="5400000">
              <a:off x="7072057" y="1733132"/>
              <a:ext cx="210312" cy="213651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01" name="Oval 500"/>
            <p:cNvSpPr/>
            <p:nvPr/>
          </p:nvSpPr>
          <p:spPr bwMode="auto">
            <a:xfrm rot="5400000">
              <a:off x="5611910" y="1456776"/>
              <a:ext cx="210312" cy="213651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02" name="Oval 501"/>
            <p:cNvSpPr/>
            <p:nvPr/>
          </p:nvSpPr>
          <p:spPr bwMode="auto">
            <a:xfrm rot="5400000">
              <a:off x="6403605" y="3578177"/>
              <a:ext cx="210312" cy="213651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03" name="Oval 502"/>
            <p:cNvSpPr/>
            <p:nvPr/>
          </p:nvSpPr>
          <p:spPr bwMode="auto">
            <a:xfrm rot="5400000">
              <a:off x="6106325" y="3297638"/>
              <a:ext cx="210312" cy="213651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04" name="Oval 503"/>
            <p:cNvSpPr/>
            <p:nvPr/>
          </p:nvSpPr>
          <p:spPr bwMode="auto">
            <a:xfrm rot="5400000">
              <a:off x="7103536" y="1455018"/>
              <a:ext cx="210312" cy="213651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05" name="Oval 504"/>
            <p:cNvSpPr/>
            <p:nvPr/>
          </p:nvSpPr>
          <p:spPr bwMode="auto">
            <a:xfrm rot="5400000">
              <a:off x="8365275" y="2927856"/>
              <a:ext cx="210312" cy="213651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06" name="Oval 505"/>
            <p:cNvSpPr/>
            <p:nvPr/>
          </p:nvSpPr>
          <p:spPr bwMode="auto">
            <a:xfrm rot="5400000">
              <a:off x="7911778" y="4206736"/>
              <a:ext cx="210312" cy="213651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07" name="Oval 506"/>
            <p:cNvSpPr/>
            <p:nvPr/>
          </p:nvSpPr>
          <p:spPr bwMode="auto">
            <a:xfrm rot="5400000">
              <a:off x="7933221" y="3511981"/>
              <a:ext cx="210312" cy="213651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08" name="Oval 507"/>
            <p:cNvSpPr/>
            <p:nvPr/>
          </p:nvSpPr>
          <p:spPr bwMode="auto">
            <a:xfrm rot="5400000">
              <a:off x="7578947" y="3797755"/>
              <a:ext cx="210312" cy="213651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09" name="Oval 508"/>
            <p:cNvSpPr/>
            <p:nvPr/>
          </p:nvSpPr>
          <p:spPr bwMode="auto">
            <a:xfrm rot="5400000">
              <a:off x="6639604" y="2639275"/>
              <a:ext cx="210312" cy="213651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10" name="Oval 509"/>
            <p:cNvSpPr/>
            <p:nvPr/>
          </p:nvSpPr>
          <p:spPr bwMode="auto">
            <a:xfrm rot="5400000">
              <a:off x="6826644" y="2956229"/>
              <a:ext cx="210312" cy="213651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11" name="Oval 510"/>
            <p:cNvSpPr/>
            <p:nvPr/>
          </p:nvSpPr>
          <p:spPr bwMode="auto">
            <a:xfrm rot="5400000">
              <a:off x="6961758" y="2079915"/>
              <a:ext cx="210312" cy="213651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12" name="Oval 511"/>
            <p:cNvSpPr/>
            <p:nvPr/>
          </p:nvSpPr>
          <p:spPr bwMode="auto">
            <a:xfrm rot="5400000">
              <a:off x="7361881" y="2213739"/>
              <a:ext cx="210312" cy="213651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13" name="Oval 512"/>
            <p:cNvSpPr/>
            <p:nvPr/>
          </p:nvSpPr>
          <p:spPr bwMode="auto">
            <a:xfrm rot="5400000">
              <a:off x="7508140" y="2882344"/>
              <a:ext cx="210312" cy="213651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14" name="Oval 513"/>
            <p:cNvSpPr/>
            <p:nvPr/>
          </p:nvSpPr>
          <p:spPr bwMode="auto">
            <a:xfrm rot="5400000">
              <a:off x="7938005" y="2784162"/>
              <a:ext cx="210312" cy="213651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15" name="Oval 514"/>
            <p:cNvSpPr/>
            <p:nvPr/>
          </p:nvSpPr>
          <p:spPr bwMode="auto">
            <a:xfrm rot="5400000">
              <a:off x="7270958" y="2529983"/>
              <a:ext cx="210312" cy="213651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16" name="Oval 515"/>
            <p:cNvSpPr/>
            <p:nvPr/>
          </p:nvSpPr>
          <p:spPr bwMode="auto">
            <a:xfrm rot="5400000">
              <a:off x="6110988" y="3829700"/>
              <a:ext cx="210312" cy="213651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17" name="Oval 516"/>
            <p:cNvSpPr/>
            <p:nvPr/>
          </p:nvSpPr>
          <p:spPr bwMode="auto">
            <a:xfrm rot="5400000">
              <a:off x="8367205" y="4187768"/>
              <a:ext cx="210312" cy="213651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18" name="Oval 517"/>
            <p:cNvSpPr/>
            <p:nvPr/>
          </p:nvSpPr>
          <p:spPr bwMode="auto">
            <a:xfrm rot="5400000">
              <a:off x="8366251" y="1463659"/>
              <a:ext cx="210312" cy="213651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19" name="Oval 518"/>
            <p:cNvSpPr/>
            <p:nvPr/>
          </p:nvSpPr>
          <p:spPr bwMode="auto">
            <a:xfrm rot="5400000">
              <a:off x="8372270" y="2384580"/>
              <a:ext cx="210312" cy="213651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20" name="Oval 519"/>
            <p:cNvSpPr/>
            <p:nvPr/>
          </p:nvSpPr>
          <p:spPr bwMode="auto">
            <a:xfrm rot="5400000">
              <a:off x="8373225" y="1954687"/>
              <a:ext cx="210312" cy="213651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21" name="Oval 520"/>
            <p:cNvSpPr/>
            <p:nvPr/>
          </p:nvSpPr>
          <p:spPr bwMode="auto">
            <a:xfrm rot="5400000">
              <a:off x="5603638" y="2480888"/>
              <a:ext cx="210312" cy="213651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22" name="Oval 521"/>
            <p:cNvSpPr/>
            <p:nvPr/>
          </p:nvSpPr>
          <p:spPr bwMode="auto">
            <a:xfrm rot="5400000">
              <a:off x="5610613" y="1930612"/>
              <a:ext cx="210312" cy="213651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23" name="Oval 522"/>
            <p:cNvSpPr/>
            <p:nvPr/>
          </p:nvSpPr>
          <p:spPr bwMode="auto">
            <a:xfrm rot="5400000">
              <a:off x="5612543" y="3190524"/>
              <a:ext cx="210312" cy="213651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24" name="Oval 523"/>
            <p:cNvSpPr/>
            <p:nvPr/>
          </p:nvSpPr>
          <p:spPr bwMode="auto">
            <a:xfrm rot="5400000">
              <a:off x="6135223" y="1880904"/>
              <a:ext cx="210312" cy="213651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25" name="Oval 524"/>
            <p:cNvSpPr/>
            <p:nvPr/>
          </p:nvSpPr>
          <p:spPr bwMode="auto">
            <a:xfrm rot="5400000">
              <a:off x="6232476" y="1463048"/>
              <a:ext cx="210312" cy="213651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26" name="Oval 525"/>
            <p:cNvSpPr/>
            <p:nvPr/>
          </p:nvSpPr>
          <p:spPr bwMode="auto">
            <a:xfrm>
              <a:off x="6610702" y="4192232"/>
              <a:ext cx="210312" cy="213651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27" name="Oval 526"/>
            <p:cNvSpPr/>
            <p:nvPr/>
          </p:nvSpPr>
          <p:spPr bwMode="auto">
            <a:xfrm>
              <a:off x="7719111" y="1444988"/>
              <a:ext cx="210312" cy="213651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28" name="Oval 527"/>
            <p:cNvSpPr/>
            <p:nvPr/>
          </p:nvSpPr>
          <p:spPr bwMode="auto">
            <a:xfrm>
              <a:off x="7215465" y="4203653"/>
              <a:ext cx="210312" cy="213651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29" name="Oval 528"/>
            <p:cNvSpPr/>
            <p:nvPr/>
          </p:nvSpPr>
          <p:spPr bwMode="auto">
            <a:xfrm>
              <a:off x="5625558" y="3688551"/>
              <a:ext cx="210312" cy="213651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30" name="Oval 529"/>
            <p:cNvSpPr/>
            <p:nvPr/>
          </p:nvSpPr>
          <p:spPr bwMode="auto">
            <a:xfrm>
              <a:off x="7889566" y="2301620"/>
              <a:ext cx="210312" cy="213651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31" name="Oval 530"/>
            <p:cNvSpPr/>
            <p:nvPr/>
          </p:nvSpPr>
          <p:spPr bwMode="auto">
            <a:xfrm rot="5400000">
              <a:off x="5620736" y="4202425"/>
              <a:ext cx="210312" cy="213651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32" name="Oval 531"/>
            <p:cNvSpPr/>
            <p:nvPr/>
          </p:nvSpPr>
          <p:spPr bwMode="auto">
            <a:xfrm rot="5400000">
              <a:off x="6345349" y="2881884"/>
              <a:ext cx="210312" cy="213651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33" name="Oval 532"/>
            <p:cNvSpPr/>
            <p:nvPr/>
          </p:nvSpPr>
          <p:spPr bwMode="auto">
            <a:xfrm rot="5400000">
              <a:off x="7758737" y="1824589"/>
              <a:ext cx="210312" cy="213651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34" name="Oval 533"/>
            <p:cNvSpPr/>
            <p:nvPr/>
          </p:nvSpPr>
          <p:spPr bwMode="auto">
            <a:xfrm rot="5400000">
              <a:off x="7023739" y="3595400"/>
              <a:ext cx="210312" cy="213651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</p:grpSp>
      <p:cxnSp>
        <p:nvCxnSpPr>
          <p:cNvPr id="77" name="Straight Connector 76"/>
          <p:cNvCxnSpPr>
            <a:cxnSpLocks noChangeAspect="1"/>
          </p:cNvCxnSpPr>
          <p:nvPr/>
        </p:nvCxnSpPr>
        <p:spPr bwMode="auto">
          <a:xfrm flipV="1">
            <a:off x="5991552" y="3368838"/>
            <a:ext cx="414972" cy="33608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0" name="Straight Connector 79"/>
          <p:cNvCxnSpPr>
            <a:cxnSpLocks noChangeAspect="1"/>
          </p:cNvCxnSpPr>
          <p:nvPr/>
        </p:nvCxnSpPr>
        <p:spPr bwMode="auto">
          <a:xfrm flipH="1" flipV="1">
            <a:off x="6415051" y="3377365"/>
            <a:ext cx="249793" cy="45510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0" name="Straight Connector 119"/>
          <p:cNvCxnSpPr>
            <a:cxnSpLocks noChangeAspect="1"/>
          </p:cNvCxnSpPr>
          <p:nvPr/>
        </p:nvCxnSpPr>
        <p:spPr bwMode="auto">
          <a:xfrm flipH="1" flipV="1">
            <a:off x="6645272" y="3829307"/>
            <a:ext cx="296620" cy="91959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6" name="Straight Connector 145"/>
          <p:cNvCxnSpPr>
            <a:cxnSpLocks noChangeAspect="1"/>
          </p:cNvCxnSpPr>
          <p:nvPr/>
        </p:nvCxnSpPr>
        <p:spPr bwMode="auto">
          <a:xfrm flipV="1">
            <a:off x="6359827" y="4744805"/>
            <a:ext cx="575707" cy="83491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5" name="Straight Connector 144"/>
          <p:cNvCxnSpPr>
            <a:cxnSpLocks noChangeAspect="1"/>
          </p:cNvCxnSpPr>
          <p:nvPr/>
        </p:nvCxnSpPr>
        <p:spPr bwMode="auto">
          <a:xfrm>
            <a:off x="6071955" y="4704110"/>
            <a:ext cx="875573" cy="4669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0286"/>
            <a:ext cx="7772400" cy="1205114"/>
          </a:xfrm>
        </p:spPr>
        <p:txBody>
          <a:bodyPr/>
          <a:lstStyle/>
          <a:p>
            <a:r>
              <a:rPr lang="en-US"/>
              <a:t>Convert tri mesh to quads</a:t>
            </a:r>
            <a:br>
              <a:rPr lang="en-US"/>
            </a:br>
            <a:r>
              <a:rPr lang="en-US"/>
              <a:t>One-slide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4790722" cy="4572000"/>
          </a:xfrm>
        </p:spPr>
        <p:txBody>
          <a:bodyPr/>
          <a:lstStyle/>
          <a:p>
            <a:r>
              <a:rPr lang="en-US" sz="1800" dirty="0"/>
              <a:t>Generate (or given) well-spaced points</a:t>
            </a:r>
          </a:p>
          <a:p>
            <a:r>
              <a:rPr lang="en-US" sz="1800" dirty="0"/>
              <a:t>Delaunay triangulate</a:t>
            </a:r>
          </a:p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Color points red or blue</a:t>
            </a:r>
          </a:p>
          <a:p>
            <a:pPr lvl="1"/>
            <a:r>
              <a:rPr lang="en-US" sz="1600" dirty="0">
                <a:solidFill>
                  <a:schemeClr val="bg2">
                    <a:lumMod val="75000"/>
                  </a:schemeClr>
                </a:solidFill>
              </a:rPr>
              <a:t>intersperse colors</a:t>
            </a:r>
          </a:p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Discard red-red and blue-blue edges</a:t>
            </a:r>
          </a:p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Quads mostly</a:t>
            </a:r>
            <a:endParaRPr lang="en-US" sz="1600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US" sz="1600" dirty="0">
                <a:solidFill>
                  <a:schemeClr val="bg2">
                    <a:lumMod val="75000"/>
                  </a:schemeClr>
                </a:solidFill>
              </a:rPr>
              <a:t>good quality, some large angles</a:t>
            </a:r>
          </a:p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6, 8, 10 sided polygons sometimes</a:t>
            </a:r>
            <a:endParaRPr lang="en-US" sz="1600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US" sz="1600" dirty="0">
                <a:solidFill>
                  <a:schemeClr val="bg2">
                    <a:lumMod val="75000"/>
                  </a:schemeClr>
                </a:solidFill>
              </a:rPr>
              <a:t>constrained </a:t>
            </a:r>
            <a:r>
              <a:rPr lang="en-US" sz="1600" dirty="0" err="1">
                <a:solidFill>
                  <a:schemeClr val="bg2">
                    <a:lumMod val="75000"/>
                  </a:schemeClr>
                </a:solidFill>
              </a:rPr>
              <a:t>incircle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</a:rPr>
              <a:t> refinement</a:t>
            </a:r>
          </a:p>
          <a:p>
            <a:pPr lvl="1"/>
            <a:r>
              <a:rPr lang="en-US" sz="1600" dirty="0">
                <a:solidFill>
                  <a:schemeClr val="bg2">
                    <a:lumMod val="75000"/>
                  </a:schemeClr>
                </a:solidFill>
              </a:rPr>
              <a:t>median template for reflex quads</a:t>
            </a:r>
          </a:p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All quads with provable quality</a:t>
            </a:r>
          </a:p>
          <a:p>
            <a:endParaRPr lang="en-US" sz="180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Coloring and position heuristics</a:t>
            </a:r>
            <a:br>
              <a:rPr lang="en-US" sz="1800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improve quality in practice</a:t>
            </a:r>
          </a:p>
        </p:txBody>
      </p:sp>
      <p:grpSp>
        <p:nvGrpSpPr>
          <p:cNvPr id="47" name="Group 46"/>
          <p:cNvGrpSpPr>
            <a:grpSpLocks noChangeAspect="1"/>
          </p:cNvGrpSpPr>
          <p:nvPr/>
        </p:nvGrpSpPr>
        <p:grpSpPr>
          <a:xfrm>
            <a:off x="4952965" y="1695493"/>
            <a:ext cx="3910074" cy="3897523"/>
            <a:chOff x="5654800" y="2809494"/>
            <a:chExt cx="2760002" cy="2751142"/>
          </a:xfrm>
        </p:grpSpPr>
        <p:cxnSp>
          <p:nvCxnSpPr>
            <p:cNvPr id="43" name="Straight Connector 42"/>
            <p:cNvCxnSpPr/>
            <p:nvPr/>
          </p:nvCxnSpPr>
          <p:spPr bwMode="auto">
            <a:xfrm>
              <a:off x="5657634" y="2810915"/>
              <a:ext cx="27432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" name="Straight Connector 43"/>
            <p:cNvCxnSpPr/>
            <p:nvPr/>
          </p:nvCxnSpPr>
          <p:spPr bwMode="auto">
            <a:xfrm>
              <a:off x="5671602" y="5557542"/>
              <a:ext cx="27432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Straight Connector 44"/>
            <p:cNvCxnSpPr/>
            <p:nvPr/>
          </p:nvCxnSpPr>
          <p:spPr bwMode="auto">
            <a:xfrm rot="16200000">
              <a:off x="4283200" y="4181094"/>
              <a:ext cx="27432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Straight Connector 45"/>
            <p:cNvCxnSpPr/>
            <p:nvPr/>
          </p:nvCxnSpPr>
          <p:spPr bwMode="auto">
            <a:xfrm rot="16200000">
              <a:off x="7029685" y="4189036"/>
              <a:ext cx="27432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68" name="Straight Connector 67"/>
          <p:cNvCxnSpPr>
            <a:cxnSpLocks noChangeAspect="1"/>
            <a:stCxn id="53" idx="0"/>
            <a:endCxn id="55" idx="4"/>
          </p:cNvCxnSpPr>
          <p:nvPr/>
        </p:nvCxnSpPr>
        <p:spPr bwMode="auto">
          <a:xfrm flipV="1">
            <a:off x="5096886" y="2296437"/>
            <a:ext cx="440533" cy="7042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2" name="Straight Connector 71"/>
          <p:cNvCxnSpPr>
            <a:cxnSpLocks noChangeAspect="1"/>
          </p:cNvCxnSpPr>
          <p:nvPr/>
        </p:nvCxnSpPr>
        <p:spPr bwMode="auto">
          <a:xfrm>
            <a:off x="5690279" y="2294411"/>
            <a:ext cx="153482" cy="51163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3" name="Straight Connector 72"/>
          <p:cNvCxnSpPr>
            <a:cxnSpLocks noChangeAspect="1"/>
          </p:cNvCxnSpPr>
          <p:nvPr/>
        </p:nvCxnSpPr>
        <p:spPr bwMode="auto">
          <a:xfrm flipV="1">
            <a:off x="4948877" y="2806042"/>
            <a:ext cx="869304" cy="34223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8" name="Straight Connector 77"/>
          <p:cNvCxnSpPr>
            <a:cxnSpLocks noChangeAspect="1"/>
          </p:cNvCxnSpPr>
          <p:nvPr/>
        </p:nvCxnSpPr>
        <p:spPr bwMode="auto">
          <a:xfrm flipH="1" flipV="1">
            <a:off x="5852287" y="2857205"/>
            <a:ext cx="142001" cy="85896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9" name="Straight Connector 78"/>
          <p:cNvCxnSpPr>
            <a:cxnSpLocks noChangeAspect="1"/>
          </p:cNvCxnSpPr>
          <p:nvPr/>
        </p:nvCxnSpPr>
        <p:spPr bwMode="auto">
          <a:xfrm flipH="1">
            <a:off x="5674004" y="1699447"/>
            <a:ext cx="158058" cy="60505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2" name="Straight Connector 81"/>
          <p:cNvCxnSpPr>
            <a:cxnSpLocks noChangeAspect="1"/>
          </p:cNvCxnSpPr>
          <p:nvPr/>
        </p:nvCxnSpPr>
        <p:spPr bwMode="auto">
          <a:xfrm flipV="1">
            <a:off x="5630055" y="3701398"/>
            <a:ext cx="358660" cy="59698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9" name="Straight Connector 108"/>
          <p:cNvCxnSpPr>
            <a:cxnSpLocks noChangeAspect="1"/>
          </p:cNvCxnSpPr>
          <p:nvPr/>
        </p:nvCxnSpPr>
        <p:spPr bwMode="auto">
          <a:xfrm flipV="1">
            <a:off x="6393479" y="2569061"/>
            <a:ext cx="464125" cy="80649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1" name="Straight Connector 110"/>
          <p:cNvCxnSpPr>
            <a:cxnSpLocks noChangeAspect="1"/>
          </p:cNvCxnSpPr>
          <p:nvPr/>
        </p:nvCxnSpPr>
        <p:spPr bwMode="auto">
          <a:xfrm flipH="1" flipV="1">
            <a:off x="4962449" y="3156799"/>
            <a:ext cx="676670" cy="112444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2" name="Straight Connector 111"/>
          <p:cNvCxnSpPr>
            <a:cxnSpLocks noChangeAspect="1"/>
          </p:cNvCxnSpPr>
          <p:nvPr/>
        </p:nvCxnSpPr>
        <p:spPr bwMode="auto">
          <a:xfrm flipV="1">
            <a:off x="5640999" y="4673499"/>
            <a:ext cx="415930" cy="41175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3" name="Straight Connector 112"/>
          <p:cNvCxnSpPr>
            <a:cxnSpLocks noChangeAspect="1"/>
          </p:cNvCxnSpPr>
          <p:nvPr/>
        </p:nvCxnSpPr>
        <p:spPr bwMode="auto">
          <a:xfrm flipV="1">
            <a:off x="4970121" y="4289775"/>
            <a:ext cx="668998" cy="59355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5" name="Straight Connector 114"/>
          <p:cNvCxnSpPr>
            <a:cxnSpLocks noChangeAspect="1"/>
          </p:cNvCxnSpPr>
          <p:nvPr/>
        </p:nvCxnSpPr>
        <p:spPr bwMode="auto">
          <a:xfrm flipH="1" flipV="1">
            <a:off x="4976130" y="4880166"/>
            <a:ext cx="662989" cy="20263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7" name="Straight Connector 116"/>
          <p:cNvCxnSpPr>
            <a:cxnSpLocks noChangeAspect="1"/>
          </p:cNvCxnSpPr>
          <p:nvPr/>
        </p:nvCxnSpPr>
        <p:spPr bwMode="auto">
          <a:xfrm flipH="1" flipV="1">
            <a:off x="5639119" y="5074278"/>
            <a:ext cx="714750" cy="52770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8" name="Straight Connector 117"/>
          <p:cNvCxnSpPr>
            <a:cxnSpLocks noChangeAspect="1"/>
          </p:cNvCxnSpPr>
          <p:nvPr/>
        </p:nvCxnSpPr>
        <p:spPr bwMode="auto">
          <a:xfrm flipH="1" flipV="1">
            <a:off x="5622065" y="4289775"/>
            <a:ext cx="427576" cy="41957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7" name="Straight Connector 156"/>
          <p:cNvCxnSpPr>
            <a:cxnSpLocks/>
          </p:cNvCxnSpPr>
          <p:nvPr/>
        </p:nvCxnSpPr>
        <p:spPr bwMode="auto">
          <a:xfrm flipH="1">
            <a:off x="7193420" y="5048250"/>
            <a:ext cx="547230" cy="50619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0" name="Straight Connector 159"/>
          <p:cNvCxnSpPr>
            <a:cxnSpLocks noChangeAspect="1"/>
          </p:cNvCxnSpPr>
          <p:nvPr/>
        </p:nvCxnSpPr>
        <p:spPr bwMode="auto">
          <a:xfrm flipV="1">
            <a:off x="7295411" y="2759688"/>
            <a:ext cx="125906" cy="48707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1" name="Straight Connector 160"/>
          <p:cNvCxnSpPr>
            <a:cxnSpLocks noChangeAspect="1"/>
          </p:cNvCxnSpPr>
          <p:nvPr/>
        </p:nvCxnSpPr>
        <p:spPr bwMode="auto">
          <a:xfrm flipH="1" flipV="1">
            <a:off x="6863565" y="2579770"/>
            <a:ext cx="551792" cy="1932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2" name="Straight Connector 161"/>
          <p:cNvCxnSpPr>
            <a:cxnSpLocks/>
          </p:cNvCxnSpPr>
          <p:nvPr/>
        </p:nvCxnSpPr>
        <p:spPr bwMode="auto">
          <a:xfrm flipV="1">
            <a:off x="7759700" y="4606868"/>
            <a:ext cx="489249" cy="40328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3" name="Straight Connector 162"/>
          <p:cNvCxnSpPr>
            <a:cxnSpLocks noChangeAspect="1"/>
          </p:cNvCxnSpPr>
          <p:nvPr/>
        </p:nvCxnSpPr>
        <p:spPr bwMode="auto">
          <a:xfrm flipH="1">
            <a:off x="5850018" y="2557066"/>
            <a:ext cx="1025579" cy="23860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4" name="Straight Connector 163"/>
          <p:cNvCxnSpPr>
            <a:cxnSpLocks noChangeAspect="1"/>
          </p:cNvCxnSpPr>
          <p:nvPr/>
        </p:nvCxnSpPr>
        <p:spPr bwMode="auto">
          <a:xfrm flipH="1" flipV="1">
            <a:off x="7289376" y="3221483"/>
            <a:ext cx="329891" cy="51705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5" name="Straight Connector 164"/>
          <p:cNvCxnSpPr>
            <a:cxnSpLocks noChangeAspect="1"/>
          </p:cNvCxnSpPr>
          <p:nvPr/>
        </p:nvCxnSpPr>
        <p:spPr bwMode="auto">
          <a:xfrm flipH="1">
            <a:off x="6671651" y="3762530"/>
            <a:ext cx="941617" cy="5269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6" name="Straight Connector 165"/>
          <p:cNvCxnSpPr>
            <a:cxnSpLocks noChangeAspect="1"/>
          </p:cNvCxnSpPr>
          <p:nvPr/>
        </p:nvCxnSpPr>
        <p:spPr bwMode="auto">
          <a:xfrm flipH="1" flipV="1">
            <a:off x="7511278" y="4235034"/>
            <a:ext cx="749702" cy="37312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3" name="Straight Connector 172"/>
          <p:cNvCxnSpPr>
            <a:cxnSpLocks noChangeAspect="1"/>
          </p:cNvCxnSpPr>
          <p:nvPr/>
        </p:nvCxnSpPr>
        <p:spPr bwMode="auto">
          <a:xfrm flipV="1">
            <a:off x="7499320" y="3737253"/>
            <a:ext cx="125907" cy="55904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5" name="Straight Connector 174"/>
          <p:cNvCxnSpPr>
            <a:cxnSpLocks noChangeAspect="1"/>
          </p:cNvCxnSpPr>
          <p:nvPr/>
        </p:nvCxnSpPr>
        <p:spPr bwMode="auto">
          <a:xfrm flipH="1">
            <a:off x="8248950" y="4578166"/>
            <a:ext cx="593773" cy="2270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9" name="Straight Connector 178"/>
          <p:cNvCxnSpPr>
            <a:cxnSpLocks noChangeAspect="1"/>
          </p:cNvCxnSpPr>
          <p:nvPr/>
        </p:nvCxnSpPr>
        <p:spPr bwMode="auto">
          <a:xfrm flipH="1">
            <a:off x="8182979" y="4620149"/>
            <a:ext cx="84000" cy="94629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1" name="Straight Connector 180"/>
          <p:cNvCxnSpPr>
            <a:cxnSpLocks noChangeAspect="1"/>
          </p:cNvCxnSpPr>
          <p:nvPr/>
        </p:nvCxnSpPr>
        <p:spPr bwMode="auto">
          <a:xfrm flipH="1">
            <a:off x="6935534" y="4290294"/>
            <a:ext cx="545794" cy="44251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3" name="Straight Connector 182"/>
          <p:cNvCxnSpPr>
            <a:cxnSpLocks/>
          </p:cNvCxnSpPr>
          <p:nvPr/>
        </p:nvCxnSpPr>
        <p:spPr bwMode="auto">
          <a:xfrm flipH="1" flipV="1">
            <a:off x="6941532" y="4720816"/>
            <a:ext cx="786418" cy="30838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7" name="Straight Connector 186"/>
          <p:cNvCxnSpPr>
            <a:cxnSpLocks noChangeAspect="1"/>
          </p:cNvCxnSpPr>
          <p:nvPr/>
        </p:nvCxnSpPr>
        <p:spPr bwMode="auto">
          <a:xfrm flipH="1" flipV="1">
            <a:off x="8248949" y="3581323"/>
            <a:ext cx="12032" cy="103282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0" name="Straight Connector 199"/>
          <p:cNvCxnSpPr>
            <a:cxnSpLocks noChangeAspect="1"/>
          </p:cNvCxnSpPr>
          <p:nvPr/>
        </p:nvCxnSpPr>
        <p:spPr bwMode="auto">
          <a:xfrm flipH="1">
            <a:off x="7631225" y="3588606"/>
            <a:ext cx="641750" cy="16064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2" name="Straight Connector 201"/>
          <p:cNvCxnSpPr>
            <a:cxnSpLocks noChangeAspect="1"/>
          </p:cNvCxnSpPr>
          <p:nvPr/>
        </p:nvCxnSpPr>
        <p:spPr bwMode="auto">
          <a:xfrm flipH="1" flipV="1">
            <a:off x="8248950" y="3575326"/>
            <a:ext cx="605766" cy="22318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3" name="Straight Connector 202"/>
          <p:cNvCxnSpPr>
            <a:cxnSpLocks noChangeAspect="1"/>
          </p:cNvCxnSpPr>
          <p:nvPr/>
        </p:nvCxnSpPr>
        <p:spPr bwMode="auto">
          <a:xfrm flipH="1" flipV="1">
            <a:off x="8182979" y="2903626"/>
            <a:ext cx="671738" cy="13322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4" name="Straight Connector 203"/>
          <p:cNvCxnSpPr>
            <a:cxnSpLocks noChangeAspect="1"/>
          </p:cNvCxnSpPr>
          <p:nvPr/>
        </p:nvCxnSpPr>
        <p:spPr bwMode="auto">
          <a:xfrm flipH="1">
            <a:off x="6401771" y="3216773"/>
            <a:ext cx="887641" cy="14265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0" name="Straight Connector 209"/>
          <p:cNvCxnSpPr>
            <a:cxnSpLocks noChangeAspect="1"/>
          </p:cNvCxnSpPr>
          <p:nvPr/>
        </p:nvCxnSpPr>
        <p:spPr bwMode="auto">
          <a:xfrm flipH="1" flipV="1">
            <a:off x="8195012" y="2910910"/>
            <a:ext cx="53975" cy="65970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3" name="Straight Connector 212"/>
          <p:cNvCxnSpPr>
            <a:cxnSpLocks noChangeAspect="1"/>
          </p:cNvCxnSpPr>
          <p:nvPr/>
        </p:nvCxnSpPr>
        <p:spPr bwMode="auto">
          <a:xfrm flipH="1">
            <a:off x="7283381" y="2898914"/>
            <a:ext cx="893638" cy="31657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1" name="Straight Connector 220"/>
          <p:cNvCxnSpPr>
            <a:cxnSpLocks noChangeAspect="1"/>
          </p:cNvCxnSpPr>
          <p:nvPr/>
        </p:nvCxnSpPr>
        <p:spPr bwMode="auto">
          <a:xfrm>
            <a:off x="7949120" y="1675458"/>
            <a:ext cx="65936" cy="53847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2" name="Straight Connector 221"/>
          <p:cNvCxnSpPr>
            <a:cxnSpLocks noChangeAspect="1"/>
          </p:cNvCxnSpPr>
          <p:nvPr/>
        </p:nvCxnSpPr>
        <p:spPr bwMode="auto">
          <a:xfrm flipH="1">
            <a:off x="7397329" y="2203223"/>
            <a:ext cx="623758" cy="56846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7" name="Straight Connector 226"/>
          <p:cNvCxnSpPr>
            <a:cxnSpLocks noChangeAspect="1"/>
          </p:cNvCxnSpPr>
          <p:nvPr/>
        </p:nvCxnSpPr>
        <p:spPr bwMode="auto">
          <a:xfrm flipH="1">
            <a:off x="6857571" y="2101269"/>
            <a:ext cx="155965" cy="47250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0" name="Straight Connector 229"/>
          <p:cNvCxnSpPr>
            <a:cxnSpLocks noChangeAspect="1"/>
          </p:cNvCxnSpPr>
          <p:nvPr/>
        </p:nvCxnSpPr>
        <p:spPr bwMode="auto">
          <a:xfrm flipH="1">
            <a:off x="6989512" y="1711442"/>
            <a:ext cx="83997" cy="40053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4" name="Straight Connector 233"/>
          <p:cNvCxnSpPr>
            <a:cxnSpLocks noChangeAspect="1"/>
          </p:cNvCxnSpPr>
          <p:nvPr/>
        </p:nvCxnSpPr>
        <p:spPr bwMode="auto">
          <a:xfrm flipH="1" flipV="1">
            <a:off x="7001505" y="2117976"/>
            <a:ext cx="995593" cy="8524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494" name="Group 493"/>
          <p:cNvGrpSpPr/>
          <p:nvPr/>
        </p:nvGrpSpPr>
        <p:grpSpPr>
          <a:xfrm>
            <a:off x="4952748" y="1704160"/>
            <a:ext cx="3901968" cy="3863566"/>
            <a:chOff x="4952748" y="1704160"/>
            <a:chExt cx="3901968" cy="3863566"/>
          </a:xfrm>
        </p:grpSpPr>
        <p:cxnSp>
          <p:nvCxnSpPr>
            <p:cNvPr id="74" name="Straight Connector 73"/>
            <p:cNvCxnSpPr>
              <a:cxnSpLocks noChangeAspect="1"/>
            </p:cNvCxnSpPr>
            <p:nvPr/>
          </p:nvCxnSpPr>
          <p:spPr bwMode="auto">
            <a:xfrm flipH="1" flipV="1">
              <a:off x="4957280" y="2381356"/>
              <a:ext cx="903534" cy="4417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6" name="Straight Connector 75"/>
            <p:cNvCxnSpPr>
              <a:cxnSpLocks noChangeAspect="1"/>
            </p:cNvCxnSpPr>
            <p:nvPr/>
          </p:nvCxnSpPr>
          <p:spPr bwMode="auto">
            <a:xfrm>
              <a:off x="5843862" y="2840947"/>
              <a:ext cx="571189" cy="52789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0" name="Straight Connector 109"/>
            <p:cNvCxnSpPr>
              <a:cxnSpLocks noChangeAspect="1"/>
            </p:cNvCxnSpPr>
            <p:nvPr/>
          </p:nvCxnSpPr>
          <p:spPr bwMode="auto">
            <a:xfrm flipH="1" flipV="1">
              <a:off x="4953926" y="4150261"/>
              <a:ext cx="676666" cy="13098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4" name="Straight Connector 113"/>
            <p:cNvCxnSpPr>
              <a:cxnSpLocks noChangeAspect="1"/>
            </p:cNvCxnSpPr>
            <p:nvPr/>
          </p:nvCxnSpPr>
          <p:spPr bwMode="auto">
            <a:xfrm flipH="1" flipV="1">
              <a:off x="5622065" y="4281247"/>
              <a:ext cx="15878" cy="79240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6" name="Straight Connector 115"/>
            <p:cNvCxnSpPr>
              <a:cxnSpLocks noChangeAspect="1"/>
            </p:cNvCxnSpPr>
            <p:nvPr/>
          </p:nvCxnSpPr>
          <p:spPr bwMode="auto">
            <a:xfrm flipV="1">
              <a:off x="4952748" y="5074278"/>
              <a:ext cx="703423" cy="49087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9" name="Straight Connector 148"/>
            <p:cNvCxnSpPr>
              <a:cxnSpLocks noChangeAspect="1"/>
            </p:cNvCxnSpPr>
            <p:nvPr/>
          </p:nvCxnSpPr>
          <p:spPr bwMode="auto">
            <a:xfrm flipH="1" flipV="1">
              <a:off x="6941531" y="4744806"/>
              <a:ext cx="263920" cy="82292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7" name="Straight Connector 176"/>
            <p:cNvCxnSpPr>
              <a:cxnSpLocks noChangeAspect="1"/>
            </p:cNvCxnSpPr>
            <p:nvPr/>
          </p:nvCxnSpPr>
          <p:spPr bwMode="auto">
            <a:xfrm flipH="1" flipV="1">
              <a:off x="8260944" y="4594872"/>
              <a:ext cx="557789" cy="95486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1" name="Straight Connector 200"/>
            <p:cNvCxnSpPr>
              <a:cxnSpLocks noChangeAspect="1"/>
            </p:cNvCxnSpPr>
            <p:nvPr/>
          </p:nvCxnSpPr>
          <p:spPr bwMode="auto">
            <a:xfrm flipH="1" flipV="1">
              <a:off x="7415321" y="2765686"/>
              <a:ext cx="773691" cy="133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5" name="Straight Connector 214"/>
            <p:cNvCxnSpPr>
              <a:cxnSpLocks noChangeAspect="1"/>
            </p:cNvCxnSpPr>
            <p:nvPr/>
          </p:nvCxnSpPr>
          <p:spPr bwMode="auto">
            <a:xfrm flipH="1">
              <a:off x="7601240" y="2910909"/>
              <a:ext cx="587773" cy="85033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0" name="Straight Connector 219"/>
            <p:cNvCxnSpPr>
              <a:cxnSpLocks noChangeAspect="1"/>
            </p:cNvCxnSpPr>
            <p:nvPr/>
          </p:nvCxnSpPr>
          <p:spPr bwMode="auto">
            <a:xfrm flipH="1">
              <a:off x="8188977" y="2395138"/>
              <a:ext cx="665739" cy="51448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9" name="Straight Connector 228"/>
            <p:cNvCxnSpPr>
              <a:cxnSpLocks noChangeAspect="1"/>
            </p:cNvCxnSpPr>
            <p:nvPr/>
          </p:nvCxnSpPr>
          <p:spPr bwMode="auto">
            <a:xfrm flipH="1" flipV="1">
              <a:off x="7625228" y="3761246"/>
              <a:ext cx="629755" cy="82891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3" name="Straight Connector 232"/>
            <p:cNvCxnSpPr>
              <a:cxnSpLocks noChangeAspect="1"/>
            </p:cNvCxnSpPr>
            <p:nvPr/>
          </p:nvCxnSpPr>
          <p:spPr bwMode="auto">
            <a:xfrm>
              <a:off x="7001541" y="2125258"/>
              <a:ext cx="407819" cy="62372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5" name="Straight Connector 234"/>
            <p:cNvCxnSpPr>
              <a:cxnSpLocks noChangeAspect="1"/>
            </p:cNvCxnSpPr>
            <p:nvPr/>
          </p:nvCxnSpPr>
          <p:spPr bwMode="auto">
            <a:xfrm flipH="1" flipV="1">
              <a:off x="5820032" y="1704160"/>
              <a:ext cx="1157520" cy="40310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236" name="Straight Connector 235"/>
          <p:cNvCxnSpPr>
            <a:cxnSpLocks noChangeAspect="1"/>
          </p:cNvCxnSpPr>
          <p:nvPr/>
        </p:nvCxnSpPr>
        <p:spPr bwMode="auto">
          <a:xfrm flipV="1">
            <a:off x="5688125" y="2117976"/>
            <a:ext cx="1307383" cy="16921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1" name="Straight Connector 240"/>
          <p:cNvCxnSpPr>
            <a:cxnSpLocks noChangeAspect="1"/>
          </p:cNvCxnSpPr>
          <p:nvPr/>
        </p:nvCxnSpPr>
        <p:spPr bwMode="auto">
          <a:xfrm>
            <a:off x="8033083" y="2215218"/>
            <a:ext cx="137904" cy="68840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495" name="Group 494"/>
          <p:cNvGrpSpPr/>
          <p:nvPr/>
        </p:nvGrpSpPr>
        <p:grpSpPr>
          <a:xfrm>
            <a:off x="4950453" y="1699447"/>
            <a:ext cx="3916259" cy="3886271"/>
            <a:chOff x="4950453" y="1699447"/>
            <a:chExt cx="3916259" cy="3886271"/>
          </a:xfrm>
        </p:grpSpPr>
        <p:cxnSp>
          <p:nvCxnSpPr>
            <p:cNvPr id="67" name="Straight Connector 66"/>
            <p:cNvCxnSpPr>
              <a:cxnSpLocks noChangeAspect="1"/>
              <a:stCxn id="9" idx="7"/>
              <a:endCxn id="55" idx="3"/>
            </p:cNvCxnSpPr>
            <p:nvPr/>
          </p:nvCxnSpPr>
          <p:spPr bwMode="auto">
            <a:xfrm>
              <a:off x="5054398" y="1800919"/>
              <a:ext cx="527347" cy="39017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5" name="Straight Connector 74"/>
            <p:cNvCxnSpPr>
              <a:cxnSpLocks noChangeAspect="1"/>
            </p:cNvCxnSpPr>
            <p:nvPr/>
          </p:nvCxnSpPr>
          <p:spPr bwMode="auto">
            <a:xfrm>
              <a:off x="5674130" y="2295509"/>
              <a:ext cx="1183475" cy="26755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1" name="Straight Connector 80"/>
            <p:cNvCxnSpPr>
              <a:cxnSpLocks noChangeAspect="1"/>
            </p:cNvCxnSpPr>
            <p:nvPr/>
          </p:nvCxnSpPr>
          <p:spPr bwMode="auto">
            <a:xfrm>
              <a:off x="5985442" y="3698760"/>
              <a:ext cx="676884" cy="13054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6" name="Straight Connector 95"/>
            <p:cNvCxnSpPr>
              <a:cxnSpLocks noChangeAspect="1"/>
            </p:cNvCxnSpPr>
            <p:nvPr/>
          </p:nvCxnSpPr>
          <p:spPr bwMode="auto">
            <a:xfrm flipH="1" flipV="1">
              <a:off x="4950453" y="3150802"/>
              <a:ext cx="1038365" cy="54286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9" name="Straight Connector 118"/>
            <p:cNvCxnSpPr>
              <a:cxnSpLocks noChangeAspect="1"/>
            </p:cNvCxnSpPr>
            <p:nvPr/>
          </p:nvCxnSpPr>
          <p:spPr bwMode="auto">
            <a:xfrm flipV="1">
              <a:off x="6077957" y="3837834"/>
              <a:ext cx="575843" cy="848659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1" name="Straight Connector 120"/>
            <p:cNvCxnSpPr>
              <a:cxnSpLocks noChangeAspect="1"/>
              <a:endCxn id="63" idx="6"/>
            </p:cNvCxnSpPr>
            <p:nvPr/>
          </p:nvCxnSpPr>
          <p:spPr bwMode="auto">
            <a:xfrm flipH="1" flipV="1">
              <a:off x="5986441" y="3863492"/>
              <a:ext cx="87540" cy="82706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1" name="Straight Connector 140"/>
            <p:cNvCxnSpPr>
              <a:cxnSpLocks noChangeAspect="1"/>
            </p:cNvCxnSpPr>
            <p:nvPr/>
          </p:nvCxnSpPr>
          <p:spPr bwMode="auto">
            <a:xfrm flipH="1" flipV="1">
              <a:off x="6065920" y="4684832"/>
              <a:ext cx="293907" cy="88889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7" name="Straight Connector 146"/>
            <p:cNvCxnSpPr>
              <a:cxnSpLocks/>
            </p:cNvCxnSpPr>
            <p:nvPr/>
          </p:nvCxnSpPr>
          <p:spPr bwMode="auto">
            <a:xfrm flipH="1" flipV="1">
              <a:off x="7766051" y="5022850"/>
              <a:ext cx="428960" cy="56286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8" name="Straight Connector 147"/>
            <p:cNvCxnSpPr>
              <a:cxnSpLocks/>
            </p:cNvCxnSpPr>
            <p:nvPr/>
          </p:nvCxnSpPr>
          <p:spPr bwMode="auto">
            <a:xfrm flipH="1" flipV="1">
              <a:off x="7499284" y="4265020"/>
              <a:ext cx="241366" cy="74513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9" name="Straight Connector 158"/>
            <p:cNvCxnSpPr>
              <a:cxnSpLocks noChangeAspect="1"/>
            </p:cNvCxnSpPr>
            <p:nvPr/>
          </p:nvCxnSpPr>
          <p:spPr bwMode="auto">
            <a:xfrm flipH="1" flipV="1">
              <a:off x="6875560" y="2567774"/>
              <a:ext cx="419851" cy="66699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7" name="Straight Connector 166"/>
            <p:cNvCxnSpPr>
              <a:cxnSpLocks noChangeAspect="1"/>
            </p:cNvCxnSpPr>
            <p:nvPr/>
          </p:nvCxnSpPr>
          <p:spPr bwMode="auto">
            <a:xfrm flipH="1">
              <a:off x="6641664" y="3246759"/>
              <a:ext cx="641752" cy="55646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8" name="Straight Connector 167"/>
            <p:cNvCxnSpPr>
              <a:cxnSpLocks noChangeAspect="1"/>
            </p:cNvCxnSpPr>
            <p:nvPr/>
          </p:nvCxnSpPr>
          <p:spPr bwMode="auto">
            <a:xfrm flipH="1" flipV="1">
              <a:off x="6653659" y="3815219"/>
              <a:ext cx="845661" cy="45108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5" name="Straight Connector 184"/>
            <p:cNvCxnSpPr>
              <a:cxnSpLocks noChangeAspect="1"/>
            </p:cNvCxnSpPr>
            <p:nvPr/>
          </p:nvCxnSpPr>
          <p:spPr bwMode="auto">
            <a:xfrm flipH="1" flipV="1">
              <a:off x="8254947" y="3563331"/>
              <a:ext cx="587776" cy="102083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7" name="Straight Connector 216"/>
            <p:cNvCxnSpPr>
              <a:cxnSpLocks noChangeAspect="1"/>
            </p:cNvCxnSpPr>
            <p:nvPr/>
          </p:nvCxnSpPr>
          <p:spPr bwMode="auto">
            <a:xfrm flipH="1">
              <a:off x="8248950" y="3042850"/>
              <a:ext cx="617762" cy="5504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9" name="Straight Connector 218"/>
            <p:cNvCxnSpPr>
              <a:cxnSpLocks noChangeAspect="1"/>
            </p:cNvCxnSpPr>
            <p:nvPr/>
          </p:nvCxnSpPr>
          <p:spPr bwMode="auto">
            <a:xfrm flipH="1">
              <a:off x="7991065" y="1729434"/>
              <a:ext cx="869649" cy="47850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2" name="Straight Connector 241"/>
            <p:cNvCxnSpPr>
              <a:cxnSpLocks noChangeAspect="1"/>
            </p:cNvCxnSpPr>
            <p:nvPr/>
          </p:nvCxnSpPr>
          <p:spPr bwMode="auto">
            <a:xfrm flipH="1" flipV="1">
              <a:off x="7079507" y="1699447"/>
              <a:ext cx="929588" cy="51577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243" name="Straight Connector 242"/>
          <p:cNvCxnSpPr>
            <a:cxnSpLocks noChangeAspect="1"/>
          </p:cNvCxnSpPr>
          <p:nvPr/>
        </p:nvCxnSpPr>
        <p:spPr bwMode="auto">
          <a:xfrm flipH="1" flipV="1">
            <a:off x="8003062" y="2213934"/>
            <a:ext cx="851655" cy="16920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731337421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1" name="Group 630"/>
          <p:cNvGrpSpPr/>
          <p:nvPr/>
        </p:nvGrpSpPr>
        <p:grpSpPr>
          <a:xfrm>
            <a:off x="7223311" y="4616452"/>
            <a:ext cx="1015814" cy="964144"/>
            <a:chOff x="7223311" y="4616452"/>
            <a:chExt cx="1015814" cy="964144"/>
          </a:xfrm>
        </p:grpSpPr>
        <p:cxnSp>
          <p:nvCxnSpPr>
            <p:cNvPr id="597" name="Straight Connector 596"/>
            <p:cNvCxnSpPr>
              <a:cxnSpLocks noChangeAspect="1"/>
            </p:cNvCxnSpPr>
            <p:nvPr/>
          </p:nvCxnSpPr>
          <p:spPr bwMode="auto">
            <a:xfrm rot="13228151" flipH="1" flipV="1">
              <a:off x="8048764" y="5484057"/>
              <a:ext cx="173033" cy="31748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8" name="Straight Connector 597"/>
            <p:cNvCxnSpPr>
              <a:cxnSpLocks noChangeAspect="1"/>
            </p:cNvCxnSpPr>
            <p:nvPr/>
          </p:nvCxnSpPr>
          <p:spPr bwMode="auto">
            <a:xfrm flipV="1">
              <a:off x="8027295" y="4616452"/>
              <a:ext cx="211830" cy="56832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9" name="Straight Connector 598"/>
            <p:cNvCxnSpPr>
              <a:cxnSpLocks noChangeAspect="1"/>
            </p:cNvCxnSpPr>
            <p:nvPr/>
          </p:nvCxnSpPr>
          <p:spPr bwMode="auto">
            <a:xfrm flipV="1">
              <a:off x="7223311" y="5358271"/>
              <a:ext cx="625289" cy="222325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0" name="Straight Connector 599"/>
            <p:cNvCxnSpPr>
              <a:cxnSpLocks noChangeAspect="1"/>
            </p:cNvCxnSpPr>
            <p:nvPr/>
          </p:nvCxnSpPr>
          <p:spPr bwMode="auto">
            <a:xfrm>
              <a:off x="8021827" y="5191125"/>
              <a:ext cx="62318" cy="241602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1" name="Straight Connector 600"/>
            <p:cNvCxnSpPr>
              <a:cxnSpLocks noChangeAspect="1"/>
            </p:cNvCxnSpPr>
            <p:nvPr/>
          </p:nvCxnSpPr>
          <p:spPr bwMode="auto">
            <a:xfrm>
              <a:off x="7868343" y="5159600"/>
              <a:ext cx="145803" cy="2835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2" name="Straight Connector 601"/>
            <p:cNvCxnSpPr>
              <a:cxnSpLocks noChangeAspect="1"/>
            </p:cNvCxnSpPr>
            <p:nvPr/>
          </p:nvCxnSpPr>
          <p:spPr bwMode="auto">
            <a:xfrm flipH="1" flipV="1">
              <a:off x="7854950" y="5347979"/>
              <a:ext cx="220785" cy="8716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3" name="Straight Connector 602"/>
            <p:cNvCxnSpPr>
              <a:cxnSpLocks noChangeAspect="1"/>
            </p:cNvCxnSpPr>
            <p:nvPr/>
          </p:nvCxnSpPr>
          <p:spPr bwMode="auto">
            <a:xfrm flipH="1">
              <a:off x="7854985" y="5155305"/>
              <a:ext cx="9427" cy="185045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4" name="Straight Connector 603"/>
            <p:cNvCxnSpPr>
              <a:cxnSpLocks/>
            </p:cNvCxnSpPr>
            <p:nvPr/>
          </p:nvCxnSpPr>
          <p:spPr bwMode="auto">
            <a:xfrm>
              <a:off x="7748590" y="5021178"/>
              <a:ext cx="122235" cy="141372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74" name="Group 573"/>
          <p:cNvGrpSpPr/>
          <p:nvPr/>
        </p:nvGrpSpPr>
        <p:grpSpPr>
          <a:xfrm>
            <a:off x="4940300" y="3155952"/>
            <a:ext cx="704850" cy="1701798"/>
            <a:chOff x="4940300" y="3155952"/>
            <a:chExt cx="704850" cy="1701798"/>
          </a:xfrm>
        </p:grpSpPr>
        <p:cxnSp>
          <p:nvCxnSpPr>
            <p:cNvPr id="551" name="Straight Connector 550"/>
            <p:cNvCxnSpPr/>
            <p:nvPr/>
          </p:nvCxnSpPr>
          <p:spPr bwMode="auto">
            <a:xfrm flipH="1" flipV="1">
              <a:off x="4953000" y="4152901"/>
              <a:ext cx="692150" cy="126999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54" name="Straight Connector 553"/>
            <p:cNvCxnSpPr/>
            <p:nvPr/>
          </p:nvCxnSpPr>
          <p:spPr bwMode="auto">
            <a:xfrm flipH="1">
              <a:off x="4965700" y="4216400"/>
              <a:ext cx="349250" cy="64135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58" name="Straight Connector 557"/>
            <p:cNvCxnSpPr/>
            <p:nvPr/>
          </p:nvCxnSpPr>
          <p:spPr bwMode="auto">
            <a:xfrm flipH="1" flipV="1">
              <a:off x="4940300" y="3155952"/>
              <a:ext cx="371475" cy="106362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61" name="Straight Connector 560"/>
            <p:cNvCxnSpPr/>
            <p:nvPr/>
          </p:nvCxnSpPr>
          <p:spPr bwMode="auto">
            <a:xfrm flipH="1" flipV="1">
              <a:off x="4968876" y="4156075"/>
              <a:ext cx="358774" cy="40957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62" name="Straight Connector 561"/>
            <p:cNvCxnSpPr/>
            <p:nvPr/>
          </p:nvCxnSpPr>
          <p:spPr bwMode="auto">
            <a:xfrm flipH="1">
              <a:off x="4959350" y="4295775"/>
              <a:ext cx="682625" cy="19685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63" name="Straight Connector 562"/>
            <p:cNvCxnSpPr/>
            <p:nvPr/>
          </p:nvCxnSpPr>
          <p:spPr bwMode="auto">
            <a:xfrm flipV="1">
              <a:off x="4959351" y="3721100"/>
              <a:ext cx="346074" cy="43180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2" name="Straight Connector 571"/>
            <p:cNvCxnSpPr/>
            <p:nvPr/>
          </p:nvCxnSpPr>
          <p:spPr bwMode="auto">
            <a:xfrm flipH="1" flipV="1">
              <a:off x="4953000" y="3641725"/>
              <a:ext cx="679451" cy="65087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95" name="Group 594"/>
          <p:cNvGrpSpPr/>
          <p:nvPr/>
        </p:nvGrpSpPr>
        <p:grpSpPr>
          <a:xfrm>
            <a:off x="4940301" y="3155953"/>
            <a:ext cx="717549" cy="1701797"/>
            <a:chOff x="5527676" y="5156203"/>
            <a:chExt cx="717549" cy="1701797"/>
          </a:xfrm>
        </p:grpSpPr>
        <p:cxnSp>
          <p:nvCxnSpPr>
            <p:cNvPr id="576" name="Straight Connector 575"/>
            <p:cNvCxnSpPr>
              <a:cxnSpLocks noChangeAspect="1"/>
            </p:cNvCxnSpPr>
            <p:nvPr/>
          </p:nvCxnSpPr>
          <p:spPr bwMode="auto">
            <a:xfrm flipH="1" flipV="1">
              <a:off x="5540375" y="6153152"/>
              <a:ext cx="173033" cy="31748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7" name="Straight Connector 576"/>
            <p:cNvCxnSpPr>
              <a:cxnSpLocks noChangeAspect="1"/>
            </p:cNvCxnSpPr>
            <p:nvPr/>
          </p:nvCxnSpPr>
          <p:spPr bwMode="auto">
            <a:xfrm flipH="1">
              <a:off x="5553075" y="6339090"/>
              <a:ext cx="282575" cy="51891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8" name="Straight Connector 577"/>
            <p:cNvCxnSpPr>
              <a:cxnSpLocks noChangeAspect="1"/>
            </p:cNvCxnSpPr>
            <p:nvPr/>
          </p:nvCxnSpPr>
          <p:spPr bwMode="auto">
            <a:xfrm flipH="1" flipV="1">
              <a:off x="5527676" y="5156203"/>
              <a:ext cx="303832" cy="86994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9" name="Straight Connector 578"/>
            <p:cNvCxnSpPr>
              <a:cxnSpLocks noChangeAspect="1"/>
            </p:cNvCxnSpPr>
            <p:nvPr/>
          </p:nvCxnSpPr>
          <p:spPr bwMode="auto">
            <a:xfrm flipH="1" flipV="1">
              <a:off x="5711826" y="6184901"/>
              <a:ext cx="126999" cy="144981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0" name="Straight Connector 579"/>
            <p:cNvCxnSpPr>
              <a:cxnSpLocks noChangeAspect="1"/>
            </p:cNvCxnSpPr>
            <p:nvPr/>
          </p:nvCxnSpPr>
          <p:spPr bwMode="auto">
            <a:xfrm flipH="1">
              <a:off x="5848350" y="6254750"/>
              <a:ext cx="231776" cy="6683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1" name="Straight Connector 580"/>
            <p:cNvCxnSpPr>
              <a:cxnSpLocks noChangeAspect="1"/>
            </p:cNvCxnSpPr>
            <p:nvPr/>
          </p:nvCxnSpPr>
          <p:spPr bwMode="auto">
            <a:xfrm flipV="1">
              <a:off x="5711826" y="6035152"/>
              <a:ext cx="117474" cy="146575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2" name="Straight Connector 581"/>
            <p:cNvCxnSpPr>
              <a:cxnSpLocks noChangeAspect="1"/>
            </p:cNvCxnSpPr>
            <p:nvPr/>
          </p:nvCxnSpPr>
          <p:spPr bwMode="auto">
            <a:xfrm flipH="1" flipV="1">
              <a:off x="5842000" y="6029681"/>
              <a:ext cx="234953" cy="22507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2" name="Straight Connector 591"/>
            <p:cNvCxnSpPr>
              <a:cxnSpLocks noChangeAspect="1"/>
            </p:cNvCxnSpPr>
            <p:nvPr/>
          </p:nvCxnSpPr>
          <p:spPr bwMode="auto">
            <a:xfrm flipH="1" flipV="1">
              <a:off x="6070600" y="6251284"/>
              <a:ext cx="174625" cy="32042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77" name="Straight Connector 76"/>
          <p:cNvCxnSpPr>
            <a:cxnSpLocks noChangeAspect="1"/>
          </p:cNvCxnSpPr>
          <p:nvPr/>
        </p:nvCxnSpPr>
        <p:spPr bwMode="auto">
          <a:xfrm flipV="1">
            <a:off x="5991552" y="3368838"/>
            <a:ext cx="414972" cy="336081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0" name="Straight Connector 79"/>
          <p:cNvCxnSpPr>
            <a:cxnSpLocks noChangeAspect="1"/>
          </p:cNvCxnSpPr>
          <p:nvPr/>
        </p:nvCxnSpPr>
        <p:spPr bwMode="auto">
          <a:xfrm flipH="1" flipV="1">
            <a:off x="6415051" y="3377365"/>
            <a:ext cx="249793" cy="455105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0" name="Straight Connector 119"/>
          <p:cNvCxnSpPr>
            <a:cxnSpLocks noChangeAspect="1"/>
          </p:cNvCxnSpPr>
          <p:nvPr/>
        </p:nvCxnSpPr>
        <p:spPr bwMode="auto">
          <a:xfrm flipH="1" flipV="1">
            <a:off x="6645272" y="3829307"/>
            <a:ext cx="296620" cy="919599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6" name="Straight Connector 145"/>
          <p:cNvCxnSpPr>
            <a:cxnSpLocks noChangeAspect="1"/>
          </p:cNvCxnSpPr>
          <p:nvPr/>
        </p:nvCxnSpPr>
        <p:spPr bwMode="auto">
          <a:xfrm flipV="1">
            <a:off x="6359827" y="4744805"/>
            <a:ext cx="575707" cy="834917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5" name="Straight Connector 144"/>
          <p:cNvCxnSpPr>
            <a:cxnSpLocks noChangeAspect="1"/>
          </p:cNvCxnSpPr>
          <p:nvPr/>
        </p:nvCxnSpPr>
        <p:spPr bwMode="auto">
          <a:xfrm>
            <a:off x="6071955" y="4704110"/>
            <a:ext cx="875573" cy="46693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550" name="Group 549"/>
          <p:cNvGrpSpPr/>
          <p:nvPr/>
        </p:nvGrpSpPr>
        <p:grpSpPr>
          <a:xfrm>
            <a:off x="5969000" y="3698760"/>
            <a:ext cx="693326" cy="1006590"/>
            <a:chOff x="5969000" y="3698760"/>
            <a:chExt cx="693326" cy="1006590"/>
          </a:xfrm>
        </p:grpSpPr>
        <p:grpSp>
          <p:nvGrpSpPr>
            <p:cNvPr id="549" name="Group 548"/>
            <p:cNvGrpSpPr/>
            <p:nvPr/>
          </p:nvGrpSpPr>
          <p:grpSpPr>
            <a:xfrm>
              <a:off x="5969000" y="3714750"/>
              <a:ext cx="685800" cy="990600"/>
              <a:chOff x="5969000" y="3714750"/>
              <a:chExt cx="685800" cy="990600"/>
            </a:xfrm>
          </p:grpSpPr>
          <p:cxnSp>
            <p:nvCxnSpPr>
              <p:cNvPr id="542" name="Straight Connector 541"/>
              <p:cNvCxnSpPr/>
              <p:nvPr/>
            </p:nvCxnSpPr>
            <p:spPr bwMode="auto">
              <a:xfrm flipV="1">
                <a:off x="6233296" y="3822700"/>
                <a:ext cx="421504" cy="180706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008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43" name="Straight Connector 542"/>
              <p:cNvCxnSpPr/>
              <p:nvPr/>
            </p:nvCxnSpPr>
            <p:spPr bwMode="auto">
              <a:xfrm>
                <a:off x="5969000" y="3714750"/>
                <a:ext cx="279400" cy="29845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008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44" name="Straight Connector 543"/>
              <p:cNvCxnSpPr/>
              <p:nvPr/>
            </p:nvCxnSpPr>
            <p:spPr bwMode="auto">
              <a:xfrm flipV="1">
                <a:off x="6057900" y="3997849"/>
                <a:ext cx="180952" cy="707501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008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541" name="Group 540"/>
            <p:cNvGrpSpPr/>
            <p:nvPr/>
          </p:nvGrpSpPr>
          <p:grpSpPr>
            <a:xfrm>
              <a:off x="5985442" y="3698760"/>
              <a:ext cx="676884" cy="991796"/>
              <a:chOff x="5985442" y="3698760"/>
              <a:chExt cx="676884" cy="991796"/>
            </a:xfrm>
          </p:grpSpPr>
          <p:grpSp>
            <p:nvGrpSpPr>
              <p:cNvPr id="538" name="Group 537"/>
              <p:cNvGrpSpPr/>
              <p:nvPr/>
            </p:nvGrpSpPr>
            <p:grpSpPr>
              <a:xfrm>
                <a:off x="5985442" y="3698760"/>
                <a:ext cx="676884" cy="991796"/>
                <a:chOff x="9852592" y="4251210"/>
                <a:chExt cx="676884" cy="991796"/>
              </a:xfrm>
            </p:grpSpPr>
            <p:cxnSp>
              <p:nvCxnSpPr>
                <p:cNvPr id="535" name="Straight Connector 534"/>
                <p:cNvCxnSpPr>
                  <a:cxnSpLocks noChangeAspect="1"/>
                </p:cNvCxnSpPr>
                <p:nvPr/>
              </p:nvCxnSpPr>
              <p:spPr bwMode="auto">
                <a:xfrm>
                  <a:off x="9852592" y="4251210"/>
                  <a:ext cx="676884" cy="130547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rgbClr val="008000"/>
                  </a:solidFill>
                  <a:prstDash val="sysDot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536" name="Straight Connector 535"/>
                <p:cNvCxnSpPr>
                  <a:cxnSpLocks noChangeAspect="1"/>
                </p:cNvCxnSpPr>
                <p:nvPr/>
              </p:nvCxnSpPr>
              <p:spPr bwMode="auto">
                <a:xfrm flipV="1">
                  <a:off x="9945107" y="4390284"/>
                  <a:ext cx="575843" cy="848659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rgbClr val="008000"/>
                  </a:solidFill>
                  <a:prstDash val="sysDot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537" name="Straight Connector 536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9853591" y="4415942"/>
                  <a:ext cx="87540" cy="82706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rgbClr val="008000"/>
                  </a:solidFill>
                  <a:prstDash val="sysDot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3" name="Oval 12"/>
              <p:cNvSpPr/>
              <p:nvPr/>
            </p:nvSpPr>
            <p:spPr bwMode="auto">
              <a:xfrm rot="5400000">
                <a:off x="6142401" y="3891759"/>
                <a:ext cx="210312" cy="213651"/>
              </a:xfrm>
              <a:prstGeom prst="ellipse">
                <a:avLst/>
              </a:prstGeom>
              <a:solidFill>
                <a:srgbClr val="0000FF"/>
              </a:solidFill>
              <a:ln w="12700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  <p:sp>
            <p:nvSpPr>
              <p:cNvPr id="539" name="Oval 64"/>
              <p:cNvSpPr>
                <a:spLocks noChangeAspect="1" noChangeArrowheads="1"/>
              </p:cNvSpPr>
              <p:nvPr/>
            </p:nvSpPr>
            <p:spPr bwMode="auto">
              <a:xfrm>
                <a:off x="6014787" y="3759200"/>
                <a:ext cx="468563" cy="468563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0286"/>
            <a:ext cx="7772400" cy="1205114"/>
          </a:xfrm>
        </p:spPr>
        <p:txBody>
          <a:bodyPr/>
          <a:lstStyle/>
          <a:p>
            <a:r>
              <a:rPr lang="en-US"/>
              <a:t>Convert tri mesh to quads</a:t>
            </a:r>
            <a:br>
              <a:rPr lang="en-US"/>
            </a:br>
            <a:r>
              <a:rPr lang="en-US"/>
              <a:t>One-slide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4790722" cy="4572000"/>
          </a:xfrm>
        </p:spPr>
        <p:txBody>
          <a:bodyPr/>
          <a:lstStyle/>
          <a:p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Generate (or given) well-spaced points</a:t>
            </a:r>
          </a:p>
          <a:p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Delaunay triangulate</a:t>
            </a:r>
          </a:p>
          <a:p>
            <a:r>
              <a:rPr lang="en-US" sz="1800" dirty="0"/>
              <a:t>Color points red or blue</a:t>
            </a:r>
          </a:p>
          <a:p>
            <a:pPr lvl="1"/>
            <a:r>
              <a:rPr lang="en-US" sz="1600" dirty="0"/>
              <a:t>intersperse colors</a:t>
            </a:r>
          </a:p>
          <a:p>
            <a:r>
              <a:rPr lang="en-US" sz="1800" dirty="0"/>
              <a:t>Discard red-red and blue-blue edges</a:t>
            </a:r>
          </a:p>
          <a:p>
            <a:r>
              <a:rPr lang="en-US" sz="1800" dirty="0"/>
              <a:t>Quads mostly</a:t>
            </a:r>
            <a:endParaRPr lang="en-US" sz="1600" dirty="0"/>
          </a:p>
          <a:p>
            <a:pPr lvl="1"/>
            <a:r>
              <a:rPr lang="en-US" sz="1600" dirty="0"/>
              <a:t>good quality, some large angles</a:t>
            </a:r>
          </a:p>
          <a:p>
            <a:r>
              <a:rPr lang="en-US" sz="1800" dirty="0"/>
              <a:t>6, 8, 10 sided polygons sometimes</a:t>
            </a:r>
            <a:endParaRPr lang="en-US" sz="1600" dirty="0"/>
          </a:p>
          <a:p>
            <a:pPr lvl="1"/>
            <a:r>
              <a:rPr lang="en-US" sz="1600" dirty="0"/>
              <a:t>constrained </a:t>
            </a:r>
            <a:r>
              <a:rPr lang="en-US" sz="1600" dirty="0" err="1"/>
              <a:t>incircle</a:t>
            </a:r>
            <a:r>
              <a:rPr lang="en-US" sz="1600" dirty="0"/>
              <a:t> refinement</a:t>
            </a:r>
          </a:p>
          <a:p>
            <a:pPr lvl="1"/>
            <a:r>
              <a:rPr lang="en-US" sz="1600" dirty="0"/>
              <a:t>median template for reflex quads</a:t>
            </a:r>
          </a:p>
          <a:p>
            <a:r>
              <a:rPr lang="en-US" sz="1800" dirty="0">
                <a:solidFill>
                  <a:srgbClr val="7F7F7F"/>
                </a:solidFill>
              </a:rPr>
              <a:t>All quads with provable quality</a:t>
            </a:r>
          </a:p>
          <a:p>
            <a:endParaRPr lang="en-US" sz="1800" dirty="0">
              <a:solidFill>
                <a:srgbClr val="7F7F7F"/>
              </a:solidFill>
            </a:endParaRPr>
          </a:p>
          <a:p>
            <a:r>
              <a:rPr lang="en-US" sz="1800" dirty="0">
                <a:solidFill>
                  <a:srgbClr val="7F7F7F"/>
                </a:solidFill>
              </a:rPr>
              <a:t>Coloring and position heuristics</a:t>
            </a:r>
            <a:br>
              <a:rPr lang="en-US" sz="1800" dirty="0">
                <a:solidFill>
                  <a:srgbClr val="7F7F7F"/>
                </a:solidFill>
              </a:rPr>
            </a:br>
            <a:r>
              <a:rPr lang="en-US" sz="1800" dirty="0">
                <a:solidFill>
                  <a:srgbClr val="7F7F7F"/>
                </a:solidFill>
              </a:rPr>
              <a:t>improve quality in practice</a:t>
            </a:r>
          </a:p>
        </p:txBody>
      </p:sp>
      <p:grpSp>
        <p:nvGrpSpPr>
          <p:cNvPr id="47" name="Group 46"/>
          <p:cNvGrpSpPr>
            <a:grpSpLocks noChangeAspect="1"/>
          </p:cNvGrpSpPr>
          <p:nvPr/>
        </p:nvGrpSpPr>
        <p:grpSpPr>
          <a:xfrm>
            <a:off x="4952965" y="1695493"/>
            <a:ext cx="3910074" cy="3897523"/>
            <a:chOff x="5654800" y="2809494"/>
            <a:chExt cx="2760002" cy="2751142"/>
          </a:xfrm>
        </p:grpSpPr>
        <p:cxnSp>
          <p:nvCxnSpPr>
            <p:cNvPr id="43" name="Straight Connector 42"/>
            <p:cNvCxnSpPr/>
            <p:nvPr/>
          </p:nvCxnSpPr>
          <p:spPr bwMode="auto">
            <a:xfrm>
              <a:off x="5657634" y="2810915"/>
              <a:ext cx="27432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" name="Straight Connector 43"/>
            <p:cNvCxnSpPr/>
            <p:nvPr/>
          </p:nvCxnSpPr>
          <p:spPr bwMode="auto">
            <a:xfrm>
              <a:off x="5671602" y="5557542"/>
              <a:ext cx="27432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Straight Connector 44"/>
            <p:cNvCxnSpPr/>
            <p:nvPr/>
          </p:nvCxnSpPr>
          <p:spPr bwMode="auto">
            <a:xfrm rot="16200000">
              <a:off x="4283200" y="4181094"/>
              <a:ext cx="27432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Straight Connector 45"/>
            <p:cNvCxnSpPr/>
            <p:nvPr/>
          </p:nvCxnSpPr>
          <p:spPr bwMode="auto">
            <a:xfrm rot="16200000">
              <a:off x="7029685" y="4189036"/>
              <a:ext cx="27432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68" name="Straight Connector 67"/>
          <p:cNvCxnSpPr>
            <a:cxnSpLocks noChangeAspect="1"/>
            <a:stCxn id="53" idx="0"/>
            <a:endCxn id="55" idx="4"/>
          </p:cNvCxnSpPr>
          <p:nvPr/>
        </p:nvCxnSpPr>
        <p:spPr bwMode="auto">
          <a:xfrm flipV="1">
            <a:off x="5096886" y="2296437"/>
            <a:ext cx="440533" cy="70421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2" name="Straight Connector 71"/>
          <p:cNvCxnSpPr>
            <a:cxnSpLocks noChangeAspect="1"/>
          </p:cNvCxnSpPr>
          <p:nvPr/>
        </p:nvCxnSpPr>
        <p:spPr bwMode="auto">
          <a:xfrm>
            <a:off x="5690279" y="2294411"/>
            <a:ext cx="153482" cy="51163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3" name="Straight Connector 72"/>
          <p:cNvCxnSpPr>
            <a:cxnSpLocks noChangeAspect="1"/>
          </p:cNvCxnSpPr>
          <p:nvPr/>
        </p:nvCxnSpPr>
        <p:spPr bwMode="auto">
          <a:xfrm flipV="1">
            <a:off x="4948877" y="2806042"/>
            <a:ext cx="869304" cy="34223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8" name="Straight Connector 77"/>
          <p:cNvCxnSpPr>
            <a:cxnSpLocks noChangeAspect="1"/>
          </p:cNvCxnSpPr>
          <p:nvPr/>
        </p:nvCxnSpPr>
        <p:spPr bwMode="auto">
          <a:xfrm flipH="1" flipV="1">
            <a:off x="5852287" y="2857205"/>
            <a:ext cx="142001" cy="858965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9" name="Straight Connector 78"/>
          <p:cNvCxnSpPr>
            <a:cxnSpLocks noChangeAspect="1"/>
          </p:cNvCxnSpPr>
          <p:nvPr/>
        </p:nvCxnSpPr>
        <p:spPr bwMode="auto">
          <a:xfrm flipH="1">
            <a:off x="5674004" y="1699447"/>
            <a:ext cx="158058" cy="60505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2" name="Straight Connector 81"/>
          <p:cNvCxnSpPr>
            <a:cxnSpLocks noChangeAspect="1"/>
          </p:cNvCxnSpPr>
          <p:nvPr/>
        </p:nvCxnSpPr>
        <p:spPr bwMode="auto">
          <a:xfrm flipV="1">
            <a:off x="5630055" y="3701398"/>
            <a:ext cx="358660" cy="596989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9" name="Straight Connector 108"/>
          <p:cNvCxnSpPr>
            <a:cxnSpLocks noChangeAspect="1"/>
          </p:cNvCxnSpPr>
          <p:nvPr/>
        </p:nvCxnSpPr>
        <p:spPr bwMode="auto">
          <a:xfrm flipV="1">
            <a:off x="6393479" y="2569061"/>
            <a:ext cx="464125" cy="80649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1" name="Straight Connector 110"/>
          <p:cNvCxnSpPr>
            <a:cxnSpLocks noChangeAspect="1"/>
          </p:cNvCxnSpPr>
          <p:nvPr/>
        </p:nvCxnSpPr>
        <p:spPr bwMode="auto">
          <a:xfrm flipH="1" flipV="1">
            <a:off x="4962449" y="3156799"/>
            <a:ext cx="676670" cy="1124449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2" name="Straight Connector 111"/>
          <p:cNvCxnSpPr>
            <a:cxnSpLocks noChangeAspect="1"/>
          </p:cNvCxnSpPr>
          <p:nvPr/>
        </p:nvCxnSpPr>
        <p:spPr bwMode="auto">
          <a:xfrm flipV="1">
            <a:off x="5640999" y="4673499"/>
            <a:ext cx="415930" cy="411759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3" name="Straight Connector 112"/>
          <p:cNvCxnSpPr>
            <a:cxnSpLocks noChangeAspect="1"/>
          </p:cNvCxnSpPr>
          <p:nvPr/>
        </p:nvCxnSpPr>
        <p:spPr bwMode="auto">
          <a:xfrm flipV="1">
            <a:off x="4970121" y="4289775"/>
            <a:ext cx="668998" cy="593555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5" name="Straight Connector 114"/>
          <p:cNvCxnSpPr>
            <a:cxnSpLocks noChangeAspect="1"/>
          </p:cNvCxnSpPr>
          <p:nvPr/>
        </p:nvCxnSpPr>
        <p:spPr bwMode="auto">
          <a:xfrm flipH="1" flipV="1">
            <a:off x="4976130" y="4880166"/>
            <a:ext cx="662989" cy="202639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7" name="Straight Connector 116"/>
          <p:cNvCxnSpPr>
            <a:cxnSpLocks noChangeAspect="1"/>
          </p:cNvCxnSpPr>
          <p:nvPr/>
        </p:nvCxnSpPr>
        <p:spPr bwMode="auto">
          <a:xfrm flipH="1" flipV="1">
            <a:off x="5639119" y="5074278"/>
            <a:ext cx="714750" cy="527705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8" name="Straight Connector 117"/>
          <p:cNvCxnSpPr>
            <a:cxnSpLocks noChangeAspect="1"/>
          </p:cNvCxnSpPr>
          <p:nvPr/>
        </p:nvCxnSpPr>
        <p:spPr bwMode="auto">
          <a:xfrm flipH="1" flipV="1">
            <a:off x="5622065" y="4289775"/>
            <a:ext cx="427576" cy="41957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7" name="Straight Connector 156"/>
          <p:cNvCxnSpPr>
            <a:cxnSpLocks/>
          </p:cNvCxnSpPr>
          <p:nvPr/>
        </p:nvCxnSpPr>
        <p:spPr bwMode="auto">
          <a:xfrm flipH="1">
            <a:off x="7193420" y="5048250"/>
            <a:ext cx="547230" cy="50619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0" name="Straight Connector 159"/>
          <p:cNvCxnSpPr>
            <a:cxnSpLocks noChangeAspect="1"/>
          </p:cNvCxnSpPr>
          <p:nvPr/>
        </p:nvCxnSpPr>
        <p:spPr bwMode="auto">
          <a:xfrm flipV="1">
            <a:off x="7295411" y="2759688"/>
            <a:ext cx="125906" cy="48707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1" name="Straight Connector 160"/>
          <p:cNvCxnSpPr>
            <a:cxnSpLocks noChangeAspect="1"/>
          </p:cNvCxnSpPr>
          <p:nvPr/>
        </p:nvCxnSpPr>
        <p:spPr bwMode="auto">
          <a:xfrm flipH="1" flipV="1">
            <a:off x="6863565" y="2579770"/>
            <a:ext cx="551792" cy="19320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2" name="Straight Connector 161"/>
          <p:cNvCxnSpPr>
            <a:cxnSpLocks/>
          </p:cNvCxnSpPr>
          <p:nvPr/>
        </p:nvCxnSpPr>
        <p:spPr bwMode="auto">
          <a:xfrm flipV="1">
            <a:off x="7759700" y="4606868"/>
            <a:ext cx="489249" cy="40328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3" name="Straight Connector 162"/>
          <p:cNvCxnSpPr>
            <a:cxnSpLocks noChangeAspect="1"/>
          </p:cNvCxnSpPr>
          <p:nvPr/>
        </p:nvCxnSpPr>
        <p:spPr bwMode="auto">
          <a:xfrm flipH="1">
            <a:off x="5850018" y="2557066"/>
            <a:ext cx="1025579" cy="23860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4" name="Straight Connector 163"/>
          <p:cNvCxnSpPr>
            <a:cxnSpLocks noChangeAspect="1"/>
          </p:cNvCxnSpPr>
          <p:nvPr/>
        </p:nvCxnSpPr>
        <p:spPr bwMode="auto">
          <a:xfrm flipH="1" flipV="1">
            <a:off x="7289376" y="3221483"/>
            <a:ext cx="329891" cy="517057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5" name="Straight Connector 164"/>
          <p:cNvCxnSpPr>
            <a:cxnSpLocks noChangeAspect="1"/>
          </p:cNvCxnSpPr>
          <p:nvPr/>
        </p:nvCxnSpPr>
        <p:spPr bwMode="auto">
          <a:xfrm flipH="1">
            <a:off x="6671651" y="3762530"/>
            <a:ext cx="941617" cy="5269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6" name="Straight Connector 165"/>
          <p:cNvCxnSpPr>
            <a:cxnSpLocks noChangeAspect="1"/>
          </p:cNvCxnSpPr>
          <p:nvPr/>
        </p:nvCxnSpPr>
        <p:spPr bwMode="auto">
          <a:xfrm flipH="1" flipV="1">
            <a:off x="7511278" y="4235034"/>
            <a:ext cx="749702" cy="37312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3" name="Straight Connector 172"/>
          <p:cNvCxnSpPr>
            <a:cxnSpLocks noChangeAspect="1"/>
          </p:cNvCxnSpPr>
          <p:nvPr/>
        </p:nvCxnSpPr>
        <p:spPr bwMode="auto">
          <a:xfrm flipV="1">
            <a:off x="7499320" y="3737253"/>
            <a:ext cx="125907" cy="55904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5" name="Straight Connector 174"/>
          <p:cNvCxnSpPr>
            <a:cxnSpLocks noChangeAspect="1"/>
          </p:cNvCxnSpPr>
          <p:nvPr/>
        </p:nvCxnSpPr>
        <p:spPr bwMode="auto">
          <a:xfrm flipH="1">
            <a:off x="8248950" y="4578166"/>
            <a:ext cx="593773" cy="22703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9" name="Straight Connector 178"/>
          <p:cNvCxnSpPr>
            <a:cxnSpLocks noChangeAspect="1"/>
          </p:cNvCxnSpPr>
          <p:nvPr/>
        </p:nvCxnSpPr>
        <p:spPr bwMode="auto">
          <a:xfrm flipH="1">
            <a:off x="8182979" y="4620149"/>
            <a:ext cx="84000" cy="94629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1" name="Straight Connector 180"/>
          <p:cNvCxnSpPr>
            <a:cxnSpLocks noChangeAspect="1"/>
          </p:cNvCxnSpPr>
          <p:nvPr/>
        </p:nvCxnSpPr>
        <p:spPr bwMode="auto">
          <a:xfrm flipH="1">
            <a:off x="6935534" y="4290294"/>
            <a:ext cx="545794" cy="442517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3" name="Straight Connector 182"/>
          <p:cNvCxnSpPr>
            <a:cxnSpLocks/>
          </p:cNvCxnSpPr>
          <p:nvPr/>
        </p:nvCxnSpPr>
        <p:spPr bwMode="auto">
          <a:xfrm flipH="1" flipV="1">
            <a:off x="6941532" y="4720816"/>
            <a:ext cx="786418" cy="30838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7" name="Straight Connector 186"/>
          <p:cNvCxnSpPr>
            <a:cxnSpLocks noChangeAspect="1"/>
          </p:cNvCxnSpPr>
          <p:nvPr/>
        </p:nvCxnSpPr>
        <p:spPr bwMode="auto">
          <a:xfrm flipH="1" flipV="1">
            <a:off x="8248949" y="3581323"/>
            <a:ext cx="12032" cy="1032827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0" name="Straight Connector 199"/>
          <p:cNvCxnSpPr>
            <a:cxnSpLocks noChangeAspect="1"/>
          </p:cNvCxnSpPr>
          <p:nvPr/>
        </p:nvCxnSpPr>
        <p:spPr bwMode="auto">
          <a:xfrm flipH="1">
            <a:off x="7631225" y="3588606"/>
            <a:ext cx="641750" cy="160643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2" name="Straight Connector 201"/>
          <p:cNvCxnSpPr>
            <a:cxnSpLocks noChangeAspect="1"/>
          </p:cNvCxnSpPr>
          <p:nvPr/>
        </p:nvCxnSpPr>
        <p:spPr bwMode="auto">
          <a:xfrm flipH="1" flipV="1">
            <a:off x="8248950" y="3575326"/>
            <a:ext cx="605766" cy="223187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3" name="Straight Connector 202"/>
          <p:cNvCxnSpPr>
            <a:cxnSpLocks noChangeAspect="1"/>
          </p:cNvCxnSpPr>
          <p:nvPr/>
        </p:nvCxnSpPr>
        <p:spPr bwMode="auto">
          <a:xfrm flipH="1" flipV="1">
            <a:off x="8182979" y="2903626"/>
            <a:ext cx="671738" cy="133227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4" name="Straight Connector 203"/>
          <p:cNvCxnSpPr>
            <a:cxnSpLocks noChangeAspect="1"/>
          </p:cNvCxnSpPr>
          <p:nvPr/>
        </p:nvCxnSpPr>
        <p:spPr bwMode="auto">
          <a:xfrm flipH="1">
            <a:off x="6401771" y="3216773"/>
            <a:ext cx="887641" cy="142651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0" name="Straight Connector 209"/>
          <p:cNvCxnSpPr>
            <a:cxnSpLocks noChangeAspect="1"/>
          </p:cNvCxnSpPr>
          <p:nvPr/>
        </p:nvCxnSpPr>
        <p:spPr bwMode="auto">
          <a:xfrm flipH="1" flipV="1">
            <a:off x="8195012" y="2910910"/>
            <a:ext cx="53975" cy="65970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3" name="Straight Connector 212"/>
          <p:cNvCxnSpPr>
            <a:cxnSpLocks noChangeAspect="1"/>
          </p:cNvCxnSpPr>
          <p:nvPr/>
        </p:nvCxnSpPr>
        <p:spPr bwMode="auto">
          <a:xfrm flipH="1">
            <a:off x="7283381" y="2898914"/>
            <a:ext cx="893638" cy="31657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1" name="Straight Connector 220"/>
          <p:cNvCxnSpPr>
            <a:cxnSpLocks noChangeAspect="1"/>
          </p:cNvCxnSpPr>
          <p:nvPr/>
        </p:nvCxnSpPr>
        <p:spPr bwMode="auto">
          <a:xfrm>
            <a:off x="7949120" y="1675458"/>
            <a:ext cx="65936" cy="538475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2" name="Straight Connector 221"/>
          <p:cNvCxnSpPr>
            <a:cxnSpLocks noChangeAspect="1"/>
          </p:cNvCxnSpPr>
          <p:nvPr/>
        </p:nvCxnSpPr>
        <p:spPr bwMode="auto">
          <a:xfrm flipH="1">
            <a:off x="7397329" y="2203223"/>
            <a:ext cx="623758" cy="56846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7" name="Straight Connector 226"/>
          <p:cNvCxnSpPr>
            <a:cxnSpLocks noChangeAspect="1"/>
          </p:cNvCxnSpPr>
          <p:nvPr/>
        </p:nvCxnSpPr>
        <p:spPr bwMode="auto">
          <a:xfrm flipH="1">
            <a:off x="6857571" y="2101269"/>
            <a:ext cx="155965" cy="47250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0" name="Straight Connector 229"/>
          <p:cNvCxnSpPr>
            <a:cxnSpLocks noChangeAspect="1"/>
          </p:cNvCxnSpPr>
          <p:nvPr/>
        </p:nvCxnSpPr>
        <p:spPr bwMode="auto">
          <a:xfrm flipH="1">
            <a:off x="6989512" y="1711442"/>
            <a:ext cx="83997" cy="40053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4" name="Straight Connector 233"/>
          <p:cNvCxnSpPr>
            <a:cxnSpLocks noChangeAspect="1"/>
          </p:cNvCxnSpPr>
          <p:nvPr/>
        </p:nvCxnSpPr>
        <p:spPr bwMode="auto">
          <a:xfrm flipH="1" flipV="1">
            <a:off x="7001505" y="2117976"/>
            <a:ext cx="995593" cy="85247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494" name="Group 493"/>
          <p:cNvGrpSpPr/>
          <p:nvPr/>
        </p:nvGrpSpPr>
        <p:grpSpPr>
          <a:xfrm>
            <a:off x="4952748" y="1704160"/>
            <a:ext cx="3901968" cy="3863566"/>
            <a:chOff x="4952748" y="1704160"/>
            <a:chExt cx="3901968" cy="3863566"/>
          </a:xfrm>
        </p:grpSpPr>
        <p:cxnSp>
          <p:nvCxnSpPr>
            <p:cNvPr id="74" name="Straight Connector 73"/>
            <p:cNvCxnSpPr>
              <a:cxnSpLocks noChangeAspect="1"/>
            </p:cNvCxnSpPr>
            <p:nvPr/>
          </p:nvCxnSpPr>
          <p:spPr bwMode="auto">
            <a:xfrm flipH="1" flipV="1">
              <a:off x="4957280" y="2381356"/>
              <a:ext cx="903534" cy="4417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6" name="Straight Connector 75"/>
            <p:cNvCxnSpPr>
              <a:cxnSpLocks noChangeAspect="1"/>
            </p:cNvCxnSpPr>
            <p:nvPr/>
          </p:nvCxnSpPr>
          <p:spPr bwMode="auto">
            <a:xfrm>
              <a:off x="5843862" y="2840947"/>
              <a:ext cx="571189" cy="52789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0" name="Straight Connector 109"/>
            <p:cNvCxnSpPr>
              <a:cxnSpLocks noChangeAspect="1"/>
            </p:cNvCxnSpPr>
            <p:nvPr/>
          </p:nvCxnSpPr>
          <p:spPr bwMode="auto">
            <a:xfrm flipH="1" flipV="1">
              <a:off x="4953926" y="4150261"/>
              <a:ext cx="676666" cy="13098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4" name="Straight Connector 113"/>
            <p:cNvCxnSpPr>
              <a:cxnSpLocks noChangeAspect="1"/>
            </p:cNvCxnSpPr>
            <p:nvPr/>
          </p:nvCxnSpPr>
          <p:spPr bwMode="auto">
            <a:xfrm flipH="1" flipV="1">
              <a:off x="5622065" y="4281247"/>
              <a:ext cx="15878" cy="79240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6" name="Straight Connector 115"/>
            <p:cNvCxnSpPr>
              <a:cxnSpLocks noChangeAspect="1"/>
            </p:cNvCxnSpPr>
            <p:nvPr/>
          </p:nvCxnSpPr>
          <p:spPr bwMode="auto">
            <a:xfrm flipV="1">
              <a:off x="4952748" y="5074278"/>
              <a:ext cx="703423" cy="49087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9" name="Straight Connector 148"/>
            <p:cNvCxnSpPr>
              <a:cxnSpLocks noChangeAspect="1"/>
            </p:cNvCxnSpPr>
            <p:nvPr/>
          </p:nvCxnSpPr>
          <p:spPr bwMode="auto">
            <a:xfrm flipH="1" flipV="1">
              <a:off x="6941531" y="4744806"/>
              <a:ext cx="263920" cy="82292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7" name="Straight Connector 176"/>
            <p:cNvCxnSpPr>
              <a:cxnSpLocks noChangeAspect="1"/>
            </p:cNvCxnSpPr>
            <p:nvPr/>
          </p:nvCxnSpPr>
          <p:spPr bwMode="auto">
            <a:xfrm flipH="1" flipV="1">
              <a:off x="8260944" y="4594872"/>
              <a:ext cx="557789" cy="95486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1" name="Straight Connector 200"/>
            <p:cNvCxnSpPr>
              <a:cxnSpLocks noChangeAspect="1"/>
            </p:cNvCxnSpPr>
            <p:nvPr/>
          </p:nvCxnSpPr>
          <p:spPr bwMode="auto">
            <a:xfrm flipH="1" flipV="1">
              <a:off x="7415321" y="2765686"/>
              <a:ext cx="773691" cy="13322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5" name="Straight Connector 214"/>
            <p:cNvCxnSpPr>
              <a:cxnSpLocks noChangeAspect="1"/>
            </p:cNvCxnSpPr>
            <p:nvPr/>
          </p:nvCxnSpPr>
          <p:spPr bwMode="auto">
            <a:xfrm flipH="1">
              <a:off x="7601240" y="2910909"/>
              <a:ext cx="587773" cy="85033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0" name="Straight Connector 219"/>
            <p:cNvCxnSpPr>
              <a:cxnSpLocks noChangeAspect="1"/>
            </p:cNvCxnSpPr>
            <p:nvPr/>
          </p:nvCxnSpPr>
          <p:spPr bwMode="auto">
            <a:xfrm flipH="1">
              <a:off x="8188977" y="2395138"/>
              <a:ext cx="665739" cy="51448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9" name="Straight Connector 228"/>
            <p:cNvCxnSpPr>
              <a:cxnSpLocks noChangeAspect="1"/>
            </p:cNvCxnSpPr>
            <p:nvPr/>
          </p:nvCxnSpPr>
          <p:spPr bwMode="auto">
            <a:xfrm flipH="1" flipV="1">
              <a:off x="7625228" y="3761246"/>
              <a:ext cx="629755" cy="82891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3" name="Straight Connector 232"/>
            <p:cNvCxnSpPr>
              <a:cxnSpLocks noChangeAspect="1"/>
            </p:cNvCxnSpPr>
            <p:nvPr/>
          </p:nvCxnSpPr>
          <p:spPr bwMode="auto">
            <a:xfrm>
              <a:off x="7001541" y="2125258"/>
              <a:ext cx="407819" cy="62372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5" name="Straight Connector 234"/>
            <p:cNvCxnSpPr>
              <a:cxnSpLocks noChangeAspect="1"/>
            </p:cNvCxnSpPr>
            <p:nvPr/>
          </p:nvCxnSpPr>
          <p:spPr bwMode="auto">
            <a:xfrm flipH="1" flipV="1">
              <a:off x="5820032" y="1704160"/>
              <a:ext cx="1157520" cy="40310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236" name="Straight Connector 235"/>
          <p:cNvCxnSpPr>
            <a:cxnSpLocks noChangeAspect="1"/>
          </p:cNvCxnSpPr>
          <p:nvPr/>
        </p:nvCxnSpPr>
        <p:spPr bwMode="auto">
          <a:xfrm flipV="1">
            <a:off x="5688125" y="2117976"/>
            <a:ext cx="1307383" cy="16921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1" name="Straight Connector 240"/>
          <p:cNvCxnSpPr>
            <a:cxnSpLocks noChangeAspect="1"/>
          </p:cNvCxnSpPr>
          <p:nvPr/>
        </p:nvCxnSpPr>
        <p:spPr bwMode="auto">
          <a:xfrm>
            <a:off x="8033083" y="2215218"/>
            <a:ext cx="137904" cy="688409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495" name="Group 494"/>
          <p:cNvGrpSpPr/>
          <p:nvPr/>
        </p:nvGrpSpPr>
        <p:grpSpPr>
          <a:xfrm>
            <a:off x="4950453" y="1699447"/>
            <a:ext cx="3916259" cy="3886271"/>
            <a:chOff x="4950453" y="1699447"/>
            <a:chExt cx="3916259" cy="3886271"/>
          </a:xfrm>
        </p:grpSpPr>
        <p:cxnSp>
          <p:nvCxnSpPr>
            <p:cNvPr id="67" name="Straight Connector 66"/>
            <p:cNvCxnSpPr>
              <a:cxnSpLocks noChangeAspect="1"/>
              <a:stCxn id="9" idx="7"/>
              <a:endCxn id="55" idx="3"/>
            </p:cNvCxnSpPr>
            <p:nvPr/>
          </p:nvCxnSpPr>
          <p:spPr bwMode="auto">
            <a:xfrm>
              <a:off x="5054398" y="1800919"/>
              <a:ext cx="527347" cy="39017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5" name="Straight Connector 74"/>
            <p:cNvCxnSpPr>
              <a:cxnSpLocks noChangeAspect="1"/>
            </p:cNvCxnSpPr>
            <p:nvPr/>
          </p:nvCxnSpPr>
          <p:spPr bwMode="auto">
            <a:xfrm>
              <a:off x="5674130" y="2295509"/>
              <a:ext cx="1183475" cy="26755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1" name="Straight Connector 80"/>
            <p:cNvCxnSpPr>
              <a:cxnSpLocks noChangeAspect="1"/>
            </p:cNvCxnSpPr>
            <p:nvPr/>
          </p:nvCxnSpPr>
          <p:spPr bwMode="auto">
            <a:xfrm>
              <a:off x="5985442" y="3698760"/>
              <a:ext cx="676884" cy="13054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6" name="Straight Connector 95"/>
            <p:cNvCxnSpPr>
              <a:cxnSpLocks noChangeAspect="1"/>
            </p:cNvCxnSpPr>
            <p:nvPr/>
          </p:nvCxnSpPr>
          <p:spPr bwMode="auto">
            <a:xfrm flipH="1" flipV="1">
              <a:off x="4950453" y="3150802"/>
              <a:ext cx="1038365" cy="54286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9" name="Straight Connector 118"/>
            <p:cNvCxnSpPr>
              <a:cxnSpLocks noChangeAspect="1"/>
            </p:cNvCxnSpPr>
            <p:nvPr/>
          </p:nvCxnSpPr>
          <p:spPr bwMode="auto">
            <a:xfrm flipV="1">
              <a:off x="6077957" y="3837834"/>
              <a:ext cx="575843" cy="84865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1" name="Straight Connector 120"/>
            <p:cNvCxnSpPr>
              <a:cxnSpLocks noChangeAspect="1"/>
              <a:endCxn id="63" idx="6"/>
            </p:cNvCxnSpPr>
            <p:nvPr/>
          </p:nvCxnSpPr>
          <p:spPr bwMode="auto">
            <a:xfrm flipH="1" flipV="1">
              <a:off x="5986441" y="3863492"/>
              <a:ext cx="87540" cy="82706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1" name="Straight Connector 140"/>
            <p:cNvCxnSpPr>
              <a:cxnSpLocks noChangeAspect="1"/>
            </p:cNvCxnSpPr>
            <p:nvPr/>
          </p:nvCxnSpPr>
          <p:spPr bwMode="auto">
            <a:xfrm flipH="1" flipV="1">
              <a:off x="6065920" y="4684832"/>
              <a:ext cx="293907" cy="88889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7" name="Straight Connector 146"/>
            <p:cNvCxnSpPr>
              <a:cxnSpLocks/>
            </p:cNvCxnSpPr>
            <p:nvPr/>
          </p:nvCxnSpPr>
          <p:spPr bwMode="auto">
            <a:xfrm flipH="1" flipV="1">
              <a:off x="7766051" y="5022850"/>
              <a:ext cx="428960" cy="56286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8" name="Straight Connector 147"/>
            <p:cNvCxnSpPr>
              <a:cxnSpLocks/>
            </p:cNvCxnSpPr>
            <p:nvPr/>
          </p:nvCxnSpPr>
          <p:spPr bwMode="auto">
            <a:xfrm flipH="1" flipV="1">
              <a:off x="7499284" y="4265020"/>
              <a:ext cx="241366" cy="74513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9" name="Straight Connector 158"/>
            <p:cNvCxnSpPr>
              <a:cxnSpLocks noChangeAspect="1"/>
            </p:cNvCxnSpPr>
            <p:nvPr/>
          </p:nvCxnSpPr>
          <p:spPr bwMode="auto">
            <a:xfrm flipH="1" flipV="1">
              <a:off x="6875560" y="2567774"/>
              <a:ext cx="419851" cy="66699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7" name="Straight Connector 166"/>
            <p:cNvCxnSpPr>
              <a:cxnSpLocks noChangeAspect="1"/>
            </p:cNvCxnSpPr>
            <p:nvPr/>
          </p:nvCxnSpPr>
          <p:spPr bwMode="auto">
            <a:xfrm flipH="1">
              <a:off x="6641664" y="3246759"/>
              <a:ext cx="641752" cy="55646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8" name="Straight Connector 167"/>
            <p:cNvCxnSpPr>
              <a:cxnSpLocks noChangeAspect="1"/>
            </p:cNvCxnSpPr>
            <p:nvPr/>
          </p:nvCxnSpPr>
          <p:spPr bwMode="auto">
            <a:xfrm flipH="1" flipV="1">
              <a:off x="6653659" y="3815219"/>
              <a:ext cx="845661" cy="45108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5" name="Straight Connector 184"/>
            <p:cNvCxnSpPr>
              <a:cxnSpLocks noChangeAspect="1"/>
            </p:cNvCxnSpPr>
            <p:nvPr/>
          </p:nvCxnSpPr>
          <p:spPr bwMode="auto">
            <a:xfrm flipH="1" flipV="1">
              <a:off x="8254947" y="3563331"/>
              <a:ext cx="587776" cy="102083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7" name="Straight Connector 216"/>
            <p:cNvCxnSpPr>
              <a:cxnSpLocks noChangeAspect="1"/>
            </p:cNvCxnSpPr>
            <p:nvPr/>
          </p:nvCxnSpPr>
          <p:spPr bwMode="auto">
            <a:xfrm flipH="1">
              <a:off x="8248950" y="3042850"/>
              <a:ext cx="617762" cy="55047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9" name="Straight Connector 218"/>
            <p:cNvCxnSpPr>
              <a:cxnSpLocks noChangeAspect="1"/>
            </p:cNvCxnSpPr>
            <p:nvPr/>
          </p:nvCxnSpPr>
          <p:spPr bwMode="auto">
            <a:xfrm flipH="1">
              <a:off x="7991065" y="1729434"/>
              <a:ext cx="869649" cy="47850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2" name="Straight Connector 241"/>
            <p:cNvCxnSpPr>
              <a:cxnSpLocks noChangeAspect="1"/>
            </p:cNvCxnSpPr>
            <p:nvPr/>
          </p:nvCxnSpPr>
          <p:spPr bwMode="auto">
            <a:xfrm flipH="1" flipV="1">
              <a:off x="7079507" y="1699447"/>
              <a:ext cx="929588" cy="51577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243" name="Straight Connector 242"/>
          <p:cNvCxnSpPr>
            <a:cxnSpLocks noChangeAspect="1"/>
          </p:cNvCxnSpPr>
          <p:nvPr/>
        </p:nvCxnSpPr>
        <p:spPr bwMode="auto">
          <a:xfrm flipH="1" flipV="1">
            <a:off x="8003062" y="2213934"/>
            <a:ext cx="851655" cy="16920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71" name="Group 70"/>
          <p:cNvGrpSpPr>
            <a:grpSpLocks noChangeAspect="1"/>
          </p:cNvGrpSpPr>
          <p:nvPr/>
        </p:nvGrpSpPr>
        <p:grpSpPr>
          <a:xfrm>
            <a:off x="4784325" y="1527538"/>
            <a:ext cx="4226331" cy="4212862"/>
            <a:chOff x="5601968" y="1444988"/>
            <a:chExt cx="2983238" cy="2973730"/>
          </a:xfrm>
        </p:grpSpPr>
        <p:sp>
          <p:nvSpPr>
            <p:cNvPr id="5" name="Oval 4"/>
            <p:cNvSpPr/>
            <p:nvPr/>
          </p:nvSpPr>
          <p:spPr bwMode="auto">
            <a:xfrm rot="5400000">
              <a:off x="7407008" y="3262425"/>
              <a:ext cx="210312" cy="2136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6" name="Oval 5"/>
            <p:cNvSpPr/>
            <p:nvPr/>
          </p:nvSpPr>
          <p:spPr bwMode="auto">
            <a:xfrm rot="5400000">
              <a:off x="6223415" y="2240301"/>
              <a:ext cx="210312" cy="213651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 bwMode="auto">
            <a:xfrm rot="5400000">
              <a:off x="8358300" y="3478132"/>
              <a:ext cx="210312" cy="2136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 bwMode="auto">
            <a:xfrm rot="5400000">
              <a:off x="7072057" y="1733132"/>
              <a:ext cx="210312" cy="213651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 bwMode="auto">
            <a:xfrm rot="5400000">
              <a:off x="5611910" y="1456776"/>
              <a:ext cx="210312" cy="2136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1" name="Oval 10"/>
            <p:cNvSpPr/>
            <p:nvPr/>
          </p:nvSpPr>
          <p:spPr bwMode="auto">
            <a:xfrm rot="5400000">
              <a:off x="6403605" y="3578177"/>
              <a:ext cx="210312" cy="2136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2" name="Oval 11"/>
            <p:cNvSpPr/>
            <p:nvPr/>
          </p:nvSpPr>
          <p:spPr bwMode="auto">
            <a:xfrm rot="5400000">
              <a:off x="6106325" y="3297638"/>
              <a:ext cx="210312" cy="213651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4" name="Oval 13"/>
            <p:cNvSpPr/>
            <p:nvPr/>
          </p:nvSpPr>
          <p:spPr bwMode="auto">
            <a:xfrm rot="5400000">
              <a:off x="7103536" y="1455018"/>
              <a:ext cx="210312" cy="2136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5" name="Oval 14"/>
            <p:cNvSpPr/>
            <p:nvPr/>
          </p:nvSpPr>
          <p:spPr bwMode="auto">
            <a:xfrm rot="5400000">
              <a:off x="8365275" y="2927856"/>
              <a:ext cx="210312" cy="213651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6" name="Oval 15"/>
            <p:cNvSpPr/>
            <p:nvPr/>
          </p:nvSpPr>
          <p:spPr bwMode="auto">
            <a:xfrm rot="5400000">
              <a:off x="7911778" y="4206736"/>
              <a:ext cx="210312" cy="2136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8" name="Oval 17"/>
            <p:cNvSpPr/>
            <p:nvPr/>
          </p:nvSpPr>
          <p:spPr bwMode="auto">
            <a:xfrm rot="5400000">
              <a:off x="7933221" y="3511981"/>
              <a:ext cx="210312" cy="213651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9" name="Oval 18"/>
            <p:cNvSpPr/>
            <p:nvPr/>
          </p:nvSpPr>
          <p:spPr bwMode="auto">
            <a:xfrm rot="5400000">
              <a:off x="7578947" y="3797755"/>
              <a:ext cx="210312" cy="2136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34" name="Oval 33"/>
            <p:cNvSpPr/>
            <p:nvPr/>
          </p:nvSpPr>
          <p:spPr bwMode="auto">
            <a:xfrm rot="5400000">
              <a:off x="6639604" y="2639275"/>
              <a:ext cx="210312" cy="213651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35" name="Oval 34"/>
            <p:cNvSpPr/>
            <p:nvPr/>
          </p:nvSpPr>
          <p:spPr bwMode="auto">
            <a:xfrm rot="5400000">
              <a:off x="6826644" y="2956229"/>
              <a:ext cx="210312" cy="2136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36" name="Oval 35"/>
            <p:cNvSpPr/>
            <p:nvPr/>
          </p:nvSpPr>
          <p:spPr bwMode="auto">
            <a:xfrm rot="5400000">
              <a:off x="6961758" y="2079915"/>
              <a:ext cx="210312" cy="2136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37" name="Oval 36"/>
            <p:cNvSpPr/>
            <p:nvPr/>
          </p:nvSpPr>
          <p:spPr bwMode="auto">
            <a:xfrm rot="5400000">
              <a:off x="7361881" y="2213739"/>
              <a:ext cx="210312" cy="213651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38" name="Oval 37"/>
            <p:cNvSpPr/>
            <p:nvPr/>
          </p:nvSpPr>
          <p:spPr bwMode="auto">
            <a:xfrm rot="5400000">
              <a:off x="7508140" y="2882344"/>
              <a:ext cx="210312" cy="213651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39" name="Oval 38"/>
            <p:cNvSpPr/>
            <p:nvPr/>
          </p:nvSpPr>
          <p:spPr bwMode="auto">
            <a:xfrm rot="5400000">
              <a:off x="7938005" y="2784162"/>
              <a:ext cx="210312" cy="2136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40" name="Oval 39"/>
            <p:cNvSpPr/>
            <p:nvPr/>
          </p:nvSpPr>
          <p:spPr bwMode="auto">
            <a:xfrm rot="5400000">
              <a:off x="7270958" y="2529983"/>
              <a:ext cx="210312" cy="2136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41" name="Oval 40"/>
            <p:cNvSpPr/>
            <p:nvPr/>
          </p:nvSpPr>
          <p:spPr bwMode="auto">
            <a:xfrm rot="5400000">
              <a:off x="6110988" y="3829700"/>
              <a:ext cx="210312" cy="213651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48" name="Oval 47"/>
            <p:cNvSpPr/>
            <p:nvPr/>
          </p:nvSpPr>
          <p:spPr bwMode="auto">
            <a:xfrm rot="5400000">
              <a:off x="8367205" y="4187768"/>
              <a:ext cx="210312" cy="213651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49" name="Oval 48"/>
            <p:cNvSpPr/>
            <p:nvPr/>
          </p:nvSpPr>
          <p:spPr bwMode="auto">
            <a:xfrm rot="5400000">
              <a:off x="8366251" y="1463659"/>
              <a:ext cx="210312" cy="2136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0" name="Oval 49"/>
            <p:cNvSpPr/>
            <p:nvPr/>
          </p:nvSpPr>
          <p:spPr bwMode="auto">
            <a:xfrm rot="5400000">
              <a:off x="8372270" y="2384580"/>
              <a:ext cx="210312" cy="2136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1" name="Oval 50"/>
            <p:cNvSpPr/>
            <p:nvPr/>
          </p:nvSpPr>
          <p:spPr bwMode="auto">
            <a:xfrm rot="5400000">
              <a:off x="8373225" y="1954687"/>
              <a:ext cx="210312" cy="213651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2" name="Oval 51"/>
            <p:cNvSpPr/>
            <p:nvPr/>
          </p:nvSpPr>
          <p:spPr bwMode="auto">
            <a:xfrm rot="5400000">
              <a:off x="5603638" y="2480888"/>
              <a:ext cx="210312" cy="2136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3" name="Oval 52"/>
            <p:cNvSpPr/>
            <p:nvPr/>
          </p:nvSpPr>
          <p:spPr bwMode="auto">
            <a:xfrm rot="5400000">
              <a:off x="5610613" y="1930612"/>
              <a:ext cx="210312" cy="213651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4" name="Oval 53"/>
            <p:cNvSpPr/>
            <p:nvPr/>
          </p:nvSpPr>
          <p:spPr bwMode="auto">
            <a:xfrm rot="5400000">
              <a:off x="5612543" y="3190524"/>
              <a:ext cx="210312" cy="213651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5" name="Oval 54"/>
            <p:cNvSpPr/>
            <p:nvPr/>
          </p:nvSpPr>
          <p:spPr bwMode="auto">
            <a:xfrm rot="5400000">
              <a:off x="6135223" y="1880904"/>
              <a:ext cx="210312" cy="2136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6" name="Oval 55"/>
            <p:cNvSpPr/>
            <p:nvPr/>
          </p:nvSpPr>
          <p:spPr bwMode="auto">
            <a:xfrm rot="5400000">
              <a:off x="6232476" y="1463048"/>
              <a:ext cx="210312" cy="213651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7" name="Oval 56"/>
            <p:cNvSpPr/>
            <p:nvPr/>
          </p:nvSpPr>
          <p:spPr bwMode="auto">
            <a:xfrm>
              <a:off x="6610702" y="4192232"/>
              <a:ext cx="210312" cy="2136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8" name="Oval 57"/>
            <p:cNvSpPr/>
            <p:nvPr/>
          </p:nvSpPr>
          <p:spPr bwMode="auto">
            <a:xfrm>
              <a:off x="7719111" y="1444988"/>
              <a:ext cx="210312" cy="213651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9" name="Oval 58"/>
            <p:cNvSpPr/>
            <p:nvPr/>
          </p:nvSpPr>
          <p:spPr bwMode="auto">
            <a:xfrm>
              <a:off x="7215465" y="4203653"/>
              <a:ext cx="210312" cy="213651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60" name="Oval 59"/>
            <p:cNvSpPr/>
            <p:nvPr/>
          </p:nvSpPr>
          <p:spPr bwMode="auto">
            <a:xfrm>
              <a:off x="5625558" y="3688551"/>
              <a:ext cx="210312" cy="2136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61" name="Oval 60"/>
            <p:cNvSpPr/>
            <p:nvPr/>
          </p:nvSpPr>
          <p:spPr bwMode="auto">
            <a:xfrm>
              <a:off x="7889566" y="2301620"/>
              <a:ext cx="210312" cy="213651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62" name="Oval 61"/>
            <p:cNvSpPr/>
            <p:nvPr/>
          </p:nvSpPr>
          <p:spPr bwMode="auto">
            <a:xfrm rot="5400000">
              <a:off x="5620736" y="4202425"/>
              <a:ext cx="210312" cy="213651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63" name="Oval 62"/>
            <p:cNvSpPr/>
            <p:nvPr/>
          </p:nvSpPr>
          <p:spPr bwMode="auto">
            <a:xfrm rot="5400000">
              <a:off x="6345349" y="2881884"/>
              <a:ext cx="210312" cy="2136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64" name="Oval 63"/>
            <p:cNvSpPr/>
            <p:nvPr/>
          </p:nvSpPr>
          <p:spPr bwMode="auto">
            <a:xfrm rot="5400000">
              <a:off x="7758737" y="1824589"/>
              <a:ext cx="210312" cy="2136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65" name="Oval 64"/>
            <p:cNvSpPr/>
            <p:nvPr/>
          </p:nvSpPr>
          <p:spPr bwMode="auto">
            <a:xfrm rot="5400000">
              <a:off x="7023739" y="3595400"/>
              <a:ext cx="210312" cy="213651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3263168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20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20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1" name="Group 630"/>
          <p:cNvGrpSpPr/>
          <p:nvPr/>
        </p:nvGrpSpPr>
        <p:grpSpPr>
          <a:xfrm>
            <a:off x="7223311" y="4616452"/>
            <a:ext cx="1015814" cy="964144"/>
            <a:chOff x="7223311" y="4616452"/>
            <a:chExt cx="1015814" cy="964144"/>
          </a:xfrm>
        </p:grpSpPr>
        <p:cxnSp>
          <p:nvCxnSpPr>
            <p:cNvPr id="597" name="Straight Connector 596"/>
            <p:cNvCxnSpPr>
              <a:cxnSpLocks noChangeAspect="1"/>
            </p:cNvCxnSpPr>
            <p:nvPr/>
          </p:nvCxnSpPr>
          <p:spPr bwMode="auto">
            <a:xfrm rot="13228151" flipH="1" flipV="1">
              <a:off x="8048764" y="5484057"/>
              <a:ext cx="173033" cy="3174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8" name="Straight Connector 597"/>
            <p:cNvCxnSpPr>
              <a:cxnSpLocks noChangeAspect="1"/>
            </p:cNvCxnSpPr>
            <p:nvPr/>
          </p:nvCxnSpPr>
          <p:spPr bwMode="auto">
            <a:xfrm flipV="1">
              <a:off x="8027295" y="4616452"/>
              <a:ext cx="211830" cy="56832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9" name="Straight Connector 598"/>
            <p:cNvCxnSpPr>
              <a:cxnSpLocks noChangeAspect="1"/>
            </p:cNvCxnSpPr>
            <p:nvPr/>
          </p:nvCxnSpPr>
          <p:spPr bwMode="auto">
            <a:xfrm flipV="1">
              <a:off x="7223311" y="5358271"/>
              <a:ext cx="625289" cy="22232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0" name="Straight Connector 599"/>
            <p:cNvCxnSpPr>
              <a:cxnSpLocks noChangeAspect="1"/>
            </p:cNvCxnSpPr>
            <p:nvPr/>
          </p:nvCxnSpPr>
          <p:spPr bwMode="auto">
            <a:xfrm>
              <a:off x="8021827" y="5191125"/>
              <a:ext cx="62318" cy="24160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1" name="Straight Connector 600"/>
            <p:cNvCxnSpPr>
              <a:cxnSpLocks noChangeAspect="1"/>
            </p:cNvCxnSpPr>
            <p:nvPr/>
          </p:nvCxnSpPr>
          <p:spPr bwMode="auto">
            <a:xfrm>
              <a:off x="7868343" y="5159600"/>
              <a:ext cx="145803" cy="2835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2" name="Straight Connector 601"/>
            <p:cNvCxnSpPr>
              <a:cxnSpLocks noChangeAspect="1"/>
            </p:cNvCxnSpPr>
            <p:nvPr/>
          </p:nvCxnSpPr>
          <p:spPr bwMode="auto">
            <a:xfrm flipH="1" flipV="1">
              <a:off x="7854950" y="5347979"/>
              <a:ext cx="220785" cy="8716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3" name="Straight Connector 602"/>
            <p:cNvCxnSpPr>
              <a:cxnSpLocks noChangeAspect="1"/>
            </p:cNvCxnSpPr>
            <p:nvPr/>
          </p:nvCxnSpPr>
          <p:spPr bwMode="auto">
            <a:xfrm flipH="1">
              <a:off x="7854985" y="5155305"/>
              <a:ext cx="9427" cy="18504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4" name="Straight Connector 603"/>
            <p:cNvCxnSpPr>
              <a:cxnSpLocks/>
            </p:cNvCxnSpPr>
            <p:nvPr/>
          </p:nvCxnSpPr>
          <p:spPr bwMode="auto">
            <a:xfrm>
              <a:off x="7748590" y="5021178"/>
              <a:ext cx="122235" cy="14137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95" name="Group 594"/>
          <p:cNvGrpSpPr/>
          <p:nvPr/>
        </p:nvGrpSpPr>
        <p:grpSpPr>
          <a:xfrm>
            <a:off x="4940301" y="3155953"/>
            <a:ext cx="717549" cy="1701797"/>
            <a:chOff x="5527676" y="5156203"/>
            <a:chExt cx="717549" cy="1701797"/>
          </a:xfrm>
        </p:grpSpPr>
        <p:cxnSp>
          <p:nvCxnSpPr>
            <p:cNvPr id="576" name="Straight Connector 575"/>
            <p:cNvCxnSpPr>
              <a:cxnSpLocks noChangeAspect="1"/>
            </p:cNvCxnSpPr>
            <p:nvPr/>
          </p:nvCxnSpPr>
          <p:spPr bwMode="auto">
            <a:xfrm flipH="1" flipV="1">
              <a:off x="5540375" y="6153152"/>
              <a:ext cx="173033" cy="3174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7" name="Straight Connector 576"/>
            <p:cNvCxnSpPr>
              <a:cxnSpLocks noChangeAspect="1"/>
            </p:cNvCxnSpPr>
            <p:nvPr/>
          </p:nvCxnSpPr>
          <p:spPr bwMode="auto">
            <a:xfrm flipH="1">
              <a:off x="5553075" y="6339090"/>
              <a:ext cx="282575" cy="51891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8" name="Straight Connector 577"/>
            <p:cNvCxnSpPr>
              <a:cxnSpLocks noChangeAspect="1"/>
            </p:cNvCxnSpPr>
            <p:nvPr/>
          </p:nvCxnSpPr>
          <p:spPr bwMode="auto">
            <a:xfrm flipH="1" flipV="1">
              <a:off x="5527676" y="5156203"/>
              <a:ext cx="303832" cy="86994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9" name="Straight Connector 578"/>
            <p:cNvCxnSpPr>
              <a:cxnSpLocks noChangeAspect="1"/>
            </p:cNvCxnSpPr>
            <p:nvPr/>
          </p:nvCxnSpPr>
          <p:spPr bwMode="auto">
            <a:xfrm flipH="1" flipV="1">
              <a:off x="5711826" y="6184901"/>
              <a:ext cx="126999" cy="14498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0" name="Straight Connector 579"/>
            <p:cNvCxnSpPr>
              <a:cxnSpLocks noChangeAspect="1"/>
            </p:cNvCxnSpPr>
            <p:nvPr/>
          </p:nvCxnSpPr>
          <p:spPr bwMode="auto">
            <a:xfrm flipH="1">
              <a:off x="5848350" y="6254750"/>
              <a:ext cx="231776" cy="6683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1" name="Straight Connector 580"/>
            <p:cNvCxnSpPr>
              <a:cxnSpLocks noChangeAspect="1"/>
            </p:cNvCxnSpPr>
            <p:nvPr/>
          </p:nvCxnSpPr>
          <p:spPr bwMode="auto">
            <a:xfrm flipV="1">
              <a:off x="5711826" y="6035152"/>
              <a:ext cx="117474" cy="14657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2" name="Straight Connector 581"/>
            <p:cNvCxnSpPr>
              <a:cxnSpLocks noChangeAspect="1"/>
            </p:cNvCxnSpPr>
            <p:nvPr/>
          </p:nvCxnSpPr>
          <p:spPr bwMode="auto">
            <a:xfrm flipH="1" flipV="1">
              <a:off x="5842000" y="6029681"/>
              <a:ext cx="234953" cy="22507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2" name="Straight Connector 591"/>
            <p:cNvCxnSpPr>
              <a:cxnSpLocks noChangeAspect="1"/>
            </p:cNvCxnSpPr>
            <p:nvPr/>
          </p:nvCxnSpPr>
          <p:spPr bwMode="auto">
            <a:xfrm flipH="1" flipV="1">
              <a:off x="6070600" y="6251284"/>
              <a:ext cx="174625" cy="3204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77" name="Straight Connector 76"/>
          <p:cNvCxnSpPr>
            <a:cxnSpLocks noChangeAspect="1"/>
          </p:cNvCxnSpPr>
          <p:nvPr/>
        </p:nvCxnSpPr>
        <p:spPr bwMode="auto">
          <a:xfrm flipV="1">
            <a:off x="5991552" y="3368838"/>
            <a:ext cx="414972" cy="336081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0" name="Straight Connector 79"/>
          <p:cNvCxnSpPr>
            <a:cxnSpLocks noChangeAspect="1"/>
          </p:cNvCxnSpPr>
          <p:nvPr/>
        </p:nvCxnSpPr>
        <p:spPr bwMode="auto">
          <a:xfrm flipH="1" flipV="1">
            <a:off x="6415051" y="3377365"/>
            <a:ext cx="249793" cy="455105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0" name="Straight Connector 119"/>
          <p:cNvCxnSpPr>
            <a:cxnSpLocks noChangeAspect="1"/>
          </p:cNvCxnSpPr>
          <p:nvPr/>
        </p:nvCxnSpPr>
        <p:spPr bwMode="auto">
          <a:xfrm flipH="1" flipV="1">
            <a:off x="6645272" y="3829307"/>
            <a:ext cx="296620" cy="919599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6" name="Straight Connector 145"/>
          <p:cNvCxnSpPr>
            <a:cxnSpLocks noChangeAspect="1"/>
          </p:cNvCxnSpPr>
          <p:nvPr/>
        </p:nvCxnSpPr>
        <p:spPr bwMode="auto">
          <a:xfrm flipV="1">
            <a:off x="6359827" y="4744805"/>
            <a:ext cx="575707" cy="834917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5" name="Straight Connector 144"/>
          <p:cNvCxnSpPr>
            <a:cxnSpLocks noChangeAspect="1"/>
          </p:cNvCxnSpPr>
          <p:nvPr/>
        </p:nvCxnSpPr>
        <p:spPr bwMode="auto">
          <a:xfrm>
            <a:off x="6071955" y="4704110"/>
            <a:ext cx="875573" cy="46693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549" name="Group 548"/>
          <p:cNvGrpSpPr/>
          <p:nvPr/>
        </p:nvGrpSpPr>
        <p:grpSpPr>
          <a:xfrm>
            <a:off x="5969000" y="3714750"/>
            <a:ext cx="685800" cy="990600"/>
            <a:chOff x="5969000" y="3714750"/>
            <a:chExt cx="685800" cy="990600"/>
          </a:xfrm>
        </p:grpSpPr>
        <p:cxnSp>
          <p:nvCxnSpPr>
            <p:cNvPr id="542" name="Straight Connector 541"/>
            <p:cNvCxnSpPr/>
            <p:nvPr/>
          </p:nvCxnSpPr>
          <p:spPr bwMode="auto">
            <a:xfrm flipV="1">
              <a:off x="6233296" y="3822700"/>
              <a:ext cx="421504" cy="18070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3" name="Straight Connector 542"/>
            <p:cNvCxnSpPr/>
            <p:nvPr/>
          </p:nvCxnSpPr>
          <p:spPr bwMode="auto">
            <a:xfrm>
              <a:off x="5969000" y="3714750"/>
              <a:ext cx="279400" cy="29845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4" name="Straight Connector 543"/>
            <p:cNvCxnSpPr/>
            <p:nvPr/>
          </p:nvCxnSpPr>
          <p:spPr bwMode="auto">
            <a:xfrm flipV="1">
              <a:off x="6057900" y="3997849"/>
              <a:ext cx="180952" cy="70750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3" name="Oval 12"/>
          <p:cNvSpPr/>
          <p:nvPr/>
        </p:nvSpPr>
        <p:spPr bwMode="auto">
          <a:xfrm rot="5400000">
            <a:off x="6142401" y="3891759"/>
            <a:ext cx="210312" cy="213651"/>
          </a:xfrm>
          <a:prstGeom prst="ellipse">
            <a:avLst/>
          </a:prstGeom>
          <a:solidFill>
            <a:srgbClr val="0000FF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0286"/>
            <a:ext cx="7772400" cy="1205114"/>
          </a:xfrm>
        </p:spPr>
        <p:txBody>
          <a:bodyPr/>
          <a:lstStyle/>
          <a:p>
            <a:r>
              <a:rPr lang="en-US"/>
              <a:t>Convert tri mesh to quads</a:t>
            </a:r>
            <a:br>
              <a:rPr lang="en-US"/>
            </a:br>
            <a:r>
              <a:rPr lang="en-US"/>
              <a:t>One-slide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4790722" cy="4572000"/>
          </a:xfrm>
        </p:spPr>
        <p:txBody>
          <a:bodyPr/>
          <a:lstStyle/>
          <a:p>
            <a:r>
              <a:rPr lang="en-US" sz="1800">
                <a:solidFill>
                  <a:srgbClr val="7F7F7F"/>
                </a:solidFill>
              </a:rPr>
              <a:t>Generate (or given) well-spaced points</a:t>
            </a:r>
          </a:p>
          <a:p>
            <a:r>
              <a:rPr lang="en-US" sz="1800">
                <a:solidFill>
                  <a:srgbClr val="7F7F7F"/>
                </a:solidFill>
              </a:rPr>
              <a:t>Delaunay triangulate</a:t>
            </a:r>
          </a:p>
          <a:p>
            <a:r>
              <a:rPr lang="en-US" sz="1800">
                <a:solidFill>
                  <a:srgbClr val="7F7F7F"/>
                </a:solidFill>
              </a:rPr>
              <a:t>Color points red or blue</a:t>
            </a:r>
          </a:p>
          <a:p>
            <a:pPr lvl="1"/>
            <a:r>
              <a:rPr lang="en-US" sz="1600">
                <a:solidFill>
                  <a:srgbClr val="7F7F7F"/>
                </a:solidFill>
              </a:rPr>
              <a:t>intersperse colors</a:t>
            </a:r>
          </a:p>
          <a:p>
            <a:r>
              <a:rPr lang="en-US" sz="1800">
                <a:solidFill>
                  <a:srgbClr val="7F7F7F"/>
                </a:solidFill>
              </a:rPr>
              <a:t>Discard red-red and blue-blue edges</a:t>
            </a:r>
          </a:p>
          <a:p>
            <a:r>
              <a:rPr lang="en-US" sz="1800">
                <a:solidFill>
                  <a:srgbClr val="7F7F7F"/>
                </a:solidFill>
              </a:rPr>
              <a:t>Quads mostly</a:t>
            </a:r>
            <a:endParaRPr lang="en-US" sz="1600">
              <a:solidFill>
                <a:srgbClr val="7F7F7F"/>
              </a:solidFill>
            </a:endParaRPr>
          </a:p>
          <a:p>
            <a:pPr lvl="1"/>
            <a:r>
              <a:rPr lang="en-US" sz="1600">
                <a:solidFill>
                  <a:srgbClr val="7F7F7F"/>
                </a:solidFill>
              </a:rPr>
              <a:t>good quality, some large angles</a:t>
            </a:r>
          </a:p>
          <a:p>
            <a:r>
              <a:rPr lang="en-US" sz="1800">
                <a:solidFill>
                  <a:srgbClr val="7F7F7F"/>
                </a:solidFill>
              </a:rPr>
              <a:t>6, 8, 10 sided polygons sometimes</a:t>
            </a:r>
            <a:endParaRPr lang="en-US" sz="1600">
              <a:solidFill>
                <a:srgbClr val="7F7F7F"/>
              </a:solidFill>
            </a:endParaRPr>
          </a:p>
          <a:p>
            <a:pPr lvl="1"/>
            <a:r>
              <a:rPr lang="en-US" sz="1600">
                <a:solidFill>
                  <a:srgbClr val="7F7F7F"/>
                </a:solidFill>
              </a:rPr>
              <a:t>constrained incircle refinement</a:t>
            </a:r>
          </a:p>
          <a:p>
            <a:pPr lvl="1"/>
            <a:r>
              <a:rPr lang="en-US" sz="1600">
                <a:solidFill>
                  <a:srgbClr val="7F7F7F"/>
                </a:solidFill>
              </a:rPr>
              <a:t>median template for reflex quads</a:t>
            </a:r>
          </a:p>
          <a:p>
            <a:r>
              <a:rPr lang="en-US" sz="1800"/>
              <a:t>All quads with provable quality</a:t>
            </a:r>
          </a:p>
          <a:p>
            <a:endParaRPr lang="en-US" sz="1800"/>
          </a:p>
          <a:p>
            <a:r>
              <a:rPr lang="en-US" sz="1800"/>
              <a:t>Coloring and position heuristics</a:t>
            </a:r>
            <a:br>
              <a:rPr lang="en-US" sz="1800"/>
            </a:br>
            <a:r>
              <a:rPr lang="en-US" sz="1800"/>
              <a:t>improve quality in practice</a:t>
            </a:r>
          </a:p>
        </p:txBody>
      </p:sp>
      <p:grpSp>
        <p:nvGrpSpPr>
          <p:cNvPr id="47" name="Group 46"/>
          <p:cNvGrpSpPr>
            <a:grpSpLocks noChangeAspect="1"/>
          </p:cNvGrpSpPr>
          <p:nvPr/>
        </p:nvGrpSpPr>
        <p:grpSpPr>
          <a:xfrm>
            <a:off x="4952965" y="1695493"/>
            <a:ext cx="3910074" cy="3897523"/>
            <a:chOff x="5654800" y="2809494"/>
            <a:chExt cx="2760002" cy="2751142"/>
          </a:xfrm>
        </p:grpSpPr>
        <p:cxnSp>
          <p:nvCxnSpPr>
            <p:cNvPr id="43" name="Straight Connector 42"/>
            <p:cNvCxnSpPr/>
            <p:nvPr/>
          </p:nvCxnSpPr>
          <p:spPr bwMode="auto">
            <a:xfrm>
              <a:off x="5657634" y="2810915"/>
              <a:ext cx="27432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" name="Straight Connector 43"/>
            <p:cNvCxnSpPr/>
            <p:nvPr/>
          </p:nvCxnSpPr>
          <p:spPr bwMode="auto">
            <a:xfrm>
              <a:off x="5671602" y="5557542"/>
              <a:ext cx="27432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Straight Connector 44"/>
            <p:cNvCxnSpPr/>
            <p:nvPr/>
          </p:nvCxnSpPr>
          <p:spPr bwMode="auto">
            <a:xfrm rot="16200000">
              <a:off x="4283200" y="4181094"/>
              <a:ext cx="27432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Straight Connector 45"/>
            <p:cNvCxnSpPr/>
            <p:nvPr/>
          </p:nvCxnSpPr>
          <p:spPr bwMode="auto">
            <a:xfrm rot="16200000">
              <a:off x="7029685" y="4189036"/>
              <a:ext cx="27432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68" name="Straight Connector 67"/>
          <p:cNvCxnSpPr>
            <a:cxnSpLocks noChangeAspect="1"/>
            <a:stCxn id="53" idx="0"/>
            <a:endCxn id="55" idx="4"/>
          </p:cNvCxnSpPr>
          <p:nvPr/>
        </p:nvCxnSpPr>
        <p:spPr bwMode="auto">
          <a:xfrm flipV="1">
            <a:off x="5096886" y="2296437"/>
            <a:ext cx="440533" cy="70421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2" name="Straight Connector 71"/>
          <p:cNvCxnSpPr>
            <a:cxnSpLocks noChangeAspect="1"/>
          </p:cNvCxnSpPr>
          <p:nvPr/>
        </p:nvCxnSpPr>
        <p:spPr bwMode="auto">
          <a:xfrm>
            <a:off x="5690279" y="2294411"/>
            <a:ext cx="153482" cy="51163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3" name="Straight Connector 72"/>
          <p:cNvCxnSpPr>
            <a:cxnSpLocks noChangeAspect="1"/>
          </p:cNvCxnSpPr>
          <p:nvPr/>
        </p:nvCxnSpPr>
        <p:spPr bwMode="auto">
          <a:xfrm flipV="1">
            <a:off x="4948877" y="2806042"/>
            <a:ext cx="869304" cy="34223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8" name="Straight Connector 77"/>
          <p:cNvCxnSpPr>
            <a:cxnSpLocks noChangeAspect="1"/>
          </p:cNvCxnSpPr>
          <p:nvPr/>
        </p:nvCxnSpPr>
        <p:spPr bwMode="auto">
          <a:xfrm flipH="1" flipV="1">
            <a:off x="5852287" y="2857205"/>
            <a:ext cx="142001" cy="858965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9" name="Straight Connector 78"/>
          <p:cNvCxnSpPr>
            <a:cxnSpLocks noChangeAspect="1"/>
          </p:cNvCxnSpPr>
          <p:nvPr/>
        </p:nvCxnSpPr>
        <p:spPr bwMode="auto">
          <a:xfrm flipH="1">
            <a:off x="5674004" y="1699447"/>
            <a:ext cx="158058" cy="605051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2" name="Straight Connector 81"/>
          <p:cNvCxnSpPr>
            <a:cxnSpLocks noChangeAspect="1"/>
          </p:cNvCxnSpPr>
          <p:nvPr/>
        </p:nvCxnSpPr>
        <p:spPr bwMode="auto">
          <a:xfrm flipV="1">
            <a:off x="5630055" y="3701398"/>
            <a:ext cx="358660" cy="596989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9" name="Straight Connector 108"/>
          <p:cNvCxnSpPr>
            <a:cxnSpLocks noChangeAspect="1"/>
          </p:cNvCxnSpPr>
          <p:nvPr/>
        </p:nvCxnSpPr>
        <p:spPr bwMode="auto">
          <a:xfrm flipV="1">
            <a:off x="6393479" y="2569061"/>
            <a:ext cx="464125" cy="80649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1" name="Straight Connector 110"/>
          <p:cNvCxnSpPr>
            <a:cxnSpLocks noChangeAspect="1"/>
          </p:cNvCxnSpPr>
          <p:nvPr/>
        </p:nvCxnSpPr>
        <p:spPr bwMode="auto">
          <a:xfrm flipH="1" flipV="1">
            <a:off x="4962449" y="3156799"/>
            <a:ext cx="676670" cy="1124449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2" name="Straight Connector 111"/>
          <p:cNvCxnSpPr>
            <a:cxnSpLocks noChangeAspect="1"/>
          </p:cNvCxnSpPr>
          <p:nvPr/>
        </p:nvCxnSpPr>
        <p:spPr bwMode="auto">
          <a:xfrm flipV="1">
            <a:off x="5640999" y="4673499"/>
            <a:ext cx="415930" cy="411759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3" name="Straight Connector 112"/>
          <p:cNvCxnSpPr>
            <a:cxnSpLocks noChangeAspect="1"/>
          </p:cNvCxnSpPr>
          <p:nvPr/>
        </p:nvCxnSpPr>
        <p:spPr bwMode="auto">
          <a:xfrm flipV="1">
            <a:off x="4970121" y="4289775"/>
            <a:ext cx="668998" cy="593555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5" name="Straight Connector 114"/>
          <p:cNvCxnSpPr>
            <a:cxnSpLocks noChangeAspect="1"/>
          </p:cNvCxnSpPr>
          <p:nvPr/>
        </p:nvCxnSpPr>
        <p:spPr bwMode="auto">
          <a:xfrm flipH="1" flipV="1">
            <a:off x="4976130" y="4880166"/>
            <a:ext cx="662989" cy="202639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7" name="Straight Connector 116"/>
          <p:cNvCxnSpPr>
            <a:cxnSpLocks noChangeAspect="1"/>
          </p:cNvCxnSpPr>
          <p:nvPr/>
        </p:nvCxnSpPr>
        <p:spPr bwMode="auto">
          <a:xfrm flipH="1" flipV="1">
            <a:off x="5639119" y="5074278"/>
            <a:ext cx="714750" cy="527705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8" name="Straight Connector 117"/>
          <p:cNvCxnSpPr>
            <a:cxnSpLocks noChangeAspect="1"/>
          </p:cNvCxnSpPr>
          <p:nvPr/>
        </p:nvCxnSpPr>
        <p:spPr bwMode="auto">
          <a:xfrm flipH="1" flipV="1">
            <a:off x="5622065" y="4289775"/>
            <a:ext cx="427576" cy="41957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7" name="Straight Connector 156"/>
          <p:cNvCxnSpPr>
            <a:cxnSpLocks/>
          </p:cNvCxnSpPr>
          <p:nvPr/>
        </p:nvCxnSpPr>
        <p:spPr bwMode="auto">
          <a:xfrm flipH="1">
            <a:off x="7193420" y="5048250"/>
            <a:ext cx="547230" cy="50619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0" name="Straight Connector 159"/>
          <p:cNvCxnSpPr>
            <a:cxnSpLocks noChangeAspect="1"/>
          </p:cNvCxnSpPr>
          <p:nvPr/>
        </p:nvCxnSpPr>
        <p:spPr bwMode="auto">
          <a:xfrm flipV="1">
            <a:off x="7295411" y="2759688"/>
            <a:ext cx="125906" cy="48707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1" name="Straight Connector 160"/>
          <p:cNvCxnSpPr>
            <a:cxnSpLocks noChangeAspect="1"/>
          </p:cNvCxnSpPr>
          <p:nvPr/>
        </p:nvCxnSpPr>
        <p:spPr bwMode="auto">
          <a:xfrm flipH="1" flipV="1">
            <a:off x="6863565" y="2579770"/>
            <a:ext cx="551792" cy="19320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2" name="Straight Connector 161"/>
          <p:cNvCxnSpPr>
            <a:cxnSpLocks/>
          </p:cNvCxnSpPr>
          <p:nvPr/>
        </p:nvCxnSpPr>
        <p:spPr bwMode="auto">
          <a:xfrm flipV="1">
            <a:off x="7759700" y="4606868"/>
            <a:ext cx="489249" cy="40328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3" name="Straight Connector 162"/>
          <p:cNvCxnSpPr>
            <a:cxnSpLocks noChangeAspect="1"/>
          </p:cNvCxnSpPr>
          <p:nvPr/>
        </p:nvCxnSpPr>
        <p:spPr bwMode="auto">
          <a:xfrm flipH="1">
            <a:off x="5850018" y="2557066"/>
            <a:ext cx="1025579" cy="23860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4" name="Straight Connector 163"/>
          <p:cNvCxnSpPr>
            <a:cxnSpLocks noChangeAspect="1"/>
          </p:cNvCxnSpPr>
          <p:nvPr/>
        </p:nvCxnSpPr>
        <p:spPr bwMode="auto">
          <a:xfrm flipH="1" flipV="1">
            <a:off x="7289376" y="3221483"/>
            <a:ext cx="329891" cy="517057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5" name="Straight Connector 164"/>
          <p:cNvCxnSpPr>
            <a:cxnSpLocks noChangeAspect="1"/>
          </p:cNvCxnSpPr>
          <p:nvPr/>
        </p:nvCxnSpPr>
        <p:spPr bwMode="auto">
          <a:xfrm flipH="1">
            <a:off x="6671651" y="3762530"/>
            <a:ext cx="941617" cy="5269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6" name="Straight Connector 165"/>
          <p:cNvCxnSpPr>
            <a:cxnSpLocks noChangeAspect="1"/>
          </p:cNvCxnSpPr>
          <p:nvPr/>
        </p:nvCxnSpPr>
        <p:spPr bwMode="auto">
          <a:xfrm flipH="1" flipV="1">
            <a:off x="7511278" y="4235034"/>
            <a:ext cx="749702" cy="37312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3" name="Straight Connector 172"/>
          <p:cNvCxnSpPr>
            <a:cxnSpLocks noChangeAspect="1"/>
          </p:cNvCxnSpPr>
          <p:nvPr/>
        </p:nvCxnSpPr>
        <p:spPr bwMode="auto">
          <a:xfrm flipV="1">
            <a:off x="7499320" y="3737253"/>
            <a:ext cx="125907" cy="55904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5" name="Straight Connector 174"/>
          <p:cNvCxnSpPr>
            <a:cxnSpLocks noChangeAspect="1"/>
          </p:cNvCxnSpPr>
          <p:nvPr/>
        </p:nvCxnSpPr>
        <p:spPr bwMode="auto">
          <a:xfrm flipH="1">
            <a:off x="8248950" y="4578166"/>
            <a:ext cx="593773" cy="22703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9" name="Straight Connector 178"/>
          <p:cNvCxnSpPr>
            <a:cxnSpLocks noChangeAspect="1"/>
          </p:cNvCxnSpPr>
          <p:nvPr/>
        </p:nvCxnSpPr>
        <p:spPr bwMode="auto">
          <a:xfrm flipH="1">
            <a:off x="8182979" y="4620149"/>
            <a:ext cx="84000" cy="946291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1" name="Straight Connector 180"/>
          <p:cNvCxnSpPr>
            <a:cxnSpLocks noChangeAspect="1"/>
          </p:cNvCxnSpPr>
          <p:nvPr/>
        </p:nvCxnSpPr>
        <p:spPr bwMode="auto">
          <a:xfrm flipH="1">
            <a:off x="6935534" y="4290294"/>
            <a:ext cx="545794" cy="442517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3" name="Straight Connector 182"/>
          <p:cNvCxnSpPr>
            <a:cxnSpLocks/>
          </p:cNvCxnSpPr>
          <p:nvPr/>
        </p:nvCxnSpPr>
        <p:spPr bwMode="auto">
          <a:xfrm flipH="1" flipV="1">
            <a:off x="6941532" y="4720816"/>
            <a:ext cx="786418" cy="30838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7" name="Straight Connector 186"/>
          <p:cNvCxnSpPr>
            <a:cxnSpLocks noChangeAspect="1"/>
          </p:cNvCxnSpPr>
          <p:nvPr/>
        </p:nvCxnSpPr>
        <p:spPr bwMode="auto">
          <a:xfrm flipH="1" flipV="1">
            <a:off x="8248949" y="3581323"/>
            <a:ext cx="12032" cy="1032827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0" name="Straight Connector 199"/>
          <p:cNvCxnSpPr>
            <a:cxnSpLocks noChangeAspect="1"/>
          </p:cNvCxnSpPr>
          <p:nvPr/>
        </p:nvCxnSpPr>
        <p:spPr bwMode="auto">
          <a:xfrm flipH="1">
            <a:off x="7631225" y="3588606"/>
            <a:ext cx="641750" cy="160643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2" name="Straight Connector 201"/>
          <p:cNvCxnSpPr>
            <a:cxnSpLocks noChangeAspect="1"/>
          </p:cNvCxnSpPr>
          <p:nvPr/>
        </p:nvCxnSpPr>
        <p:spPr bwMode="auto">
          <a:xfrm flipH="1" flipV="1">
            <a:off x="8248950" y="3575326"/>
            <a:ext cx="605766" cy="223187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3" name="Straight Connector 202"/>
          <p:cNvCxnSpPr>
            <a:cxnSpLocks noChangeAspect="1"/>
          </p:cNvCxnSpPr>
          <p:nvPr/>
        </p:nvCxnSpPr>
        <p:spPr bwMode="auto">
          <a:xfrm flipH="1" flipV="1">
            <a:off x="8182979" y="2903626"/>
            <a:ext cx="671738" cy="133227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4" name="Straight Connector 203"/>
          <p:cNvCxnSpPr>
            <a:cxnSpLocks noChangeAspect="1"/>
          </p:cNvCxnSpPr>
          <p:nvPr/>
        </p:nvCxnSpPr>
        <p:spPr bwMode="auto">
          <a:xfrm flipH="1">
            <a:off x="6401771" y="3216773"/>
            <a:ext cx="887641" cy="142651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0" name="Straight Connector 209"/>
          <p:cNvCxnSpPr>
            <a:cxnSpLocks noChangeAspect="1"/>
          </p:cNvCxnSpPr>
          <p:nvPr/>
        </p:nvCxnSpPr>
        <p:spPr bwMode="auto">
          <a:xfrm flipH="1" flipV="1">
            <a:off x="8195012" y="2910910"/>
            <a:ext cx="53975" cy="65970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3" name="Straight Connector 212"/>
          <p:cNvCxnSpPr>
            <a:cxnSpLocks noChangeAspect="1"/>
          </p:cNvCxnSpPr>
          <p:nvPr/>
        </p:nvCxnSpPr>
        <p:spPr bwMode="auto">
          <a:xfrm flipH="1">
            <a:off x="7283381" y="2898914"/>
            <a:ext cx="893638" cy="31657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1" name="Straight Connector 220"/>
          <p:cNvCxnSpPr>
            <a:cxnSpLocks noChangeAspect="1"/>
          </p:cNvCxnSpPr>
          <p:nvPr/>
        </p:nvCxnSpPr>
        <p:spPr bwMode="auto">
          <a:xfrm>
            <a:off x="7949120" y="1675458"/>
            <a:ext cx="65936" cy="538475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2" name="Straight Connector 221"/>
          <p:cNvCxnSpPr>
            <a:cxnSpLocks noChangeAspect="1"/>
          </p:cNvCxnSpPr>
          <p:nvPr/>
        </p:nvCxnSpPr>
        <p:spPr bwMode="auto">
          <a:xfrm flipH="1">
            <a:off x="7397329" y="2203223"/>
            <a:ext cx="623758" cy="56846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7" name="Straight Connector 226"/>
          <p:cNvCxnSpPr>
            <a:cxnSpLocks noChangeAspect="1"/>
          </p:cNvCxnSpPr>
          <p:nvPr/>
        </p:nvCxnSpPr>
        <p:spPr bwMode="auto">
          <a:xfrm flipH="1">
            <a:off x="6857571" y="2101269"/>
            <a:ext cx="155965" cy="472505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0" name="Straight Connector 229"/>
          <p:cNvCxnSpPr>
            <a:cxnSpLocks noChangeAspect="1"/>
          </p:cNvCxnSpPr>
          <p:nvPr/>
        </p:nvCxnSpPr>
        <p:spPr bwMode="auto">
          <a:xfrm flipH="1">
            <a:off x="6989512" y="1711442"/>
            <a:ext cx="83997" cy="400537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4" name="Straight Connector 233"/>
          <p:cNvCxnSpPr>
            <a:cxnSpLocks noChangeAspect="1"/>
          </p:cNvCxnSpPr>
          <p:nvPr/>
        </p:nvCxnSpPr>
        <p:spPr bwMode="auto">
          <a:xfrm flipH="1" flipV="1">
            <a:off x="7001505" y="2117976"/>
            <a:ext cx="995593" cy="85247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6" name="Straight Connector 235"/>
          <p:cNvCxnSpPr>
            <a:cxnSpLocks noChangeAspect="1"/>
          </p:cNvCxnSpPr>
          <p:nvPr/>
        </p:nvCxnSpPr>
        <p:spPr bwMode="auto">
          <a:xfrm flipV="1">
            <a:off x="5688125" y="2117976"/>
            <a:ext cx="1307383" cy="16921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1" name="Straight Connector 240"/>
          <p:cNvCxnSpPr>
            <a:cxnSpLocks noChangeAspect="1"/>
          </p:cNvCxnSpPr>
          <p:nvPr/>
        </p:nvCxnSpPr>
        <p:spPr bwMode="auto">
          <a:xfrm>
            <a:off x="8033083" y="2215218"/>
            <a:ext cx="137904" cy="688409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3" name="Straight Connector 242"/>
          <p:cNvCxnSpPr>
            <a:cxnSpLocks noChangeAspect="1"/>
          </p:cNvCxnSpPr>
          <p:nvPr/>
        </p:nvCxnSpPr>
        <p:spPr bwMode="auto">
          <a:xfrm flipH="1" flipV="1">
            <a:off x="8003062" y="2213934"/>
            <a:ext cx="851655" cy="16920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71" name="Group 70"/>
          <p:cNvGrpSpPr>
            <a:grpSpLocks noChangeAspect="1"/>
          </p:cNvGrpSpPr>
          <p:nvPr/>
        </p:nvGrpSpPr>
        <p:grpSpPr>
          <a:xfrm>
            <a:off x="4784325" y="1527538"/>
            <a:ext cx="4226331" cy="4212862"/>
            <a:chOff x="5601968" y="1444988"/>
            <a:chExt cx="2983238" cy="2973730"/>
          </a:xfrm>
        </p:grpSpPr>
        <p:sp>
          <p:nvSpPr>
            <p:cNvPr id="5" name="Oval 4"/>
            <p:cNvSpPr/>
            <p:nvPr/>
          </p:nvSpPr>
          <p:spPr bwMode="auto">
            <a:xfrm rot="5400000">
              <a:off x="7407008" y="3262425"/>
              <a:ext cx="210312" cy="213651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6" name="Oval 5"/>
            <p:cNvSpPr/>
            <p:nvPr/>
          </p:nvSpPr>
          <p:spPr bwMode="auto">
            <a:xfrm rot="5400000">
              <a:off x="6223415" y="2240301"/>
              <a:ext cx="210312" cy="213651"/>
            </a:xfrm>
            <a:prstGeom prst="ellipse">
              <a:avLst/>
            </a:prstGeom>
            <a:solidFill>
              <a:srgbClr val="0000FF"/>
            </a:solidFill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 bwMode="auto">
            <a:xfrm rot="5400000">
              <a:off x="8358300" y="3478132"/>
              <a:ext cx="210312" cy="213651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 bwMode="auto">
            <a:xfrm rot="5400000">
              <a:off x="7072057" y="1733132"/>
              <a:ext cx="210312" cy="213651"/>
            </a:xfrm>
            <a:prstGeom prst="ellipse">
              <a:avLst/>
            </a:prstGeom>
            <a:solidFill>
              <a:srgbClr val="0000FF"/>
            </a:solidFill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 bwMode="auto">
            <a:xfrm rot="5400000">
              <a:off x="5611910" y="1456776"/>
              <a:ext cx="210312" cy="213651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1" name="Oval 10"/>
            <p:cNvSpPr/>
            <p:nvPr/>
          </p:nvSpPr>
          <p:spPr bwMode="auto">
            <a:xfrm rot="5400000">
              <a:off x="6403605" y="3578177"/>
              <a:ext cx="210312" cy="213651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2" name="Oval 11"/>
            <p:cNvSpPr/>
            <p:nvPr/>
          </p:nvSpPr>
          <p:spPr bwMode="auto">
            <a:xfrm rot="5400000">
              <a:off x="6106325" y="3297638"/>
              <a:ext cx="210312" cy="213651"/>
            </a:xfrm>
            <a:prstGeom prst="ellipse">
              <a:avLst/>
            </a:prstGeom>
            <a:solidFill>
              <a:srgbClr val="0000FF"/>
            </a:solidFill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4" name="Oval 13"/>
            <p:cNvSpPr/>
            <p:nvPr/>
          </p:nvSpPr>
          <p:spPr bwMode="auto">
            <a:xfrm rot="5400000">
              <a:off x="7103536" y="1455018"/>
              <a:ext cx="210312" cy="213651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5" name="Oval 14"/>
            <p:cNvSpPr/>
            <p:nvPr/>
          </p:nvSpPr>
          <p:spPr bwMode="auto">
            <a:xfrm rot="5400000">
              <a:off x="8365275" y="2927856"/>
              <a:ext cx="210312" cy="213651"/>
            </a:xfrm>
            <a:prstGeom prst="ellipse">
              <a:avLst/>
            </a:prstGeom>
            <a:solidFill>
              <a:srgbClr val="0000FF"/>
            </a:solidFill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6" name="Oval 15"/>
            <p:cNvSpPr/>
            <p:nvPr/>
          </p:nvSpPr>
          <p:spPr bwMode="auto">
            <a:xfrm rot="5400000">
              <a:off x="7911778" y="4206736"/>
              <a:ext cx="210312" cy="213651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8" name="Oval 17"/>
            <p:cNvSpPr/>
            <p:nvPr/>
          </p:nvSpPr>
          <p:spPr bwMode="auto">
            <a:xfrm rot="5400000">
              <a:off x="7933221" y="3511981"/>
              <a:ext cx="210312" cy="213651"/>
            </a:xfrm>
            <a:prstGeom prst="ellipse">
              <a:avLst/>
            </a:prstGeom>
            <a:solidFill>
              <a:srgbClr val="0000FF"/>
            </a:solidFill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9" name="Oval 18"/>
            <p:cNvSpPr/>
            <p:nvPr/>
          </p:nvSpPr>
          <p:spPr bwMode="auto">
            <a:xfrm rot="5400000">
              <a:off x="7578947" y="3797755"/>
              <a:ext cx="210312" cy="213651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34" name="Oval 33"/>
            <p:cNvSpPr/>
            <p:nvPr/>
          </p:nvSpPr>
          <p:spPr bwMode="auto">
            <a:xfrm rot="5400000">
              <a:off x="6639604" y="2639275"/>
              <a:ext cx="210312" cy="213651"/>
            </a:xfrm>
            <a:prstGeom prst="ellipse">
              <a:avLst/>
            </a:prstGeom>
            <a:solidFill>
              <a:srgbClr val="0000FF"/>
            </a:solidFill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35" name="Oval 34"/>
            <p:cNvSpPr/>
            <p:nvPr/>
          </p:nvSpPr>
          <p:spPr bwMode="auto">
            <a:xfrm rot="5400000">
              <a:off x="6826644" y="2956229"/>
              <a:ext cx="210312" cy="213651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36" name="Oval 35"/>
            <p:cNvSpPr/>
            <p:nvPr/>
          </p:nvSpPr>
          <p:spPr bwMode="auto">
            <a:xfrm rot="5400000">
              <a:off x="6961758" y="2079915"/>
              <a:ext cx="210312" cy="213651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37" name="Oval 36"/>
            <p:cNvSpPr/>
            <p:nvPr/>
          </p:nvSpPr>
          <p:spPr bwMode="auto">
            <a:xfrm rot="5400000">
              <a:off x="7361881" y="2213739"/>
              <a:ext cx="210312" cy="213651"/>
            </a:xfrm>
            <a:prstGeom prst="ellipse">
              <a:avLst/>
            </a:prstGeom>
            <a:solidFill>
              <a:srgbClr val="0000FF"/>
            </a:solidFill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38" name="Oval 37"/>
            <p:cNvSpPr/>
            <p:nvPr/>
          </p:nvSpPr>
          <p:spPr bwMode="auto">
            <a:xfrm rot="5400000">
              <a:off x="7508140" y="2882344"/>
              <a:ext cx="210312" cy="213651"/>
            </a:xfrm>
            <a:prstGeom prst="ellipse">
              <a:avLst/>
            </a:prstGeom>
            <a:solidFill>
              <a:srgbClr val="0000FF"/>
            </a:solidFill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39" name="Oval 38"/>
            <p:cNvSpPr/>
            <p:nvPr/>
          </p:nvSpPr>
          <p:spPr bwMode="auto">
            <a:xfrm rot="5400000">
              <a:off x="7938005" y="2784162"/>
              <a:ext cx="210312" cy="213651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40" name="Oval 39"/>
            <p:cNvSpPr/>
            <p:nvPr/>
          </p:nvSpPr>
          <p:spPr bwMode="auto">
            <a:xfrm rot="5400000">
              <a:off x="7270958" y="2529983"/>
              <a:ext cx="210312" cy="213651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41" name="Oval 40"/>
            <p:cNvSpPr/>
            <p:nvPr/>
          </p:nvSpPr>
          <p:spPr bwMode="auto">
            <a:xfrm rot="5400000">
              <a:off x="6110988" y="3829700"/>
              <a:ext cx="210312" cy="213651"/>
            </a:xfrm>
            <a:prstGeom prst="ellipse">
              <a:avLst/>
            </a:prstGeom>
            <a:solidFill>
              <a:srgbClr val="0000FF"/>
            </a:solidFill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48" name="Oval 47"/>
            <p:cNvSpPr/>
            <p:nvPr/>
          </p:nvSpPr>
          <p:spPr bwMode="auto">
            <a:xfrm rot="5400000">
              <a:off x="8367205" y="4187768"/>
              <a:ext cx="210312" cy="213651"/>
            </a:xfrm>
            <a:prstGeom prst="ellipse">
              <a:avLst/>
            </a:prstGeom>
            <a:solidFill>
              <a:srgbClr val="0000FF"/>
            </a:solidFill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49" name="Oval 48"/>
            <p:cNvSpPr/>
            <p:nvPr/>
          </p:nvSpPr>
          <p:spPr bwMode="auto">
            <a:xfrm rot="5400000">
              <a:off x="8366251" y="1463659"/>
              <a:ext cx="210312" cy="213651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0" name="Oval 49"/>
            <p:cNvSpPr/>
            <p:nvPr/>
          </p:nvSpPr>
          <p:spPr bwMode="auto">
            <a:xfrm rot="5400000">
              <a:off x="8372270" y="2384580"/>
              <a:ext cx="210312" cy="213651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1" name="Oval 50"/>
            <p:cNvSpPr/>
            <p:nvPr/>
          </p:nvSpPr>
          <p:spPr bwMode="auto">
            <a:xfrm rot="5400000">
              <a:off x="8373225" y="1954687"/>
              <a:ext cx="210312" cy="213651"/>
            </a:xfrm>
            <a:prstGeom prst="ellipse">
              <a:avLst/>
            </a:prstGeom>
            <a:solidFill>
              <a:srgbClr val="0000FF"/>
            </a:solidFill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2" name="Oval 51"/>
            <p:cNvSpPr/>
            <p:nvPr/>
          </p:nvSpPr>
          <p:spPr bwMode="auto">
            <a:xfrm rot="5400000">
              <a:off x="5603638" y="2480888"/>
              <a:ext cx="210312" cy="213651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3" name="Oval 52"/>
            <p:cNvSpPr/>
            <p:nvPr/>
          </p:nvSpPr>
          <p:spPr bwMode="auto">
            <a:xfrm rot="5400000">
              <a:off x="5610613" y="1930612"/>
              <a:ext cx="210312" cy="213651"/>
            </a:xfrm>
            <a:prstGeom prst="ellipse">
              <a:avLst/>
            </a:prstGeom>
            <a:solidFill>
              <a:srgbClr val="0000FF"/>
            </a:solidFill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4" name="Oval 53"/>
            <p:cNvSpPr/>
            <p:nvPr/>
          </p:nvSpPr>
          <p:spPr bwMode="auto">
            <a:xfrm rot="5400000">
              <a:off x="5612543" y="3190524"/>
              <a:ext cx="210312" cy="213651"/>
            </a:xfrm>
            <a:prstGeom prst="ellipse">
              <a:avLst/>
            </a:prstGeom>
            <a:solidFill>
              <a:srgbClr val="0000FF"/>
            </a:solidFill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5" name="Oval 54"/>
            <p:cNvSpPr/>
            <p:nvPr/>
          </p:nvSpPr>
          <p:spPr bwMode="auto">
            <a:xfrm rot="5400000">
              <a:off x="6135223" y="1880904"/>
              <a:ext cx="210312" cy="213651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6" name="Oval 55"/>
            <p:cNvSpPr/>
            <p:nvPr/>
          </p:nvSpPr>
          <p:spPr bwMode="auto">
            <a:xfrm rot="5400000">
              <a:off x="6232476" y="1463048"/>
              <a:ext cx="210312" cy="213651"/>
            </a:xfrm>
            <a:prstGeom prst="ellipse">
              <a:avLst/>
            </a:prstGeom>
            <a:solidFill>
              <a:srgbClr val="0000FF"/>
            </a:solidFill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7" name="Oval 56"/>
            <p:cNvSpPr/>
            <p:nvPr/>
          </p:nvSpPr>
          <p:spPr bwMode="auto">
            <a:xfrm>
              <a:off x="6610702" y="4192232"/>
              <a:ext cx="210312" cy="213651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8" name="Oval 57"/>
            <p:cNvSpPr/>
            <p:nvPr/>
          </p:nvSpPr>
          <p:spPr bwMode="auto">
            <a:xfrm>
              <a:off x="7719111" y="1444988"/>
              <a:ext cx="210312" cy="213651"/>
            </a:xfrm>
            <a:prstGeom prst="ellipse">
              <a:avLst/>
            </a:prstGeom>
            <a:solidFill>
              <a:srgbClr val="0000FF"/>
            </a:solidFill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9" name="Oval 58"/>
            <p:cNvSpPr/>
            <p:nvPr/>
          </p:nvSpPr>
          <p:spPr bwMode="auto">
            <a:xfrm>
              <a:off x="7215465" y="4203653"/>
              <a:ext cx="210312" cy="213651"/>
            </a:xfrm>
            <a:prstGeom prst="ellipse">
              <a:avLst/>
            </a:prstGeom>
            <a:solidFill>
              <a:srgbClr val="0000FF"/>
            </a:solidFill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60" name="Oval 59"/>
            <p:cNvSpPr/>
            <p:nvPr/>
          </p:nvSpPr>
          <p:spPr bwMode="auto">
            <a:xfrm>
              <a:off x="5625558" y="3688551"/>
              <a:ext cx="210312" cy="213651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61" name="Oval 60"/>
            <p:cNvSpPr/>
            <p:nvPr/>
          </p:nvSpPr>
          <p:spPr bwMode="auto">
            <a:xfrm>
              <a:off x="7889566" y="2301620"/>
              <a:ext cx="210312" cy="213651"/>
            </a:xfrm>
            <a:prstGeom prst="ellipse">
              <a:avLst/>
            </a:prstGeom>
            <a:solidFill>
              <a:srgbClr val="0000FF"/>
            </a:solidFill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62" name="Oval 61"/>
            <p:cNvSpPr/>
            <p:nvPr/>
          </p:nvSpPr>
          <p:spPr bwMode="auto">
            <a:xfrm rot="5400000">
              <a:off x="5620736" y="4202425"/>
              <a:ext cx="210312" cy="213651"/>
            </a:xfrm>
            <a:prstGeom prst="ellipse">
              <a:avLst/>
            </a:prstGeom>
            <a:solidFill>
              <a:srgbClr val="0000FF"/>
            </a:solidFill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63" name="Oval 62"/>
            <p:cNvSpPr/>
            <p:nvPr/>
          </p:nvSpPr>
          <p:spPr bwMode="auto">
            <a:xfrm rot="5400000">
              <a:off x="6345349" y="2881884"/>
              <a:ext cx="210312" cy="213651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64" name="Oval 63"/>
            <p:cNvSpPr/>
            <p:nvPr/>
          </p:nvSpPr>
          <p:spPr bwMode="auto">
            <a:xfrm rot="5400000">
              <a:off x="7758737" y="1824589"/>
              <a:ext cx="210312" cy="213651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65" name="Oval 64"/>
            <p:cNvSpPr/>
            <p:nvPr/>
          </p:nvSpPr>
          <p:spPr bwMode="auto">
            <a:xfrm rot="5400000">
              <a:off x="7023739" y="3595400"/>
              <a:ext cx="210312" cy="213651"/>
            </a:xfrm>
            <a:prstGeom prst="ellipse">
              <a:avLst/>
            </a:prstGeom>
            <a:solidFill>
              <a:srgbClr val="0000FF"/>
            </a:solidFill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42223443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Why does this work?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5700"/>
            <a:ext cx="8064500" cy="4559300"/>
          </a:xfrm>
        </p:spPr>
        <p:txBody>
          <a:bodyPr/>
          <a:lstStyle/>
          <a:p>
            <a:r>
              <a:rPr lang="en-US" sz="2000" dirty="0"/>
              <a:t>Any planar quad mesh can be two-colored</a:t>
            </a:r>
          </a:p>
          <a:p>
            <a:pPr lvl="1"/>
            <a:r>
              <a:rPr lang="en-US" sz="1800" dirty="0"/>
              <a:t>converse, convert a two-colored graph into quads</a:t>
            </a:r>
          </a:p>
          <a:p>
            <a:r>
              <a:rPr lang="en-US" sz="2000" dirty="0"/>
              <a:t>T</a:t>
            </a:r>
            <a:r>
              <a:rPr lang="en-US" sz="2000" dirty="0" smtClean="0"/>
              <a:t>wo-coloring makes even-sided cells</a:t>
            </a:r>
          </a:p>
          <a:p>
            <a:pPr lvl="1"/>
            <a:r>
              <a:rPr lang="en-US" sz="2000" dirty="0" smtClean="0"/>
              <a:t>4, 6, 8, 10...</a:t>
            </a:r>
          </a:p>
          <a:p>
            <a:r>
              <a:rPr lang="en-US" sz="2000" dirty="0" smtClean="0">
                <a:solidFill>
                  <a:schemeClr val="tx2"/>
                </a:solidFill>
              </a:rPr>
              <a:t>Any </a:t>
            </a:r>
            <a:r>
              <a:rPr lang="en-US" sz="2000" dirty="0">
                <a:solidFill>
                  <a:schemeClr val="tx2"/>
                </a:solidFill>
              </a:rPr>
              <a:t>triangulation of 6+ polygon</a:t>
            </a:r>
            <a:br>
              <a:rPr lang="en-US" sz="2000" dirty="0">
                <a:solidFill>
                  <a:schemeClr val="tx2"/>
                </a:solidFill>
              </a:rPr>
            </a:br>
            <a:r>
              <a:rPr lang="en-US" sz="2000" dirty="0" smtClean="0">
                <a:solidFill>
                  <a:schemeClr val="tx2"/>
                </a:solidFill>
              </a:rPr>
              <a:t> with </a:t>
            </a:r>
            <a:r>
              <a:rPr lang="en-US" sz="2000" dirty="0">
                <a:solidFill>
                  <a:schemeClr val="tx2"/>
                </a:solidFill>
              </a:rPr>
              <a:t>monochromatic edges </a:t>
            </a:r>
            <a:br>
              <a:rPr lang="en-US" sz="2000" dirty="0">
                <a:solidFill>
                  <a:schemeClr val="tx2"/>
                </a:solidFill>
              </a:rPr>
            </a:br>
            <a:r>
              <a:rPr lang="en-US" sz="2000" dirty="0" smtClean="0">
                <a:solidFill>
                  <a:schemeClr val="tx2"/>
                </a:solidFill>
              </a:rPr>
              <a:t> has </a:t>
            </a:r>
            <a:r>
              <a:rPr lang="en-US" sz="2000" dirty="0">
                <a:solidFill>
                  <a:schemeClr val="tx2"/>
                </a:solidFill>
              </a:rPr>
              <a:t>a monochromatic triangle</a:t>
            </a:r>
          </a:p>
          <a:p>
            <a:pPr lvl="1"/>
            <a:r>
              <a:rPr lang="en-US" sz="2000" dirty="0" smtClean="0"/>
              <a:t>avoid or remove mono-triangles</a:t>
            </a:r>
            <a:r>
              <a:rPr lang="en-US" sz="2000" dirty="0"/>
              <a:t> </a:t>
            </a:r>
            <a:r>
              <a:rPr lang="en-US" sz="2000" dirty="0" smtClean="0"/>
              <a:t>for all quads</a:t>
            </a:r>
          </a:p>
          <a:p>
            <a:r>
              <a:rPr lang="en-US" sz="2000" dirty="0" smtClean="0"/>
              <a:t>Input tri good quality</a:t>
            </a:r>
          </a:p>
          <a:p>
            <a:pPr lvl="1"/>
            <a:r>
              <a:rPr lang="en-US" sz="2000" dirty="0" smtClean="0"/>
              <a:t>template quads good quality </a:t>
            </a:r>
            <a:br>
              <a:rPr lang="en-US" sz="2000" dirty="0" smtClean="0"/>
            </a:br>
            <a:r>
              <a:rPr lang="en-US" sz="1800" dirty="0" smtClean="0"/>
              <a:t>(proofs in 8 page appendix, available online)</a:t>
            </a:r>
          </a:p>
          <a:p>
            <a:pPr lvl="2"/>
            <a:r>
              <a:rPr lang="en-US" sz="1600" dirty="0">
                <a:hlinkClick r:id="rId3"/>
              </a:rPr>
              <a:t>http://www.cs.sandia.gov/~</a:t>
            </a:r>
            <a:r>
              <a:rPr lang="en-US" sz="1600" dirty="0" smtClean="0">
                <a:hlinkClick r:id="rId3"/>
              </a:rPr>
              <a:t>samitch/papers/delaunayquadproof.pdf</a:t>
            </a:r>
            <a:endParaRPr lang="en-US" sz="1600" dirty="0" smtClean="0"/>
          </a:p>
          <a:p>
            <a:pPr lvl="2"/>
            <a:r>
              <a:rPr lang="en-US" sz="1600" dirty="0" err="1" smtClean="0"/>
              <a:t>google</a:t>
            </a:r>
            <a:r>
              <a:rPr lang="en-US" sz="1600" dirty="0" smtClean="0"/>
              <a:t>: </a:t>
            </a:r>
            <a:r>
              <a:rPr lang="en-US" sz="1600" dirty="0" err="1" smtClean="0"/>
              <a:t>mitchell</a:t>
            </a:r>
            <a:r>
              <a:rPr lang="en-US" sz="1600" dirty="0" smtClean="0"/>
              <a:t> </a:t>
            </a:r>
            <a:r>
              <a:rPr lang="en-US" sz="1600" dirty="0" err="1" smtClean="0"/>
              <a:t>sandia</a:t>
            </a:r>
            <a:r>
              <a:rPr lang="en-US" sz="1600" dirty="0" smtClean="0"/>
              <a:t>. click on papers</a:t>
            </a:r>
            <a:endParaRPr lang="en-US" sz="1600" dirty="0"/>
          </a:p>
        </p:txBody>
      </p:sp>
      <p:sp>
        <p:nvSpPr>
          <p:cNvPr id="4" name="Hexagon 3"/>
          <p:cNvSpPr/>
          <p:nvPr/>
        </p:nvSpPr>
        <p:spPr bwMode="auto">
          <a:xfrm>
            <a:off x="6456680" y="1358900"/>
            <a:ext cx="2240280" cy="1905000"/>
          </a:xfrm>
          <a:prstGeom prst="hexagon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5" name="Oval 4"/>
          <p:cNvSpPr/>
          <p:nvPr/>
        </p:nvSpPr>
        <p:spPr bwMode="auto">
          <a:xfrm>
            <a:off x="6846040" y="3185818"/>
            <a:ext cx="154131" cy="156164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Oval 5"/>
          <p:cNvSpPr/>
          <p:nvPr/>
        </p:nvSpPr>
        <p:spPr bwMode="auto">
          <a:xfrm>
            <a:off x="8628112" y="2233318"/>
            <a:ext cx="154131" cy="156164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Oval 6"/>
          <p:cNvSpPr/>
          <p:nvPr/>
        </p:nvSpPr>
        <p:spPr bwMode="auto">
          <a:xfrm>
            <a:off x="6846040" y="1282317"/>
            <a:ext cx="154131" cy="156164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8147588" y="1282317"/>
            <a:ext cx="154131" cy="156164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6379614" y="2233318"/>
            <a:ext cx="154131" cy="156164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8147588" y="3187195"/>
            <a:ext cx="154131" cy="156164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cxnSp>
        <p:nvCxnSpPr>
          <p:cNvPr id="12" name="Straight Connector 11"/>
          <p:cNvCxnSpPr>
            <a:stCxn id="4" idx="3"/>
          </p:cNvCxnSpPr>
          <p:nvPr/>
        </p:nvCxnSpPr>
        <p:spPr bwMode="auto">
          <a:xfrm>
            <a:off x="6456680" y="2311400"/>
            <a:ext cx="1755811" cy="9144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/>
          <p:cNvCxnSpPr>
            <a:endCxn id="4" idx="1"/>
          </p:cNvCxnSpPr>
          <p:nvPr/>
        </p:nvCxnSpPr>
        <p:spPr bwMode="auto">
          <a:xfrm>
            <a:off x="8192190" y="1324307"/>
            <a:ext cx="28520" cy="193959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>
            <a:stCxn id="4" idx="3"/>
            <a:endCxn id="4" idx="5"/>
          </p:cNvCxnSpPr>
          <p:nvPr/>
        </p:nvCxnSpPr>
        <p:spPr bwMode="auto">
          <a:xfrm flipV="1">
            <a:off x="6456680" y="1358900"/>
            <a:ext cx="1764030" cy="9525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6534150" y="3435350"/>
            <a:ext cx="263465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This is the only hexagon 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  triangulation </a:t>
            </a:r>
            <a:r>
              <a:rPr lang="en-US" sz="1600" dirty="0"/>
              <a:t>using only 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    red </a:t>
            </a:r>
            <a:r>
              <a:rPr lang="en-US" sz="1600" dirty="0"/>
              <a:t>edges,</a:t>
            </a:r>
          </a:p>
          <a:p>
            <a:r>
              <a:rPr lang="en-US" sz="1600" dirty="0"/>
              <a:t> </a:t>
            </a:r>
            <a:r>
              <a:rPr lang="en-US" sz="1600" dirty="0" smtClean="0"/>
              <a:t> since </a:t>
            </a:r>
            <a:r>
              <a:rPr lang="en-US" sz="1600" dirty="0"/>
              <a:t>every blue vertex must 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    be </a:t>
            </a:r>
            <a:r>
              <a:rPr lang="en-US" sz="1600" dirty="0"/>
              <a:t>in an ear</a:t>
            </a:r>
          </a:p>
        </p:txBody>
      </p:sp>
    </p:spTree>
    <p:extLst>
      <p:ext uri="{BB962C8B-B14F-4D97-AF65-F5344CB8AC3E}">
        <p14:creationId xmlns:p14="http://schemas.microsoft.com/office/powerpoint/2010/main" val="154247657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Incircle refinement details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333793" y="1722967"/>
            <a:ext cx="3846624" cy="2792670"/>
            <a:chOff x="606843" y="2650067"/>
            <a:chExt cx="3846624" cy="2792670"/>
          </a:xfrm>
        </p:grpSpPr>
        <p:cxnSp>
          <p:nvCxnSpPr>
            <p:cNvPr id="5" name="Straight Connector 4"/>
            <p:cNvCxnSpPr/>
            <p:nvPr/>
          </p:nvCxnSpPr>
          <p:spPr>
            <a:xfrm flipV="1">
              <a:off x="606843" y="4479925"/>
              <a:ext cx="1489716" cy="962812"/>
            </a:xfrm>
            <a:prstGeom prst="line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 flipH="1">
              <a:off x="2096559" y="2988993"/>
              <a:ext cx="8340" cy="1490932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606843" y="2981325"/>
              <a:ext cx="1499241" cy="2455247"/>
            </a:xfrm>
            <a:prstGeom prst="line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2103967" y="2997200"/>
              <a:ext cx="1587500" cy="1316566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2099733" y="4322233"/>
              <a:ext cx="1600200" cy="152400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V="1">
              <a:off x="2099733" y="2650067"/>
              <a:ext cx="2353734" cy="351366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V="1">
              <a:off x="3687233" y="2650068"/>
              <a:ext cx="762000" cy="1667932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64"/>
            <p:cNvSpPr>
              <a:spLocks noChangeAspect="1" noChangeArrowheads="1"/>
            </p:cNvSpPr>
            <p:nvPr/>
          </p:nvSpPr>
          <p:spPr bwMode="auto">
            <a:xfrm>
              <a:off x="2104033" y="3517897"/>
              <a:ext cx="910101" cy="91010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cxnSp>
          <p:nvCxnSpPr>
            <p:cNvPr id="13" name="Straight Connector 12"/>
            <p:cNvCxnSpPr>
              <a:cxnSpLocks/>
            </p:cNvCxnSpPr>
            <p:nvPr/>
          </p:nvCxnSpPr>
          <p:spPr>
            <a:xfrm>
              <a:off x="2095500" y="3001433"/>
              <a:ext cx="448733" cy="948267"/>
            </a:xfrm>
            <a:prstGeom prst="line">
              <a:avLst/>
            </a:prstGeom>
            <a:ln>
              <a:solidFill>
                <a:srgbClr val="008000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cxnSpLocks/>
            </p:cNvCxnSpPr>
            <p:nvPr/>
          </p:nvCxnSpPr>
          <p:spPr>
            <a:xfrm flipH="1">
              <a:off x="2103967" y="3953933"/>
              <a:ext cx="440266" cy="520700"/>
            </a:xfrm>
            <a:prstGeom prst="line">
              <a:avLst/>
            </a:prstGeom>
            <a:ln>
              <a:solidFill>
                <a:srgbClr val="008000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cxnSpLocks/>
            </p:cNvCxnSpPr>
            <p:nvPr/>
          </p:nvCxnSpPr>
          <p:spPr>
            <a:xfrm>
              <a:off x="2552700" y="3962400"/>
              <a:ext cx="1143000" cy="355600"/>
            </a:xfrm>
            <a:prstGeom prst="line">
              <a:avLst/>
            </a:prstGeom>
            <a:ln>
              <a:solidFill>
                <a:srgbClr val="008000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64"/>
            <p:cNvSpPr>
              <a:spLocks noChangeAspect="1" noChangeArrowheads="1"/>
            </p:cNvSpPr>
            <p:nvPr/>
          </p:nvSpPr>
          <p:spPr bwMode="auto">
            <a:xfrm>
              <a:off x="2899833" y="2810932"/>
              <a:ext cx="1142994" cy="114299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cxnSp>
          <p:nvCxnSpPr>
            <p:cNvPr id="17" name="Straight Connector 16"/>
            <p:cNvCxnSpPr>
              <a:cxnSpLocks/>
            </p:cNvCxnSpPr>
            <p:nvPr/>
          </p:nvCxnSpPr>
          <p:spPr>
            <a:xfrm flipV="1">
              <a:off x="3479800" y="2654303"/>
              <a:ext cx="965200" cy="732364"/>
            </a:xfrm>
            <a:prstGeom prst="line">
              <a:avLst/>
            </a:prstGeom>
            <a:ln>
              <a:solidFill>
                <a:srgbClr val="008000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cxnSpLocks/>
            </p:cNvCxnSpPr>
            <p:nvPr/>
          </p:nvCxnSpPr>
          <p:spPr>
            <a:xfrm>
              <a:off x="3471333" y="3390900"/>
              <a:ext cx="224367" cy="922867"/>
            </a:xfrm>
            <a:prstGeom prst="line">
              <a:avLst/>
            </a:prstGeom>
            <a:ln>
              <a:solidFill>
                <a:srgbClr val="008000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cxnSpLocks/>
            </p:cNvCxnSpPr>
            <p:nvPr/>
          </p:nvCxnSpPr>
          <p:spPr>
            <a:xfrm>
              <a:off x="2120900" y="2997200"/>
              <a:ext cx="1358900" cy="397933"/>
            </a:xfrm>
            <a:prstGeom prst="line">
              <a:avLst/>
            </a:prstGeom>
            <a:ln>
              <a:solidFill>
                <a:srgbClr val="008000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/>
          <p:cNvSpPr txBox="1"/>
          <p:nvPr/>
        </p:nvSpPr>
        <p:spPr>
          <a:xfrm>
            <a:off x="4654550" y="1327150"/>
            <a:ext cx="397130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2n-gon has n-2 mono-triangles</a:t>
            </a:r>
          </a:p>
          <a:p>
            <a:pPr lvl="1"/>
            <a:r>
              <a:rPr lang="en-US" sz="1800"/>
              <a:t>  6 -&gt; 1</a:t>
            </a:r>
          </a:p>
          <a:p>
            <a:pPr lvl="1"/>
            <a:r>
              <a:rPr lang="en-US" sz="1800"/>
              <a:t>  8 -&gt; 2 </a:t>
            </a:r>
          </a:p>
          <a:p>
            <a:pPr lvl="1"/>
            <a:r>
              <a:rPr lang="en-US" sz="1800"/>
              <a:t>10 -&gt; 3...</a:t>
            </a:r>
          </a:p>
          <a:p>
            <a:r>
              <a:rPr lang="en-US"/>
              <a:t>adjacent mono-triangles OK</a:t>
            </a:r>
          </a:p>
          <a:p>
            <a:r>
              <a:rPr lang="en-US"/>
              <a:t>  makes a red quad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7750" y="3625850"/>
            <a:ext cx="4394200" cy="2743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701800" y="4699000"/>
            <a:ext cx="25495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  Compare to Q-TRAN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-6350" y="1143000"/>
            <a:ext cx="26142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/>
              <a:t>halves angles</a:t>
            </a:r>
          </a:p>
          <a:p>
            <a:r>
              <a:rPr lang="en-US" sz="1800"/>
              <a:t>shorter but bounded edges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500" y="6470650"/>
            <a:ext cx="5981700" cy="254000"/>
          </a:xfrm>
          <a:prstGeom prst="rect">
            <a:avLst/>
          </a:prstGeom>
        </p:spPr>
      </p:pic>
      <p:cxnSp>
        <p:nvCxnSpPr>
          <p:cNvPr id="25" name="Straight Connector 24"/>
          <p:cNvCxnSpPr>
            <a:cxnSpLocks/>
          </p:cNvCxnSpPr>
          <p:nvPr/>
        </p:nvCxnSpPr>
        <p:spPr>
          <a:xfrm flipV="1">
            <a:off x="4851400" y="4400550"/>
            <a:ext cx="425450" cy="376767"/>
          </a:xfrm>
          <a:prstGeom prst="line">
            <a:avLst/>
          </a:prstGeom>
          <a:ln>
            <a:solidFill>
              <a:srgbClr val="00800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cxnSpLocks/>
          </p:cNvCxnSpPr>
          <p:nvPr/>
        </p:nvCxnSpPr>
        <p:spPr>
          <a:xfrm flipH="1" flipV="1">
            <a:off x="5270500" y="4025900"/>
            <a:ext cx="6350" cy="383118"/>
          </a:xfrm>
          <a:prstGeom prst="line">
            <a:avLst/>
          </a:prstGeom>
          <a:ln>
            <a:solidFill>
              <a:srgbClr val="00800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cxnSpLocks/>
          </p:cNvCxnSpPr>
          <p:nvPr/>
        </p:nvCxnSpPr>
        <p:spPr>
          <a:xfrm>
            <a:off x="5276850" y="4409018"/>
            <a:ext cx="361950" cy="99482"/>
          </a:xfrm>
          <a:prstGeom prst="line">
            <a:avLst/>
          </a:prstGeom>
          <a:ln>
            <a:solidFill>
              <a:srgbClr val="00800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64"/>
          <p:cNvSpPr>
            <a:spLocks noChangeAspect="1" noChangeArrowheads="1"/>
          </p:cNvSpPr>
          <p:nvPr/>
        </p:nvSpPr>
        <p:spPr bwMode="auto">
          <a:xfrm>
            <a:off x="5090582" y="4199459"/>
            <a:ext cx="414867" cy="414867"/>
          </a:xfrm>
          <a:prstGeom prst="ellips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cxnSp>
        <p:nvCxnSpPr>
          <p:cNvPr id="32" name="Straight Connector 31"/>
          <p:cNvCxnSpPr/>
          <p:nvPr/>
        </p:nvCxnSpPr>
        <p:spPr>
          <a:xfrm flipH="1" flipV="1">
            <a:off x="1845734" y="3552826"/>
            <a:ext cx="802216" cy="48577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2651543" y="3390900"/>
            <a:ext cx="761582" cy="63597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H="1">
            <a:off x="3420534" y="2762250"/>
            <a:ext cx="1113366" cy="61912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4168775" y="1724025"/>
            <a:ext cx="363009" cy="103822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>
            <a:off x="1817159" y="1244600"/>
            <a:ext cx="1408641" cy="81915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H="1" flipV="1">
            <a:off x="3209925" y="1247775"/>
            <a:ext cx="965200" cy="47307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4864100" y="4025900"/>
            <a:ext cx="400050" cy="368300"/>
          </a:xfrm>
          <a:prstGeom prst="line">
            <a:avLst/>
          </a:prstGeom>
          <a:ln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4870450" y="4387850"/>
            <a:ext cx="0" cy="381000"/>
          </a:xfrm>
          <a:prstGeom prst="line">
            <a:avLst/>
          </a:prstGeom>
          <a:ln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4337050" y="4273550"/>
            <a:ext cx="533400" cy="120650"/>
          </a:xfrm>
          <a:prstGeom prst="line">
            <a:avLst/>
          </a:prstGeom>
          <a:ln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4343400" y="4273550"/>
            <a:ext cx="120650" cy="501650"/>
          </a:xfrm>
          <a:prstGeom prst="line">
            <a:avLst/>
          </a:prstGeom>
          <a:ln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H="1">
            <a:off x="4343400" y="4775200"/>
            <a:ext cx="120650" cy="622300"/>
          </a:xfrm>
          <a:prstGeom prst="line">
            <a:avLst/>
          </a:prstGeom>
          <a:ln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H="1">
            <a:off x="4864100" y="4756150"/>
            <a:ext cx="6350" cy="527050"/>
          </a:xfrm>
          <a:prstGeom prst="line">
            <a:avLst/>
          </a:prstGeom>
          <a:ln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4470400" y="4781550"/>
            <a:ext cx="393700" cy="0"/>
          </a:xfrm>
          <a:prstGeom prst="line">
            <a:avLst/>
          </a:prstGeom>
          <a:ln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4343400" y="5276850"/>
            <a:ext cx="520700" cy="127000"/>
          </a:xfrm>
          <a:prstGeom prst="line">
            <a:avLst/>
          </a:prstGeom>
          <a:ln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4870450" y="4775200"/>
            <a:ext cx="533400" cy="133350"/>
          </a:xfrm>
          <a:prstGeom prst="line">
            <a:avLst/>
          </a:prstGeom>
          <a:ln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4845050" y="5270500"/>
            <a:ext cx="552450" cy="254000"/>
          </a:xfrm>
          <a:prstGeom prst="line">
            <a:avLst/>
          </a:prstGeom>
          <a:ln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5391150" y="4908550"/>
            <a:ext cx="0" cy="609600"/>
          </a:xfrm>
          <a:prstGeom prst="line">
            <a:avLst/>
          </a:prstGeom>
          <a:ln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H="1">
            <a:off x="5397500" y="4540250"/>
            <a:ext cx="234950" cy="368300"/>
          </a:xfrm>
          <a:prstGeom prst="line">
            <a:avLst/>
          </a:prstGeom>
          <a:ln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5270500" y="4025900"/>
            <a:ext cx="374650" cy="48895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H="1">
            <a:off x="4330700" y="4019550"/>
            <a:ext cx="933450" cy="26670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4356100" y="4279900"/>
            <a:ext cx="508000" cy="48895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flipH="1">
            <a:off x="4324350" y="4768850"/>
            <a:ext cx="546100" cy="62865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flipH="1">
            <a:off x="4337050" y="4286250"/>
            <a:ext cx="6350" cy="111125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 flipH="1">
            <a:off x="4857750" y="4508500"/>
            <a:ext cx="793750" cy="27940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 flipV="1">
            <a:off x="4870450" y="4038600"/>
            <a:ext cx="406400" cy="71120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4870450" y="4781550"/>
            <a:ext cx="527050" cy="74930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 flipH="1">
            <a:off x="5391150" y="4527550"/>
            <a:ext cx="254000" cy="98425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4356100" y="5397500"/>
            <a:ext cx="1028700" cy="12065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6796738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6444"/>
            <a:ext cx="7772400" cy="1238956"/>
          </a:xfrm>
        </p:spPr>
        <p:txBody>
          <a:bodyPr/>
          <a:lstStyle/>
          <a:p>
            <a:r>
              <a:rPr lang="en-US" dirty="0"/>
              <a:t>P</a:t>
            </a:r>
            <a:r>
              <a:rPr lang="en-US" dirty="0" smtClean="0"/>
              <a:t>airing </a:t>
            </a:r>
            <a:r>
              <a:rPr lang="en-US" dirty="0" smtClean="0">
                <a:solidFill>
                  <a:srgbClr val="FF0000"/>
                </a:solidFill>
              </a:rPr>
              <a:t>different</a:t>
            </a:r>
            <a:r>
              <a:rPr lang="en-US" dirty="0" smtClean="0"/>
              <a:t> </a:t>
            </a:r>
            <a:r>
              <a:rPr lang="en-US" dirty="0"/>
              <a:t>than </a:t>
            </a:r>
            <a:r>
              <a:rPr lang="en-US" dirty="0" smtClean="0"/>
              <a:t>two</a:t>
            </a:r>
            <a:r>
              <a:rPr lang="en-US" dirty="0"/>
              <a:t>-</a:t>
            </a:r>
            <a:r>
              <a:rPr lang="en-US" dirty="0" smtClean="0"/>
              <a:t>coloring</a:t>
            </a:r>
            <a:br>
              <a:rPr lang="en-US" dirty="0" smtClean="0"/>
            </a:br>
            <a:r>
              <a:rPr lang="en-US" sz="2400" dirty="0" smtClean="0"/>
              <a:t>(unless all-quad without refinement)</a:t>
            </a:r>
            <a:endParaRPr lang="en-US" sz="2400" dirty="0"/>
          </a:p>
        </p:txBody>
      </p:sp>
      <p:cxnSp>
        <p:nvCxnSpPr>
          <p:cNvPr id="21" name="Straight Connector 20"/>
          <p:cNvCxnSpPr/>
          <p:nvPr/>
        </p:nvCxnSpPr>
        <p:spPr>
          <a:xfrm flipV="1">
            <a:off x="6908861" y="2417667"/>
            <a:ext cx="744858" cy="481406"/>
          </a:xfrm>
          <a:prstGeom prst="line">
            <a:avLst/>
          </a:prstGeom>
          <a:ln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7653719" y="1672201"/>
            <a:ext cx="4170" cy="745466"/>
          </a:xfrm>
          <a:prstGeom prst="line">
            <a:avLst/>
          </a:prstGeom>
          <a:ln>
            <a:solidFill>
              <a:srgbClr val="0000F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6908861" y="1668367"/>
            <a:ext cx="749621" cy="1227624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657423" y="1676304"/>
            <a:ext cx="793750" cy="658283"/>
          </a:xfrm>
          <a:prstGeom prst="line">
            <a:avLst/>
          </a:prstGeom>
          <a:ln>
            <a:solidFill>
              <a:srgbClr val="0000F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7655306" y="2338821"/>
            <a:ext cx="800100" cy="76200"/>
          </a:xfrm>
          <a:prstGeom prst="line">
            <a:avLst/>
          </a:prstGeom>
          <a:ln>
            <a:solidFill>
              <a:srgbClr val="0000F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H="1" flipV="1">
            <a:off x="7659540" y="2419255"/>
            <a:ext cx="361950" cy="327025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8016936" y="2339879"/>
            <a:ext cx="436354" cy="406794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8446940" y="1577879"/>
            <a:ext cx="0" cy="74930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7659540" y="1577879"/>
            <a:ext cx="787400" cy="98425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 bwMode="auto">
          <a:xfrm>
            <a:off x="7610031" y="1644595"/>
            <a:ext cx="94366" cy="92449"/>
          </a:xfrm>
          <a:prstGeom prst="ellipse">
            <a:avLst/>
          </a:prstGeom>
          <a:solidFill>
            <a:srgbClr val="0000FF"/>
          </a:solidFill>
          <a:ln w="127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" name="Oval 63"/>
          <p:cNvSpPr/>
          <p:nvPr/>
        </p:nvSpPr>
        <p:spPr bwMode="auto">
          <a:xfrm>
            <a:off x="8389414" y="2296180"/>
            <a:ext cx="94366" cy="92449"/>
          </a:xfrm>
          <a:prstGeom prst="ellipse">
            <a:avLst/>
          </a:prstGeom>
          <a:solidFill>
            <a:srgbClr val="0000FF"/>
          </a:solidFill>
          <a:ln w="127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67" name="Oval 66"/>
          <p:cNvSpPr/>
          <p:nvPr/>
        </p:nvSpPr>
        <p:spPr bwMode="auto">
          <a:xfrm>
            <a:off x="7982180" y="2710938"/>
            <a:ext cx="94366" cy="9244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68" name="Oval 67"/>
          <p:cNvSpPr/>
          <p:nvPr/>
        </p:nvSpPr>
        <p:spPr bwMode="auto">
          <a:xfrm>
            <a:off x="8406162" y="1551068"/>
            <a:ext cx="94366" cy="9244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cxnSp>
        <p:nvCxnSpPr>
          <p:cNvPr id="72" name="Straight Connector 71"/>
          <p:cNvCxnSpPr/>
          <p:nvPr/>
        </p:nvCxnSpPr>
        <p:spPr>
          <a:xfrm flipV="1">
            <a:off x="3640225" y="2448929"/>
            <a:ext cx="744858" cy="481406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flipH="1">
            <a:off x="4385083" y="1703463"/>
            <a:ext cx="4170" cy="745466"/>
          </a:xfrm>
          <a:prstGeom prst="line">
            <a:avLst/>
          </a:prstGeom>
          <a:ln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 flipV="1">
            <a:off x="3640225" y="1699629"/>
            <a:ext cx="749621" cy="122762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4388787" y="1707566"/>
            <a:ext cx="793750" cy="658283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 flipH="1">
            <a:off x="4386670" y="2370083"/>
            <a:ext cx="800100" cy="76200"/>
          </a:xfrm>
          <a:prstGeom prst="line">
            <a:avLst/>
          </a:prstGeom>
          <a:ln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 flipH="1" flipV="1">
            <a:off x="4390904" y="2450518"/>
            <a:ext cx="369935" cy="31229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 flipV="1">
            <a:off x="4748300" y="2371141"/>
            <a:ext cx="436354" cy="40679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V="1">
            <a:off x="5178304" y="1609141"/>
            <a:ext cx="0" cy="7493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 flipV="1">
            <a:off x="4390904" y="1609141"/>
            <a:ext cx="787400" cy="9842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6901177" y="3155879"/>
            <a:ext cx="1678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 smtClean="0"/>
              <a:t>6-sided polygon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273859" y="1140662"/>
            <a:ext cx="45704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The stuck configurations are very different</a:t>
            </a:r>
            <a:endParaRPr lang="en-US" sz="2000" dirty="0"/>
          </a:p>
        </p:txBody>
      </p:sp>
      <p:grpSp>
        <p:nvGrpSpPr>
          <p:cNvPr id="69" name="Group 68"/>
          <p:cNvGrpSpPr/>
          <p:nvPr/>
        </p:nvGrpSpPr>
        <p:grpSpPr>
          <a:xfrm>
            <a:off x="3651705" y="2445313"/>
            <a:ext cx="1104900" cy="613340"/>
            <a:chOff x="7179733" y="2175933"/>
            <a:chExt cx="1104900" cy="613340"/>
          </a:xfrm>
        </p:grpSpPr>
        <p:cxnSp>
          <p:nvCxnSpPr>
            <p:cNvPr id="81" name="Straight Connector 80"/>
            <p:cNvCxnSpPr/>
            <p:nvPr/>
          </p:nvCxnSpPr>
          <p:spPr>
            <a:xfrm flipH="1">
              <a:off x="7782129" y="2175933"/>
              <a:ext cx="134204" cy="613340"/>
            </a:xfrm>
            <a:prstGeom prst="line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 flipH="1">
              <a:off x="7782129" y="2506133"/>
              <a:ext cx="502504" cy="270688"/>
            </a:xfrm>
            <a:prstGeom prst="line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 flipH="1" flipV="1">
              <a:off x="7179733" y="2654300"/>
              <a:ext cx="605368" cy="131234"/>
            </a:xfrm>
            <a:prstGeom prst="line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Group 91"/>
          <p:cNvGrpSpPr/>
          <p:nvPr/>
        </p:nvGrpSpPr>
        <p:grpSpPr>
          <a:xfrm>
            <a:off x="6921596" y="2418128"/>
            <a:ext cx="1104900" cy="613340"/>
            <a:chOff x="7179733" y="2175933"/>
            <a:chExt cx="1104900" cy="613340"/>
          </a:xfrm>
        </p:grpSpPr>
        <p:cxnSp>
          <p:nvCxnSpPr>
            <p:cNvPr id="93" name="Straight Connector 92"/>
            <p:cNvCxnSpPr/>
            <p:nvPr/>
          </p:nvCxnSpPr>
          <p:spPr>
            <a:xfrm flipH="1">
              <a:off x="7782129" y="2175933"/>
              <a:ext cx="134204" cy="613340"/>
            </a:xfrm>
            <a:prstGeom prst="line">
              <a:avLst/>
            </a:prstGeom>
            <a:ln>
              <a:solidFill>
                <a:srgbClr val="000000"/>
              </a:solidFill>
              <a:prstDash val="sys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 flipH="1">
              <a:off x="7782129" y="2506133"/>
              <a:ext cx="502504" cy="270688"/>
            </a:xfrm>
            <a:prstGeom prst="line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 flipH="1" flipV="1">
              <a:off x="7179733" y="2654300"/>
              <a:ext cx="605368" cy="131234"/>
            </a:xfrm>
            <a:prstGeom prst="line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Oval 95"/>
          <p:cNvSpPr/>
          <p:nvPr/>
        </p:nvSpPr>
        <p:spPr bwMode="auto">
          <a:xfrm>
            <a:off x="7476992" y="2961687"/>
            <a:ext cx="94366" cy="92449"/>
          </a:xfrm>
          <a:prstGeom prst="ellipse">
            <a:avLst/>
          </a:prstGeom>
          <a:solidFill>
            <a:srgbClr val="0000FF"/>
          </a:solidFill>
          <a:ln w="127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63" name="Oval 62"/>
          <p:cNvSpPr/>
          <p:nvPr/>
        </p:nvSpPr>
        <p:spPr bwMode="auto">
          <a:xfrm>
            <a:off x="7607285" y="2373532"/>
            <a:ext cx="94366" cy="92449"/>
          </a:xfrm>
          <a:prstGeom prst="ellipse">
            <a:avLst/>
          </a:prstGeom>
          <a:solidFill>
            <a:srgbClr val="0000FF"/>
          </a:solidFill>
          <a:ln w="127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97" name="Straight Connector 96"/>
          <p:cNvCxnSpPr/>
          <p:nvPr/>
        </p:nvCxnSpPr>
        <p:spPr>
          <a:xfrm flipV="1">
            <a:off x="320435" y="2422095"/>
            <a:ext cx="744858" cy="481406"/>
          </a:xfrm>
          <a:prstGeom prst="line">
            <a:avLst/>
          </a:prstGeom>
          <a:ln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 flipH="1">
            <a:off x="1065293" y="1676629"/>
            <a:ext cx="4170" cy="745466"/>
          </a:xfrm>
          <a:prstGeom prst="line">
            <a:avLst/>
          </a:prstGeom>
          <a:ln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 flipV="1">
            <a:off x="320435" y="1672795"/>
            <a:ext cx="749621" cy="1227624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>
            <a:off x="1068997" y="1680732"/>
            <a:ext cx="793750" cy="658283"/>
          </a:xfrm>
          <a:prstGeom prst="line">
            <a:avLst/>
          </a:prstGeom>
          <a:ln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 flipH="1">
            <a:off x="1066880" y="2343249"/>
            <a:ext cx="800100" cy="7620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 flipH="1" flipV="1">
            <a:off x="1071114" y="2423683"/>
            <a:ext cx="361950" cy="327025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flipV="1">
            <a:off x="1428510" y="2344307"/>
            <a:ext cx="436354" cy="406794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 flipV="1">
            <a:off x="1858514" y="1582307"/>
            <a:ext cx="0" cy="74930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 flipV="1">
            <a:off x="1071114" y="1582307"/>
            <a:ext cx="787400" cy="98425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 flipH="1">
            <a:off x="935566" y="2422556"/>
            <a:ext cx="134204" cy="613340"/>
          </a:xfrm>
          <a:prstGeom prst="line">
            <a:avLst/>
          </a:prstGeom>
          <a:ln>
            <a:solidFill>
              <a:srgbClr val="000000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/>
          <p:nvPr/>
        </p:nvCxnSpPr>
        <p:spPr>
          <a:xfrm flipH="1">
            <a:off x="935566" y="2754236"/>
            <a:ext cx="488640" cy="269208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/>
          <p:nvPr/>
        </p:nvCxnSpPr>
        <p:spPr>
          <a:xfrm flipH="1" flipV="1">
            <a:off x="333170" y="2900923"/>
            <a:ext cx="605368" cy="131234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99393" y="208636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118" name="TextBox 117"/>
          <p:cNvSpPr txBox="1"/>
          <p:nvPr/>
        </p:nvSpPr>
        <p:spPr>
          <a:xfrm>
            <a:off x="1435993" y="161011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123" name="TextBox 122"/>
          <p:cNvSpPr txBox="1"/>
          <p:nvPr/>
        </p:nvSpPr>
        <p:spPr>
          <a:xfrm>
            <a:off x="281001" y="3103157"/>
            <a:ext cx="18960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 smtClean="0"/>
              <a:t>Two isolated</a:t>
            </a:r>
          </a:p>
          <a:p>
            <a:pPr algn="ctr"/>
            <a:r>
              <a:rPr lang="en-US" sz="1800" dirty="0" smtClean="0"/>
              <a:t>Unpaired triangles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746400" y="192927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125" name="TextBox 124"/>
          <p:cNvSpPr txBox="1"/>
          <p:nvPr/>
        </p:nvSpPr>
        <p:spPr>
          <a:xfrm>
            <a:off x="2755798" y="3103034"/>
            <a:ext cx="34951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 smtClean="0"/>
              <a:t>All-quad</a:t>
            </a:r>
          </a:p>
          <a:p>
            <a:pPr algn="ctr"/>
            <a:r>
              <a:rPr lang="en-US" sz="1800" dirty="0" smtClean="0"/>
              <a:t>Perfect Matching &lt;-&gt; Two-coloring</a:t>
            </a:r>
          </a:p>
        </p:txBody>
      </p:sp>
      <p:grpSp>
        <p:nvGrpSpPr>
          <p:cNvPr id="89" name="Group 88"/>
          <p:cNvGrpSpPr/>
          <p:nvPr/>
        </p:nvGrpSpPr>
        <p:grpSpPr>
          <a:xfrm>
            <a:off x="4204000" y="1575189"/>
            <a:ext cx="1023536" cy="1503068"/>
            <a:chOff x="7436957" y="1664984"/>
            <a:chExt cx="1023536" cy="1503068"/>
          </a:xfrm>
        </p:grpSpPr>
        <p:sp>
          <p:nvSpPr>
            <p:cNvPr id="126" name="Oval 125"/>
            <p:cNvSpPr/>
            <p:nvPr/>
          </p:nvSpPr>
          <p:spPr bwMode="auto">
            <a:xfrm>
              <a:off x="7569996" y="1758511"/>
              <a:ext cx="94366" cy="92449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Oval 126"/>
            <p:cNvSpPr/>
            <p:nvPr/>
          </p:nvSpPr>
          <p:spPr bwMode="auto">
            <a:xfrm>
              <a:off x="8349379" y="2410096"/>
              <a:ext cx="94366" cy="92449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30" name="Oval 129"/>
            <p:cNvSpPr/>
            <p:nvPr/>
          </p:nvSpPr>
          <p:spPr bwMode="auto">
            <a:xfrm>
              <a:off x="7942145" y="2824854"/>
              <a:ext cx="94366" cy="92449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31" name="Oval 130"/>
            <p:cNvSpPr/>
            <p:nvPr/>
          </p:nvSpPr>
          <p:spPr bwMode="auto">
            <a:xfrm>
              <a:off x="8366127" y="1664984"/>
              <a:ext cx="94366" cy="92449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32" name="Oval 131"/>
            <p:cNvSpPr/>
            <p:nvPr/>
          </p:nvSpPr>
          <p:spPr bwMode="auto">
            <a:xfrm>
              <a:off x="7436957" y="3075603"/>
              <a:ext cx="94366" cy="92449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</p:grpSp>
      <p:sp>
        <p:nvSpPr>
          <p:cNvPr id="133" name="Oval 132"/>
          <p:cNvSpPr/>
          <p:nvPr/>
        </p:nvSpPr>
        <p:spPr bwMode="auto">
          <a:xfrm>
            <a:off x="3619327" y="2845129"/>
            <a:ext cx="94366" cy="9244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34" name="Oval 133"/>
          <p:cNvSpPr/>
          <p:nvPr/>
        </p:nvSpPr>
        <p:spPr bwMode="auto">
          <a:xfrm>
            <a:off x="4337761" y="2383333"/>
            <a:ext cx="94366" cy="9244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35" name="Oval 134"/>
          <p:cNvSpPr/>
          <p:nvPr/>
        </p:nvSpPr>
        <p:spPr bwMode="auto">
          <a:xfrm>
            <a:off x="6903597" y="2832304"/>
            <a:ext cx="94366" cy="9244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36" name="Oval 135"/>
          <p:cNvSpPr/>
          <p:nvPr/>
        </p:nvSpPr>
        <p:spPr bwMode="auto">
          <a:xfrm>
            <a:off x="218097" y="3822649"/>
            <a:ext cx="5349768" cy="2899056"/>
          </a:xfrm>
          <a:prstGeom prst="ellipse">
            <a:avLst/>
          </a:prstGeom>
          <a:solidFill>
            <a:srgbClr val="0000FF">
              <a:alpha val="3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37" name="Oval 136"/>
          <p:cNvSpPr/>
          <p:nvPr/>
        </p:nvSpPr>
        <p:spPr bwMode="auto">
          <a:xfrm>
            <a:off x="3515196" y="3731324"/>
            <a:ext cx="5425195" cy="2899056"/>
          </a:xfrm>
          <a:prstGeom prst="ellipse">
            <a:avLst/>
          </a:prstGeom>
          <a:solidFill>
            <a:srgbClr val="0000FF">
              <a:alpha val="3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933798" y="4303714"/>
            <a:ext cx="3780903" cy="461665"/>
          </a:xfrm>
          <a:prstGeom prst="rect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solidFill>
                  <a:srgbClr val="0000FF"/>
                </a:solidFill>
              </a:rPr>
              <a:t>Triangle Maximal </a:t>
            </a:r>
            <a:r>
              <a:rPr lang="en-US" dirty="0" err="1" smtClean="0">
                <a:solidFill>
                  <a:srgbClr val="0000FF"/>
                </a:solidFill>
              </a:rPr>
              <a:t>Matchings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4562546" y="4061461"/>
            <a:ext cx="2850059" cy="461665"/>
          </a:xfrm>
          <a:prstGeom prst="rect">
            <a:avLst/>
          </a:prstGeom>
          <a:solidFill>
            <a:srgbClr val="FFFFFF"/>
          </a:solidFill>
          <a:ln>
            <a:solidFill>
              <a:srgbClr val="0000FF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solidFill>
                  <a:srgbClr val="0000FF"/>
                </a:solidFill>
              </a:rPr>
              <a:t>Vertex Two-colorings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3689500" y="4948421"/>
            <a:ext cx="17230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All-quads</a:t>
            </a:r>
          </a:p>
          <a:p>
            <a:pPr algn="ctr"/>
            <a:r>
              <a:rPr lang="en-US" dirty="0" smtClean="0"/>
              <a:t>immediately</a:t>
            </a:r>
            <a:endParaRPr lang="en-US" dirty="0"/>
          </a:p>
        </p:txBody>
      </p:sp>
      <p:sp>
        <p:nvSpPr>
          <p:cNvPr id="141" name="TextBox 140"/>
          <p:cNvSpPr txBox="1"/>
          <p:nvPr/>
        </p:nvSpPr>
        <p:spPr>
          <a:xfrm>
            <a:off x="5511402" y="4718575"/>
            <a:ext cx="34241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2n-sided polygons,</a:t>
            </a:r>
          </a:p>
          <a:p>
            <a:pPr algn="ctr"/>
            <a:r>
              <a:rPr lang="en-US" dirty="0"/>
              <a:t>c</a:t>
            </a:r>
            <a:r>
              <a:rPr lang="en-US" dirty="0" smtClean="0"/>
              <a:t>ontaining mono-triangles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39577" y="4948689"/>
            <a:ext cx="23775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Isolated, left-over</a:t>
            </a:r>
          </a:p>
          <a:p>
            <a:pPr algn="ctr"/>
            <a:r>
              <a:rPr lang="en-US" dirty="0"/>
              <a:t>t</a:t>
            </a:r>
            <a:r>
              <a:rPr lang="en-US" dirty="0" smtClean="0"/>
              <a:t>riangles</a:t>
            </a:r>
          </a:p>
        </p:txBody>
      </p:sp>
    </p:spTree>
    <p:extLst>
      <p:ext uri="{BB962C8B-B14F-4D97-AF65-F5344CB8AC3E}">
        <p14:creationId xmlns:p14="http://schemas.microsoft.com/office/powerpoint/2010/main" val="1423189542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Straight Connector 48"/>
          <p:cNvCxnSpPr/>
          <p:nvPr/>
        </p:nvCxnSpPr>
        <p:spPr bwMode="auto">
          <a:xfrm flipV="1">
            <a:off x="2324668" y="3614493"/>
            <a:ext cx="782690" cy="7384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Straight Connector 49"/>
          <p:cNvCxnSpPr/>
          <p:nvPr/>
        </p:nvCxnSpPr>
        <p:spPr bwMode="auto">
          <a:xfrm>
            <a:off x="2352333" y="2964691"/>
            <a:ext cx="770196" cy="65466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Straight Connector 50"/>
          <p:cNvCxnSpPr/>
          <p:nvPr/>
        </p:nvCxnSpPr>
        <p:spPr bwMode="auto">
          <a:xfrm flipV="1">
            <a:off x="2335727" y="2972075"/>
            <a:ext cx="7385" cy="73102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Straight Connector 51"/>
          <p:cNvCxnSpPr/>
          <p:nvPr/>
        </p:nvCxnSpPr>
        <p:spPr bwMode="auto">
          <a:xfrm flipH="1">
            <a:off x="1628714" y="3703103"/>
            <a:ext cx="686700" cy="443047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5" name="Straight Connector 54"/>
          <p:cNvCxnSpPr/>
          <p:nvPr/>
        </p:nvCxnSpPr>
        <p:spPr bwMode="auto">
          <a:xfrm>
            <a:off x="2346086" y="3702541"/>
            <a:ext cx="349399" cy="305015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8" name="Straight Connector 57"/>
          <p:cNvCxnSpPr/>
          <p:nvPr/>
        </p:nvCxnSpPr>
        <p:spPr bwMode="auto">
          <a:xfrm flipV="1">
            <a:off x="2340540" y="2867799"/>
            <a:ext cx="768008" cy="91613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6444"/>
            <a:ext cx="7772400" cy="1238956"/>
          </a:xfrm>
        </p:spPr>
        <p:txBody>
          <a:bodyPr/>
          <a:lstStyle/>
          <a:p>
            <a:r>
              <a:rPr lang="en-US" dirty="0"/>
              <a:t>Why two-coloring vertices? </a:t>
            </a:r>
            <a:br>
              <a:rPr lang="en-US" dirty="0"/>
            </a:br>
            <a:r>
              <a:rPr lang="en-US" dirty="0"/>
              <a:t>Why not matching triangles?</a:t>
            </a:r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>
          <a:xfrm>
            <a:off x="1620235" y="2873149"/>
            <a:ext cx="1511397" cy="1288155"/>
            <a:chOff x="1978443" y="3676650"/>
            <a:chExt cx="3093090" cy="2636222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3468159" y="3865293"/>
              <a:ext cx="8340" cy="1490932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978443" y="3857625"/>
              <a:ext cx="1499241" cy="2455247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3475567" y="3873500"/>
              <a:ext cx="1587500" cy="1316566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3471333" y="5198533"/>
              <a:ext cx="1600200" cy="152400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4194593" y="5200650"/>
              <a:ext cx="872707" cy="813588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V="1">
              <a:off x="5054600" y="3676650"/>
              <a:ext cx="0" cy="149860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4" name="Picture 33" descr="blossom-quad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16" y="6420555"/>
            <a:ext cx="7966484" cy="33613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2136" y="6179526"/>
            <a:ext cx="25779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mtClean="0"/>
              <a:t>good </a:t>
            </a:r>
            <a:r>
              <a:rPr lang="en-US" sz="1200"/>
              <a:t>(best?) triangle pairing algorithm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69030" y="2711543"/>
            <a:ext cx="228635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/>
              <a:t>Impossible topology</a:t>
            </a:r>
            <a:br>
              <a:rPr lang="en-US" sz="2000" dirty="0" smtClean="0"/>
            </a:br>
            <a:r>
              <a:rPr lang="en-US" sz="2000" dirty="0" smtClean="0"/>
              <a:t>for </a:t>
            </a:r>
          </a:p>
          <a:p>
            <a:pPr algn="ctr"/>
            <a:r>
              <a:rPr lang="en-US" sz="2000" dirty="0" smtClean="0"/>
              <a:t>pairing or coloring</a:t>
            </a:r>
            <a:endParaRPr lang="en-US" sz="2000" dirty="0"/>
          </a:p>
        </p:txBody>
      </p:sp>
      <p:cxnSp>
        <p:nvCxnSpPr>
          <p:cNvPr id="43" name="Straight Connector 42"/>
          <p:cNvCxnSpPr/>
          <p:nvPr/>
        </p:nvCxnSpPr>
        <p:spPr bwMode="auto">
          <a:xfrm flipV="1">
            <a:off x="2566466" y="3281065"/>
            <a:ext cx="162295" cy="14144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4" name="Straight Connector 43"/>
          <p:cNvCxnSpPr/>
          <p:nvPr/>
        </p:nvCxnSpPr>
        <p:spPr bwMode="auto">
          <a:xfrm>
            <a:off x="2334994" y="3425254"/>
            <a:ext cx="214043" cy="197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5" name="Straight Connector 44"/>
          <p:cNvCxnSpPr/>
          <p:nvPr/>
        </p:nvCxnSpPr>
        <p:spPr bwMode="auto">
          <a:xfrm>
            <a:off x="2559082" y="3444660"/>
            <a:ext cx="19937" cy="224606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Straight Connector 45"/>
          <p:cNvCxnSpPr/>
          <p:nvPr/>
        </p:nvCxnSpPr>
        <p:spPr bwMode="auto">
          <a:xfrm>
            <a:off x="2583858" y="3659655"/>
            <a:ext cx="388928" cy="30908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  <a:effectLst/>
        </p:spPr>
      </p:cxnSp>
      <p:cxnSp>
        <p:nvCxnSpPr>
          <p:cNvPr id="47" name="Straight Connector 46"/>
          <p:cNvCxnSpPr/>
          <p:nvPr/>
        </p:nvCxnSpPr>
        <p:spPr bwMode="auto">
          <a:xfrm flipV="1">
            <a:off x="2717669" y="3103602"/>
            <a:ext cx="587878" cy="18855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  <a:effectLst/>
        </p:spPr>
      </p:cxnSp>
      <p:cxnSp>
        <p:nvCxnSpPr>
          <p:cNvPr id="48" name="Straight Connector 47"/>
          <p:cNvCxnSpPr/>
          <p:nvPr/>
        </p:nvCxnSpPr>
        <p:spPr bwMode="auto">
          <a:xfrm flipH="1">
            <a:off x="1608465" y="3419708"/>
            <a:ext cx="720983" cy="37711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  <a:effectLst/>
        </p:spPr>
      </p:cxnSp>
      <p:cxnSp>
        <p:nvCxnSpPr>
          <p:cNvPr id="53" name="Straight Connector 52"/>
          <p:cNvCxnSpPr/>
          <p:nvPr/>
        </p:nvCxnSpPr>
        <p:spPr bwMode="auto">
          <a:xfrm flipH="1">
            <a:off x="1603902" y="2954640"/>
            <a:ext cx="745770" cy="465199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4" name="Straight Connector 53"/>
          <p:cNvCxnSpPr/>
          <p:nvPr/>
        </p:nvCxnSpPr>
        <p:spPr bwMode="auto">
          <a:xfrm flipH="1" flipV="1">
            <a:off x="1608466" y="3419708"/>
            <a:ext cx="16637" cy="743129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6" name="Straight Connector 55"/>
          <p:cNvCxnSpPr/>
          <p:nvPr/>
        </p:nvCxnSpPr>
        <p:spPr bwMode="auto">
          <a:xfrm flipH="1">
            <a:off x="2701032" y="3935462"/>
            <a:ext cx="443681" cy="7209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7" name="Straight Connector 56"/>
          <p:cNvCxnSpPr/>
          <p:nvPr/>
        </p:nvCxnSpPr>
        <p:spPr bwMode="auto">
          <a:xfrm>
            <a:off x="3116751" y="3619139"/>
            <a:ext cx="27962" cy="316323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Straight Connector 58"/>
          <p:cNvCxnSpPr/>
          <p:nvPr/>
        </p:nvCxnSpPr>
        <p:spPr bwMode="auto">
          <a:xfrm flipV="1">
            <a:off x="3122529" y="3397525"/>
            <a:ext cx="449227" cy="22183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0" name="Straight Connector 59"/>
          <p:cNvCxnSpPr/>
          <p:nvPr/>
        </p:nvCxnSpPr>
        <p:spPr bwMode="auto">
          <a:xfrm flipH="1" flipV="1">
            <a:off x="3100344" y="2859588"/>
            <a:ext cx="470950" cy="537507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/>
          <p:cNvCxnSpPr/>
          <p:nvPr/>
        </p:nvCxnSpPr>
        <p:spPr>
          <a:xfrm flipV="1">
            <a:off x="6009142" y="3466284"/>
            <a:ext cx="744858" cy="481406"/>
          </a:xfrm>
          <a:prstGeom prst="line">
            <a:avLst/>
          </a:prstGeom>
          <a:ln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6754000" y="2720818"/>
            <a:ext cx="4170" cy="745466"/>
          </a:xfrm>
          <a:prstGeom prst="line">
            <a:avLst/>
          </a:prstGeom>
          <a:ln>
            <a:solidFill>
              <a:srgbClr val="0000F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6009142" y="2716984"/>
            <a:ext cx="749621" cy="1227624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757704" y="2724921"/>
            <a:ext cx="793750" cy="658283"/>
          </a:xfrm>
          <a:prstGeom prst="line">
            <a:avLst/>
          </a:prstGeom>
          <a:ln>
            <a:solidFill>
              <a:srgbClr val="0000F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6755587" y="3387438"/>
            <a:ext cx="800100" cy="76200"/>
          </a:xfrm>
          <a:prstGeom prst="line">
            <a:avLst/>
          </a:prstGeom>
          <a:ln>
            <a:solidFill>
              <a:srgbClr val="0000F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64"/>
          <p:cNvSpPr>
            <a:spLocks noChangeAspect="1" noChangeArrowheads="1"/>
          </p:cNvSpPr>
          <p:nvPr/>
        </p:nvSpPr>
        <p:spPr bwMode="auto">
          <a:xfrm>
            <a:off x="6757737" y="2985270"/>
            <a:ext cx="455051" cy="455051"/>
          </a:xfrm>
          <a:prstGeom prst="ellips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cxnSp>
        <p:nvCxnSpPr>
          <p:cNvPr id="27" name="Straight Connector 26"/>
          <p:cNvCxnSpPr>
            <a:cxnSpLocks/>
          </p:cNvCxnSpPr>
          <p:nvPr/>
        </p:nvCxnSpPr>
        <p:spPr>
          <a:xfrm>
            <a:off x="6753471" y="2727038"/>
            <a:ext cx="224367" cy="474134"/>
          </a:xfrm>
          <a:prstGeom prst="line">
            <a:avLst/>
          </a:prstGeom>
          <a:ln>
            <a:solidFill>
              <a:srgbClr val="00800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cxnSpLocks/>
          </p:cNvCxnSpPr>
          <p:nvPr/>
        </p:nvCxnSpPr>
        <p:spPr>
          <a:xfrm flipH="1">
            <a:off x="6757704" y="3203288"/>
            <a:ext cx="220133" cy="260350"/>
          </a:xfrm>
          <a:prstGeom prst="line">
            <a:avLst/>
          </a:prstGeom>
          <a:ln>
            <a:solidFill>
              <a:srgbClr val="00800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cxnSpLocks/>
          </p:cNvCxnSpPr>
          <p:nvPr/>
        </p:nvCxnSpPr>
        <p:spPr>
          <a:xfrm>
            <a:off x="6982071" y="3207521"/>
            <a:ext cx="571500" cy="177800"/>
          </a:xfrm>
          <a:prstGeom prst="line">
            <a:avLst/>
          </a:prstGeom>
          <a:ln>
            <a:solidFill>
              <a:srgbClr val="00800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H="1" flipV="1">
            <a:off x="6759821" y="3467872"/>
            <a:ext cx="361950" cy="327025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7117217" y="3388496"/>
            <a:ext cx="436354" cy="406794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7547221" y="2626496"/>
            <a:ext cx="0" cy="74930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6759821" y="2626496"/>
            <a:ext cx="787400" cy="98425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 bwMode="auto">
          <a:xfrm>
            <a:off x="6710312" y="2693212"/>
            <a:ext cx="94366" cy="92449"/>
          </a:xfrm>
          <a:prstGeom prst="ellipse">
            <a:avLst/>
          </a:prstGeom>
          <a:solidFill>
            <a:srgbClr val="0000FF"/>
          </a:solidFill>
          <a:ln w="127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Oval 62"/>
          <p:cNvSpPr/>
          <p:nvPr/>
        </p:nvSpPr>
        <p:spPr bwMode="auto">
          <a:xfrm>
            <a:off x="6707566" y="3422149"/>
            <a:ext cx="94366" cy="92449"/>
          </a:xfrm>
          <a:prstGeom prst="ellipse">
            <a:avLst/>
          </a:prstGeom>
          <a:solidFill>
            <a:srgbClr val="0000FF"/>
          </a:solidFill>
          <a:ln w="127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" name="Oval 63"/>
          <p:cNvSpPr/>
          <p:nvPr/>
        </p:nvSpPr>
        <p:spPr bwMode="auto">
          <a:xfrm>
            <a:off x="7489695" y="3344797"/>
            <a:ext cx="94366" cy="92449"/>
          </a:xfrm>
          <a:prstGeom prst="ellipse">
            <a:avLst/>
          </a:prstGeom>
          <a:solidFill>
            <a:srgbClr val="0000FF"/>
          </a:solidFill>
          <a:ln w="127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65" name="Oval 64"/>
          <p:cNvSpPr/>
          <p:nvPr/>
        </p:nvSpPr>
        <p:spPr bwMode="auto">
          <a:xfrm>
            <a:off x="6930678" y="3177857"/>
            <a:ext cx="94366" cy="9244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66" name="Oval 65"/>
          <p:cNvSpPr/>
          <p:nvPr/>
        </p:nvSpPr>
        <p:spPr bwMode="auto">
          <a:xfrm>
            <a:off x="5986399" y="3881700"/>
            <a:ext cx="94366" cy="9244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67" name="Oval 66"/>
          <p:cNvSpPr/>
          <p:nvPr/>
        </p:nvSpPr>
        <p:spPr bwMode="auto">
          <a:xfrm>
            <a:off x="7082461" y="3759555"/>
            <a:ext cx="94366" cy="9244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68" name="Oval 67"/>
          <p:cNvSpPr/>
          <p:nvPr/>
        </p:nvSpPr>
        <p:spPr bwMode="auto">
          <a:xfrm>
            <a:off x="7506443" y="2599685"/>
            <a:ext cx="94366" cy="9244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grpSp>
        <p:nvGrpSpPr>
          <p:cNvPr id="71" name="Group 70"/>
          <p:cNvGrpSpPr>
            <a:grpSpLocks noChangeAspect="1"/>
          </p:cNvGrpSpPr>
          <p:nvPr/>
        </p:nvGrpSpPr>
        <p:grpSpPr>
          <a:xfrm>
            <a:off x="3482637" y="1451830"/>
            <a:ext cx="1546545" cy="1321194"/>
            <a:chOff x="1978443" y="3676650"/>
            <a:chExt cx="3093090" cy="2642387"/>
          </a:xfrm>
        </p:grpSpPr>
        <p:cxnSp>
          <p:nvCxnSpPr>
            <p:cNvPr id="72" name="Straight Connector 71"/>
            <p:cNvCxnSpPr/>
            <p:nvPr/>
          </p:nvCxnSpPr>
          <p:spPr>
            <a:xfrm flipV="1">
              <a:off x="1978443" y="5356225"/>
              <a:ext cx="1489716" cy="962812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 flipH="1">
              <a:off x="3468159" y="3865293"/>
              <a:ext cx="8340" cy="1490932"/>
            </a:xfrm>
            <a:prstGeom prst="line">
              <a:avLst/>
            </a:prstGeom>
            <a:ln>
              <a:solidFill>
                <a:srgbClr val="0000FF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 flipV="1">
              <a:off x="1978443" y="3857625"/>
              <a:ext cx="1499241" cy="2455247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3475567" y="3873500"/>
              <a:ext cx="1587500" cy="1316566"/>
            </a:xfrm>
            <a:prstGeom prst="line">
              <a:avLst/>
            </a:prstGeom>
            <a:ln>
              <a:solidFill>
                <a:srgbClr val="0000FF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flipH="1">
              <a:off x="3471333" y="5198533"/>
              <a:ext cx="1600200" cy="152400"/>
            </a:xfrm>
            <a:prstGeom prst="line">
              <a:avLst/>
            </a:prstGeom>
            <a:ln>
              <a:solidFill>
                <a:srgbClr val="0000FF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 flipH="1" flipV="1">
              <a:off x="3479800" y="5359401"/>
              <a:ext cx="723900" cy="654049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 flipV="1">
              <a:off x="4194593" y="5200650"/>
              <a:ext cx="872707" cy="81358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 flipV="1">
              <a:off x="5054600" y="3676650"/>
              <a:ext cx="0" cy="14986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 flipV="1">
              <a:off x="3479800" y="3676650"/>
              <a:ext cx="1574800" cy="19685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own Arrow 4"/>
          <p:cNvSpPr/>
          <p:nvPr/>
        </p:nvSpPr>
        <p:spPr bwMode="auto">
          <a:xfrm rot="3479034">
            <a:off x="2724937" y="2185144"/>
            <a:ext cx="478223" cy="723034"/>
          </a:xfrm>
          <a:prstGeom prst="downArrow">
            <a:avLst>
              <a:gd name="adj1" fmla="val 50000"/>
              <a:gd name="adj2" fmla="val 51855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19" name="Down Arrow 118"/>
          <p:cNvSpPr/>
          <p:nvPr/>
        </p:nvSpPr>
        <p:spPr bwMode="auto">
          <a:xfrm rot="18618010">
            <a:off x="5388981" y="2342792"/>
            <a:ext cx="478223" cy="723034"/>
          </a:xfrm>
          <a:prstGeom prst="downArrow">
            <a:avLst>
              <a:gd name="adj1" fmla="val 50000"/>
              <a:gd name="adj2" fmla="val 51855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83248" y="4258452"/>
            <a:ext cx="23001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global refine chords</a:t>
            </a:r>
          </a:p>
          <a:p>
            <a:r>
              <a:rPr lang="en-US" sz="2000" dirty="0" smtClean="0"/>
              <a:t>    steering heuristics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766508" y="3988596"/>
            <a:ext cx="33256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local template</a:t>
            </a:r>
          </a:p>
          <a:p>
            <a:r>
              <a:rPr lang="en-US" sz="2000" dirty="0" smtClean="0"/>
              <a:t>deterministic, provable quality</a:t>
            </a:r>
            <a:endParaRPr lang="en-US" sz="2000" dirty="0"/>
          </a:p>
        </p:txBody>
      </p:sp>
      <p:sp>
        <p:nvSpPr>
          <p:cNvPr id="121" name="TextBox 120"/>
          <p:cNvSpPr txBox="1"/>
          <p:nvPr/>
        </p:nvSpPr>
        <p:spPr>
          <a:xfrm>
            <a:off x="1416601" y="2333430"/>
            <a:ext cx="9236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Pairing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553282" y="2096223"/>
            <a:ext cx="1095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smtClean="0"/>
              <a:t>Coloring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7508" y="1115758"/>
            <a:ext cx="2268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smtClean="0"/>
              <a:t>must make a change</a:t>
            </a:r>
            <a:endParaRPr lang="en-US" sz="200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981088" y="2508932"/>
            <a:ext cx="3326864" cy="1303877"/>
          </a:xfrm>
          <a:prstGeom prst="rect">
            <a:avLst/>
          </a:prstGeom>
        </p:spPr>
      </p:pic>
      <p:sp>
        <p:nvSpPr>
          <p:cNvPr id="129" name="TextBox 128"/>
          <p:cNvSpPr txBox="1"/>
          <p:nvPr/>
        </p:nvSpPr>
        <p:spPr>
          <a:xfrm>
            <a:off x="2845" y="4734112"/>
            <a:ext cx="19438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Blossom-quad</a:t>
            </a:r>
          </a:p>
          <a:p>
            <a:r>
              <a:rPr lang="en-US" sz="2000" dirty="0" smtClean="0"/>
              <a:t>local refinements</a:t>
            </a:r>
            <a:endParaRPr lang="en-US" sz="2000" dirty="0"/>
          </a:p>
        </p:txBody>
      </p:sp>
      <p:sp>
        <p:nvSpPr>
          <p:cNvPr id="82" name="Title 1"/>
          <p:cNvSpPr txBox="1">
            <a:spLocks/>
          </p:cNvSpPr>
          <p:nvPr/>
        </p:nvSpPr>
        <p:spPr bwMode="auto">
          <a:xfrm>
            <a:off x="3075497" y="-139700"/>
            <a:ext cx="6271703" cy="635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9pPr>
          </a:lstStyle>
          <a:p>
            <a:r>
              <a:rPr lang="en-US" sz="1600" dirty="0" smtClean="0">
                <a:solidFill>
                  <a:srgbClr val="0000FF"/>
                </a:solidFill>
              </a:rPr>
              <a:t>OK, it works and is different. Why would you </a:t>
            </a:r>
            <a:r>
              <a:rPr lang="en-US" sz="1600" i="1" dirty="0" smtClean="0">
                <a:solidFill>
                  <a:srgbClr val="0000FF"/>
                </a:solidFill>
              </a:rPr>
              <a:t>want </a:t>
            </a:r>
            <a:r>
              <a:rPr lang="en-US" sz="1600" dirty="0" smtClean="0">
                <a:solidFill>
                  <a:srgbClr val="0000FF"/>
                </a:solidFill>
              </a:rPr>
              <a:t>to use it?</a:t>
            </a:r>
            <a:endParaRPr lang="en-US" sz="1600" dirty="0">
              <a:solidFill>
                <a:srgbClr val="0000FF"/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946400" y="1695450"/>
            <a:ext cx="844550" cy="698500"/>
            <a:chOff x="5334000" y="1390650"/>
            <a:chExt cx="844550" cy="698500"/>
          </a:xfrm>
        </p:grpSpPr>
        <p:cxnSp>
          <p:nvCxnSpPr>
            <p:cNvPr id="4" name="Straight Connector 3"/>
            <p:cNvCxnSpPr/>
            <p:nvPr/>
          </p:nvCxnSpPr>
          <p:spPr bwMode="auto">
            <a:xfrm flipV="1">
              <a:off x="5334000" y="1701800"/>
              <a:ext cx="514350" cy="635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3" name="Straight Connector 82"/>
            <p:cNvCxnSpPr/>
            <p:nvPr/>
          </p:nvCxnSpPr>
          <p:spPr bwMode="auto">
            <a:xfrm flipV="1">
              <a:off x="5854700" y="1390650"/>
              <a:ext cx="323850" cy="3048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4" name="Straight Connector 83"/>
            <p:cNvCxnSpPr/>
            <p:nvPr/>
          </p:nvCxnSpPr>
          <p:spPr bwMode="auto">
            <a:xfrm>
              <a:off x="5848350" y="1689100"/>
              <a:ext cx="6350" cy="40005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" name="TextBox 2"/>
          <p:cNvSpPr txBox="1"/>
          <p:nvPr/>
        </p:nvSpPr>
        <p:spPr>
          <a:xfrm>
            <a:off x="7639050" y="336550"/>
            <a:ext cx="1028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rgbClr val="0000FF"/>
                </a:solidFill>
                <a:latin typeface="+mj-lt"/>
                <a:ea typeface="+mj-ea"/>
                <a:cs typeface="+mj-cs"/>
              </a:rPr>
              <a:t>Locality!</a:t>
            </a:r>
          </a:p>
        </p:txBody>
      </p:sp>
    </p:spTree>
    <p:extLst>
      <p:ext uri="{BB962C8B-B14F-4D97-AF65-F5344CB8AC3E}">
        <p14:creationId xmlns:p14="http://schemas.microsoft.com/office/powerpoint/2010/main" val="2137280242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3303345" y="1464072"/>
            <a:ext cx="2427131" cy="657625"/>
            <a:chOff x="3295725" y="1243092"/>
            <a:chExt cx="2427131" cy="657625"/>
          </a:xfrm>
        </p:grpSpPr>
        <p:cxnSp>
          <p:nvCxnSpPr>
            <p:cNvPr id="314" name="Straight Connector 313"/>
            <p:cNvCxnSpPr/>
            <p:nvPr/>
          </p:nvCxnSpPr>
          <p:spPr bwMode="auto">
            <a:xfrm flipV="1">
              <a:off x="3321708" y="1282602"/>
              <a:ext cx="2387601" cy="18346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5" name="Straight Connector 314"/>
            <p:cNvCxnSpPr/>
            <p:nvPr/>
          </p:nvCxnSpPr>
          <p:spPr bwMode="auto">
            <a:xfrm>
              <a:off x="3320038" y="1313694"/>
              <a:ext cx="465666" cy="585612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6" name="Straight Connector 315"/>
            <p:cNvCxnSpPr/>
            <p:nvPr/>
          </p:nvCxnSpPr>
          <p:spPr bwMode="auto">
            <a:xfrm>
              <a:off x="3787103" y="1315105"/>
              <a:ext cx="465666" cy="585612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7" name="Straight Connector 316"/>
            <p:cNvCxnSpPr/>
            <p:nvPr/>
          </p:nvCxnSpPr>
          <p:spPr bwMode="auto">
            <a:xfrm flipH="1">
              <a:off x="3775827" y="1317926"/>
              <a:ext cx="0" cy="566928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8" name="Straight Connector 317"/>
            <p:cNvCxnSpPr/>
            <p:nvPr/>
          </p:nvCxnSpPr>
          <p:spPr bwMode="auto">
            <a:xfrm>
              <a:off x="4743835" y="1312282"/>
              <a:ext cx="465666" cy="585612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9" name="Straight Connector 318"/>
            <p:cNvCxnSpPr/>
            <p:nvPr/>
          </p:nvCxnSpPr>
          <p:spPr bwMode="auto">
            <a:xfrm>
              <a:off x="5213734" y="1309459"/>
              <a:ext cx="465666" cy="585612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0" name="Straight Connector 319"/>
            <p:cNvCxnSpPr/>
            <p:nvPr/>
          </p:nvCxnSpPr>
          <p:spPr bwMode="auto">
            <a:xfrm flipH="1">
              <a:off x="5216570" y="1319336"/>
              <a:ext cx="0" cy="566928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1" name="Straight Connector 320"/>
            <p:cNvCxnSpPr/>
            <p:nvPr/>
          </p:nvCxnSpPr>
          <p:spPr bwMode="auto">
            <a:xfrm flipH="1">
              <a:off x="3321449" y="1315668"/>
              <a:ext cx="0" cy="566928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2" name="Straight Connector 321"/>
            <p:cNvCxnSpPr/>
            <p:nvPr/>
          </p:nvCxnSpPr>
          <p:spPr bwMode="auto">
            <a:xfrm flipH="1">
              <a:off x="5670950" y="1300993"/>
              <a:ext cx="0" cy="566928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4" name="Straight Connector 323"/>
            <p:cNvCxnSpPr/>
            <p:nvPr/>
          </p:nvCxnSpPr>
          <p:spPr bwMode="auto">
            <a:xfrm>
              <a:off x="4271114" y="1312282"/>
              <a:ext cx="465666" cy="585612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5" name="Straight Connector 324"/>
            <p:cNvCxnSpPr/>
            <p:nvPr/>
          </p:nvCxnSpPr>
          <p:spPr bwMode="auto">
            <a:xfrm flipH="1">
              <a:off x="4259838" y="1315103"/>
              <a:ext cx="0" cy="566928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6" name="Straight Connector 325"/>
            <p:cNvCxnSpPr/>
            <p:nvPr/>
          </p:nvCxnSpPr>
          <p:spPr bwMode="auto">
            <a:xfrm flipH="1">
              <a:off x="4739615" y="1322159"/>
              <a:ext cx="0" cy="566928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29" name="Oval 328"/>
            <p:cNvSpPr/>
            <p:nvPr/>
          </p:nvSpPr>
          <p:spPr bwMode="auto">
            <a:xfrm>
              <a:off x="3295725" y="1270834"/>
              <a:ext cx="94366" cy="92449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330" name="Oval 329"/>
            <p:cNvSpPr/>
            <p:nvPr/>
          </p:nvSpPr>
          <p:spPr bwMode="auto">
            <a:xfrm>
              <a:off x="4697051" y="1243092"/>
              <a:ext cx="94366" cy="92449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335" name="Oval 334"/>
            <p:cNvSpPr/>
            <p:nvPr/>
          </p:nvSpPr>
          <p:spPr bwMode="auto">
            <a:xfrm>
              <a:off x="4225531" y="1253309"/>
              <a:ext cx="94366" cy="92449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337" name="Oval 336"/>
            <p:cNvSpPr/>
            <p:nvPr/>
          </p:nvSpPr>
          <p:spPr bwMode="auto">
            <a:xfrm>
              <a:off x="5190699" y="1249232"/>
              <a:ext cx="94366" cy="92449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338" name="Oval 337"/>
            <p:cNvSpPr/>
            <p:nvPr/>
          </p:nvSpPr>
          <p:spPr bwMode="auto">
            <a:xfrm>
              <a:off x="3739627" y="1258831"/>
              <a:ext cx="94366" cy="92449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340" name="Oval 339"/>
            <p:cNvSpPr/>
            <p:nvPr/>
          </p:nvSpPr>
          <p:spPr bwMode="auto">
            <a:xfrm>
              <a:off x="5628490" y="1243857"/>
              <a:ext cx="94366" cy="92449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6444"/>
            <a:ext cx="7772400" cy="1238956"/>
          </a:xfrm>
        </p:spPr>
        <p:txBody>
          <a:bodyPr/>
          <a:lstStyle/>
          <a:p>
            <a:r>
              <a:rPr lang="en-US"/>
              <a:t>Why two-coloring vertices? </a:t>
            </a:r>
            <a:br>
              <a:rPr lang="en-US"/>
            </a:br>
            <a:r>
              <a:rPr lang="en-US"/>
              <a:t>Why not matching triangles?</a:t>
            </a:r>
          </a:p>
        </p:txBody>
      </p:sp>
      <p:cxnSp>
        <p:nvCxnSpPr>
          <p:cNvPr id="82" name="Straight Connector 81"/>
          <p:cNvCxnSpPr/>
          <p:nvPr/>
        </p:nvCxnSpPr>
        <p:spPr bwMode="auto">
          <a:xfrm flipV="1">
            <a:off x="3320886" y="2114559"/>
            <a:ext cx="237744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3" name="Straight Connector 82"/>
          <p:cNvCxnSpPr/>
          <p:nvPr/>
        </p:nvCxnSpPr>
        <p:spPr bwMode="auto">
          <a:xfrm flipV="1">
            <a:off x="3318629" y="2686060"/>
            <a:ext cx="2387601" cy="18346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5" name="Straight Connector 84"/>
          <p:cNvCxnSpPr/>
          <p:nvPr/>
        </p:nvCxnSpPr>
        <p:spPr bwMode="auto">
          <a:xfrm>
            <a:off x="3327942" y="2121615"/>
            <a:ext cx="465666" cy="58561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87" name="Straight Connector 86"/>
          <p:cNvCxnSpPr/>
          <p:nvPr/>
        </p:nvCxnSpPr>
        <p:spPr bwMode="auto">
          <a:xfrm>
            <a:off x="3795007" y="2123026"/>
            <a:ext cx="465666" cy="58561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93" name="Straight Connector 92"/>
          <p:cNvCxnSpPr/>
          <p:nvPr/>
        </p:nvCxnSpPr>
        <p:spPr bwMode="auto">
          <a:xfrm flipH="1">
            <a:off x="3783731" y="2125847"/>
            <a:ext cx="0" cy="5669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6" name="Straight Connector 95"/>
          <p:cNvCxnSpPr/>
          <p:nvPr/>
        </p:nvCxnSpPr>
        <p:spPr bwMode="auto">
          <a:xfrm>
            <a:off x="4751739" y="2120203"/>
            <a:ext cx="465666" cy="58561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98" name="Straight Connector 97"/>
          <p:cNvCxnSpPr/>
          <p:nvPr/>
        </p:nvCxnSpPr>
        <p:spPr bwMode="auto">
          <a:xfrm>
            <a:off x="5221638" y="2117380"/>
            <a:ext cx="465666" cy="58561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99" name="Straight Connector 98"/>
          <p:cNvCxnSpPr/>
          <p:nvPr/>
        </p:nvCxnSpPr>
        <p:spPr bwMode="auto">
          <a:xfrm flipH="1">
            <a:off x="5224474" y="2127257"/>
            <a:ext cx="0" cy="5669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2" name="Straight Connector 101"/>
          <p:cNvCxnSpPr/>
          <p:nvPr/>
        </p:nvCxnSpPr>
        <p:spPr bwMode="auto">
          <a:xfrm flipH="1">
            <a:off x="3329353" y="2123589"/>
            <a:ext cx="0" cy="5669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3" name="Straight Connector 102"/>
          <p:cNvCxnSpPr/>
          <p:nvPr/>
        </p:nvCxnSpPr>
        <p:spPr bwMode="auto">
          <a:xfrm flipH="1">
            <a:off x="5678854" y="2108914"/>
            <a:ext cx="0" cy="5669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" name="Down Arrow 4"/>
          <p:cNvSpPr/>
          <p:nvPr/>
        </p:nvSpPr>
        <p:spPr bwMode="auto">
          <a:xfrm rot="3174378">
            <a:off x="2356973" y="2141386"/>
            <a:ext cx="478223" cy="723034"/>
          </a:xfrm>
          <a:prstGeom prst="downArrow">
            <a:avLst>
              <a:gd name="adj1" fmla="val 50000"/>
              <a:gd name="adj2" fmla="val 51855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19" name="Down Arrow 118"/>
          <p:cNvSpPr/>
          <p:nvPr/>
        </p:nvSpPr>
        <p:spPr bwMode="auto">
          <a:xfrm rot="18621820">
            <a:off x="6158062" y="2141468"/>
            <a:ext cx="478223" cy="723034"/>
          </a:xfrm>
          <a:prstGeom prst="downArrow">
            <a:avLst>
              <a:gd name="adj1" fmla="val 50000"/>
              <a:gd name="adj2" fmla="val 51855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256310" y="2113360"/>
            <a:ext cx="512446" cy="592455"/>
            <a:chOff x="4151345" y="1646459"/>
            <a:chExt cx="512446" cy="592455"/>
          </a:xfrm>
        </p:grpSpPr>
        <p:cxnSp>
          <p:nvCxnSpPr>
            <p:cNvPr id="94" name="Straight Connector 93"/>
            <p:cNvCxnSpPr/>
            <p:nvPr/>
          </p:nvCxnSpPr>
          <p:spPr bwMode="auto">
            <a:xfrm>
              <a:off x="4174053" y="1653302"/>
              <a:ext cx="465666" cy="585612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800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5" name="Straight Connector 94"/>
            <p:cNvCxnSpPr/>
            <p:nvPr/>
          </p:nvCxnSpPr>
          <p:spPr bwMode="auto">
            <a:xfrm flipH="1">
              <a:off x="4162777" y="1656123"/>
              <a:ext cx="0" cy="566928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7" name="Straight Connector 96"/>
            <p:cNvCxnSpPr/>
            <p:nvPr/>
          </p:nvCxnSpPr>
          <p:spPr bwMode="auto">
            <a:xfrm flipH="1">
              <a:off x="4642554" y="1663179"/>
              <a:ext cx="0" cy="566928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7" name="Straight Connector 126"/>
            <p:cNvCxnSpPr/>
            <p:nvPr/>
          </p:nvCxnSpPr>
          <p:spPr bwMode="auto">
            <a:xfrm>
              <a:off x="4151345" y="1646459"/>
              <a:ext cx="50292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8" name="Straight Connector 127"/>
            <p:cNvCxnSpPr/>
            <p:nvPr/>
          </p:nvCxnSpPr>
          <p:spPr bwMode="auto">
            <a:xfrm>
              <a:off x="4160871" y="2228436"/>
              <a:ext cx="50292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39" name="TextBox 138"/>
          <p:cNvSpPr txBox="1"/>
          <p:nvPr/>
        </p:nvSpPr>
        <p:spPr>
          <a:xfrm>
            <a:off x="3783731" y="2737995"/>
            <a:ext cx="16578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smtClean="0"/>
              <a:t>swap diagonal</a:t>
            </a:r>
          </a:p>
        </p:txBody>
      </p:sp>
      <p:sp>
        <p:nvSpPr>
          <p:cNvPr id="158" name="Oval 157"/>
          <p:cNvSpPr/>
          <p:nvPr/>
        </p:nvSpPr>
        <p:spPr bwMode="auto">
          <a:xfrm>
            <a:off x="3292646" y="2674292"/>
            <a:ext cx="94366" cy="9244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59" name="Oval 158"/>
          <p:cNvSpPr/>
          <p:nvPr/>
        </p:nvSpPr>
        <p:spPr bwMode="auto">
          <a:xfrm>
            <a:off x="4693972" y="2646550"/>
            <a:ext cx="94366" cy="9244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60" name="Oval 159"/>
          <p:cNvSpPr/>
          <p:nvPr/>
        </p:nvSpPr>
        <p:spPr bwMode="auto">
          <a:xfrm>
            <a:off x="3755598" y="2081643"/>
            <a:ext cx="94366" cy="9244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61" name="Oval 160"/>
          <p:cNvSpPr/>
          <p:nvPr/>
        </p:nvSpPr>
        <p:spPr bwMode="auto">
          <a:xfrm>
            <a:off x="3293445" y="2075318"/>
            <a:ext cx="94366" cy="9244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63" name="Oval 162"/>
          <p:cNvSpPr/>
          <p:nvPr/>
        </p:nvSpPr>
        <p:spPr bwMode="auto">
          <a:xfrm>
            <a:off x="5191205" y="2076093"/>
            <a:ext cx="94366" cy="9244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64" name="Oval 163"/>
          <p:cNvSpPr/>
          <p:nvPr/>
        </p:nvSpPr>
        <p:spPr bwMode="auto">
          <a:xfrm>
            <a:off x="4222452" y="2656767"/>
            <a:ext cx="94366" cy="9244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66" name="Oval 165"/>
          <p:cNvSpPr/>
          <p:nvPr/>
        </p:nvSpPr>
        <p:spPr bwMode="auto">
          <a:xfrm>
            <a:off x="5187620" y="2652690"/>
            <a:ext cx="94366" cy="9244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67" name="Oval 166"/>
          <p:cNvSpPr/>
          <p:nvPr/>
        </p:nvSpPr>
        <p:spPr bwMode="auto">
          <a:xfrm>
            <a:off x="3736548" y="2662289"/>
            <a:ext cx="94366" cy="9244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68" name="Oval 167"/>
          <p:cNvSpPr/>
          <p:nvPr/>
        </p:nvSpPr>
        <p:spPr bwMode="auto">
          <a:xfrm>
            <a:off x="5631671" y="2073978"/>
            <a:ext cx="94366" cy="9244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69" name="Oval 168"/>
          <p:cNvSpPr/>
          <p:nvPr/>
        </p:nvSpPr>
        <p:spPr bwMode="auto">
          <a:xfrm>
            <a:off x="5625411" y="2647315"/>
            <a:ext cx="94366" cy="9244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0" y="2704080"/>
            <a:ext cx="4268260" cy="2821171"/>
            <a:chOff x="645531" y="3351780"/>
            <a:chExt cx="4268260" cy="2821171"/>
          </a:xfrm>
        </p:grpSpPr>
        <p:cxnSp>
          <p:nvCxnSpPr>
            <p:cNvPr id="286" name="Straight Connector 285"/>
            <p:cNvCxnSpPr/>
            <p:nvPr/>
          </p:nvCxnSpPr>
          <p:spPr bwMode="auto">
            <a:xfrm flipV="1">
              <a:off x="1246231" y="4400956"/>
              <a:ext cx="2387601" cy="18346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0" name="Straight Connector 299"/>
            <p:cNvCxnSpPr/>
            <p:nvPr/>
          </p:nvCxnSpPr>
          <p:spPr bwMode="auto">
            <a:xfrm>
              <a:off x="2193438" y="4410233"/>
              <a:ext cx="50292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4" name="Straight Connector 103"/>
            <p:cNvCxnSpPr/>
            <p:nvPr/>
          </p:nvCxnSpPr>
          <p:spPr bwMode="auto">
            <a:xfrm flipV="1">
              <a:off x="1241432" y="4414563"/>
              <a:ext cx="237744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5" name="Straight Connector 104"/>
            <p:cNvCxnSpPr/>
            <p:nvPr/>
          </p:nvCxnSpPr>
          <p:spPr bwMode="auto">
            <a:xfrm flipV="1">
              <a:off x="1231555" y="4986064"/>
              <a:ext cx="2387601" cy="18346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6" name="Straight Connector 105"/>
            <p:cNvCxnSpPr/>
            <p:nvPr/>
          </p:nvCxnSpPr>
          <p:spPr bwMode="auto">
            <a:xfrm>
              <a:off x="1248488" y="4421619"/>
              <a:ext cx="465666" cy="585612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7" name="Straight Connector 106"/>
            <p:cNvCxnSpPr/>
            <p:nvPr/>
          </p:nvCxnSpPr>
          <p:spPr bwMode="auto">
            <a:xfrm>
              <a:off x="1715553" y="4423030"/>
              <a:ext cx="465666" cy="585612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1" name="Straight Connector 110"/>
            <p:cNvCxnSpPr/>
            <p:nvPr/>
          </p:nvCxnSpPr>
          <p:spPr bwMode="auto">
            <a:xfrm>
              <a:off x="2672285" y="4420207"/>
              <a:ext cx="465666" cy="585612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3" name="Straight Connector 112"/>
            <p:cNvCxnSpPr/>
            <p:nvPr/>
          </p:nvCxnSpPr>
          <p:spPr bwMode="auto">
            <a:xfrm>
              <a:off x="3142184" y="4417384"/>
              <a:ext cx="465666" cy="585612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7" name="Straight Connector 116"/>
            <p:cNvCxnSpPr/>
            <p:nvPr/>
          </p:nvCxnSpPr>
          <p:spPr bwMode="auto">
            <a:xfrm flipV="1">
              <a:off x="785645" y="4414564"/>
              <a:ext cx="4572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8" name="Straight Connector 117"/>
            <p:cNvCxnSpPr/>
            <p:nvPr/>
          </p:nvCxnSpPr>
          <p:spPr bwMode="auto">
            <a:xfrm>
              <a:off x="792685" y="4425005"/>
              <a:ext cx="465666" cy="585612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3" name="Straight Connector 122"/>
            <p:cNvCxnSpPr/>
            <p:nvPr/>
          </p:nvCxnSpPr>
          <p:spPr bwMode="auto">
            <a:xfrm>
              <a:off x="3588110" y="4404686"/>
              <a:ext cx="465666" cy="585612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4" name="Straight Connector 123"/>
            <p:cNvCxnSpPr/>
            <p:nvPr/>
          </p:nvCxnSpPr>
          <p:spPr bwMode="auto">
            <a:xfrm flipV="1">
              <a:off x="3612101" y="4983242"/>
              <a:ext cx="4572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" name="TextBox 11"/>
            <p:cNvSpPr txBox="1"/>
            <p:nvPr/>
          </p:nvSpPr>
          <p:spPr>
            <a:xfrm>
              <a:off x="1035806" y="5157288"/>
              <a:ext cx="3877985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	cascade </a:t>
              </a:r>
              <a:r>
                <a:rPr lang="en-US" sz="2000" dirty="0"/>
                <a:t>of </a:t>
              </a:r>
              <a:r>
                <a:rPr lang="en-US" sz="2000" dirty="0" smtClean="0"/>
                <a:t>swaps</a:t>
              </a:r>
            </a:p>
            <a:p>
              <a:pPr marL="285750" indent="-285750">
                <a:buFontTx/>
                <a:buChar char="-"/>
              </a:pPr>
              <a:r>
                <a:rPr lang="en-US" sz="2000" b="1" dirty="0" smtClean="0"/>
                <a:t>local changes have global scope</a:t>
              </a:r>
            </a:p>
            <a:p>
              <a:r>
                <a:rPr lang="en-US" sz="2000" b="1" dirty="0" smtClean="0"/>
                <a:t>     </a:t>
              </a:r>
              <a:r>
                <a:rPr lang="en-US" sz="2000" dirty="0" smtClean="0"/>
                <a:t>alternative is local refinements 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1190770" y="3351780"/>
              <a:ext cx="1073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Pairing</a:t>
              </a:r>
            </a:p>
          </p:txBody>
        </p:sp>
        <p:cxnSp>
          <p:nvCxnSpPr>
            <p:cNvPr id="109" name="Straight Connector 108"/>
            <p:cNvCxnSpPr/>
            <p:nvPr/>
          </p:nvCxnSpPr>
          <p:spPr bwMode="auto">
            <a:xfrm>
              <a:off x="2199564" y="4420207"/>
              <a:ext cx="465666" cy="585612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2" name="Straight Connector 131"/>
            <p:cNvCxnSpPr/>
            <p:nvPr/>
          </p:nvCxnSpPr>
          <p:spPr bwMode="auto">
            <a:xfrm>
              <a:off x="2197148" y="4423453"/>
              <a:ext cx="465666" cy="585612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5" name="Straight Connector 134"/>
            <p:cNvCxnSpPr/>
            <p:nvPr/>
          </p:nvCxnSpPr>
          <p:spPr bwMode="auto">
            <a:xfrm>
              <a:off x="2174440" y="4416610"/>
              <a:ext cx="50292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6" name="Straight Connector 135"/>
            <p:cNvCxnSpPr/>
            <p:nvPr/>
          </p:nvCxnSpPr>
          <p:spPr bwMode="auto">
            <a:xfrm>
              <a:off x="2183966" y="4998587"/>
              <a:ext cx="50292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" name="Straight Arrow Connector 13"/>
            <p:cNvCxnSpPr/>
            <p:nvPr/>
          </p:nvCxnSpPr>
          <p:spPr bwMode="auto">
            <a:xfrm>
              <a:off x="3840701" y="4652784"/>
              <a:ext cx="312845" cy="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8" name="Straight Arrow Connector 137"/>
            <p:cNvCxnSpPr/>
            <p:nvPr/>
          </p:nvCxnSpPr>
          <p:spPr bwMode="auto">
            <a:xfrm rot="10800000">
              <a:off x="645531" y="4768348"/>
              <a:ext cx="312845" cy="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85" name="Straight Connector 284"/>
            <p:cNvCxnSpPr/>
            <p:nvPr/>
          </p:nvCxnSpPr>
          <p:spPr bwMode="auto">
            <a:xfrm flipV="1">
              <a:off x="1248488" y="3829455"/>
              <a:ext cx="237744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9" name="Straight Connector 288"/>
            <p:cNvCxnSpPr/>
            <p:nvPr/>
          </p:nvCxnSpPr>
          <p:spPr bwMode="auto">
            <a:xfrm flipH="1">
              <a:off x="1711333" y="3840743"/>
              <a:ext cx="0" cy="566928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2" name="Straight Connector 291"/>
            <p:cNvCxnSpPr/>
            <p:nvPr/>
          </p:nvCxnSpPr>
          <p:spPr bwMode="auto">
            <a:xfrm flipH="1">
              <a:off x="3152076" y="3842153"/>
              <a:ext cx="0" cy="566928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3" name="Straight Connector 292"/>
            <p:cNvCxnSpPr/>
            <p:nvPr/>
          </p:nvCxnSpPr>
          <p:spPr bwMode="auto">
            <a:xfrm flipH="1">
              <a:off x="1256955" y="3838485"/>
              <a:ext cx="0" cy="566928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4" name="Straight Connector 293"/>
            <p:cNvCxnSpPr/>
            <p:nvPr/>
          </p:nvCxnSpPr>
          <p:spPr bwMode="auto">
            <a:xfrm flipH="1">
              <a:off x="3606456" y="3823810"/>
              <a:ext cx="0" cy="566928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7" name="Straight Connector 296"/>
            <p:cNvCxnSpPr/>
            <p:nvPr/>
          </p:nvCxnSpPr>
          <p:spPr bwMode="auto">
            <a:xfrm flipH="1">
              <a:off x="2195344" y="3837920"/>
              <a:ext cx="0" cy="566928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8" name="Straight Connector 297"/>
            <p:cNvCxnSpPr/>
            <p:nvPr/>
          </p:nvCxnSpPr>
          <p:spPr bwMode="auto">
            <a:xfrm flipH="1">
              <a:off x="2675121" y="3844976"/>
              <a:ext cx="0" cy="566928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41" name="5-Point Star 40"/>
          <p:cNvSpPr/>
          <p:nvPr/>
        </p:nvSpPr>
        <p:spPr bwMode="auto">
          <a:xfrm>
            <a:off x="4644956" y="2002719"/>
            <a:ext cx="224147" cy="190362"/>
          </a:xfrm>
          <a:prstGeom prst="star5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341" name="5-Point Star 340"/>
          <p:cNvSpPr/>
          <p:nvPr/>
        </p:nvSpPr>
        <p:spPr bwMode="auto">
          <a:xfrm>
            <a:off x="4163434" y="2009241"/>
            <a:ext cx="224147" cy="190362"/>
          </a:xfrm>
          <a:prstGeom prst="star5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5198915" y="2552596"/>
            <a:ext cx="3945085" cy="2545337"/>
            <a:chOff x="5008415" y="3238396"/>
            <a:chExt cx="3945085" cy="2545337"/>
          </a:xfrm>
        </p:grpSpPr>
        <p:cxnSp>
          <p:nvCxnSpPr>
            <p:cNvPr id="344" name="Straight Connector 343"/>
            <p:cNvCxnSpPr/>
            <p:nvPr/>
          </p:nvCxnSpPr>
          <p:spPr bwMode="auto">
            <a:xfrm>
              <a:off x="7304552" y="3747982"/>
              <a:ext cx="465666" cy="58561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6" name="Straight Connector 345"/>
            <p:cNvCxnSpPr/>
            <p:nvPr/>
          </p:nvCxnSpPr>
          <p:spPr bwMode="auto">
            <a:xfrm flipV="1">
              <a:off x="7306531" y="4364636"/>
              <a:ext cx="47548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7" name="Straight Connector 346"/>
            <p:cNvCxnSpPr/>
            <p:nvPr/>
          </p:nvCxnSpPr>
          <p:spPr bwMode="auto">
            <a:xfrm flipV="1">
              <a:off x="6345583" y="4357016"/>
              <a:ext cx="47548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2" name="Straight Connector 231"/>
            <p:cNvCxnSpPr/>
            <p:nvPr/>
          </p:nvCxnSpPr>
          <p:spPr bwMode="auto">
            <a:xfrm flipV="1">
              <a:off x="7794129" y="4357016"/>
              <a:ext cx="475488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5" name="Straight Connector 174"/>
            <p:cNvCxnSpPr/>
            <p:nvPr/>
          </p:nvCxnSpPr>
          <p:spPr bwMode="auto">
            <a:xfrm>
              <a:off x="6821755" y="4943555"/>
              <a:ext cx="50292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2" name="Straight Connector 201"/>
            <p:cNvCxnSpPr/>
            <p:nvPr/>
          </p:nvCxnSpPr>
          <p:spPr bwMode="auto">
            <a:xfrm>
              <a:off x="6834937" y="3781882"/>
              <a:ext cx="465666" cy="585612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9" name="Straight Connector 228"/>
            <p:cNvCxnSpPr/>
            <p:nvPr/>
          </p:nvCxnSpPr>
          <p:spPr bwMode="auto">
            <a:xfrm>
              <a:off x="6361385" y="3782248"/>
              <a:ext cx="465666" cy="585612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0" name="Straight Connector 229"/>
            <p:cNvCxnSpPr/>
            <p:nvPr/>
          </p:nvCxnSpPr>
          <p:spPr bwMode="auto">
            <a:xfrm>
              <a:off x="7321394" y="4359698"/>
              <a:ext cx="465666" cy="585612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7" name="Straight Connector 236"/>
            <p:cNvCxnSpPr>
              <a:cxnSpLocks/>
              <a:stCxn id="179" idx="5"/>
              <a:endCxn id="240" idx="1"/>
            </p:cNvCxnSpPr>
            <p:nvPr/>
          </p:nvCxnSpPr>
          <p:spPr>
            <a:xfrm>
              <a:off x="6401520" y="4401024"/>
              <a:ext cx="221357" cy="84712"/>
            </a:xfrm>
            <a:prstGeom prst="line">
              <a:avLst/>
            </a:prstGeom>
            <a:ln>
              <a:solidFill>
                <a:srgbClr val="008000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/>
            <p:cNvCxnSpPr>
              <a:cxnSpLocks/>
              <a:stCxn id="240" idx="5"/>
              <a:endCxn id="183" idx="1"/>
            </p:cNvCxnSpPr>
            <p:nvPr/>
          </p:nvCxnSpPr>
          <p:spPr>
            <a:xfrm>
              <a:off x="6689603" y="4551107"/>
              <a:ext cx="112045" cy="359670"/>
            </a:xfrm>
            <a:prstGeom prst="line">
              <a:avLst/>
            </a:prstGeom>
            <a:ln>
              <a:solidFill>
                <a:srgbClr val="008000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/>
            <p:cNvCxnSpPr>
              <a:cxnSpLocks/>
              <a:stCxn id="182" idx="1"/>
              <a:endCxn id="256" idx="1"/>
            </p:cNvCxnSpPr>
            <p:nvPr/>
          </p:nvCxnSpPr>
          <p:spPr>
            <a:xfrm flipH="1" flipV="1">
              <a:off x="7514215" y="4225495"/>
              <a:ext cx="256186" cy="104608"/>
            </a:xfrm>
            <a:prstGeom prst="line">
              <a:avLst/>
            </a:prstGeom>
            <a:ln>
              <a:solidFill>
                <a:srgbClr val="008000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>
              <a:cxnSpLocks/>
              <a:stCxn id="256" idx="5"/>
            </p:cNvCxnSpPr>
            <p:nvPr/>
          </p:nvCxnSpPr>
          <p:spPr>
            <a:xfrm rot="10800000">
              <a:off x="7335444" y="3800454"/>
              <a:ext cx="112045" cy="359670"/>
            </a:xfrm>
            <a:prstGeom prst="line">
              <a:avLst/>
            </a:prstGeom>
            <a:ln>
              <a:solidFill>
                <a:srgbClr val="008000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 bwMode="auto">
            <a:xfrm flipV="1">
              <a:off x="5888284" y="4370678"/>
              <a:ext cx="475488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0" name="TextBox 119"/>
            <p:cNvSpPr txBox="1"/>
            <p:nvPr/>
          </p:nvSpPr>
          <p:spPr>
            <a:xfrm>
              <a:off x="5008415" y="5075847"/>
              <a:ext cx="394508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star neighborhood of starred vertices</a:t>
              </a:r>
              <a:endParaRPr lang="en-US" sz="2000" dirty="0"/>
            </a:p>
            <a:p>
              <a:r>
                <a:rPr lang="en-US" sz="2000" b="1" dirty="0" smtClean="0"/>
                <a:t>+ local changes have local scope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6944176" y="3238396"/>
              <a:ext cx="127901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Coloring</a:t>
              </a:r>
            </a:p>
          </p:txBody>
        </p:sp>
        <p:cxnSp>
          <p:nvCxnSpPr>
            <p:cNvPr id="141" name="Straight Connector 140"/>
            <p:cNvCxnSpPr/>
            <p:nvPr/>
          </p:nvCxnSpPr>
          <p:spPr bwMode="auto">
            <a:xfrm flipV="1">
              <a:off x="5888284" y="4929481"/>
              <a:ext cx="2387601" cy="18346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4" name="Straight Connector 143"/>
            <p:cNvCxnSpPr/>
            <p:nvPr/>
          </p:nvCxnSpPr>
          <p:spPr bwMode="auto">
            <a:xfrm flipH="1">
              <a:off x="6353386" y="4369268"/>
              <a:ext cx="0" cy="566928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7" name="Straight Connector 146"/>
            <p:cNvCxnSpPr/>
            <p:nvPr/>
          </p:nvCxnSpPr>
          <p:spPr bwMode="auto">
            <a:xfrm flipH="1">
              <a:off x="7794129" y="4370678"/>
              <a:ext cx="0" cy="566928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8" name="Straight Connector 147"/>
            <p:cNvCxnSpPr/>
            <p:nvPr/>
          </p:nvCxnSpPr>
          <p:spPr bwMode="auto">
            <a:xfrm flipH="1">
              <a:off x="5899008" y="4367010"/>
              <a:ext cx="0" cy="566928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9" name="Straight Connector 148"/>
            <p:cNvCxnSpPr/>
            <p:nvPr/>
          </p:nvCxnSpPr>
          <p:spPr bwMode="auto">
            <a:xfrm flipH="1">
              <a:off x="8248509" y="4352335"/>
              <a:ext cx="0" cy="566928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1" name="Straight Connector 170"/>
            <p:cNvCxnSpPr/>
            <p:nvPr/>
          </p:nvCxnSpPr>
          <p:spPr bwMode="auto">
            <a:xfrm flipH="1">
              <a:off x="7300709" y="4367996"/>
              <a:ext cx="0" cy="56692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7030A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2" name="Straight Connector 171"/>
            <p:cNvCxnSpPr/>
            <p:nvPr/>
          </p:nvCxnSpPr>
          <p:spPr bwMode="auto">
            <a:xfrm>
              <a:off x="6837353" y="4365175"/>
              <a:ext cx="465666" cy="585612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3" name="Straight Connector 172"/>
            <p:cNvCxnSpPr/>
            <p:nvPr/>
          </p:nvCxnSpPr>
          <p:spPr bwMode="auto">
            <a:xfrm>
              <a:off x="6834937" y="4368421"/>
              <a:ext cx="465666" cy="585612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4" name="Straight Connector 173"/>
            <p:cNvCxnSpPr/>
            <p:nvPr/>
          </p:nvCxnSpPr>
          <p:spPr bwMode="auto">
            <a:xfrm>
              <a:off x="6812229" y="4361578"/>
              <a:ext cx="50292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6" name="Straight Connector 175"/>
            <p:cNvCxnSpPr/>
            <p:nvPr/>
          </p:nvCxnSpPr>
          <p:spPr bwMode="auto">
            <a:xfrm flipH="1">
              <a:off x="6823661" y="4371242"/>
              <a:ext cx="0" cy="56692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7030A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7" name="Oval 176"/>
            <p:cNvSpPr/>
            <p:nvPr/>
          </p:nvSpPr>
          <p:spPr bwMode="auto">
            <a:xfrm>
              <a:off x="5858022" y="4914763"/>
              <a:ext cx="94366" cy="92449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78" name="Oval 177"/>
            <p:cNvSpPr/>
            <p:nvPr/>
          </p:nvSpPr>
          <p:spPr bwMode="auto">
            <a:xfrm>
              <a:off x="7259348" y="4887021"/>
              <a:ext cx="94366" cy="92449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83" name="Oval 182"/>
            <p:cNvSpPr/>
            <p:nvPr/>
          </p:nvSpPr>
          <p:spPr bwMode="auto">
            <a:xfrm>
              <a:off x="6787828" y="4897238"/>
              <a:ext cx="94366" cy="92449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85" name="Oval 184"/>
            <p:cNvSpPr/>
            <p:nvPr/>
          </p:nvSpPr>
          <p:spPr bwMode="auto">
            <a:xfrm>
              <a:off x="7752996" y="4893161"/>
              <a:ext cx="94366" cy="92449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86" name="Oval 185"/>
            <p:cNvSpPr/>
            <p:nvPr/>
          </p:nvSpPr>
          <p:spPr bwMode="auto">
            <a:xfrm>
              <a:off x="6301924" y="4902760"/>
              <a:ext cx="94366" cy="92449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88" name="Oval 187"/>
            <p:cNvSpPr/>
            <p:nvPr/>
          </p:nvSpPr>
          <p:spPr bwMode="auto">
            <a:xfrm>
              <a:off x="8190787" y="4887786"/>
              <a:ext cx="94366" cy="92449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cxnSp>
          <p:nvCxnSpPr>
            <p:cNvPr id="193" name="Straight Connector 192"/>
            <p:cNvCxnSpPr/>
            <p:nvPr/>
          </p:nvCxnSpPr>
          <p:spPr bwMode="auto">
            <a:xfrm flipH="1">
              <a:off x="6353386" y="3782729"/>
              <a:ext cx="0" cy="566928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6" name="Straight Connector 195"/>
            <p:cNvCxnSpPr/>
            <p:nvPr/>
          </p:nvCxnSpPr>
          <p:spPr bwMode="auto">
            <a:xfrm flipH="1">
              <a:off x="7794129" y="3784139"/>
              <a:ext cx="0" cy="566928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7" name="Straight Connector 196"/>
            <p:cNvCxnSpPr/>
            <p:nvPr/>
          </p:nvCxnSpPr>
          <p:spPr bwMode="auto">
            <a:xfrm flipH="1">
              <a:off x="5899008" y="3780471"/>
              <a:ext cx="0" cy="566928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8" name="Straight Connector 197"/>
            <p:cNvCxnSpPr/>
            <p:nvPr/>
          </p:nvCxnSpPr>
          <p:spPr bwMode="auto">
            <a:xfrm flipH="1">
              <a:off x="8248509" y="3765796"/>
              <a:ext cx="0" cy="566928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0" name="Straight Connector 199"/>
            <p:cNvCxnSpPr/>
            <p:nvPr/>
          </p:nvCxnSpPr>
          <p:spPr bwMode="auto">
            <a:xfrm flipH="1">
              <a:off x="7300709" y="3781457"/>
              <a:ext cx="0" cy="56692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7030A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4" name="Straight Connector 203"/>
            <p:cNvCxnSpPr/>
            <p:nvPr/>
          </p:nvCxnSpPr>
          <p:spPr bwMode="auto">
            <a:xfrm>
              <a:off x="6821755" y="4357016"/>
              <a:ext cx="50292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5" name="Straight Connector 204"/>
            <p:cNvCxnSpPr/>
            <p:nvPr/>
          </p:nvCxnSpPr>
          <p:spPr bwMode="auto">
            <a:xfrm flipH="1">
              <a:off x="6823661" y="3784703"/>
              <a:ext cx="0" cy="56692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7030A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8" name="Straight Connector 217"/>
            <p:cNvCxnSpPr/>
            <p:nvPr/>
          </p:nvCxnSpPr>
          <p:spPr bwMode="auto">
            <a:xfrm flipV="1">
              <a:off x="5888284" y="3756767"/>
              <a:ext cx="2387601" cy="18346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19" name="Oval 218"/>
            <p:cNvSpPr/>
            <p:nvPr/>
          </p:nvSpPr>
          <p:spPr bwMode="auto">
            <a:xfrm>
              <a:off x="5858022" y="3742049"/>
              <a:ext cx="94366" cy="92449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20" name="Oval 219"/>
            <p:cNvSpPr/>
            <p:nvPr/>
          </p:nvSpPr>
          <p:spPr bwMode="auto">
            <a:xfrm>
              <a:off x="7259348" y="3714307"/>
              <a:ext cx="94366" cy="92449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21" name="Oval 220"/>
            <p:cNvSpPr/>
            <p:nvPr/>
          </p:nvSpPr>
          <p:spPr bwMode="auto">
            <a:xfrm>
              <a:off x="6787828" y="3724524"/>
              <a:ext cx="94366" cy="92449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22" name="Oval 221"/>
            <p:cNvSpPr/>
            <p:nvPr/>
          </p:nvSpPr>
          <p:spPr bwMode="auto">
            <a:xfrm>
              <a:off x="7752996" y="3720447"/>
              <a:ext cx="94366" cy="92449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23" name="Oval 222"/>
            <p:cNvSpPr/>
            <p:nvPr/>
          </p:nvSpPr>
          <p:spPr bwMode="auto">
            <a:xfrm>
              <a:off x="6301924" y="3730046"/>
              <a:ext cx="94366" cy="92449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24" name="Oval 223"/>
            <p:cNvSpPr/>
            <p:nvPr/>
          </p:nvSpPr>
          <p:spPr bwMode="auto">
            <a:xfrm>
              <a:off x="8190787" y="3715072"/>
              <a:ext cx="94366" cy="92449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79" name="Oval 178"/>
            <p:cNvSpPr/>
            <p:nvPr/>
          </p:nvSpPr>
          <p:spPr bwMode="auto">
            <a:xfrm>
              <a:off x="6320974" y="4322114"/>
              <a:ext cx="94366" cy="92449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80" name="Oval 179"/>
            <p:cNvSpPr/>
            <p:nvPr/>
          </p:nvSpPr>
          <p:spPr bwMode="auto">
            <a:xfrm>
              <a:off x="5858821" y="4315789"/>
              <a:ext cx="94366" cy="92449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82" name="Oval 181"/>
            <p:cNvSpPr/>
            <p:nvPr/>
          </p:nvSpPr>
          <p:spPr bwMode="auto">
            <a:xfrm>
              <a:off x="7756581" y="4316564"/>
              <a:ext cx="94366" cy="92449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87" name="Oval 186"/>
            <p:cNvSpPr/>
            <p:nvPr/>
          </p:nvSpPr>
          <p:spPr bwMode="auto">
            <a:xfrm>
              <a:off x="8197047" y="4314449"/>
              <a:ext cx="94366" cy="92449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cxnSp>
          <p:nvCxnSpPr>
            <p:cNvPr id="238" name="Straight Connector 237"/>
            <p:cNvCxnSpPr>
              <a:cxnSpLocks/>
              <a:stCxn id="240" idx="7"/>
            </p:cNvCxnSpPr>
            <p:nvPr/>
          </p:nvCxnSpPr>
          <p:spPr>
            <a:xfrm flipV="1">
              <a:off x="6689603" y="4395475"/>
              <a:ext cx="112256" cy="90261"/>
            </a:xfrm>
            <a:prstGeom prst="line">
              <a:avLst/>
            </a:prstGeom>
            <a:ln>
              <a:solidFill>
                <a:srgbClr val="008000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0" name="Oval 239"/>
            <p:cNvSpPr/>
            <p:nvPr/>
          </p:nvSpPr>
          <p:spPr bwMode="auto">
            <a:xfrm>
              <a:off x="6609057" y="4472197"/>
              <a:ext cx="94366" cy="92449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cxnSp>
          <p:nvCxnSpPr>
            <p:cNvPr id="254" name="Straight Connector 253"/>
            <p:cNvCxnSpPr>
              <a:cxnSpLocks/>
              <a:stCxn id="256" idx="7"/>
            </p:cNvCxnSpPr>
            <p:nvPr/>
          </p:nvCxnSpPr>
          <p:spPr>
            <a:xfrm rot="10800000" flipV="1">
              <a:off x="7335233" y="4225495"/>
              <a:ext cx="112256" cy="90261"/>
            </a:xfrm>
            <a:prstGeom prst="line">
              <a:avLst/>
            </a:prstGeom>
            <a:ln>
              <a:solidFill>
                <a:srgbClr val="008000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6" name="Oval 255"/>
            <p:cNvSpPr/>
            <p:nvPr/>
          </p:nvSpPr>
          <p:spPr bwMode="auto">
            <a:xfrm rot="10800000">
              <a:off x="7433669" y="4146585"/>
              <a:ext cx="94366" cy="92449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342" name="5-Point Star 341"/>
            <p:cNvSpPr/>
            <p:nvPr/>
          </p:nvSpPr>
          <p:spPr bwMode="auto">
            <a:xfrm>
              <a:off x="7188183" y="4256450"/>
              <a:ext cx="224147" cy="190362"/>
            </a:xfrm>
            <a:prstGeom prst="star5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343" name="5-Point Star 342"/>
            <p:cNvSpPr/>
            <p:nvPr/>
          </p:nvSpPr>
          <p:spPr bwMode="auto">
            <a:xfrm>
              <a:off x="6708998" y="4265802"/>
              <a:ext cx="224147" cy="190362"/>
            </a:xfrm>
            <a:prstGeom prst="star5">
              <a:avLst/>
            </a:prstGeom>
            <a:solidFill>
              <a:schemeClr val="accent1">
                <a:lumMod val="75000"/>
              </a:schemeClr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cxnSp>
          <p:nvCxnSpPr>
            <p:cNvPr id="345" name="Straight Connector 344"/>
            <p:cNvCxnSpPr/>
            <p:nvPr/>
          </p:nvCxnSpPr>
          <p:spPr bwMode="auto">
            <a:xfrm>
              <a:off x="6366855" y="4395920"/>
              <a:ext cx="465666" cy="58561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48" name="TextBox 347"/>
          <p:cNvSpPr txBox="1"/>
          <p:nvPr/>
        </p:nvSpPr>
        <p:spPr>
          <a:xfrm>
            <a:off x="57508" y="1115758"/>
            <a:ext cx="17155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smtClean="0"/>
              <a:t>want a change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55168498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6444"/>
            <a:ext cx="7772400" cy="1238956"/>
          </a:xfrm>
        </p:spPr>
        <p:txBody>
          <a:bodyPr/>
          <a:lstStyle/>
          <a:p>
            <a:r>
              <a:rPr lang="en-US"/>
              <a:t>Why two-coloring vertices? </a:t>
            </a:r>
            <a:br>
              <a:rPr lang="en-US"/>
            </a:br>
            <a:r>
              <a:rPr lang="en-US"/>
              <a:t>Why not matching triangles?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" y="1368789"/>
            <a:ext cx="4328160" cy="4395611"/>
          </a:xfrm>
        </p:spPr>
        <p:txBody>
          <a:bodyPr/>
          <a:lstStyle/>
          <a:p>
            <a:pPr marL="171450" indent="0">
              <a:buNone/>
            </a:pPr>
            <a:r>
              <a:rPr lang="en-US" sz="2000"/>
              <a:t>Matching triangles</a:t>
            </a:r>
          </a:p>
          <a:p>
            <a:pPr marL="457200" lvl="1" indent="0">
              <a:buNone/>
            </a:pPr>
            <a:r>
              <a:rPr lang="en-US" sz="2000"/>
              <a:t>+ match for quad quality</a:t>
            </a:r>
          </a:p>
          <a:p>
            <a:pPr lvl="1"/>
            <a:r>
              <a:rPr lang="en-US" sz="2000"/>
              <a:t>slow</a:t>
            </a:r>
          </a:p>
          <a:p>
            <a:pPr marL="914400" lvl="2" indent="0">
              <a:buNone/>
            </a:pPr>
            <a:r>
              <a:rPr lang="en-US" sz="1800"/>
              <a:t>- global matching alg</a:t>
            </a:r>
          </a:p>
          <a:p>
            <a:pPr marL="914400" lvl="2" indent="0">
              <a:buNone/>
            </a:pPr>
            <a:r>
              <a:rPr lang="en-US" sz="1800"/>
              <a:t>- quadratic runtime</a:t>
            </a:r>
          </a:p>
          <a:p>
            <a:pPr lvl="1"/>
            <a:r>
              <a:rPr lang="en-US" sz="2000"/>
              <a:t>rare isolated </a:t>
            </a:r>
            <a:r>
              <a:rPr lang="en-US" sz="2000" smtClean="0"/>
              <a:t>tri (unmatched)</a:t>
            </a:r>
            <a:endParaRPr lang="en-US" sz="2000"/>
          </a:p>
          <a:p>
            <a:pPr marL="914400" lvl="2" indent="0">
              <a:buNone/>
            </a:pPr>
            <a:r>
              <a:rPr lang="en-US" sz="1800" smtClean="0"/>
              <a:t>tri </a:t>
            </a:r>
            <a:r>
              <a:rPr lang="en-US" sz="1800"/>
              <a:t>1-&gt;3 quad refine</a:t>
            </a:r>
          </a:p>
          <a:p>
            <a:pPr marL="914400" lvl="2" indent="0">
              <a:buNone/>
            </a:pPr>
            <a:r>
              <a:rPr lang="en-US" sz="1800" smtClean="0"/>
              <a:t>   + fixed vertices</a:t>
            </a:r>
          </a:p>
          <a:p>
            <a:pPr marL="914400" lvl="2" indent="0">
              <a:buNone/>
            </a:pPr>
            <a:r>
              <a:rPr lang="en-US" sz="1800" smtClean="0"/>
              <a:t>   - global propagation</a:t>
            </a:r>
          </a:p>
          <a:p>
            <a:pPr marL="457200" lvl="1" indent="0">
              <a:buNone/>
            </a:pPr>
            <a:r>
              <a:rPr lang="en-US" sz="1800" smtClean="0"/>
              <a:t>       + alternative local refine</a:t>
            </a:r>
          </a:p>
          <a:p>
            <a:pPr marL="457200" lvl="1" indent="0">
              <a:buNone/>
            </a:pPr>
            <a:r>
              <a:rPr lang="en-US" sz="2000"/>
              <a:t>	</a:t>
            </a:r>
            <a:r>
              <a:rPr lang="en-US" sz="2000" smtClean="0"/>
              <a:t>   </a:t>
            </a:r>
            <a:r>
              <a:rPr lang="en-US" sz="1600" smtClean="0"/>
              <a:t>(complicated, several rules)</a:t>
            </a:r>
            <a:endParaRPr lang="en-US" sz="1600"/>
          </a:p>
          <a:p>
            <a:pPr lvl="1"/>
            <a:r>
              <a:rPr lang="en-US" sz="2000" smtClean="0"/>
              <a:t>local pair swap </a:t>
            </a:r>
            <a:br>
              <a:rPr lang="en-US" sz="2000" smtClean="0"/>
            </a:br>
            <a:r>
              <a:rPr lang="en-US" sz="2000" smtClean="0"/>
              <a:t>global cascade</a:t>
            </a:r>
          </a:p>
          <a:p>
            <a:pPr lvl="1"/>
            <a:r>
              <a:rPr lang="en-US" sz="2000" smtClean="0"/>
              <a:t>global </a:t>
            </a:r>
            <a:r>
              <a:rPr lang="en-US" sz="2000"/>
              <a:t>difficulties</a:t>
            </a:r>
          </a:p>
        </p:txBody>
      </p:sp>
      <p:sp>
        <p:nvSpPr>
          <p:cNvPr id="36" name="Content Placeholder 2"/>
          <p:cNvSpPr txBox="1">
            <a:spLocks/>
          </p:cNvSpPr>
          <p:nvPr/>
        </p:nvSpPr>
        <p:spPr bwMode="auto">
          <a:xfrm>
            <a:off x="4360334" y="1373027"/>
            <a:ext cx="4783666" cy="439899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>
            <a:lvl1pPr marL="34290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200" b="1">
                <a:solidFill>
                  <a:srgbClr val="000000"/>
                </a:solidFill>
                <a:latin typeface="+mn-lt"/>
              </a:defRPr>
            </a:lvl2pPr>
            <a:lvl3pPr marL="1085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rgbClr val="000000"/>
                </a:solidFill>
                <a:latin typeface="+mn-lt"/>
              </a:defRPr>
            </a:lvl3pPr>
            <a:lvl4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rgbClr val="000000"/>
                </a:solidFill>
                <a:latin typeface="+mn-lt"/>
              </a:defRPr>
            </a:lvl4pPr>
            <a:lvl5pPr marL="19431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5pPr>
            <a:lvl6pPr marL="24003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6pPr>
            <a:lvl7pPr marL="28575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7pPr>
            <a:lvl8pPr marL="33147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8pPr>
            <a:lvl9pPr marL="37719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9pPr>
          </a:lstStyle>
          <a:p>
            <a:pPr marL="171450" indent="0">
              <a:buNone/>
            </a:pPr>
            <a:r>
              <a:rPr lang="en-US" sz="2000"/>
              <a:t>Two-coloring vertices </a:t>
            </a:r>
          </a:p>
          <a:p>
            <a:pPr lvl="1"/>
            <a:r>
              <a:rPr lang="en-US" sz="2000"/>
              <a:t>colors don’t measure quality</a:t>
            </a:r>
          </a:p>
          <a:p>
            <a:pPr marL="457200" lvl="1" indent="0">
              <a:buNone/>
            </a:pPr>
            <a:r>
              <a:rPr lang="en-US" sz="2000"/>
              <a:t>+ fast</a:t>
            </a:r>
          </a:p>
          <a:p>
            <a:pPr marL="914400" lvl="2" indent="0">
              <a:buNone/>
            </a:pPr>
            <a:r>
              <a:rPr lang="en-US" sz="1800"/>
              <a:t>+ local coloring alg</a:t>
            </a:r>
          </a:p>
          <a:p>
            <a:pPr marL="914400" lvl="2" indent="0">
              <a:buNone/>
            </a:pPr>
            <a:r>
              <a:rPr lang="en-US" sz="1800"/>
              <a:t>+ near linear runtime</a:t>
            </a:r>
          </a:p>
          <a:p>
            <a:pPr lvl="1"/>
            <a:r>
              <a:rPr lang="en-US" sz="2000"/>
              <a:t>rare isolated </a:t>
            </a:r>
            <a:r>
              <a:rPr lang="en-US" sz="2000" smtClean="0"/>
              <a:t>tri (monchromatic)</a:t>
            </a:r>
            <a:endParaRPr lang="en-US" sz="2000"/>
          </a:p>
          <a:p>
            <a:pPr marL="914400" lvl="2" indent="0">
              <a:buNone/>
            </a:pPr>
            <a:r>
              <a:rPr lang="en-US" sz="1800"/>
              <a:t>   tri 1-&gt;3 </a:t>
            </a:r>
            <a:r>
              <a:rPr lang="en-US" sz="1800" smtClean="0"/>
              <a:t>tri refine</a:t>
            </a:r>
          </a:p>
          <a:p>
            <a:pPr marL="914400" lvl="2" indent="0">
              <a:buNone/>
            </a:pPr>
            <a:r>
              <a:rPr lang="en-US" sz="1800" smtClean="0"/>
              <a:t>- adds vertices</a:t>
            </a:r>
            <a:endParaRPr lang="en-US" sz="1800"/>
          </a:p>
          <a:p>
            <a:pPr marL="914400" lvl="2" indent="0">
              <a:buNone/>
            </a:pPr>
            <a:r>
              <a:rPr lang="en-US" sz="1800"/>
              <a:t>+ no </a:t>
            </a:r>
            <a:r>
              <a:rPr lang="en-US" sz="1800" smtClean="0"/>
              <a:t>propagation</a:t>
            </a:r>
          </a:p>
          <a:p>
            <a:pPr marL="914400" lvl="2" indent="0">
              <a:buNone/>
            </a:pPr>
            <a:endParaRPr lang="en-US" sz="1800"/>
          </a:p>
          <a:p>
            <a:pPr marL="914400" lvl="2" indent="0">
              <a:buNone/>
            </a:pPr>
            <a:endParaRPr lang="en-US"/>
          </a:p>
          <a:p>
            <a:pPr marL="457200" lvl="1" indent="0">
              <a:buNone/>
            </a:pPr>
            <a:r>
              <a:rPr lang="en-US" sz="2000" smtClean="0"/>
              <a:t>+ local color flip </a:t>
            </a:r>
            <a:r>
              <a:rPr lang="en-US" sz="2000"/>
              <a:t/>
            </a:r>
            <a:br>
              <a:rPr lang="en-US" sz="2000"/>
            </a:br>
            <a:r>
              <a:rPr lang="en-US" sz="2000"/>
              <a:t>   local change</a:t>
            </a:r>
          </a:p>
          <a:p>
            <a:pPr marL="457200" lvl="1" indent="0">
              <a:buNone/>
            </a:pPr>
            <a:r>
              <a:rPr lang="en-US" sz="2000"/>
              <a:t>+ local </a:t>
            </a:r>
            <a:r>
              <a:rPr lang="en-US" sz="2000" smtClean="0"/>
              <a:t>difficulties</a:t>
            </a:r>
            <a:endParaRPr lang="en-US" sz="2000"/>
          </a:p>
        </p:txBody>
      </p:sp>
      <p:sp>
        <p:nvSpPr>
          <p:cNvPr id="4" name="TextBox 3"/>
          <p:cNvSpPr txBox="1"/>
          <p:nvPr/>
        </p:nvSpPr>
        <p:spPr>
          <a:xfrm>
            <a:off x="6614140" y="6273225"/>
            <a:ext cx="252986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smtClean="0"/>
              <a:t>“-” means a negative feature</a:t>
            </a:r>
          </a:p>
          <a:p>
            <a:r>
              <a:rPr lang="en-US" sz="1600" smtClean="0"/>
              <a:t>“+” means a positive feature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732393143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Interval Assignment Interpretation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Two-coloring is a </a:t>
            </a:r>
            <a:r>
              <a:rPr lang="en-US" dirty="0" smtClean="0">
                <a:solidFill>
                  <a:srgbClr val="0000FF"/>
                </a:solidFill>
              </a:rPr>
              <a:t>local</a:t>
            </a:r>
            <a:r>
              <a:rPr lang="en-US" dirty="0" smtClean="0"/>
              <a:t> assignment </a:t>
            </a:r>
          </a:p>
          <a:p>
            <a:pPr lvl="1"/>
            <a:r>
              <a:rPr lang="en-US" dirty="0" smtClean="0"/>
              <a:t>ensures even-number of boundary edges</a:t>
            </a:r>
            <a:br>
              <a:rPr lang="en-US" dirty="0" smtClean="0"/>
            </a:br>
            <a:r>
              <a:rPr lang="en-US" dirty="0" smtClean="0"/>
              <a:t>inherent </a:t>
            </a:r>
            <a:r>
              <a:rPr lang="en-US" dirty="0" smtClean="0">
                <a:solidFill>
                  <a:srgbClr val="0000FF"/>
                </a:solidFill>
              </a:rPr>
              <a:t>global</a:t>
            </a:r>
            <a:r>
              <a:rPr lang="en-US" dirty="0" smtClean="0"/>
              <a:t> constraint for quad meshes</a:t>
            </a:r>
          </a:p>
          <a:p>
            <a:r>
              <a:rPr lang="en-US" dirty="0" smtClean="0"/>
              <a:t>Now let’s use coloring for </a:t>
            </a:r>
            <a:r>
              <a:rPr lang="en-US" dirty="0" smtClean="0">
                <a:solidFill>
                  <a:srgbClr val="0000FF"/>
                </a:solidFill>
              </a:rPr>
              <a:t>spatial positions</a:t>
            </a:r>
          </a:p>
        </p:txBody>
      </p:sp>
    </p:spTree>
    <p:extLst>
      <p:ext uri="{BB962C8B-B14F-4D97-AF65-F5344CB8AC3E}">
        <p14:creationId xmlns:p14="http://schemas.microsoft.com/office/powerpoint/2010/main" val="2751790338"/>
      </p:ext>
    </p:extLst>
  </p:cSld>
  <p:clrMapOvr>
    <a:masterClrMapping/>
  </p:clrMapOvr>
  <p:transition xmlns:p14="http://schemas.microsoft.com/office/powerpoint/2010/main"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Back to the algorithm</a:t>
            </a:r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0" y="1143000"/>
            <a:ext cx="4790722" cy="457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>
            <a:lvl1pPr marL="34290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200" b="1">
                <a:solidFill>
                  <a:srgbClr val="000000"/>
                </a:solidFill>
                <a:latin typeface="+mn-lt"/>
              </a:defRPr>
            </a:lvl2pPr>
            <a:lvl3pPr marL="1085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rgbClr val="000000"/>
                </a:solidFill>
                <a:latin typeface="+mn-lt"/>
              </a:defRPr>
            </a:lvl3pPr>
            <a:lvl4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rgbClr val="000000"/>
                </a:solidFill>
                <a:latin typeface="+mn-lt"/>
              </a:defRPr>
            </a:lvl4pPr>
            <a:lvl5pPr marL="19431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5pPr>
            <a:lvl6pPr marL="24003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6pPr>
            <a:lvl7pPr marL="28575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7pPr>
            <a:lvl8pPr marL="33147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8pPr>
            <a:lvl9pPr marL="37719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9pPr>
          </a:lstStyle>
          <a:p>
            <a:r>
              <a:rPr lang="en-US" sz="1800" kern="0" dirty="0" smtClean="0"/>
              <a:t>Generate (or given) well-spaced points</a:t>
            </a:r>
          </a:p>
          <a:p>
            <a:r>
              <a:rPr lang="en-US" sz="1800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Delaunay triangulate</a:t>
            </a:r>
          </a:p>
          <a:p>
            <a:r>
              <a:rPr lang="en-US" sz="1800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Color points red or blue</a:t>
            </a:r>
          </a:p>
          <a:p>
            <a:pPr lvl="1"/>
            <a:r>
              <a:rPr lang="en-US" sz="1600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intersperse colors</a:t>
            </a:r>
          </a:p>
          <a:p>
            <a:r>
              <a:rPr lang="en-US" sz="1800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Discard red-red and blue-blue edges</a:t>
            </a:r>
          </a:p>
          <a:p>
            <a:r>
              <a:rPr lang="en-US" sz="1800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Quads mostly</a:t>
            </a:r>
            <a:endParaRPr lang="en-US" sz="1600" kern="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r>
              <a:rPr lang="en-US" sz="1600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good quality, some large angles</a:t>
            </a:r>
          </a:p>
          <a:p>
            <a:r>
              <a:rPr lang="en-US" sz="1800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6, 8, 10 sided polygons sometimes</a:t>
            </a:r>
            <a:endParaRPr lang="en-US" sz="1600" kern="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r>
              <a:rPr lang="en-US" sz="1600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constrained </a:t>
            </a:r>
            <a:r>
              <a:rPr lang="en-US" sz="1600" kern="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incircle</a:t>
            </a:r>
            <a:r>
              <a:rPr lang="en-US" sz="1600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refinement</a:t>
            </a:r>
          </a:p>
          <a:p>
            <a:pPr lvl="1"/>
            <a:r>
              <a:rPr lang="en-US" sz="1600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median template for reflex quads</a:t>
            </a:r>
          </a:p>
          <a:p>
            <a:r>
              <a:rPr lang="en-US" sz="1800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All quads with provable quality</a:t>
            </a:r>
          </a:p>
          <a:p>
            <a:endParaRPr lang="en-US" sz="1800" kern="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sz="1800" kern="0" dirty="0" smtClean="0">
                <a:solidFill>
                  <a:schemeClr val="tx1"/>
                </a:solidFill>
              </a:rPr>
              <a:t>Coloring and positions improve </a:t>
            </a:r>
            <a:br>
              <a:rPr lang="en-US" sz="1800" kern="0" dirty="0" smtClean="0">
                <a:solidFill>
                  <a:schemeClr val="tx1"/>
                </a:solidFill>
              </a:rPr>
            </a:br>
            <a:r>
              <a:rPr lang="en-US" sz="1800" kern="0" dirty="0" smtClean="0">
                <a:solidFill>
                  <a:schemeClr val="tx1"/>
                </a:solidFill>
              </a:rPr>
              <a:t>quality in practice</a:t>
            </a:r>
            <a:endParaRPr lang="en-US" sz="1800" kern="0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775200" y="1271291"/>
            <a:ext cx="4368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tx2"/>
                </a:solidFill>
                <a:latin typeface="+mj-lt"/>
              </a:rPr>
              <a:t>We can take any Packing </a:t>
            </a:r>
            <a:br>
              <a:rPr lang="en-US" b="1" dirty="0" smtClean="0">
                <a:solidFill>
                  <a:schemeClr val="tx2"/>
                </a:solidFill>
                <a:latin typeface="+mj-lt"/>
              </a:rPr>
            </a:br>
            <a:r>
              <a:rPr lang="en-US" b="1" dirty="0" smtClean="0">
                <a:solidFill>
                  <a:schemeClr val="tx2"/>
                </a:solidFill>
                <a:latin typeface="+mj-lt"/>
              </a:rPr>
              <a:t>or Delaunay Refinement triangulation and </a:t>
            </a:r>
            <a:br>
              <a:rPr lang="en-US" b="1" dirty="0" smtClean="0">
                <a:solidFill>
                  <a:schemeClr val="tx2"/>
                </a:solidFill>
                <a:latin typeface="+mj-lt"/>
              </a:rPr>
            </a:br>
            <a:r>
              <a:rPr lang="en-US" b="1" dirty="0" smtClean="0">
                <a:solidFill>
                  <a:schemeClr val="tx2"/>
                </a:solidFill>
                <a:latin typeface="+mj-lt"/>
              </a:rPr>
              <a:t>two-color vertices arbitrarily.</a:t>
            </a:r>
          </a:p>
          <a:p>
            <a:endParaRPr lang="en-US" b="1" dirty="0" smtClean="0">
              <a:solidFill>
                <a:schemeClr val="tx2"/>
              </a:solidFill>
              <a:latin typeface="+mj-lt"/>
            </a:endParaRPr>
          </a:p>
          <a:p>
            <a:r>
              <a:rPr lang="en-US" b="1" dirty="0" smtClean="0">
                <a:solidFill>
                  <a:schemeClr val="tx2"/>
                </a:solidFill>
                <a:latin typeface="+mj-lt"/>
              </a:rPr>
              <a:t>We can do better!</a:t>
            </a:r>
            <a:endParaRPr lang="en-US" b="1" dirty="0">
              <a:solidFill>
                <a:schemeClr val="tx2"/>
              </a:solidFill>
              <a:latin typeface="+mj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358875" y="3756388"/>
            <a:ext cx="3949198" cy="1828800"/>
            <a:chOff x="4358875" y="4543788"/>
            <a:chExt cx="3949198" cy="1828800"/>
          </a:xfrm>
        </p:grpSpPr>
        <p:grpSp>
          <p:nvGrpSpPr>
            <p:cNvPr id="6" name="Group 5"/>
            <p:cNvGrpSpPr>
              <a:grpSpLocks noChangeAspect="1"/>
            </p:cNvGrpSpPr>
            <p:nvPr/>
          </p:nvGrpSpPr>
          <p:grpSpPr>
            <a:xfrm>
              <a:off x="4358875" y="4543788"/>
              <a:ext cx="1834647" cy="1828800"/>
              <a:chOff x="4936725" y="1679938"/>
              <a:chExt cx="4226331" cy="4212862"/>
            </a:xfrm>
          </p:grpSpPr>
          <p:grpSp>
            <p:nvGrpSpPr>
              <p:cNvPr id="7" name="Group 6"/>
              <p:cNvGrpSpPr>
                <a:grpSpLocks noChangeAspect="1"/>
              </p:cNvGrpSpPr>
              <p:nvPr/>
            </p:nvGrpSpPr>
            <p:grpSpPr>
              <a:xfrm>
                <a:off x="4936725" y="1679938"/>
                <a:ext cx="4226331" cy="4212862"/>
                <a:chOff x="5601968" y="1444988"/>
                <a:chExt cx="2983238" cy="2973730"/>
              </a:xfrm>
              <a:solidFill>
                <a:schemeClr val="tx1"/>
              </a:solidFill>
            </p:grpSpPr>
            <p:sp>
              <p:nvSpPr>
                <p:cNvPr id="90" name="Oval 89"/>
                <p:cNvSpPr/>
                <p:nvPr/>
              </p:nvSpPr>
              <p:spPr bwMode="auto">
                <a:xfrm rot="5400000">
                  <a:off x="7407008" y="3262425"/>
                  <a:ext cx="210312" cy="213651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  <p:sp>
              <p:nvSpPr>
                <p:cNvPr id="91" name="Oval 90"/>
                <p:cNvSpPr/>
                <p:nvPr/>
              </p:nvSpPr>
              <p:spPr bwMode="auto">
                <a:xfrm rot="5400000">
                  <a:off x="6223415" y="2240301"/>
                  <a:ext cx="210312" cy="213651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  <p:sp>
              <p:nvSpPr>
                <p:cNvPr id="92" name="Oval 91"/>
                <p:cNvSpPr/>
                <p:nvPr/>
              </p:nvSpPr>
              <p:spPr bwMode="auto">
                <a:xfrm rot="5400000">
                  <a:off x="8358300" y="3478132"/>
                  <a:ext cx="210312" cy="213651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  <p:sp>
              <p:nvSpPr>
                <p:cNvPr id="93" name="Oval 92"/>
                <p:cNvSpPr/>
                <p:nvPr/>
              </p:nvSpPr>
              <p:spPr bwMode="auto">
                <a:xfrm rot="5400000">
                  <a:off x="7072057" y="1733132"/>
                  <a:ext cx="210312" cy="213651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  <p:sp>
              <p:nvSpPr>
                <p:cNvPr id="94" name="Oval 93"/>
                <p:cNvSpPr/>
                <p:nvPr/>
              </p:nvSpPr>
              <p:spPr bwMode="auto">
                <a:xfrm rot="5400000">
                  <a:off x="5611910" y="1456776"/>
                  <a:ext cx="210312" cy="213651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  <p:sp>
              <p:nvSpPr>
                <p:cNvPr id="95" name="Oval 94"/>
                <p:cNvSpPr/>
                <p:nvPr/>
              </p:nvSpPr>
              <p:spPr bwMode="auto">
                <a:xfrm rot="5400000">
                  <a:off x="6403605" y="3578177"/>
                  <a:ext cx="210312" cy="213651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  <p:sp>
              <p:nvSpPr>
                <p:cNvPr id="96" name="Oval 95"/>
                <p:cNvSpPr/>
                <p:nvPr/>
              </p:nvSpPr>
              <p:spPr bwMode="auto">
                <a:xfrm rot="5400000">
                  <a:off x="6106325" y="3297638"/>
                  <a:ext cx="210312" cy="213651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  <p:sp>
              <p:nvSpPr>
                <p:cNvPr id="97" name="Oval 96"/>
                <p:cNvSpPr/>
                <p:nvPr/>
              </p:nvSpPr>
              <p:spPr bwMode="auto">
                <a:xfrm rot="5400000">
                  <a:off x="7103536" y="1455018"/>
                  <a:ext cx="210312" cy="213651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  <p:sp>
              <p:nvSpPr>
                <p:cNvPr id="98" name="Oval 97"/>
                <p:cNvSpPr/>
                <p:nvPr/>
              </p:nvSpPr>
              <p:spPr bwMode="auto">
                <a:xfrm rot="5400000">
                  <a:off x="8365275" y="2927856"/>
                  <a:ext cx="210312" cy="213651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  <p:sp>
              <p:nvSpPr>
                <p:cNvPr id="99" name="Oval 98"/>
                <p:cNvSpPr/>
                <p:nvPr/>
              </p:nvSpPr>
              <p:spPr bwMode="auto">
                <a:xfrm rot="5400000">
                  <a:off x="7911778" y="4206736"/>
                  <a:ext cx="210312" cy="213651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  <p:sp>
              <p:nvSpPr>
                <p:cNvPr id="100" name="Oval 99"/>
                <p:cNvSpPr/>
                <p:nvPr/>
              </p:nvSpPr>
              <p:spPr bwMode="auto">
                <a:xfrm rot="5400000">
                  <a:off x="7933221" y="3511981"/>
                  <a:ext cx="210312" cy="213651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  <p:sp>
              <p:nvSpPr>
                <p:cNvPr id="101" name="Oval 100"/>
                <p:cNvSpPr/>
                <p:nvPr/>
              </p:nvSpPr>
              <p:spPr bwMode="auto">
                <a:xfrm rot="5400000">
                  <a:off x="7578947" y="3797755"/>
                  <a:ext cx="210312" cy="213651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  <p:sp>
              <p:nvSpPr>
                <p:cNvPr id="102" name="Oval 101"/>
                <p:cNvSpPr/>
                <p:nvPr/>
              </p:nvSpPr>
              <p:spPr bwMode="auto">
                <a:xfrm rot="5400000">
                  <a:off x="6639604" y="2639275"/>
                  <a:ext cx="210312" cy="213651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  <p:sp>
              <p:nvSpPr>
                <p:cNvPr id="103" name="Oval 102"/>
                <p:cNvSpPr/>
                <p:nvPr/>
              </p:nvSpPr>
              <p:spPr bwMode="auto">
                <a:xfrm rot="5400000">
                  <a:off x="6826644" y="2956229"/>
                  <a:ext cx="210312" cy="213651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  <p:sp>
              <p:nvSpPr>
                <p:cNvPr id="104" name="Oval 103"/>
                <p:cNvSpPr/>
                <p:nvPr/>
              </p:nvSpPr>
              <p:spPr bwMode="auto">
                <a:xfrm rot="5400000">
                  <a:off x="6961758" y="2079915"/>
                  <a:ext cx="210312" cy="213651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  <p:sp>
              <p:nvSpPr>
                <p:cNvPr id="105" name="Oval 104"/>
                <p:cNvSpPr/>
                <p:nvPr/>
              </p:nvSpPr>
              <p:spPr bwMode="auto">
                <a:xfrm rot="5400000">
                  <a:off x="7361881" y="2213739"/>
                  <a:ext cx="210312" cy="213651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  <p:sp>
              <p:nvSpPr>
                <p:cNvPr id="106" name="Oval 105"/>
                <p:cNvSpPr/>
                <p:nvPr/>
              </p:nvSpPr>
              <p:spPr bwMode="auto">
                <a:xfrm rot="5400000">
                  <a:off x="7508140" y="2882344"/>
                  <a:ext cx="210312" cy="213651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  <p:sp>
              <p:nvSpPr>
                <p:cNvPr id="107" name="Oval 106"/>
                <p:cNvSpPr/>
                <p:nvPr/>
              </p:nvSpPr>
              <p:spPr bwMode="auto">
                <a:xfrm rot="5400000">
                  <a:off x="7938005" y="2784162"/>
                  <a:ext cx="210312" cy="213651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  <p:sp>
              <p:nvSpPr>
                <p:cNvPr id="108" name="Oval 107"/>
                <p:cNvSpPr/>
                <p:nvPr/>
              </p:nvSpPr>
              <p:spPr bwMode="auto">
                <a:xfrm rot="5400000">
                  <a:off x="7270958" y="2529983"/>
                  <a:ext cx="210312" cy="213651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  <p:sp>
              <p:nvSpPr>
                <p:cNvPr id="109" name="Oval 108"/>
                <p:cNvSpPr/>
                <p:nvPr/>
              </p:nvSpPr>
              <p:spPr bwMode="auto">
                <a:xfrm rot="5400000">
                  <a:off x="6110988" y="3829700"/>
                  <a:ext cx="210312" cy="213651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  <p:sp>
              <p:nvSpPr>
                <p:cNvPr id="110" name="Oval 109"/>
                <p:cNvSpPr/>
                <p:nvPr/>
              </p:nvSpPr>
              <p:spPr bwMode="auto">
                <a:xfrm rot="5400000">
                  <a:off x="8367205" y="4187768"/>
                  <a:ext cx="210312" cy="213651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  <p:sp>
              <p:nvSpPr>
                <p:cNvPr id="111" name="Oval 110"/>
                <p:cNvSpPr/>
                <p:nvPr/>
              </p:nvSpPr>
              <p:spPr bwMode="auto">
                <a:xfrm rot="5400000">
                  <a:off x="8366251" y="1463659"/>
                  <a:ext cx="210312" cy="213651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  <p:sp>
              <p:nvSpPr>
                <p:cNvPr id="112" name="Oval 111"/>
                <p:cNvSpPr/>
                <p:nvPr/>
              </p:nvSpPr>
              <p:spPr bwMode="auto">
                <a:xfrm rot="5400000">
                  <a:off x="8372270" y="2384580"/>
                  <a:ext cx="210312" cy="213651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  <p:sp>
              <p:nvSpPr>
                <p:cNvPr id="113" name="Oval 112"/>
                <p:cNvSpPr/>
                <p:nvPr/>
              </p:nvSpPr>
              <p:spPr bwMode="auto">
                <a:xfrm rot="5400000">
                  <a:off x="8373225" y="1954687"/>
                  <a:ext cx="210312" cy="213651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  <p:sp>
              <p:nvSpPr>
                <p:cNvPr id="114" name="Oval 113"/>
                <p:cNvSpPr/>
                <p:nvPr/>
              </p:nvSpPr>
              <p:spPr bwMode="auto">
                <a:xfrm rot="5400000">
                  <a:off x="5603638" y="2480888"/>
                  <a:ext cx="210312" cy="213651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  <p:sp>
              <p:nvSpPr>
                <p:cNvPr id="115" name="Oval 114"/>
                <p:cNvSpPr/>
                <p:nvPr/>
              </p:nvSpPr>
              <p:spPr bwMode="auto">
                <a:xfrm rot="5400000">
                  <a:off x="5610613" y="1930612"/>
                  <a:ext cx="210312" cy="213651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  <p:sp>
              <p:nvSpPr>
                <p:cNvPr id="116" name="Oval 115"/>
                <p:cNvSpPr/>
                <p:nvPr/>
              </p:nvSpPr>
              <p:spPr bwMode="auto">
                <a:xfrm rot="5400000">
                  <a:off x="5612543" y="3190524"/>
                  <a:ext cx="210312" cy="213651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  <p:sp>
              <p:nvSpPr>
                <p:cNvPr id="117" name="Oval 116"/>
                <p:cNvSpPr/>
                <p:nvPr/>
              </p:nvSpPr>
              <p:spPr bwMode="auto">
                <a:xfrm rot="5400000">
                  <a:off x="6135223" y="1880904"/>
                  <a:ext cx="210312" cy="213651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  <p:sp>
              <p:nvSpPr>
                <p:cNvPr id="118" name="Oval 117"/>
                <p:cNvSpPr/>
                <p:nvPr/>
              </p:nvSpPr>
              <p:spPr bwMode="auto">
                <a:xfrm rot="5400000">
                  <a:off x="6232476" y="1463048"/>
                  <a:ext cx="210312" cy="213651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  <p:sp>
              <p:nvSpPr>
                <p:cNvPr id="119" name="Oval 118"/>
                <p:cNvSpPr/>
                <p:nvPr/>
              </p:nvSpPr>
              <p:spPr bwMode="auto">
                <a:xfrm>
                  <a:off x="6610702" y="4192232"/>
                  <a:ext cx="210312" cy="213651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  <p:sp>
              <p:nvSpPr>
                <p:cNvPr id="120" name="Oval 119"/>
                <p:cNvSpPr/>
                <p:nvPr/>
              </p:nvSpPr>
              <p:spPr bwMode="auto">
                <a:xfrm>
                  <a:off x="7719111" y="1444988"/>
                  <a:ext cx="210312" cy="213651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  <p:sp>
              <p:nvSpPr>
                <p:cNvPr id="121" name="Oval 120"/>
                <p:cNvSpPr/>
                <p:nvPr/>
              </p:nvSpPr>
              <p:spPr bwMode="auto">
                <a:xfrm>
                  <a:off x="7215465" y="4203653"/>
                  <a:ext cx="210312" cy="213651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  <p:sp>
              <p:nvSpPr>
                <p:cNvPr id="122" name="Oval 121"/>
                <p:cNvSpPr/>
                <p:nvPr/>
              </p:nvSpPr>
              <p:spPr bwMode="auto">
                <a:xfrm>
                  <a:off x="5625558" y="3688551"/>
                  <a:ext cx="210312" cy="213651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  <p:sp>
              <p:nvSpPr>
                <p:cNvPr id="123" name="Oval 122"/>
                <p:cNvSpPr/>
                <p:nvPr/>
              </p:nvSpPr>
              <p:spPr bwMode="auto">
                <a:xfrm>
                  <a:off x="7889566" y="2301620"/>
                  <a:ext cx="210312" cy="213651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  <p:sp>
              <p:nvSpPr>
                <p:cNvPr id="124" name="Oval 123"/>
                <p:cNvSpPr/>
                <p:nvPr/>
              </p:nvSpPr>
              <p:spPr bwMode="auto">
                <a:xfrm rot="5400000">
                  <a:off x="5620736" y="4202425"/>
                  <a:ext cx="210312" cy="213651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  <p:sp>
              <p:nvSpPr>
                <p:cNvPr id="125" name="Oval 124"/>
                <p:cNvSpPr/>
                <p:nvPr/>
              </p:nvSpPr>
              <p:spPr bwMode="auto">
                <a:xfrm rot="5400000">
                  <a:off x="6345349" y="2881884"/>
                  <a:ext cx="210312" cy="213651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  <p:sp>
              <p:nvSpPr>
                <p:cNvPr id="126" name="Oval 125"/>
                <p:cNvSpPr/>
                <p:nvPr/>
              </p:nvSpPr>
              <p:spPr bwMode="auto">
                <a:xfrm rot="5400000">
                  <a:off x="7758737" y="1824589"/>
                  <a:ext cx="210312" cy="213651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  <p:sp>
              <p:nvSpPr>
                <p:cNvPr id="127" name="Oval 126"/>
                <p:cNvSpPr/>
                <p:nvPr/>
              </p:nvSpPr>
              <p:spPr bwMode="auto">
                <a:xfrm rot="5400000">
                  <a:off x="7023739" y="3595400"/>
                  <a:ext cx="210312" cy="213651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</p:grpSp>
          <p:cxnSp>
            <p:nvCxnSpPr>
              <p:cNvPr id="8" name="Straight Connector 7"/>
              <p:cNvCxnSpPr>
                <a:cxnSpLocks noChangeAspect="1"/>
              </p:cNvCxnSpPr>
              <p:nvPr/>
            </p:nvCxnSpPr>
            <p:spPr bwMode="auto">
              <a:xfrm flipV="1">
                <a:off x="6143952" y="3521238"/>
                <a:ext cx="414972" cy="33608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" name="Straight Connector 8"/>
              <p:cNvCxnSpPr>
                <a:cxnSpLocks noChangeAspect="1"/>
              </p:cNvCxnSpPr>
              <p:nvPr/>
            </p:nvCxnSpPr>
            <p:spPr bwMode="auto">
              <a:xfrm flipH="1" flipV="1">
                <a:off x="6567451" y="3529765"/>
                <a:ext cx="249793" cy="455105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" name="Straight Connector 9"/>
              <p:cNvCxnSpPr>
                <a:cxnSpLocks noChangeAspect="1"/>
              </p:cNvCxnSpPr>
              <p:nvPr/>
            </p:nvCxnSpPr>
            <p:spPr bwMode="auto">
              <a:xfrm flipH="1" flipV="1">
                <a:off x="6797672" y="3981707"/>
                <a:ext cx="296620" cy="919599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" name="Straight Connector 10"/>
              <p:cNvCxnSpPr>
                <a:cxnSpLocks noChangeAspect="1"/>
              </p:cNvCxnSpPr>
              <p:nvPr/>
            </p:nvCxnSpPr>
            <p:spPr bwMode="auto">
              <a:xfrm flipV="1">
                <a:off x="6512227" y="4897205"/>
                <a:ext cx="575707" cy="83491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" name="Straight Connector 11"/>
              <p:cNvCxnSpPr>
                <a:cxnSpLocks noChangeAspect="1"/>
              </p:cNvCxnSpPr>
              <p:nvPr/>
            </p:nvCxnSpPr>
            <p:spPr bwMode="auto">
              <a:xfrm>
                <a:off x="6224355" y="4856510"/>
                <a:ext cx="875573" cy="4669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13" name="Group 12"/>
              <p:cNvGrpSpPr>
                <a:grpSpLocks noChangeAspect="1"/>
              </p:cNvGrpSpPr>
              <p:nvPr/>
            </p:nvGrpSpPr>
            <p:grpSpPr>
              <a:xfrm>
                <a:off x="5105365" y="1847893"/>
                <a:ext cx="3910074" cy="3897523"/>
                <a:chOff x="5654800" y="2809494"/>
                <a:chExt cx="2760002" cy="2751142"/>
              </a:xfrm>
            </p:grpSpPr>
            <p:cxnSp>
              <p:nvCxnSpPr>
                <p:cNvPr id="86" name="Straight Connector 85"/>
                <p:cNvCxnSpPr/>
                <p:nvPr/>
              </p:nvCxnSpPr>
              <p:spPr bwMode="auto">
                <a:xfrm>
                  <a:off x="5657634" y="2810915"/>
                  <a:ext cx="2743200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7" name="Straight Connector 86"/>
                <p:cNvCxnSpPr/>
                <p:nvPr/>
              </p:nvCxnSpPr>
              <p:spPr bwMode="auto">
                <a:xfrm>
                  <a:off x="5671602" y="5557542"/>
                  <a:ext cx="2743200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8" name="Straight Connector 87"/>
                <p:cNvCxnSpPr/>
                <p:nvPr/>
              </p:nvCxnSpPr>
              <p:spPr bwMode="auto">
                <a:xfrm rot="16200000">
                  <a:off x="4283200" y="4181094"/>
                  <a:ext cx="2743200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9" name="Straight Connector 88"/>
                <p:cNvCxnSpPr/>
                <p:nvPr/>
              </p:nvCxnSpPr>
              <p:spPr bwMode="auto">
                <a:xfrm rot="16200000">
                  <a:off x="7029685" y="4189036"/>
                  <a:ext cx="2743200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cxnSp>
            <p:nvCxnSpPr>
              <p:cNvPr id="14" name="Straight Connector 13"/>
              <p:cNvCxnSpPr>
                <a:cxnSpLocks noChangeAspect="1"/>
              </p:cNvCxnSpPr>
              <p:nvPr/>
            </p:nvCxnSpPr>
            <p:spPr bwMode="auto">
              <a:xfrm flipV="1">
                <a:off x="5249286" y="2448837"/>
                <a:ext cx="440533" cy="7042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" name="Straight Connector 14"/>
              <p:cNvCxnSpPr>
                <a:cxnSpLocks noChangeAspect="1"/>
              </p:cNvCxnSpPr>
              <p:nvPr/>
            </p:nvCxnSpPr>
            <p:spPr bwMode="auto">
              <a:xfrm>
                <a:off x="5842679" y="2446811"/>
                <a:ext cx="153482" cy="511632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" name="Straight Connector 15"/>
              <p:cNvCxnSpPr>
                <a:cxnSpLocks noChangeAspect="1"/>
              </p:cNvCxnSpPr>
              <p:nvPr/>
            </p:nvCxnSpPr>
            <p:spPr bwMode="auto">
              <a:xfrm flipV="1">
                <a:off x="5101277" y="2958442"/>
                <a:ext cx="869304" cy="342238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" name="Straight Connector 16"/>
              <p:cNvCxnSpPr>
                <a:cxnSpLocks noChangeAspect="1"/>
              </p:cNvCxnSpPr>
              <p:nvPr/>
            </p:nvCxnSpPr>
            <p:spPr bwMode="auto">
              <a:xfrm flipH="1" flipV="1">
                <a:off x="6004687" y="3009605"/>
                <a:ext cx="142001" cy="858965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8" name="Straight Connector 17"/>
              <p:cNvCxnSpPr>
                <a:cxnSpLocks noChangeAspect="1"/>
              </p:cNvCxnSpPr>
              <p:nvPr/>
            </p:nvCxnSpPr>
            <p:spPr bwMode="auto">
              <a:xfrm flipH="1">
                <a:off x="5826404" y="1851847"/>
                <a:ext cx="158058" cy="60505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" name="Straight Connector 18"/>
              <p:cNvCxnSpPr>
                <a:cxnSpLocks noChangeAspect="1"/>
              </p:cNvCxnSpPr>
              <p:nvPr/>
            </p:nvCxnSpPr>
            <p:spPr bwMode="auto">
              <a:xfrm flipV="1">
                <a:off x="5782455" y="3853798"/>
                <a:ext cx="358660" cy="596989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0" name="Straight Connector 19"/>
              <p:cNvCxnSpPr>
                <a:cxnSpLocks noChangeAspect="1"/>
              </p:cNvCxnSpPr>
              <p:nvPr/>
            </p:nvCxnSpPr>
            <p:spPr bwMode="auto">
              <a:xfrm flipV="1">
                <a:off x="6545879" y="2721461"/>
                <a:ext cx="464125" cy="806498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1" name="Straight Connector 20"/>
              <p:cNvCxnSpPr>
                <a:cxnSpLocks noChangeAspect="1"/>
              </p:cNvCxnSpPr>
              <p:nvPr/>
            </p:nvCxnSpPr>
            <p:spPr bwMode="auto">
              <a:xfrm flipH="1" flipV="1">
                <a:off x="5114849" y="3309199"/>
                <a:ext cx="676670" cy="1124449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2" name="Straight Connector 21"/>
              <p:cNvCxnSpPr>
                <a:cxnSpLocks noChangeAspect="1"/>
              </p:cNvCxnSpPr>
              <p:nvPr/>
            </p:nvCxnSpPr>
            <p:spPr bwMode="auto">
              <a:xfrm flipV="1">
                <a:off x="5793399" y="4825899"/>
                <a:ext cx="415930" cy="411759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" name="Straight Connector 22"/>
              <p:cNvCxnSpPr>
                <a:cxnSpLocks noChangeAspect="1"/>
              </p:cNvCxnSpPr>
              <p:nvPr/>
            </p:nvCxnSpPr>
            <p:spPr bwMode="auto">
              <a:xfrm flipV="1">
                <a:off x="5122521" y="4442175"/>
                <a:ext cx="668998" cy="593555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4" name="Straight Connector 23"/>
              <p:cNvCxnSpPr>
                <a:cxnSpLocks noChangeAspect="1"/>
              </p:cNvCxnSpPr>
              <p:nvPr/>
            </p:nvCxnSpPr>
            <p:spPr bwMode="auto">
              <a:xfrm flipH="1" flipV="1">
                <a:off x="5128530" y="5032566"/>
                <a:ext cx="662989" cy="202639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" name="Straight Connector 24"/>
              <p:cNvCxnSpPr>
                <a:cxnSpLocks noChangeAspect="1"/>
              </p:cNvCxnSpPr>
              <p:nvPr/>
            </p:nvCxnSpPr>
            <p:spPr bwMode="auto">
              <a:xfrm flipH="1" flipV="1">
                <a:off x="5791519" y="5226678"/>
                <a:ext cx="714750" cy="527705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6" name="Straight Connector 25"/>
              <p:cNvCxnSpPr>
                <a:cxnSpLocks noChangeAspect="1"/>
              </p:cNvCxnSpPr>
              <p:nvPr/>
            </p:nvCxnSpPr>
            <p:spPr bwMode="auto">
              <a:xfrm flipH="1" flipV="1">
                <a:off x="5774465" y="4442175"/>
                <a:ext cx="427576" cy="419576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" name="Straight Connector 26"/>
              <p:cNvCxnSpPr>
                <a:cxnSpLocks/>
              </p:cNvCxnSpPr>
              <p:nvPr/>
            </p:nvCxnSpPr>
            <p:spPr bwMode="auto">
              <a:xfrm flipH="1">
                <a:off x="7345820" y="5200650"/>
                <a:ext cx="547230" cy="506196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" name="Straight Connector 27"/>
              <p:cNvCxnSpPr>
                <a:cxnSpLocks noChangeAspect="1"/>
              </p:cNvCxnSpPr>
              <p:nvPr/>
            </p:nvCxnSpPr>
            <p:spPr bwMode="auto">
              <a:xfrm flipV="1">
                <a:off x="7447811" y="2912088"/>
                <a:ext cx="125906" cy="48707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9" name="Straight Connector 28"/>
              <p:cNvCxnSpPr>
                <a:cxnSpLocks noChangeAspect="1"/>
              </p:cNvCxnSpPr>
              <p:nvPr/>
            </p:nvCxnSpPr>
            <p:spPr bwMode="auto">
              <a:xfrm flipH="1" flipV="1">
                <a:off x="7015965" y="2732170"/>
                <a:ext cx="551792" cy="19320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" name="Straight Connector 29"/>
              <p:cNvCxnSpPr>
                <a:cxnSpLocks/>
              </p:cNvCxnSpPr>
              <p:nvPr/>
            </p:nvCxnSpPr>
            <p:spPr bwMode="auto">
              <a:xfrm flipV="1">
                <a:off x="7912100" y="4759268"/>
                <a:ext cx="489249" cy="403282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1" name="Straight Connector 30"/>
              <p:cNvCxnSpPr>
                <a:cxnSpLocks noChangeAspect="1"/>
              </p:cNvCxnSpPr>
              <p:nvPr/>
            </p:nvCxnSpPr>
            <p:spPr bwMode="auto">
              <a:xfrm flipH="1">
                <a:off x="6002418" y="2709466"/>
                <a:ext cx="1025579" cy="238606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2" name="Straight Connector 31"/>
              <p:cNvCxnSpPr>
                <a:cxnSpLocks noChangeAspect="1"/>
              </p:cNvCxnSpPr>
              <p:nvPr/>
            </p:nvCxnSpPr>
            <p:spPr bwMode="auto">
              <a:xfrm flipH="1" flipV="1">
                <a:off x="7441776" y="3373883"/>
                <a:ext cx="329891" cy="51705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3" name="Straight Connector 32"/>
              <p:cNvCxnSpPr>
                <a:cxnSpLocks noChangeAspect="1"/>
              </p:cNvCxnSpPr>
              <p:nvPr/>
            </p:nvCxnSpPr>
            <p:spPr bwMode="auto">
              <a:xfrm flipH="1">
                <a:off x="6824051" y="3914930"/>
                <a:ext cx="941617" cy="5269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4" name="Straight Connector 33"/>
              <p:cNvCxnSpPr>
                <a:cxnSpLocks noChangeAspect="1"/>
              </p:cNvCxnSpPr>
              <p:nvPr/>
            </p:nvCxnSpPr>
            <p:spPr bwMode="auto">
              <a:xfrm flipH="1" flipV="1">
                <a:off x="7663678" y="4387434"/>
                <a:ext cx="749702" cy="37312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5" name="Straight Connector 34"/>
              <p:cNvCxnSpPr>
                <a:cxnSpLocks noChangeAspect="1"/>
              </p:cNvCxnSpPr>
              <p:nvPr/>
            </p:nvCxnSpPr>
            <p:spPr bwMode="auto">
              <a:xfrm flipV="1">
                <a:off x="7651720" y="3889653"/>
                <a:ext cx="125907" cy="55904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6" name="Straight Connector 35"/>
              <p:cNvCxnSpPr>
                <a:cxnSpLocks noChangeAspect="1"/>
              </p:cNvCxnSpPr>
              <p:nvPr/>
            </p:nvCxnSpPr>
            <p:spPr bwMode="auto">
              <a:xfrm flipH="1">
                <a:off x="8401350" y="4730566"/>
                <a:ext cx="593773" cy="2270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7" name="Straight Connector 36"/>
              <p:cNvCxnSpPr>
                <a:cxnSpLocks noChangeAspect="1"/>
              </p:cNvCxnSpPr>
              <p:nvPr/>
            </p:nvCxnSpPr>
            <p:spPr bwMode="auto">
              <a:xfrm flipH="1">
                <a:off x="8335379" y="4772549"/>
                <a:ext cx="84000" cy="94629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8" name="Straight Connector 37"/>
              <p:cNvCxnSpPr>
                <a:cxnSpLocks noChangeAspect="1"/>
              </p:cNvCxnSpPr>
              <p:nvPr/>
            </p:nvCxnSpPr>
            <p:spPr bwMode="auto">
              <a:xfrm flipH="1">
                <a:off x="7087934" y="4442694"/>
                <a:ext cx="545794" cy="44251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9" name="Straight Connector 38"/>
              <p:cNvCxnSpPr>
                <a:cxnSpLocks/>
              </p:cNvCxnSpPr>
              <p:nvPr/>
            </p:nvCxnSpPr>
            <p:spPr bwMode="auto">
              <a:xfrm flipH="1" flipV="1">
                <a:off x="7093932" y="4873216"/>
                <a:ext cx="786418" cy="30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0" name="Straight Connector 39"/>
              <p:cNvCxnSpPr>
                <a:cxnSpLocks noChangeAspect="1"/>
              </p:cNvCxnSpPr>
              <p:nvPr/>
            </p:nvCxnSpPr>
            <p:spPr bwMode="auto">
              <a:xfrm flipH="1" flipV="1">
                <a:off x="8401349" y="3733723"/>
                <a:ext cx="12032" cy="103282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1" name="Straight Connector 40"/>
              <p:cNvCxnSpPr>
                <a:cxnSpLocks noChangeAspect="1"/>
              </p:cNvCxnSpPr>
              <p:nvPr/>
            </p:nvCxnSpPr>
            <p:spPr bwMode="auto">
              <a:xfrm flipH="1">
                <a:off x="7783625" y="3741006"/>
                <a:ext cx="641750" cy="16064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2" name="Straight Connector 41"/>
              <p:cNvCxnSpPr>
                <a:cxnSpLocks noChangeAspect="1"/>
              </p:cNvCxnSpPr>
              <p:nvPr/>
            </p:nvCxnSpPr>
            <p:spPr bwMode="auto">
              <a:xfrm flipH="1" flipV="1">
                <a:off x="8401350" y="3727726"/>
                <a:ext cx="605766" cy="22318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3" name="Straight Connector 42"/>
              <p:cNvCxnSpPr>
                <a:cxnSpLocks noChangeAspect="1"/>
              </p:cNvCxnSpPr>
              <p:nvPr/>
            </p:nvCxnSpPr>
            <p:spPr bwMode="auto">
              <a:xfrm flipH="1" flipV="1">
                <a:off x="8335379" y="3056026"/>
                <a:ext cx="671738" cy="13322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4" name="Straight Connector 43"/>
              <p:cNvCxnSpPr>
                <a:cxnSpLocks noChangeAspect="1"/>
              </p:cNvCxnSpPr>
              <p:nvPr/>
            </p:nvCxnSpPr>
            <p:spPr bwMode="auto">
              <a:xfrm flipH="1">
                <a:off x="6554171" y="3369173"/>
                <a:ext cx="887641" cy="14265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5" name="Straight Connector 44"/>
              <p:cNvCxnSpPr>
                <a:cxnSpLocks noChangeAspect="1"/>
              </p:cNvCxnSpPr>
              <p:nvPr/>
            </p:nvCxnSpPr>
            <p:spPr bwMode="auto">
              <a:xfrm flipH="1" flipV="1">
                <a:off x="8347412" y="3063310"/>
                <a:ext cx="53975" cy="65970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6" name="Straight Connector 45"/>
              <p:cNvCxnSpPr>
                <a:cxnSpLocks noChangeAspect="1"/>
              </p:cNvCxnSpPr>
              <p:nvPr/>
            </p:nvCxnSpPr>
            <p:spPr bwMode="auto">
              <a:xfrm flipH="1">
                <a:off x="7435781" y="3051314"/>
                <a:ext cx="893638" cy="31657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7" name="Straight Connector 46"/>
              <p:cNvCxnSpPr>
                <a:cxnSpLocks noChangeAspect="1"/>
              </p:cNvCxnSpPr>
              <p:nvPr/>
            </p:nvCxnSpPr>
            <p:spPr bwMode="auto">
              <a:xfrm>
                <a:off x="8101520" y="1827858"/>
                <a:ext cx="65936" cy="538475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8" name="Straight Connector 47"/>
              <p:cNvCxnSpPr>
                <a:cxnSpLocks noChangeAspect="1"/>
              </p:cNvCxnSpPr>
              <p:nvPr/>
            </p:nvCxnSpPr>
            <p:spPr bwMode="auto">
              <a:xfrm flipH="1">
                <a:off x="7549729" y="2355623"/>
                <a:ext cx="623758" cy="56846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9" name="Straight Connector 48"/>
              <p:cNvCxnSpPr>
                <a:cxnSpLocks noChangeAspect="1"/>
              </p:cNvCxnSpPr>
              <p:nvPr/>
            </p:nvCxnSpPr>
            <p:spPr bwMode="auto">
              <a:xfrm flipH="1">
                <a:off x="7009971" y="2253669"/>
                <a:ext cx="155965" cy="472505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0" name="Straight Connector 49"/>
              <p:cNvCxnSpPr>
                <a:cxnSpLocks noChangeAspect="1"/>
              </p:cNvCxnSpPr>
              <p:nvPr/>
            </p:nvCxnSpPr>
            <p:spPr bwMode="auto">
              <a:xfrm flipH="1">
                <a:off x="7141912" y="1863842"/>
                <a:ext cx="83997" cy="40053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1" name="Straight Connector 50"/>
              <p:cNvCxnSpPr>
                <a:cxnSpLocks noChangeAspect="1"/>
              </p:cNvCxnSpPr>
              <p:nvPr/>
            </p:nvCxnSpPr>
            <p:spPr bwMode="auto">
              <a:xfrm flipH="1" flipV="1">
                <a:off x="7153905" y="2270376"/>
                <a:ext cx="995593" cy="8524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52" name="Group 51"/>
              <p:cNvGrpSpPr/>
              <p:nvPr/>
            </p:nvGrpSpPr>
            <p:grpSpPr>
              <a:xfrm>
                <a:off x="5105148" y="1856560"/>
                <a:ext cx="3901968" cy="3863566"/>
                <a:chOff x="4952748" y="1704160"/>
                <a:chExt cx="3901968" cy="3863566"/>
              </a:xfrm>
            </p:grpSpPr>
            <p:cxnSp>
              <p:nvCxnSpPr>
                <p:cNvPr id="73" name="Straight Connector 72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4957280" y="2381356"/>
                  <a:ext cx="903534" cy="44174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74" name="Straight Connector 73"/>
                <p:cNvCxnSpPr>
                  <a:cxnSpLocks noChangeAspect="1"/>
                </p:cNvCxnSpPr>
                <p:nvPr/>
              </p:nvCxnSpPr>
              <p:spPr bwMode="auto">
                <a:xfrm>
                  <a:off x="5843862" y="2840947"/>
                  <a:ext cx="571189" cy="527891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75" name="Straight Connector 74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4953926" y="4150261"/>
                  <a:ext cx="676666" cy="130986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76" name="Straight Connector 75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5622065" y="4281247"/>
                  <a:ext cx="15878" cy="79240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77" name="Straight Connector 76"/>
                <p:cNvCxnSpPr>
                  <a:cxnSpLocks noChangeAspect="1"/>
                </p:cNvCxnSpPr>
                <p:nvPr/>
              </p:nvCxnSpPr>
              <p:spPr bwMode="auto">
                <a:xfrm flipV="1">
                  <a:off x="4952748" y="5074278"/>
                  <a:ext cx="703423" cy="49087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78" name="Straight Connector 77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6941531" y="4744806"/>
                  <a:ext cx="263920" cy="82292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79" name="Straight Connector 78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8260944" y="4594872"/>
                  <a:ext cx="557789" cy="954862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0" name="Straight Connector 79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7415321" y="2765686"/>
                  <a:ext cx="773691" cy="133227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1" name="Straight Connector 80"/>
                <p:cNvCxnSpPr>
                  <a:cxnSpLocks noChangeAspect="1"/>
                </p:cNvCxnSpPr>
                <p:nvPr/>
              </p:nvCxnSpPr>
              <p:spPr bwMode="auto">
                <a:xfrm flipH="1">
                  <a:off x="7601240" y="2910909"/>
                  <a:ext cx="587773" cy="850337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2" name="Straight Connector 81"/>
                <p:cNvCxnSpPr>
                  <a:cxnSpLocks noChangeAspect="1"/>
                </p:cNvCxnSpPr>
                <p:nvPr/>
              </p:nvCxnSpPr>
              <p:spPr bwMode="auto">
                <a:xfrm flipH="1">
                  <a:off x="8188977" y="2395138"/>
                  <a:ext cx="665739" cy="514486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3" name="Straight Connector 82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7625228" y="3761246"/>
                  <a:ext cx="629755" cy="828915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4" name="Straight Connector 83"/>
                <p:cNvCxnSpPr>
                  <a:cxnSpLocks noChangeAspect="1"/>
                </p:cNvCxnSpPr>
                <p:nvPr/>
              </p:nvCxnSpPr>
              <p:spPr bwMode="auto">
                <a:xfrm>
                  <a:off x="7001541" y="2125258"/>
                  <a:ext cx="407819" cy="62372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5" name="Straight Connector 84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5820032" y="1704160"/>
                  <a:ext cx="1157520" cy="403106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cxnSp>
            <p:nvCxnSpPr>
              <p:cNvPr id="53" name="Straight Connector 52"/>
              <p:cNvCxnSpPr>
                <a:cxnSpLocks noChangeAspect="1"/>
              </p:cNvCxnSpPr>
              <p:nvPr/>
            </p:nvCxnSpPr>
            <p:spPr bwMode="auto">
              <a:xfrm flipV="1">
                <a:off x="5840525" y="2270376"/>
                <a:ext cx="1307383" cy="16921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4" name="Straight Connector 53"/>
              <p:cNvCxnSpPr>
                <a:cxnSpLocks noChangeAspect="1"/>
              </p:cNvCxnSpPr>
              <p:nvPr/>
            </p:nvCxnSpPr>
            <p:spPr bwMode="auto">
              <a:xfrm>
                <a:off x="8185483" y="2367618"/>
                <a:ext cx="137904" cy="688409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55" name="Group 54"/>
              <p:cNvGrpSpPr/>
              <p:nvPr/>
            </p:nvGrpSpPr>
            <p:grpSpPr>
              <a:xfrm>
                <a:off x="5102853" y="1851847"/>
                <a:ext cx="3916259" cy="3886271"/>
                <a:chOff x="4950453" y="1699447"/>
                <a:chExt cx="3916259" cy="3886271"/>
              </a:xfrm>
            </p:grpSpPr>
            <p:cxnSp>
              <p:nvCxnSpPr>
                <p:cNvPr id="57" name="Straight Connector 56"/>
                <p:cNvCxnSpPr>
                  <a:cxnSpLocks noChangeAspect="1"/>
                </p:cNvCxnSpPr>
                <p:nvPr/>
              </p:nvCxnSpPr>
              <p:spPr bwMode="auto">
                <a:xfrm>
                  <a:off x="5054398" y="1800919"/>
                  <a:ext cx="527347" cy="390177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58" name="Straight Connector 57"/>
                <p:cNvCxnSpPr>
                  <a:cxnSpLocks noChangeAspect="1"/>
                </p:cNvCxnSpPr>
                <p:nvPr/>
              </p:nvCxnSpPr>
              <p:spPr bwMode="auto">
                <a:xfrm>
                  <a:off x="5674130" y="2295509"/>
                  <a:ext cx="1183475" cy="26755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59" name="Straight Connector 58"/>
                <p:cNvCxnSpPr>
                  <a:cxnSpLocks noChangeAspect="1"/>
                </p:cNvCxnSpPr>
                <p:nvPr/>
              </p:nvCxnSpPr>
              <p:spPr bwMode="auto">
                <a:xfrm>
                  <a:off x="5985442" y="3698760"/>
                  <a:ext cx="676884" cy="130547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0" name="Straight Connector 59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4950453" y="3150802"/>
                  <a:ext cx="1038365" cy="542865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1" name="Straight Connector 60"/>
                <p:cNvCxnSpPr>
                  <a:cxnSpLocks noChangeAspect="1"/>
                </p:cNvCxnSpPr>
                <p:nvPr/>
              </p:nvCxnSpPr>
              <p:spPr bwMode="auto">
                <a:xfrm flipV="1">
                  <a:off x="6077957" y="3837834"/>
                  <a:ext cx="575843" cy="848659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2" name="Straight Connector 61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5986441" y="3863492"/>
                  <a:ext cx="87540" cy="82706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3" name="Straight Connector 62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6065920" y="4684832"/>
                  <a:ext cx="293907" cy="88889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4" name="Straight Connector 63"/>
                <p:cNvCxnSpPr>
                  <a:cxnSpLocks/>
                </p:cNvCxnSpPr>
                <p:nvPr/>
              </p:nvCxnSpPr>
              <p:spPr bwMode="auto">
                <a:xfrm flipH="1" flipV="1">
                  <a:off x="7766051" y="5022850"/>
                  <a:ext cx="428960" cy="562868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5" name="Straight Connector 64"/>
                <p:cNvCxnSpPr>
                  <a:cxnSpLocks/>
                </p:cNvCxnSpPr>
                <p:nvPr/>
              </p:nvCxnSpPr>
              <p:spPr bwMode="auto">
                <a:xfrm flipH="1" flipV="1">
                  <a:off x="7499284" y="4265020"/>
                  <a:ext cx="241366" cy="74513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6" name="Straight Connector 65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6875560" y="2567774"/>
                  <a:ext cx="419851" cy="66699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7" name="Straight Connector 66"/>
                <p:cNvCxnSpPr>
                  <a:cxnSpLocks noChangeAspect="1"/>
                </p:cNvCxnSpPr>
                <p:nvPr/>
              </p:nvCxnSpPr>
              <p:spPr bwMode="auto">
                <a:xfrm flipH="1">
                  <a:off x="6641664" y="3246759"/>
                  <a:ext cx="641752" cy="556466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8" name="Straight Connector 67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6653659" y="3815219"/>
                  <a:ext cx="845661" cy="451086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9" name="Straight Connector 68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8254947" y="3563331"/>
                  <a:ext cx="587776" cy="10208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70" name="Straight Connector 69"/>
                <p:cNvCxnSpPr>
                  <a:cxnSpLocks noChangeAspect="1"/>
                </p:cNvCxnSpPr>
                <p:nvPr/>
              </p:nvCxnSpPr>
              <p:spPr bwMode="auto">
                <a:xfrm flipH="1">
                  <a:off x="8248950" y="3042850"/>
                  <a:ext cx="617762" cy="55047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71" name="Straight Connector 70"/>
                <p:cNvCxnSpPr>
                  <a:cxnSpLocks noChangeAspect="1"/>
                </p:cNvCxnSpPr>
                <p:nvPr/>
              </p:nvCxnSpPr>
              <p:spPr bwMode="auto">
                <a:xfrm flipH="1">
                  <a:off x="7991065" y="1729434"/>
                  <a:ext cx="869649" cy="478502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72" name="Straight Connector 71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7079507" y="1699447"/>
                  <a:ext cx="929588" cy="515771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cxnSp>
            <p:nvCxnSpPr>
              <p:cNvPr id="56" name="Straight Connector 55"/>
              <p:cNvCxnSpPr>
                <a:cxnSpLocks noChangeAspect="1"/>
              </p:cNvCxnSpPr>
              <p:nvPr/>
            </p:nvCxnSpPr>
            <p:spPr bwMode="auto">
              <a:xfrm flipH="1" flipV="1">
                <a:off x="8155462" y="2366334"/>
                <a:ext cx="851655" cy="169208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29" name="Group 128"/>
            <p:cNvGrpSpPr/>
            <p:nvPr/>
          </p:nvGrpSpPr>
          <p:grpSpPr>
            <a:xfrm>
              <a:off x="7532187" y="5884683"/>
              <a:ext cx="440964" cy="418534"/>
              <a:chOff x="7223311" y="4616452"/>
              <a:chExt cx="1015814" cy="964144"/>
            </a:xfrm>
          </p:grpSpPr>
          <p:cxnSp>
            <p:nvCxnSpPr>
              <p:cNvPr id="234" name="Straight Connector 233"/>
              <p:cNvCxnSpPr>
                <a:cxnSpLocks noChangeAspect="1"/>
              </p:cNvCxnSpPr>
              <p:nvPr/>
            </p:nvCxnSpPr>
            <p:spPr bwMode="auto">
              <a:xfrm rot="13228151" flipH="1" flipV="1">
                <a:off x="8048764" y="5484057"/>
                <a:ext cx="173033" cy="31748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5" name="Straight Connector 234"/>
              <p:cNvCxnSpPr>
                <a:cxnSpLocks noChangeAspect="1"/>
              </p:cNvCxnSpPr>
              <p:nvPr/>
            </p:nvCxnSpPr>
            <p:spPr bwMode="auto">
              <a:xfrm flipV="1">
                <a:off x="8027295" y="4616452"/>
                <a:ext cx="211830" cy="56832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6" name="Straight Connector 235"/>
              <p:cNvCxnSpPr>
                <a:cxnSpLocks noChangeAspect="1"/>
              </p:cNvCxnSpPr>
              <p:nvPr/>
            </p:nvCxnSpPr>
            <p:spPr bwMode="auto">
              <a:xfrm flipV="1">
                <a:off x="7223311" y="5358271"/>
                <a:ext cx="625289" cy="222325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7" name="Straight Connector 236"/>
              <p:cNvCxnSpPr>
                <a:cxnSpLocks noChangeAspect="1"/>
              </p:cNvCxnSpPr>
              <p:nvPr/>
            </p:nvCxnSpPr>
            <p:spPr bwMode="auto">
              <a:xfrm>
                <a:off x="8021827" y="5191125"/>
                <a:ext cx="62318" cy="241602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8" name="Straight Connector 237"/>
              <p:cNvCxnSpPr>
                <a:cxnSpLocks noChangeAspect="1"/>
              </p:cNvCxnSpPr>
              <p:nvPr/>
            </p:nvCxnSpPr>
            <p:spPr bwMode="auto">
              <a:xfrm>
                <a:off x="7868343" y="5159600"/>
                <a:ext cx="145803" cy="2835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9" name="Straight Connector 238"/>
              <p:cNvCxnSpPr>
                <a:cxnSpLocks noChangeAspect="1"/>
              </p:cNvCxnSpPr>
              <p:nvPr/>
            </p:nvCxnSpPr>
            <p:spPr bwMode="auto">
              <a:xfrm flipH="1" flipV="1">
                <a:off x="7854950" y="5347979"/>
                <a:ext cx="220785" cy="8716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40" name="Straight Connector 239"/>
              <p:cNvCxnSpPr>
                <a:cxnSpLocks noChangeAspect="1"/>
              </p:cNvCxnSpPr>
              <p:nvPr/>
            </p:nvCxnSpPr>
            <p:spPr bwMode="auto">
              <a:xfrm flipH="1">
                <a:off x="7854985" y="5155305"/>
                <a:ext cx="9427" cy="185045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41" name="Straight Connector 240"/>
              <p:cNvCxnSpPr>
                <a:cxnSpLocks/>
              </p:cNvCxnSpPr>
              <p:nvPr/>
            </p:nvCxnSpPr>
            <p:spPr bwMode="auto">
              <a:xfrm>
                <a:off x="7748590" y="5021178"/>
                <a:ext cx="122235" cy="141372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30" name="Group 129"/>
            <p:cNvGrpSpPr/>
            <p:nvPr/>
          </p:nvGrpSpPr>
          <p:grpSpPr>
            <a:xfrm>
              <a:off x="6541134" y="5250682"/>
              <a:ext cx="311487" cy="738749"/>
              <a:chOff x="5527676" y="5156203"/>
              <a:chExt cx="717549" cy="1701797"/>
            </a:xfrm>
          </p:grpSpPr>
          <p:cxnSp>
            <p:nvCxnSpPr>
              <p:cNvPr id="226" name="Straight Connector 225"/>
              <p:cNvCxnSpPr>
                <a:cxnSpLocks noChangeAspect="1"/>
              </p:cNvCxnSpPr>
              <p:nvPr/>
            </p:nvCxnSpPr>
            <p:spPr bwMode="auto">
              <a:xfrm flipH="1" flipV="1">
                <a:off x="5540375" y="6153152"/>
                <a:ext cx="173033" cy="31748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27" name="Straight Connector 226"/>
              <p:cNvCxnSpPr>
                <a:cxnSpLocks noChangeAspect="1"/>
              </p:cNvCxnSpPr>
              <p:nvPr/>
            </p:nvCxnSpPr>
            <p:spPr bwMode="auto">
              <a:xfrm flipH="1">
                <a:off x="5553075" y="6339090"/>
                <a:ext cx="282575" cy="51891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28" name="Straight Connector 227"/>
              <p:cNvCxnSpPr>
                <a:cxnSpLocks noChangeAspect="1"/>
              </p:cNvCxnSpPr>
              <p:nvPr/>
            </p:nvCxnSpPr>
            <p:spPr bwMode="auto">
              <a:xfrm flipH="1" flipV="1">
                <a:off x="5527676" y="5156203"/>
                <a:ext cx="303832" cy="869947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29" name="Straight Connector 228"/>
              <p:cNvCxnSpPr>
                <a:cxnSpLocks noChangeAspect="1"/>
              </p:cNvCxnSpPr>
              <p:nvPr/>
            </p:nvCxnSpPr>
            <p:spPr bwMode="auto">
              <a:xfrm flipH="1" flipV="1">
                <a:off x="5711826" y="6184901"/>
                <a:ext cx="126999" cy="144981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0" name="Straight Connector 229"/>
              <p:cNvCxnSpPr>
                <a:cxnSpLocks noChangeAspect="1"/>
              </p:cNvCxnSpPr>
              <p:nvPr/>
            </p:nvCxnSpPr>
            <p:spPr bwMode="auto">
              <a:xfrm flipH="1">
                <a:off x="5848350" y="6254750"/>
                <a:ext cx="231776" cy="66837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1" name="Straight Connector 230"/>
              <p:cNvCxnSpPr>
                <a:cxnSpLocks noChangeAspect="1"/>
              </p:cNvCxnSpPr>
              <p:nvPr/>
            </p:nvCxnSpPr>
            <p:spPr bwMode="auto">
              <a:xfrm flipV="1">
                <a:off x="5711826" y="6035152"/>
                <a:ext cx="117474" cy="146575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2" name="Straight Connector 231"/>
              <p:cNvCxnSpPr>
                <a:cxnSpLocks noChangeAspect="1"/>
              </p:cNvCxnSpPr>
              <p:nvPr/>
            </p:nvCxnSpPr>
            <p:spPr bwMode="auto">
              <a:xfrm flipH="1" flipV="1">
                <a:off x="5842000" y="6029681"/>
                <a:ext cx="234953" cy="225074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3" name="Straight Connector 232"/>
              <p:cNvCxnSpPr>
                <a:cxnSpLocks noChangeAspect="1"/>
              </p:cNvCxnSpPr>
              <p:nvPr/>
            </p:nvCxnSpPr>
            <p:spPr bwMode="auto">
              <a:xfrm flipH="1" flipV="1">
                <a:off x="6070600" y="6251284"/>
                <a:ext cx="174625" cy="32042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131" name="Straight Connector 130"/>
            <p:cNvCxnSpPr>
              <a:cxnSpLocks noChangeAspect="1"/>
            </p:cNvCxnSpPr>
            <p:nvPr/>
          </p:nvCxnSpPr>
          <p:spPr bwMode="auto">
            <a:xfrm flipV="1">
              <a:off x="6997481" y="5343095"/>
              <a:ext cx="180139" cy="14589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2" name="Straight Connector 131"/>
            <p:cNvCxnSpPr>
              <a:cxnSpLocks noChangeAspect="1"/>
            </p:cNvCxnSpPr>
            <p:nvPr/>
          </p:nvCxnSpPr>
          <p:spPr bwMode="auto">
            <a:xfrm flipH="1" flipV="1">
              <a:off x="7181322" y="5346796"/>
              <a:ext cx="108435" cy="19756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3" name="Straight Connector 132"/>
            <p:cNvCxnSpPr>
              <a:cxnSpLocks noChangeAspect="1"/>
            </p:cNvCxnSpPr>
            <p:nvPr/>
          </p:nvCxnSpPr>
          <p:spPr bwMode="auto">
            <a:xfrm flipH="1" flipV="1">
              <a:off x="7281261" y="5542984"/>
              <a:ext cx="128763" cy="39919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4" name="Straight Connector 133"/>
            <p:cNvCxnSpPr>
              <a:cxnSpLocks noChangeAspect="1"/>
            </p:cNvCxnSpPr>
            <p:nvPr/>
          </p:nvCxnSpPr>
          <p:spPr bwMode="auto">
            <a:xfrm flipV="1">
              <a:off x="7157349" y="5940401"/>
              <a:ext cx="249914" cy="36243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5" name="Straight Connector 134"/>
            <p:cNvCxnSpPr>
              <a:cxnSpLocks noChangeAspect="1"/>
            </p:cNvCxnSpPr>
            <p:nvPr/>
          </p:nvCxnSpPr>
          <p:spPr bwMode="auto">
            <a:xfrm>
              <a:off x="7032384" y="5922735"/>
              <a:ext cx="380086" cy="20269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136" name="Group 135"/>
            <p:cNvGrpSpPr/>
            <p:nvPr/>
          </p:nvGrpSpPr>
          <p:grpSpPr>
            <a:xfrm>
              <a:off x="6987691" y="5493255"/>
              <a:ext cx="297705" cy="430019"/>
              <a:chOff x="5969000" y="3714750"/>
              <a:chExt cx="685800" cy="990600"/>
            </a:xfrm>
          </p:grpSpPr>
          <p:cxnSp>
            <p:nvCxnSpPr>
              <p:cNvPr id="223" name="Straight Connector 222"/>
              <p:cNvCxnSpPr/>
              <p:nvPr/>
            </p:nvCxnSpPr>
            <p:spPr bwMode="auto">
              <a:xfrm flipV="1">
                <a:off x="6233296" y="3822700"/>
                <a:ext cx="421504" cy="180706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24" name="Straight Connector 223"/>
              <p:cNvCxnSpPr/>
              <p:nvPr/>
            </p:nvCxnSpPr>
            <p:spPr bwMode="auto">
              <a:xfrm>
                <a:off x="5969000" y="3714750"/>
                <a:ext cx="279400" cy="29845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25" name="Straight Connector 224"/>
              <p:cNvCxnSpPr/>
              <p:nvPr/>
            </p:nvCxnSpPr>
            <p:spPr bwMode="auto">
              <a:xfrm flipV="1">
                <a:off x="6057900" y="3997849"/>
                <a:ext cx="180952" cy="70750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37" name="Oval 136"/>
            <p:cNvSpPr/>
            <p:nvPr/>
          </p:nvSpPr>
          <p:spPr bwMode="auto">
            <a:xfrm rot="5400000">
              <a:off x="7062965" y="5570094"/>
              <a:ext cx="91296" cy="92746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grpSp>
          <p:nvGrpSpPr>
            <p:cNvPr id="138" name="Group 137"/>
            <p:cNvGrpSpPr>
              <a:grpSpLocks noChangeAspect="1"/>
            </p:cNvGrpSpPr>
            <p:nvPr/>
          </p:nvGrpSpPr>
          <p:grpSpPr>
            <a:xfrm>
              <a:off x="6546631" y="4616697"/>
              <a:ext cx="1697360" cy="1691912"/>
              <a:chOff x="5654800" y="2809494"/>
              <a:chExt cx="2760002" cy="2751142"/>
            </a:xfrm>
          </p:grpSpPr>
          <p:cxnSp>
            <p:nvCxnSpPr>
              <p:cNvPr id="219" name="Straight Connector 218"/>
              <p:cNvCxnSpPr/>
              <p:nvPr/>
            </p:nvCxnSpPr>
            <p:spPr bwMode="auto">
              <a:xfrm>
                <a:off x="5657634" y="2810915"/>
                <a:ext cx="27432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20" name="Straight Connector 219"/>
              <p:cNvCxnSpPr/>
              <p:nvPr/>
            </p:nvCxnSpPr>
            <p:spPr bwMode="auto">
              <a:xfrm>
                <a:off x="5671602" y="5557542"/>
                <a:ext cx="27432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21" name="Straight Connector 220"/>
              <p:cNvCxnSpPr/>
              <p:nvPr/>
            </p:nvCxnSpPr>
            <p:spPr bwMode="auto">
              <a:xfrm rot="16200000">
                <a:off x="4283200" y="4181094"/>
                <a:ext cx="27432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22" name="Straight Connector 221"/>
              <p:cNvCxnSpPr/>
              <p:nvPr/>
            </p:nvCxnSpPr>
            <p:spPr bwMode="auto">
              <a:xfrm rot="16200000">
                <a:off x="7029685" y="4189036"/>
                <a:ext cx="27432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139" name="Straight Connector 138"/>
            <p:cNvCxnSpPr>
              <a:cxnSpLocks noChangeAspect="1"/>
              <a:stCxn id="206" idx="0"/>
              <a:endCxn id="208" idx="4"/>
            </p:cNvCxnSpPr>
            <p:nvPr/>
          </p:nvCxnSpPr>
          <p:spPr bwMode="auto">
            <a:xfrm flipV="1">
              <a:off x="6609107" y="4877566"/>
              <a:ext cx="191235" cy="305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0" name="Straight Connector 139"/>
            <p:cNvCxnSpPr>
              <a:cxnSpLocks noChangeAspect="1"/>
            </p:cNvCxnSpPr>
            <p:nvPr/>
          </p:nvCxnSpPr>
          <p:spPr bwMode="auto">
            <a:xfrm>
              <a:off x="6866699" y="4876687"/>
              <a:ext cx="66626" cy="222099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1" name="Straight Connector 140"/>
            <p:cNvCxnSpPr>
              <a:cxnSpLocks noChangeAspect="1"/>
            </p:cNvCxnSpPr>
            <p:nvPr/>
          </p:nvCxnSpPr>
          <p:spPr bwMode="auto">
            <a:xfrm flipV="1">
              <a:off x="6544857" y="5098786"/>
              <a:ext cx="377364" cy="14856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2" name="Straight Connector 141"/>
            <p:cNvCxnSpPr>
              <a:cxnSpLocks noChangeAspect="1"/>
            </p:cNvCxnSpPr>
            <p:nvPr/>
          </p:nvCxnSpPr>
          <p:spPr bwMode="auto">
            <a:xfrm flipH="1" flipV="1">
              <a:off x="6937026" y="5120995"/>
              <a:ext cx="61643" cy="37287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3" name="Straight Connector 142"/>
            <p:cNvCxnSpPr>
              <a:cxnSpLocks noChangeAspect="1"/>
            </p:cNvCxnSpPr>
            <p:nvPr/>
          </p:nvCxnSpPr>
          <p:spPr bwMode="auto">
            <a:xfrm flipH="1">
              <a:off x="6859634" y="4618414"/>
              <a:ext cx="68613" cy="26265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4" name="Straight Connector 143"/>
            <p:cNvCxnSpPr>
              <a:cxnSpLocks noChangeAspect="1"/>
            </p:cNvCxnSpPr>
            <p:nvPr/>
          </p:nvCxnSpPr>
          <p:spPr bwMode="auto">
            <a:xfrm flipV="1">
              <a:off x="6840556" y="5487459"/>
              <a:ext cx="155694" cy="25915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5" name="Straight Connector 144"/>
            <p:cNvCxnSpPr>
              <a:cxnSpLocks noChangeAspect="1"/>
            </p:cNvCxnSpPr>
            <p:nvPr/>
          </p:nvCxnSpPr>
          <p:spPr bwMode="auto">
            <a:xfrm flipV="1">
              <a:off x="7171957" y="4995912"/>
              <a:ext cx="201476" cy="3501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6" name="Straight Connector 145"/>
            <p:cNvCxnSpPr>
              <a:cxnSpLocks noChangeAspect="1"/>
            </p:cNvCxnSpPr>
            <p:nvPr/>
          </p:nvCxnSpPr>
          <p:spPr bwMode="auto">
            <a:xfrm flipH="1" flipV="1">
              <a:off x="6550748" y="5251049"/>
              <a:ext cx="293742" cy="48812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7" name="Straight Connector 146"/>
            <p:cNvCxnSpPr>
              <a:cxnSpLocks noChangeAspect="1"/>
            </p:cNvCxnSpPr>
            <p:nvPr/>
          </p:nvCxnSpPr>
          <p:spPr bwMode="auto">
            <a:xfrm flipV="1">
              <a:off x="6845307" y="5909447"/>
              <a:ext cx="180555" cy="17874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8" name="Straight Connector 147"/>
            <p:cNvCxnSpPr>
              <a:cxnSpLocks noChangeAspect="1"/>
            </p:cNvCxnSpPr>
            <p:nvPr/>
          </p:nvCxnSpPr>
          <p:spPr bwMode="auto">
            <a:xfrm flipV="1">
              <a:off x="6554079" y="5742873"/>
              <a:ext cx="290412" cy="25766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9" name="Straight Connector 148"/>
            <p:cNvCxnSpPr>
              <a:cxnSpLocks noChangeAspect="1"/>
            </p:cNvCxnSpPr>
            <p:nvPr/>
          </p:nvCxnSpPr>
          <p:spPr bwMode="auto">
            <a:xfrm flipH="1" flipV="1">
              <a:off x="6556687" y="5999161"/>
              <a:ext cx="287803" cy="8796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0" name="Straight Connector 149"/>
            <p:cNvCxnSpPr>
              <a:cxnSpLocks noChangeAspect="1"/>
            </p:cNvCxnSpPr>
            <p:nvPr/>
          </p:nvCxnSpPr>
          <p:spPr bwMode="auto">
            <a:xfrm flipH="1" flipV="1">
              <a:off x="6844490" y="6083425"/>
              <a:ext cx="310272" cy="22907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1" name="Straight Connector 150"/>
            <p:cNvCxnSpPr>
              <a:cxnSpLocks noChangeAspect="1"/>
            </p:cNvCxnSpPr>
            <p:nvPr/>
          </p:nvCxnSpPr>
          <p:spPr bwMode="auto">
            <a:xfrm flipH="1" flipV="1">
              <a:off x="6837087" y="5742873"/>
              <a:ext cx="185610" cy="18213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2" name="Straight Connector 151"/>
            <p:cNvCxnSpPr>
              <a:cxnSpLocks/>
            </p:cNvCxnSpPr>
            <p:nvPr/>
          </p:nvCxnSpPr>
          <p:spPr bwMode="auto">
            <a:xfrm flipH="1">
              <a:off x="7519211" y="6072126"/>
              <a:ext cx="237552" cy="219739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3" name="Straight Connector 152"/>
            <p:cNvCxnSpPr>
              <a:cxnSpLocks noChangeAspect="1"/>
            </p:cNvCxnSpPr>
            <p:nvPr/>
          </p:nvCxnSpPr>
          <p:spPr bwMode="auto">
            <a:xfrm flipV="1">
              <a:off x="7563485" y="5078663"/>
              <a:ext cx="54656" cy="21143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4" name="Straight Connector 153"/>
            <p:cNvCxnSpPr>
              <a:cxnSpLocks noChangeAspect="1"/>
            </p:cNvCxnSpPr>
            <p:nvPr/>
          </p:nvCxnSpPr>
          <p:spPr bwMode="auto">
            <a:xfrm flipH="1" flipV="1">
              <a:off x="7376021" y="5000561"/>
              <a:ext cx="239532" cy="8386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5" name="Straight Connector 154"/>
            <p:cNvCxnSpPr>
              <a:cxnSpLocks/>
            </p:cNvCxnSpPr>
            <p:nvPr/>
          </p:nvCxnSpPr>
          <p:spPr bwMode="auto">
            <a:xfrm flipV="1">
              <a:off x="7765033" y="5880523"/>
              <a:ext cx="212383" cy="17506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6" name="Straight Connector 155"/>
            <p:cNvCxnSpPr>
              <a:cxnSpLocks noChangeAspect="1"/>
            </p:cNvCxnSpPr>
            <p:nvPr/>
          </p:nvCxnSpPr>
          <p:spPr bwMode="auto">
            <a:xfrm flipH="1">
              <a:off x="6936042" y="4990705"/>
              <a:ext cx="445203" cy="103579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7" name="Straight Connector 156"/>
            <p:cNvCxnSpPr>
              <a:cxnSpLocks noChangeAspect="1"/>
            </p:cNvCxnSpPr>
            <p:nvPr/>
          </p:nvCxnSpPr>
          <p:spPr bwMode="auto">
            <a:xfrm flipH="1" flipV="1">
              <a:off x="7560866" y="5279128"/>
              <a:ext cx="143205" cy="22445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8" name="Straight Connector 157"/>
            <p:cNvCxnSpPr>
              <a:cxnSpLocks noChangeAspect="1"/>
            </p:cNvCxnSpPr>
            <p:nvPr/>
          </p:nvCxnSpPr>
          <p:spPr bwMode="auto">
            <a:xfrm flipH="1">
              <a:off x="7292712" y="5513996"/>
              <a:ext cx="408755" cy="2287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9" name="Straight Connector 158"/>
            <p:cNvCxnSpPr>
              <a:cxnSpLocks noChangeAspect="1"/>
            </p:cNvCxnSpPr>
            <p:nvPr/>
          </p:nvCxnSpPr>
          <p:spPr bwMode="auto">
            <a:xfrm flipH="1" flipV="1">
              <a:off x="7657193" y="5719110"/>
              <a:ext cx="325445" cy="16197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0" name="Straight Connector 159"/>
            <p:cNvCxnSpPr>
              <a:cxnSpLocks noChangeAspect="1"/>
            </p:cNvCxnSpPr>
            <p:nvPr/>
          </p:nvCxnSpPr>
          <p:spPr bwMode="auto">
            <a:xfrm flipV="1">
              <a:off x="7652002" y="5503024"/>
              <a:ext cx="54656" cy="242679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1" name="Straight Connector 160"/>
            <p:cNvCxnSpPr>
              <a:cxnSpLocks noChangeAspect="1"/>
            </p:cNvCxnSpPr>
            <p:nvPr/>
          </p:nvCxnSpPr>
          <p:spPr bwMode="auto">
            <a:xfrm flipH="1">
              <a:off x="7977416" y="5868063"/>
              <a:ext cx="257756" cy="985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2" name="Straight Connector 161"/>
            <p:cNvCxnSpPr>
              <a:cxnSpLocks noChangeAspect="1"/>
            </p:cNvCxnSpPr>
            <p:nvPr/>
          </p:nvCxnSpPr>
          <p:spPr bwMode="auto">
            <a:xfrm flipH="1">
              <a:off x="7948778" y="5886288"/>
              <a:ext cx="36464" cy="41078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3" name="Straight Connector 162"/>
            <p:cNvCxnSpPr>
              <a:cxnSpLocks noChangeAspect="1"/>
            </p:cNvCxnSpPr>
            <p:nvPr/>
          </p:nvCxnSpPr>
          <p:spPr bwMode="auto">
            <a:xfrm flipH="1">
              <a:off x="7407263" y="5743098"/>
              <a:ext cx="236929" cy="19209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4" name="Straight Connector 163"/>
            <p:cNvCxnSpPr>
              <a:cxnSpLocks/>
            </p:cNvCxnSpPr>
            <p:nvPr/>
          </p:nvCxnSpPr>
          <p:spPr bwMode="auto">
            <a:xfrm flipH="1" flipV="1">
              <a:off x="7409867" y="5929987"/>
              <a:ext cx="341383" cy="133869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5" name="Straight Connector 164"/>
            <p:cNvCxnSpPr>
              <a:cxnSpLocks noChangeAspect="1"/>
            </p:cNvCxnSpPr>
            <p:nvPr/>
          </p:nvCxnSpPr>
          <p:spPr bwMode="auto">
            <a:xfrm flipH="1" flipV="1">
              <a:off x="7977416" y="5435334"/>
              <a:ext cx="5223" cy="448349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6" name="Straight Connector 165"/>
            <p:cNvCxnSpPr>
              <a:cxnSpLocks noChangeAspect="1"/>
            </p:cNvCxnSpPr>
            <p:nvPr/>
          </p:nvCxnSpPr>
          <p:spPr bwMode="auto">
            <a:xfrm flipH="1">
              <a:off x="7709262" y="5438496"/>
              <a:ext cx="278583" cy="6973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7" name="Straight Connector 166"/>
            <p:cNvCxnSpPr>
              <a:cxnSpLocks noChangeAspect="1"/>
            </p:cNvCxnSpPr>
            <p:nvPr/>
          </p:nvCxnSpPr>
          <p:spPr bwMode="auto">
            <a:xfrm flipH="1" flipV="1">
              <a:off x="7977416" y="5432731"/>
              <a:ext cx="262963" cy="9688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8" name="Straight Connector 167"/>
            <p:cNvCxnSpPr>
              <a:cxnSpLocks noChangeAspect="1"/>
            </p:cNvCxnSpPr>
            <p:nvPr/>
          </p:nvCxnSpPr>
          <p:spPr bwMode="auto">
            <a:xfrm flipH="1" flipV="1">
              <a:off x="7948778" y="5141147"/>
              <a:ext cx="291601" cy="5783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9" name="Straight Connector 168"/>
            <p:cNvCxnSpPr>
              <a:cxnSpLocks noChangeAspect="1"/>
            </p:cNvCxnSpPr>
            <p:nvPr/>
          </p:nvCxnSpPr>
          <p:spPr bwMode="auto">
            <a:xfrm flipH="1">
              <a:off x="7175557" y="5277084"/>
              <a:ext cx="385324" cy="6192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0" name="Straight Connector 169"/>
            <p:cNvCxnSpPr>
              <a:cxnSpLocks noChangeAspect="1"/>
            </p:cNvCxnSpPr>
            <p:nvPr/>
          </p:nvCxnSpPr>
          <p:spPr bwMode="auto">
            <a:xfrm flipH="1" flipV="1">
              <a:off x="7954002" y="5144309"/>
              <a:ext cx="23431" cy="28637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1" name="Straight Connector 170"/>
            <p:cNvCxnSpPr>
              <a:cxnSpLocks noChangeAspect="1"/>
            </p:cNvCxnSpPr>
            <p:nvPr/>
          </p:nvCxnSpPr>
          <p:spPr bwMode="auto">
            <a:xfrm flipH="1">
              <a:off x="7558263" y="5139101"/>
              <a:ext cx="387928" cy="13742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2" name="Straight Connector 171"/>
            <p:cNvCxnSpPr>
              <a:cxnSpLocks noChangeAspect="1"/>
            </p:cNvCxnSpPr>
            <p:nvPr/>
          </p:nvCxnSpPr>
          <p:spPr bwMode="auto">
            <a:xfrm>
              <a:off x="7847260" y="4608000"/>
              <a:ext cx="28623" cy="23375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3" name="Straight Connector 172"/>
            <p:cNvCxnSpPr>
              <a:cxnSpLocks noChangeAspect="1"/>
            </p:cNvCxnSpPr>
            <p:nvPr/>
          </p:nvCxnSpPr>
          <p:spPr bwMode="auto">
            <a:xfrm flipH="1">
              <a:off x="7607728" y="4837102"/>
              <a:ext cx="270773" cy="2467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4" name="Straight Connector 173"/>
            <p:cNvCxnSpPr>
              <a:cxnSpLocks noChangeAspect="1"/>
            </p:cNvCxnSpPr>
            <p:nvPr/>
          </p:nvCxnSpPr>
          <p:spPr bwMode="auto">
            <a:xfrm flipH="1">
              <a:off x="7373419" y="4792844"/>
              <a:ext cx="67704" cy="20511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5" name="Straight Connector 174"/>
            <p:cNvCxnSpPr>
              <a:cxnSpLocks noChangeAspect="1"/>
            </p:cNvCxnSpPr>
            <p:nvPr/>
          </p:nvCxnSpPr>
          <p:spPr bwMode="auto">
            <a:xfrm flipH="1">
              <a:off x="7430695" y="4623621"/>
              <a:ext cx="36463" cy="17387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6" name="Straight Connector 175"/>
            <p:cNvCxnSpPr>
              <a:cxnSpLocks noChangeAspect="1"/>
            </p:cNvCxnSpPr>
            <p:nvPr/>
          </p:nvCxnSpPr>
          <p:spPr bwMode="auto">
            <a:xfrm flipH="1" flipV="1">
              <a:off x="7435901" y="4800097"/>
              <a:ext cx="432186" cy="3700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7" name="Straight Connector 176"/>
            <p:cNvCxnSpPr>
              <a:cxnSpLocks noChangeAspect="1"/>
            </p:cNvCxnSpPr>
            <p:nvPr/>
          </p:nvCxnSpPr>
          <p:spPr bwMode="auto">
            <a:xfrm flipV="1">
              <a:off x="6865764" y="4800097"/>
              <a:ext cx="567534" cy="7345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8" name="Straight Connector 177"/>
            <p:cNvCxnSpPr>
              <a:cxnSpLocks noChangeAspect="1"/>
            </p:cNvCxnSpPr>
            <p:nvPr/>
          </p:nvCxnSpPr>
          <p:spPr bwMode="auto">
            <a:xfrm>
              <a:off x="7883708" y="4842309"/>
              <a:ext cx="59864" cy="29883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9" name="Straight Connector 178"/>
            <p:cNvCxnSpPr>
              <a:cxnSpLocks noChangeAspect="1"/>
            </p:cNvCxnSpPr>
            <p:nvPr/>
          </p:nvCxnSpPr>
          <p:spPr bwMode="auto">
            <a:xfrm flipH="1" flipV="1">
              <a:off x="7870676" y="4841752"/>
              <a:ext cx="369703" cy="7345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1" name="Oval 180"/>
            <p:cNvSpPr/>
            <p:nvPr/>
          </p:nvSpPr>
          <p:spPr bwMode="auto">
            <a:xfrm rot="5400000">
              <a:off x="7583498" y="5661485"/>
              <a:ext cx="129339" cy="131392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82" name="Oval 181"/>
            <p:cNvSpPr/>
            <p:nvPr/>
          </p:nvSpPr>
          <p:spPr bwMode="auto">
            <a:xfrm rot="5400000">
              <a:off x="6855606" y="5032894"/>
              <a:ext cx="129339" cy="131392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83" name="Oval 182"/>
            <p:cNvSpPr/>
            <p:nvPr/>
          </p:nvSpPr>
          <p:spPr bwMode="auto">
            <a:xfrm rot="5400000">
              <a:off x="8168528" y="5794142"/>
              <a:ext cx="129339" cy="131392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84" name="Oval 183"/>
            <p:cNvSpPr/>
            <p:nvPr/>
          </p:nvSpPr>
          <p:spPr bwMode="auto">
            <a:xfrm rot="5400000">
              <a:off x="7377508" y="4720992"/>
              <a:ext cx="129339" cy="131392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85" name="Oval 184"/>
            <p:cNvSpPr/>
            <p:nvPr/>
          </p:nvSpPr>
          <p:spPr bwMode="auto">
            <a:xfrm rot="5400000">
              <a:off x="6479539" y="4551037"/>
              <a:ext cx="129339" cy="131392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86" name="Oval 185"/>
            <p:cNvSpPr/>
            <p:nvPr/>
          </p:nvSpPr>
          <p:spPr bwMode="auto">
            <a:xfrm rot="5400000">
              <a:off x="6966420" y="5855668"/>
              <a:ext cx="129339" cy="131392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87" name="Oval 186"/>
            <p:cNvSpPr/>
            <p:nvPr/>
          </p:nvSpPr>
          <p:spPr bwMode="auto">
            <a:xfrm rot="5400000">
              <a:off x="6783597" y="5683140"/>
              <a:ext cx="129339" cy="131392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88" name="Oval 187"/>
            <p:cNvSpPr/>
            <p:nvPr/>
          </p:nvSpPr>
          <p:spPr bwMode="auto">
            <a:xfrm rot="5400000">
              <a:off x="7396867" y="4549956"/>
              <a:ext cx="129339" cy="131392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89" name="Oval 188"/>
            <p:cNvSpPr/>
            <p:nvPr/>
          </p:nvSpPr>
          <p:spPr bwMode="auto">
            <a:xfrm rot="5400000">
              <a:off x="8172818" y="5455730"/>
              <a:ext cx="129339" cy="131392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90" name="Oval 189"/>
            <p:cNvSpPr/>
            <p:nvPr/>
          </p:nvSpPr>
          <p:spPr bwMode="auto">
            <a:xfrm rot="5400000">
              <a:off x="7893924" y="6242222"/>
              <a:ext cx="129339" cy="131392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91" name="Oval 190"/>
            <p:cNvSpPr/>
            <p:nvPr/>
          </p:nvSpPr>
          <p:spPr bwMode="auto">
            <a:xfrm rot="5400000">
              <a:off x="7907111" y="5814958"/>
              <a:ext cx="129339" cy="131392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92" name="Oval 191"/>
            <p:cNvSpPr/>
            <p:nvPr/>
          </p:nvSpPr>
          <p:spPr bwMode="auto">
            <a:xfrm rot="5400000">
              <a:off x="7689238" y="5990705"/>
              <a:ext cx="129339" cy="131392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93" name="Oval 192"/>
            <p:cNvSpPr/>
            <p:nvPr/>
          </p:nvSpPr>
          <p:spPr bwMode="auto">
            <a:xfrm rot="5400000">
              <a:off x="7111556" y="5278257"/>
              <a:ext cx="129339" cy="131392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94" name="Oval 193"/>
            <p:cNvSpPr/>
            <p:nvPr/>
          </p:nvSpPr>
          <p:spPr bwMode="auto">
            <a:xfrm rot="5400000">
              <a:off x="7226583" y="5473179"/>
              <a:ext cx="129339" cy="131392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95" name="Oval 194"/>
            <p:cNvSpPr/>
            <p:nvPr/>
          </p:nvSpPr>
          <p:spPr bwMode="auto">
            <a:xfrm rot="5400000">
              <a:off x="7309676" y="4934259"/>
              <a:ext cx="129339" cy="131392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96" name="Oval 195"/>
            <p:cNvSpPr/>
            <p:nvPr/>
          </p:nvSpPr>
          <p:spPr bwMode="auto">
            <a:xfrm rot="5400000">
              <a:off x="7555745" y="5016559"/>
              <a:ext cx="129339" cy="131392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97" name="Oval 196"/>
            <p:cNvSpPr/>
            <p:nvPr/>
          </p:nvSpPr>
          <p:spPr bwMode="auto">
            <a:xfrm rot="5400000">
              <a:off x="7645692" y="5427741"/>
              <a:ext cx="129339" cy="131392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98" name="Oval 197"/>
            <p:cNvSpPr/>
            <p:nvPr/>
          </p:nvSpPr>
          <p:spPr bwMode="auto">
            <a:xfrm rot="5400000">
              <a:off x="7910053" y="5367360"/>
              <a:ext cx="129339" cy="131392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99" name="Oval 198"/>
            <p:cNvSpPr/>
            <p:nvPr/>
          </p:nvSpPr>
          <p:spPr bwMode="auto">
            <a:xfrm rot="5400000">
              <a:off x="7499829" y="5211044"/>
              <a:ext cx="129339" cy="131392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00" name="Oval 199"/>
            <p:cNvSpPr/>
            <p:nvPr/>
          </p:nvSpPr>
          <p:spPr bwMode="auto">
            <a:xfrm rot="5400000">
              <a:off x="6786465" y="6010351"/>
              <a:ext cx="129339" cy="131392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01" name="Oval 200"/>
            <p:cNvSpPr/>
            <p:nvPr/>
          </p:nvSpPr>
          <p:spPr bwMode="auto">
            <a:xfrm rot="5400000">
              <a:off x="8174005" y="6230557"/>
              <a:ext cx="129339" cy="131392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02" name="Oval 201"/>
            <p:cNvSpPr/>
            <p:nvPr/>
          </p:nvSpPr>
          <p:spPr bwMode="auto">
            <a:xfrm rot="5400000">
              <a:off x="8173418" y="4555270"/>
              <a:ext cx="129339" cy="131392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03" name="Oval 202"/>
            <p:cNvSpPr/>
            <p:nvPr/>
          </p:nvSpPr>
          <p:spPr bwMode="auto">
            <a:xfrm rot="5400000">
              <a:off x="8177120" y="5121623"/>
              <a:ext cx="129339" cy="131392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04" name="Oval 203"/>
            <p:cNvSpPr/>
            <p:nvPr/>
          </p:nvSpPr>
          <p:spPr bwMode="auto">
            <a:xfrm rot="5400000">
              <a:off x="8177707" y="4857245"/>
              <a:ext cx="129339" cy="131392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05" name="Oval 204"/>
            <p:cNvSpPr/>
            <p:nvPr/>
          </p:nvSpPr>
          <p:spPr bwMode="auto">
            <a:xfrm rot="5400000">
              <a:off x="6474452" y="5180851"/>
              <a:ext cx="129339" cy="131392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06" name="Oval 205"/>
            <p:cNvSpPr/>
            <p:nvPr/>
          </p:nvSpPr>
          <p:spPr bwMode="auto">
            <a:xfrm rot="5400000">
              <a:off x="6478742" y="4842440"/>
              <a:ext cx="129339" cy="131392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07" name="Oval 206"/>
            <p:cNvSpPr/>
            <p:nvPr/>
          </p:nvSpPr>
          <p:spPr bwMode="auto">
            <a:xfrm rot="5400000">
              <a:off x="6479928" y="5617267"/>
              <a:ext cx="129339" cy="131392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08" name="Oval 207"/>
            <p:cNvSpPr/>
            <p:nvPr/>
          </p:nvSpPr>
          <p:spPr bwMode="auto">
            <a:xfrm rot="5400000">
              <a:off x="6801369" y="4811870"/>
              <a:ext cx="129339" cy="131392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09" name="Oval 208"/>
            <p:cNvSpPr/>
            <p:nvPr/>
          </p:nvSpPr>
          <p:spPr bwMode="auto">
            <a:xfrm rot="5400000">
              <a:off x="6861178" y="4554895"/>
              <a:ext cx="129339" cy="131392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10" name="Oval 209"/>
            <p:cNvSpPr/>
            <p:nvPr/>
          </p:nvSpPr>
          <p:spPr bwMode="auto">
            <a:xfrm>
              <a:off x="7093781" y="6233302"/>
              <a:ext cx="129339" cy="131392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11" name="Oval 210"/>
            <p:cNvSpPr/>
            <p:nvPr/>
          </p:nvSpPr>
          <p:spPr bwMode="auto">
            <a:xfrm>
              <a:off x="7775436" y="4543788"/>
              <a:ext cx="129339" cy="131392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12" name="Oval 211"/>
            <p:cNvSpPr/>
            <p:nvPr/>
          </p:nvSpPr>
          <p:spPr bwMode="auto">
            <a:xfrm>
              <a:off x="7465702" y="6240326"/>
              <a:ext cx="129339" cy="131392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13" name="Oval 212"/>
            <p:cNvSpPr/>
            <p:nvPr/>
          </p:nvSpPr>
          <p:spPr bwMode="auto">
            <a:xfrm>
              <a:off x="6487932" y="5923546"/>
              <a:ext cx="129339" cy="131392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14" name="Oval 213"/>
            <p:cNvSpPr/>
            <p:nvPr/>
          </p:nvSpPr>
          <p:spPr bwMode="auto">
            <a:xfrm>
              <a:off x="7880264" y="5070604"/>
              <a:ext cx="129339" cy="131392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15" name="Oval 214"/>
            <p:cNvSpPr/>
            <p:nvPr/>
          </p:nvSpPr>
          <p:spPr bwMode="auto">
            <a:xfrm rot="5400000">
              <a:off x="6484967" y="6239571"/>
              <a:ext cx="129339" cy="131392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16" name="Oval 215"/>
            <p:cNvSpPr/>
            <p:nvPr/>
          </p:nvSpPr>
          <p:spPr bwMode="auto">
            <a:xfrm rot="5400000">
              <a:off x="6930593" y="5427458"/>
              <a:ext cx="129339" cy="131392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17" name="Oval 216"/>
            <p:cNvSpPr/>
            <p:nvPr/>
          </p:nvSpPr>
          <p:spPr bwMode="auto">
            <a:xfrm rot="5400000">
              <a:off x="7799806" y="4777237"/>
              <a:ext cx="129339" cy="131392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18" name="Oval 217"/>
            <p:cNvSpPr/>
            <p:nvPr/>
          </p:nvSpPr>
          <p:spPr bwMode="auto">
            <a:xfrm rot="5400000">
              <a:off x="7347793" y="5866260"/>
              <a:ext cx="129339" cy="131392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1614359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295400"/>
          </a:xfrm>
        </p:spPr>
        <p:txBody>
          <a:bodyPr/>
          <a:lstStyle/>
          <a:p>
            <a:r>
              <a:rPr lang="en-US" smtClean="0"/>
              <a:t>Sphere packing, </a:t>
            </a:r>
            <a:br>
              <a:rPr lang="en-US" smtClean="0"/>
            </a:br>
            <a:r>
              <a:rPr lang="en-US" smtClean="0"/>
              <a:t>better control than Delaunay Refinement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799" y="1151467"/>
            <a:ext cx="5029201" cy="4572000"/>
          </a:xfrm>
        </p:spPr>
        <p:txBody>
          <a:bodyPr/>
          <a:lstStyle/>
          <a:p>
            <a:r>
              <a:rPr lang="en-US" sz="1600" dirty="0"/>
              <a:t>W</a:t>
            </a:r>
            <a:r>
              <a:rPr lang="en-US" sz="1600" dirty="0" smtClean="0"/>
              <a:t>hat </a:t>
            </a:r>
            <a:r>
              <a:rPr lang="en-US" sz="1600" smtClean="0"/>
              <a:t>is MPS? Sphere packing, output of </a:t>
            </a:r>
            <a:endParaRPr lang="en-US" sz="1600" dirty="0" smtClean="0"/>
          </a:p>
          <a:p>
            <a:pPr lvl="1"/>
            <a:r>
              <a:rPr lang="en-US" sz="1600" dirty="0"/>
              <a:t>Insert </a:t>
            </a:r>
            <a:r>
              <a:rPr lang="en-US" sz="1600"/>
              <a:t>random </a:t>
            </a:r>
            <a:r>
              <a:rPr lang="en-US" sz="1600" smtClean="0"/>
              <a:t>points</a:t>
            </a:r>
            <a:endParaRPr lang="en-US" sz="1600" dirty="0"/>
          </a:p>
          <a:p>
            <a:pPr lvl="2"/>
            <a:r>
              <a:rPr lang="en-US" sz="1400" smtClean="0"/>
              <a:t>With </a:t>
            </a:r>
            <a:r>
              <a:rPr lang="en-US" sz="1400" dirty="0"/>
              <a:t>“Poisson</a:t>
            </a:r>
            <a:r>
              <a:rPr lang="en-US" sz="1400"/>
              <a:t>” </a:t>
            </a:r>
            <a:r>
              <a:rPr lang="en-US" sz="1400" smtClean="0"/>
              <a:t>process, and rejection</a:t>
            </a:r>
            <a:endParaRPr lang="en-US" sz="1400" dirty="0" smtClean="0"/>
          </a:p>
        </p:txBody>
      </p:sp>
      <p:sp>
        <p:nvSpPr>
          <p:cNvPr id="5" name="Rectangle 4"/>
          <p:cNvSpPr/>
          <p:nvPr/>
        </p:nvSpPr>
        <p:spPr bwMode="auto">
          <a:xfrm>
            <a:off x="5552001" y="2617137"/>
            <a:ext cx="2743200" cy="2743200"/>
          </a:xfrm>
          <a:prstGeom prst="rect">
            <a:avLst/>
          </a:prstGeom>
          <a:solidFill>
            <a:srgbClr val="FFFF00">
              <a:alpha val="1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5771076" y="2906063"/>
            <a:ext cx="914400" cy="914400"/>
            <a:chOff x="1014942" y="4818592"/>
            <a:chExt cx="914400" cy="914400"/>
          </a:xfrm>
        </p:grpSpPr>
        <p:sp>
          <p:nvSpPr>
            <p:cNvPr id="7" name="Flowchart: Connector 9"/>
            <p:cNvSpPr/>
            <p:nvPr/>
          </p:nvSpPr>
          <p:spPr>
            <a:xfrm>
              <a:off x="1014942" y="4818592"/>
              <a:ext cx="914400" cy="914400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 w="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Oval 7"/>
            <p:cNvSpPr/>
            <p:nvPr/>
          </p:nvSpPr>
          <p:spPr>
            <a:xfrm>
              <a:off x="1467570" y="5271220"/>
              <a:ext cx="18288" cy="18288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415476" y="4684063"/>
            <a:ext cx="914400" cy="914400"/>
            <a:chOff x="1014942" y="4818592"/>
            <a:chExt cx="914400" cy="914400"/>
          </a:xfrm>
        </p:grpSpPr>
        <p:sp>
          <p:nvSpPr>
            <p:cNvPr id="14" name="Flowchart: Connector 9"/>
            <p:cNvSpPr/>
            <p:nvPr/>
          </p:nvSpPr>
          <p:spPr>
            <a:xfrm>
              <a:off x="1014942" y="4818592"/>
              <a:ext cx="914400" cy="914400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 w="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/>
            <p:cNvSpPr/>
            <p:nvPr/>
          </p:nvSpPr>
          <p:spPr>
            <a:xfrm>
              <a:off x="1467570" y="5271220"/>
              <a:ext cx="18288" cy="18288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5965809" y="4243796"/>
            <a:ext cx="914400" cy="914400"/>
            <a:chOff x="1014942" y="4818592"/>
            <a:chExt cx="914400" cy="914400"/>
          </a:xfrm>
        </p:grpSpPr>
        <p:sp>
          <p:nvSpPr>
            <p:cNvPr id="17" name="Flowchart: Connector 9"/>
            <p:cNvSpPr/>
            <p:nvPr/>
          </p:nvSpPr>
          <p:spPr>
            <a:xfrm>
              <a:off x="1014942" y="4818592"/>
              <a:ext cx="914400" cy="914400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 w="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/>
            <p:cNvSpPr/>
            <p:nvPr/>
          </p:nvSpPr>
          <p:spPr>
            <a:xfrm>
              <a:off x="1467570" y="5271220"/>
              <a:ext cx="18288" cy="18288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6092810" y="2889130"/>
            <a:ext cx="914400" cy="914400"/>
            <a:chOff x="1014942" y="4818592"/>
            <a:chExt cx="914400" cy="914400"/>
          </a:xfrm>
        </p:grpSpPr>
        <p:sp>
          <p:nvSpPr>
            <p:cNvPr id="20" name="Flowchart: Connector 9"/>
            <p:cNvSpPr/>
            <p:nvPr/>
          </p:nvSpPr>
          <p:spPr>
            <a:xfrm>
              <a:off x="1014942" y="4818592"/>
              <a:ext cx="914400" cy="914400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 w="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/>
            <p:cNvSpPr/>
            <p:nvPr/>
          </p:nvSpPr>
          <p:spPr>
            <a:xfrm>
              <a:off x="1467570" y="5271220"/>
              <a:ext cx="18288" cy="18288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043673" y="3549938"/>
            <a:ext cx="1387929" cy="760504"/>
            <a:chOff x="6020405" y="3879201"/>
            <a:chExt cx="1387929" cy="760504"/>
          </a:xfrm>
        </p:grpSpPr>
        <p:sp>
          <p:nvSpPr>
            <p:cNvPr id="25" name="Freeform 24"/>
            <p:cNvSpPr/>
            <p:nvPr/>
          </p:nvSpPr>
          <p:spPr bwMode="auto">
            <a:xfrm>
              <a:off x="6020405" y="3879201"/>
              <a:ext cx="1387929" cy="760504"/>
            </a:xfrm>
            <a:custGeom>
              <a:avLst/>
              <a:gdLst>
                <a:gd name="connsiteX0" fmla="*/ 624342 w 881517"/>
                <a:gd name="connsiteY0" fmla="*/ 517115 h 760504"/>
                <a:gd name="connsiteX1" fmla="*/ 695779 w 881517"/>
                <a:gd name="connsiteY1" fmla="*/ 464728 h 760504"/>
                <a:gd name="connsiteX2" fmla="*/ 757692 w 881517"/>
                <a:gd name="connsiteY2" fmla="*/ 412340 h 760504"/>
                <a:gd name="connsiteX3" fmla="*/ 771979 w 881517"/>
                <a:gd name="connsiteY3" fmla="*/ 402815 h 760504"/>
                <a:gd name="connsiteX4" fmla="*/ 786267 w 881517"/>
                <a:gd name="connsiteY4" fmla="*/ 398053 h 760504"/>
                <a:gd name="connsiteX5" fmla="*/ 795792 w 881517"/>
                <a:gd name="connsiteY5" fmla="*/ 383765 h 760504"/>
                <a:gd name="connsiteX6" fmla="*/ 800554 w 881517"/>
                <a:gd name="connsiteY6" fmla="*/ 364715 h 760504"/>
                <a:gd name="connsiteX7" fmla="*/ 805317 w 881517"/>
                <a:gd name="connsiteY7" fmla="*/ 340903 h 760504"/>
                <a:gd name="connsiteX8" fmla="*/ 824367 w 881517"/>
                <a:gd name="connsiteY8" fmla="*/ 312328 h 760504"/>
                <a:gd name="connsiteX9" fmla="*/ 829129 w 881517"/>
                <a:gd name="connsiteY9" fmla="*/ 298040 h 760504"/>
                <a:gd name="connsiteX10" fmla="*/ 857704 w 881517"/>
                <a:gd name="connsiteY10" fmla="*/ 264703 h 760504"/>
                <a:gd name="connsiteX11" fmla="*/ 876754 w 881517"/>
                <a:gd name="connsiteY11" fmla="*/ 188503 h 760504"/>
                <a:gd name="connsiteX12" fmla="*/ 881517 w 881517"/>
                <a:gd name="connsiteY12" fmla="*/ 174215 h 760504"/>
                <a:gd name="connsiteX13" fmla="*/ 876754 w 881517"/>
                <a:gd name="connsiteY13" fmla="*/ 145640 h 760504"/>
                <a:gd name="connsiteX14" fmla="*/ 857704 w 881517"/>
                <a:gd name="connsiteY14" fmla="*/ 117065 h 760504"/>
                <a:gd name="connsiteX15" fmla="*/ 843417 w 881517"/>
                <a:gd name="connsiteY15" fmla="*/ 83728 h 760504"/>
                <a:gd name="connsiteX16" fmla="*/ 824367 w 881517"/>
                <a:gd name="connsiteY16" fmla="*/ 64678 h 760504"/>
                <a:gd name="connsiteX17" fmla="*/ 810079 w 881517"/>
                <a:gd name="connsiteY17" fmla="*/ 59915 h 760504"/>
                <a:gd name="connsiteX18" fmla="*/ 795792 w 881517"/>
                <a:gd name="connsiteY18" fmla="*/ 50390 h 760504"/>
                <a:gd name="connsiteX19" fmla="*/ 776742 w 881517"/>
                <a:gd name="connsiteY19" fmla="*/ 40865 h 760504"/>
                <a:gd name="connsiteX20" fmla="*/ 733879 w 881517"/>
                <a:gd name="connsiteY20" fmla="*/ 21815 h 760504"/>
                <a:gd name="connsiteX21" fmla="*/ 714829 w 881517"/>
                <a:gd name="connsiteY21" fmla="*/ 12290 h 760504"/>
                <a:gd name="connsiteX22" fmla="*/ 633867 w 881517"/>
                <a:gd name="connsiteY22" fmla="*/ 12290 h 760504"/>
                <a:gd name="connsiteX23" fmla="*/ 600529 w 881517"/>
                <a:gd name="connsiteY23" fmla="*/ 45628 h 760504"/>
                <a:gd name="connsiteX24" fmla="*/ 567192 w 881517"/>
                <a:gd name="connsiteY24" fmla="*/ 83728 h 760504"/>
                <a:gd name="connsiteX25" fmla="*/ 548142 w 881517"/>
                <a:gd name="connsiteY25" fmla="*/ 126590 h 760504"/>
                <a:gd name="connsiteX26" fmla="*/ 538617 w 881517"/>
                <a:gd name="connsiteY26" fmla="*/ 150403 h 760504"/>
                <a:gd name="connsiteX27" fmla="*/ 533854 w 881517"/>
                <a:gd name="connsiteY27" fmla="*/ 183740 h 760504"/>
                <a:gd name="connsiteX28" fmla="*/ 529092 w 881517"/>
                <a:gd name="connsiteY28" fmla="*/ 298040 h 760504"/>
                <a:gd name="connsiteX29" fmla="*/ 519567 w 881517"/>
                <a:gd name="connsiteY29" fmla="*/ 312328 h 760504"/>
                <a:gd name="connsiteX30" fmla="*/ 490992 w 881517"/>
                <a:gd name="connsiteY30" fmla="*/ 336140 h 760504"/>
                <a:gd name="connsiteX31" fmla="*/ 452892 w 881517"/>
                <a:gd name="connsiteY31" fmla="*/ 364715 h 760504"/>
                <a:gd name="connsiteX32" fmla="*/ 438604 w 881517"/>
                <a:gd name="connsiteY32" fmla="*/ 369478 h 760504"/>
                <a:gd name="connsiteX33" fmla="*/ 424317 w 881517"/>
                <a:gd name="connsiteY33" fmla="*/ 374240 h 760504"/>
                <a:gd name="connsiteX34" fmla="*/ 410029 w 881517"/>
                <a:gd name="connsiteY34" fmla="*/ 383765 h 760504"/>
                <a:gd name="connsiteX35" fmla="*/ 352879 w 881517"/>
                <a:gd name="connsiteY35" fmla="*/ 393290 h 760504"/>
                <a:gd name="connsiteX36" fmla="*/ 338592 w 881517"/>
                <a:gd name="connsiteY36" fmla="*/ 402815 h 760504"/>
                <a:gd name="connsiteX37" fmla="*/ 319542 w 881517"/>
                <a:gd name="connsiteY37" fmla="*/ 421865 h 760504"/>
                <a:gd name="connsiteX38" fmla="*/ 305254 w 881517"/>
                <a:gd name="connsiteY38" fmla="*/ 426628 h 760504"/>
                <a:gd name="connsiteX39" fmla="*/ 271917 w 881517"/>
                <a:gd name="connsiteY39" fmla="*/ 436153 h 760504"/>
                <a:gd name="connsiteX40" fmla="*/ 124279 w 881517"/>
                <a:gd name="connsiteY40" fmla="*/ 431390 h 760504"/>
                <a:gd name="connsiteX41" fmla="*/ 119517 w 881517"/>
                <a:gd name="connsiteY41" fmla="*/ 412340 h 760504"/>
                <a:gd name="connsiteX42" fmla="*/ 105229 w 881517"/>
                <a:gd name="connsiteY42" fmla="*/ 402815 h 760504"/>
                <a:gd name="connsiteX43" fmla="*/ 100467 w 881517"/>
                <a:gd name="connsiteY43" fmla="*/ 388528 h 760504"/>
                <a:gd name="connsiteX44" fmla="*/ 90942 w 881517"/>
                <a:gd name="connsiteY44" fmla="*/ 374240 h 760504"/>
                <a:gd name="connsiteX45" fmla="*/ 86179 w 881517"/>
                <a:gd name="connsiteY45" fmla="*/ 350428 h 760504"/>
                <a:gd name="connsiteX46" fmla="*/ 76654 w 881517"/>
                <a:gd name="connsiteY46" fmla="*/ 317090 h 760504"/>
                <a:gd name="connsiteX47" fmla="*/ 67129 w 881517"/>
                <a:gd name="connsiteY47" fmla="*/ 302803 h 760504"/>
                <a:gd name="connsiteX48" fmla="*/ 14742 w 881517"/>
                <a:gd name="connsiteY48" fmla="*/ 288515 h 760504"/>
                <a:gd name="connsiteX49" fmla="*/ 454 w 881517"/>
                <a:gd name="connsiteY49" fmla="*/ 293278 h 760504"/>
                <a:gd name="connsiteX50" fmla="*/ 29029 w 881517"/>
                <a:gd name="connsiteY50" fmla="*/ 379003 h 760504"/>
                <a:gd name="connsiteX51" fmla="*/ 43317 w 881517"/>
                <a:gd name="connsiteY51" fmla="*/ 383765 h 760504"/>
                <a:gd name="connsiteX52" fmla="*/ 52842 w 881517"/>
                <a:gd name="connsiteY52" fmla="*/ 402815 h 760504"/>
                <a:gd name="connsiteX53" fmla="*/ 57604 w 881517"/>
                <a:gd name="connsiteY53" fmla="*/ 417103 h 760504"/>
                <a:gd name="connsiteX54" fmla="*/ 67129 w 881517"/>
                <a:gd name="connsiteY54" fmla="*/ 431390 h 760504"/>
                <a:gd name="connsiteX55" fmla="*/ 62367 w 881517"/>
                <a:gd name="connsiteY55" fmla="*/ 536165 h 760504"/>
                <a:gd name="connsiteX56" fmla="*/ 48079 w 881517"/>
                <a:gd name="connsiteY56" fmla="*/ 555215 h 760504"/>
                <a:gd name="connsiteX57" fmla="*/ 38554 w 881517"/>
                <a:gd name="connsiteY57" fmla="*/ 588553 h 760504"/>
                <a:gd name="connsiteX58" fmla="*/ 43317 w 881517"/>
                <a:gd name="connsiteY58" fmla="*/ 602840 h 760504"/>
                <a:gd name="connsiteX59" fmla="*/ 71892 w 881517"/>
                <a:gd name="connsiteY59" fmla="*/ 650465 h 760504"/>
                <a:gd name="connsiteX60" fmla="*/ 86179 w 881517"/>
                <a:gd name="connsiteY60" fmla="*/ 664753 h 760504"/>
                <a:gd name="connsiteX61" fmla="*/ 119517 w 881517"/>
                <a:gd name="connsiteY61" fmla="*/ 679040 h 760504"/>
                <a:gd name="connsiteX62" fmla="*/ 229054 w 881517"/>
                <a:gd name="connsiteY62" fmla="*/ 674278 h 760504"/>
                <a:gd name="connsiteX63" fmla="*/ 252867 w 881517"/>
                <a:gd name="connsiteY63" fmla="*/ 669515 h 760504"/>
                <a:gd name="connsiteX64" fmla="*/ 271917 w 881517"/>
                <a:gd name="connsiteY64" fmla="*/ 655228 h 760504"/>
                <a:gd name="connsiteX65" fmla="*/ 300492 w 881517"/>
                <a:gd name="connsiteY65" fmla="*/ 640940 h 760504"/>
                <a:gd name="connsiteX66" fmla="*/ 333829 w 881517"/>
                <a:gd name="connsiteY66" fmla="*/ 650465 h 760504"/>
                <a:gd name="connsiteX67" fmla="*/ 348117 w 881517"/>
                <a:gd name="connsiteY67" fmla="*/ 655228 h 760504"/>
                <a:gd name="connsiteX68" fmla="*/ 376692 w 881517"/>
                <a:gd name="connsiteY68" fmla="*/ 683803 h 760504"/>
                <a:gd name="connsiteX69" fmla="*/ 395742 w 881517"/>
                <a:gd name="connsiteY69" fmla="*/ 717140 h 760504"/>
                <a:gd name="connsiteX70" fmla="*/ 400504 w 881517"/>
                <a:gd name="connsiteY70" fmla="*/ 731428 h 760504"/>
                <a:gd name="connsiteX71" fmla="*/ 405267 w 881517"/>
                <a:gd name="connsiteY71" fmla="*/ 750478 h 760504"/>
                <a:gd name="connsiteX72" fmla="*/ 419554 w 881517"/>
                <a:gd name="connsiteY72" fmla="*/ 755240 h 760504"/>
                <a:gd name="connsiteX73" fmla="*/ 438604 w 881517"/>
                <a:gd name="connsiteY73" fmla="*/ 745715 h 760504"/>
                <a:gd name="connsiteX74" fmla="*/ 457654 w 881517"/>
                <a:gd name="connsiteY74" fmla="*/ 740953 h 760504"/>
                <a:gd name="connsiteX75" fmla="*/ 471942 w 881517"/>
                <a:gd name="connsiteY75" fmla="*/ 736190 h 760504"/>
                <a:gd name="connsiteX76" fmla="*/ 548142 w 881517"/>
                <a:gd name="connsiteY76" fmla="*/ 740953 h 760504"/>
                <a:gd name="connsiteX77" fmla="*/ 529092 w 881517"/>
                <a:gd name="connsiteY77" fmla="*/ 631415 h 760504"/>
                <a:gd name="connsiteX78" fmla="*/ 514804 w 881517"/>
                <a:gd name="connsiteY78" fmla="*/ 626653 h 760504"/>
                <a:gd name="connsiteX79" fmla="*/ 490992 w 881517"/>
                <a:gd name="connsiteY79" fmla="*/ 588553 h 760504"/>
                <a:gd name="connsiteX80" fmla="*/ 481467 w 881517"/>
                <a:gd name="connsiteY80" fmla="*/ 569503 h 760504"/>
                <a:gd name="connsiteX81" fmla="*/ 486229 w 881517"/>
                <a:gd name="connsiteY81" fmla="*/ 536165 h 760504"/>
                <a:gd name="connsiteX82" fmla="*/ 514804 w 881517"/>
                <a:gd name="connsiteY82" fmla="*/ 521878 h 760504"/>
                <a:gd name="connsiteX83" fmla="*/ 624342 w 881517"/>
                <a:gd name="connsiteY83" fmla="*/ 517115 h 760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881517" h="760504">
                  <a:moveTo>
                    <a:pt x="624342" y="517115"/>
                  </a:moveTo>
                  <a:cubicBezTo>
                    <a:pt x="654504" y="507590"/>
                    <a:pt x="673237" y="483802"/>
                    <a:pt x="695779" y="464728"/>
                  </a:cubicBezTo>
                  <a:cubicBezTo>
                    <a:pt x="716417" y="447265"/>
                    <a:pt x="735198" y="427336"/>
                    <a:pt x="757692" y="412340"/>
                  </a:cubicBezTo>
                  <a:cubicBezTo>
                    <a:pt x="762454" y="409165"/>
                    <a:pt x="766860" y="405375"/>
                    <a:pt x="771979" y="402815"/>
                  </a:cubicBezTo>
                  <a:cubicBezTo>
                    <a:pt x="776469" y="400570"/>
                    <a:pt x="781504" y="399640"/>
                    <a:pt x="786267" y="398053"/>
                  </a:cubicBezTo>
                  <a:cubicBezTo>
                    <a:pt x="789442" y="393290"/>
                    <a:pt x="793537" y="389026"/>
                    <a:pt x="795792" y="383765"/>
                  </a:cubicBezTo>
                  <a:cubicBezTo>
                    <a:pt x="798370" y="377749"/>
                    <a:pt x="799134" y="371105"/>
                    <a:pt x="800554" y="364715"/>
                  </a:cubicBezTo>
                  <a:cubicBezTo>
                    <a:pt x="802310" y="356813"/>
                    <a:pt x="801967" y="348272"/>
                    <a:pt x="805317" y="340903"/>
                  </a:cubicBezTo>
                  <a:cubicBezTo>
                    <a:pt x="810054" y="330482"/>
                    <a:pt x="824367" y="312328"/>
                    <a:pt x="824367" y="312328"/>
                  </a:cubicBezTo>
                  <a:cubicBezTo>
                    <a:pt x="825954" y="307565"/>
                    <a:pt x="825915" y="301897"/>
                    <a:pt x="829129" y="298040"/>
                  </a:cubicBezTo>
                  <a:cubicBezTo>
                    <a:pt x="849940" y="273067"/>
                    <a:pt x="848135" y="296601"/>
                    <a:pt x="857704" y="264703"/>
                  </a:cubicBezTo>
                  <a:cubicBezTo>
                    <a:pt x="865227" y="239625"/>
                    <a:pt x="868474" y="213341"/>
                    <a:pt x="876754" y="188503"/>
                  </a:cubicBezTo>
                  <a:lnTo>
                    <a:pt x="881517" y="174215"/>
                  </a:lnTo>
                  <a:cubicBezTo>
                    <a:pt x="879929" y="164690"/>
                    <a:pt x="880468" y="154554"/>
                    <a:pt x="876754" y="145640"/>
                  </a:cubicBezTo>
                  <a:cubicBezTo>
                    <a:pt x="872351" y="135073"/>
                    <a:pt x="857704" y="117065"/>
                    <a:pt x="857704" y="117065"/>
                  </a:cubicBezTo>
                  <a:cubicBezTo>
                    <a:pt x="854026" y="106029"/>
                    <a:pt x="850480" y="93145"/>
                    <a:pt x="843417" y="83728"/>
                  </a:cubicBezTo>
                  <a:cubicBezTo>
                    <a:pt x="838029" y="76544"/>
                    <a:pt x="831675" y="69898"/>
                    <a:pt x="824367" y="64678"/>
                  </a:cubicBezTo>
                  <a:cubicBezTo>
                    <a:pt x="820282" y="61760"/>
                    <a:pt x="814569" y="62160"/>
                    <a:pt x="810079" y="59915"/>
                  </a:cubicBezTo>
                  <a:cubicBezTo>
                    <a:pt x="804960" y="57355"/>
                    <a:pt x="800762" y="53230"/>
                    <a:pt x="795792" y="50390"/>
                  </a:cubicBezTo>
                  <a:cubicBezTo>
                    <a:pt x="789628" y="46868"/>
                    <a:pt x="782762" y="44628"/>
                    <a:pt x="776742" y="40865"/>
                  </a:cubicBezTo>
                  <a:cubicBezTo>
                    <a:pt x="743709" y="20220"/>
                    <a:pt x="773132" y="29666"/>
                    <a:pt x="733879" y="21815"/>
                  </a:cubicBezTo>
                  <a:cubicBezTo>
                    <a:pt x="727529" y="18640"/>
                    <a:pt x="721355" y="15087"/>
                    <a:pt x="714829" y="12290"/>
                  </a:cubicBezTo>
                  <a:cubicBezTo>
                    <a:pt x="686153" y="0"/>
                    <a:pt x="675593" y="9310"/>
                    <a:pt x="633867" y="12290"/>
                  </a:cubicBezTo>
                  <a:cubicBezTo>
                    <a:pt x="622754" y="23403"/>
                    <a:pt x="610347" y="33356"/>
                    <a:pt x="600529" y="45628"/>
                  </a:cubicBezTo>
                  <a:cubicBezTo>
                    <a:pt x="577272" y="74699"/>
                    <a:pt x="588666" y="62252"/>
                    <a:pt x="567192" y="83728"/>
                  </a:cubicBezTo>
                  <a:cubicBezTo>
                    <a:pt x="538951" y="154330"/>
                    <a:pt x="574844" y="66510"/>
                    <a:pt x="548142" y="126590"/>
                  </a:cubicBezTo>
                  <a:cubicBezTo>
                    <a:pt x="544670" y="134402"/>
                    <a:pt x="541792" y="142465"/>
                    <a:pt x="538617" y="150403"/>
                  </a:cubicBezTo>
                  <a:cubicBezTo>
                    <a:pt x="537029" y="161515"/>
                    <a:pt x="534577" y="172538"/>
                    <a:pt x="533854" y="183740"/>
                  </a:cubicBezTo>
                  <a:cubicBezTo>
                    <a:pt x="531399" y="221794"/>
                    <a:pt x="533303" y="260140"/>
                    <a:pt x="529092" y="298040"/>
                  </a:cubicBezTo>
                  <a:cubicBezTo>
                    <a:pt x="528460" y="303729"/>
                    <a:pt x="523231" y="307931"/>
                    <a:pt x="519567" y="312328"/>
                  </a:cubicBezTo>
                  <a:cubicBezTo>
                    <a:pt x="508110" y="326077"/>
                    <a:pt x="505038" y="326776"/>
                    <a:pt x="490992" y="336140"/>
                  </a:cubicBezTo>
                  <a:cubicBezTo>
                    <a:pt x="476977" y="364170"/>
                    <a:pt x="488202" y="352945"/>
                    <a:pt x="452892" y="364715"/>
                  </a:cubicBezTo>
                  <a:lnTo>
                    <a:pt x="438604" y="369478"/>
                  </a:lnTo>
                  <a:lnTo>
                    <a:pt x="424317" y="374240"/>
                  </a:lnTo>
                  <a:cubicBezTo>
                    <a:pt x="419554" y="377415"/>
                    <a:pt x="415290" y="381510"/>
                    <a:pt x="410029" y="383765"/>
                  </a:cubicBezTo>
                  <a:cubicBezTo>
                    <a:pt x="397069" y="389319"/>
                    <a:pt x="361287" y="392239"/>
                    <a:pt x="352879" y="393290"/>
                  </a:cubicBezTo>
                  <a:cubicBezTo>
                    <a:pt x="348117" y="396465"/>
                    <a:pt x="342938" y="399090"/>
                    <a:pt x="338592" y="402815"/>
                  </a:cubicBezTo>
                  <a:cubicBezTo>
                    <a:pt x="331774" y="408659"/>
                    <a:pt x="326850" y="416645"/>
                    <a:pt x="319542" y="421865"/>
                  </a:cubicBezTo>
                  <a:cubicBezTo>
                    <a:pt x="315457" y="424783"/>
                    <a:pt x="310081" y="425249"/>
                    <a:pt x="305254" y="426628"/>
                  </a:cubicBezTo>
                  <a:cubicBezTo>
                    <a:pt x="263402" y="438586"/>
                    <a:pt x="306166" y="424735"/>
                    <a:pt x="271917" y="436153"/>
                  </a:cubicBezTo>
                  <a:lnTo>
                    <a:pt x="124279" y="431390"/>
                  </a:lnTo>
                  <a:cubicBezTo>
                    <a:pt x="117812" y="430380"/>
                    <a:pt x="123148" y="417786"/>
                    <a:pt x="119517" y="412340"/>
                  </a:cubicBezTo>
                  <a:cubicBezTo>
                    <a:pt x="116342" y="407577"/>
                    <a:pt x="109992" y="405990"/>
                    <a:pt x="105229" y="402815"/>
                  </a:cubicBezTo>
                  <a:cubicBezTo>
                    <a:pt x="103642" y="398053"/>
                    <a:pt x="102712" y="393018"/>
                    <a:pt x="100467" y="388528"/>
                  </a:cubicBezTo>
                  <a:cubicBezTo>
                    <a:pt x="97907" y="383408"/>
                    <a:pt x="92952" y="379599"/>
                    <a:pt x="90942" y="374240"/>
                  </a:cubicBezTo>
                  <a:cubicBezTo>
                    <a:pt x="88100" y="366661"/>
                    <a:pt x="87935" y="358330"/>
                    <a:pt x="86179" y="350428"/>
                  </a:cubicBezTo>
                  <a:cubicBezTo>
                    <a:pt x="84957" y="344930"/>
                    <a:pt x="79838" y="323457"/>
                    <a:pt x="76654" y="317090"/>
                  </a:cubicBezTo>
                  <a:cubicBezTo>
                    <a:pt x="74094" y="311971"/>
                    <a:pt x="71983" y="305836"/>
                    <a:pt x="67129" y="302803"/>
                  </a:cubicBezTo>
                  <a:cubicBezTo>
                    <a:pt x="55756" y="295695"/>
                    <a:pt x="28339" y="291235"/>
                    <a:pt x="14742" y="288515"/>
                  </a:cubicBezTo>
                  <a:cubicBezTo>
                    <a:pt x="9979" y="290103"/>
                    <a:pt x="839" y="288272"/>
                    <a:pt x="454" y="293278"/>
                  </a:cubicBezTo>
                  <a:cubicBezTo>
                    <a:pt x="0" y="299184"/>
                    <a:pt x="6297" y="371427"/>
                    <a:pt x="29029" y="379003"/>
                  </a:cubicBezTo>
                  <a:lnTo>
                    <a:pt x="43317" y="383765"/>
                  </a:lnTo>
                  <a:cubicBezTo>
                    <a:pt x="46492" y="390115"/>
                    <a:pt x="50045" y="396289"/>
                    <a:pt x="52842" y="402815"/>
                  </a:cubicBezTo>
                  <a:cubicBezTo>
                    <a:pt x="54819" y="407429"/>
                    <a:pt x="55359" y="412613"/>
                    <a:pt x="57604" y="417103"/>
                  </a:cubicBezTo>
                  <a:cubicBezTo>
                    <a:pt x="60164" y="422222"/>
                    <a:pt x="63954" y="426628"/>
                    <a:pt x="67129" y="431390"/>
                  </a:cubicBezTo>
                  <a:cubicBezTo>
                    <a:pt x="65542" y="466315"/>
                    <a:pt x="67683" y="501610"/>
                    <a:pt x="62367" y="536165"/>
                  </a:cubicBezTo>
                  <a:cubicBezTo>
                    <a:pt x="61160" y="544010"/>
                    <a:pt x="52017" y="548323"/>
                    <a:pt x="48079" y="555215"/>
                  </a:cubicBezTo>
                  <a:cubicBezTo>
                    <a:pt x="45045" y="560525"/>
                    <a:pt x="39584" y="584435"/>
                    <a:pt x="38554" y="588553"/>
                  </a:cubicBezTo>
                  <a:cubicBezTo>
                    <a:pt x="40142" y="593315"/>
                    <a:pt x="41278" y="598253"/>
                    <a:pt x="43317" y="602840"/>
                  </a:cubicBezTo>
                  <a:cubicBezTo>
                    <a:pt x="52773" y="624115"/>
                    <a:pt x="57461" y="633629"/>
                    <a:pt x="71892" y="650465"/>
                  </a:cubicBezTo>
                  <a:cubicBezTo>
                    <a:pt x="76275" y="655579"/>
                    <a:pt x="80698" y="660838"/>
                    <a:pt x="86179" y="664753"/>
                  </a:cubicBezTo>
                  <a:cubicBezTo>
                    <a:pt x="96479" y="672110"/>
                    <a:pt x="107856" y="675154"/>
                    <a:pt x="119517" y="679040"/>
                  </a:cubicBezTo>
                  <a:cubicBezTo>
                    <a:pt x="156029" y="677453"/>
                    <a:pt x="192600" y="676882"/>
                    <a:pt x="229054" y="674278"/>
                  </a:cubicBezTo>
                  <a:cubicBezTo>
                    <a:pt x="237128" y="673701"/>
                    <a:pt x="245470" y="672803"/>
                    <a:pt x="252867" y="669515"/>
                  </a:cubicBezTo>
                  <a:cubicBezTo>
                    <a:pt x="260120" y="666291"/>
                    <a:pt x="265458" y="659842"/>
                    <a:pt x="271917" y="655228"/>
                  </a:cubicBezTo>
                  <a:cubicBezTo>
                    <a:pt x="288074" y="643687"/>
                    <a:pt x="282797" y="646839"/>
                    <a:pt x="300492" y="640940"/>
                  </a:cubicBezTo>
                  <a:lnTo>
                    <a:pt x="333829" y="650465"/>
                  </a:lnTo>
                  <a:cubicBezTo>
                    <a:pt x="338638" y="651908"/>
                    <a:pt x="344154" y="652146"/>
                    <a:pt x="348117" y="655228"/>
                  </a:cubicBezTo>
                  <a:cubicBezTo>
                    <a:pt x="358750" y="663498"/>
                    <a:pt x="370668" y="671755"/>
                    <a:pt x="376692" y="683803"/>
                  </a:cubicBezTo>
                  <a:cubicBezTo>
                    <a:pt x="388777" y="707972"/>
                    <a:pt x="382279" y="696946"/>
                    <a:pt x="395742" y="717140"/>
                  </a:cubicBezTo>
                  <a:cubicBezTo>
                    <a:pt x="397329" y="721903"/>
                    <a:pt x="399125" y="726601"/>
                    <a:pt x="400504" y="731428"/>
                  </a:cubicBezTo>
                  <a:cubicBezTo>
                    <a:pt x="402302" y="737722"/>
                    <a:pt x="401178" y="745367"/>
                    <a:pt x="405267" y="750478"/>
                  </a:cubicBezTo>
                  <a:cubicBezTo>
                    <a:pt x="408403" y="754398"/>
                    <a:pt x="414792" y="753653"/>
                    <a:pt x="419554" y="755240"/>
                  </a:cubicBezTo>
                  <a:cubicBezTo>
                    <a:pt x="425904" y="752065"/>
                    <a:pt x="431956" y="748208"/>
                    <a:pt x="438604" y="745715"/>
                  </a:cubicBezTo>
                  <a:cubicBezTo>
                    <a:pt x="444733" y="743417"/>
                    <a:pt x="451360" y="742751"/>
                    <a:pt x="457654" y="740953"/>
                  </a:cubicBezTo>
                  <a:cubicBezTo>
                    <a:pt x="462481" y="739574"/>
                    <a:pt x="467179" y="737778"/>
                    <a:pt x="471942" y="736190"/>
                  </a:cubicBezTo>
                  <a:cubicBezTo>
                    <a:pt x="497342" y="737778"/>
                    <a:pt x="531850" y="760504"/>
                    <a:pt x="548142" y="740953"/>
                  </a:cubicBezTo>
                  <a:cubicBezTo>
                    <a:pt x="564089" y="721816"/>
                    <a:pt x="555949" y="653796"/>
                    <a:pt x="529092" y="631415"/>
                  </a:cubicBezTo>
                  <a:cubicBezTo>
                    <a:pt x="525235" y="628201"/>
                    <a:pt x="519567" y="628240"/>
                    <a:pt x="514804" y="626653"/>
                  </a:cubicBezTo>
                  <a:cubicBezTo>
                    <a:pt x="505002" y="597244"/>
                    <a:pt x="516875" y="627377"/>
                    <a:pt x="490992" y="588553"/>
                  </a:cubicBezTo>
                  <a:cubicBezTo>
                    <a:pt x="487054" y="582646"/>
                    <a:pt x="484642" y="575853"/>
                    <a:pt x="481467" y="569503"/>
                  </a:cubicBezTo>
                  <a:cubicBezTo>
                    <a:pt x="483054" y="558390"/>
                    <a:pt x="481670" y="546423"/>
                    <a:pt x="486229" y="536165"/>
                  </a:cubicBezTo>
                  <a:cubicBezTo>
                    <a:pt x="488486" y="531088"/>
                    <a:pt x="509301" y="522107"/>
                    <a:pt x="514804" y="521878"/>
                  </a:cubicBezTo>
                  <a:cubicBezTo>
                    <a:pt x="548113" y="520490"/>
                    <a:pt x="594180" y="526640"/>
                    <a:pt x="624342" y="517115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900333" y="3926416"/>
              <a:ext cx="3238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2000" smtClean="0">
                  <a:latin typeface="Calibri"/>
                </a:rPr>
                <a:t>Ω</a:t>
              </a:r>
              <a:endParaRPr lang="en-US" sz="2000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374341" y="4187825"/>
              <a:ext cx="485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i="1" dirty="0" smtClean="0">
                  <a:latin typeface="Calibri"/>
                </a:rPr>
                <a:t>x</a:t>
              </a:r>
              <a:r>
                <a:rPr lang="en-US" sz="1800" i="1" baseline="-25000" dirty="0" smtClean="0">
                  <a:latin typeface="Calibri"/>
                </a:rPr>
                <a:t>4</a:t>
              </a:r>
              <a:r>
                <a:rPr lang="en-US" sz="1800" dirty="0" smtClean="0">
                  <a:latin typeface="Calibri"/>
                </a:rPr>
                <a:t>?</a:t>
              </a:r>
              <a:endParaRPr lang="en-US" sz="1800" dirty="0"/>
            </a:p>
          </p:txBody>
        </p:sp>
      </p:grpSp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567" y="2104902"/>
            <a:ext cx="452967" cy="503297"/>
          </a:xfrm>
          <a:prstGeom prst="rect">
            <a:avLst/>
          </a:prstGeom>
        </p:spPr>
      </p:pic>
      <p:grpSp>
        <p:nvGrpSpPr>
          <p:cNvPr id="303" name="Group 302"/>
          <p:cNvGrpSpPr/>
          <p:nvPr/>
        </p:nvGrpSpPr>
        <p:grpSpPr>
          <a:xfrm>
            <a:off x="5127611" y="2194864"/>
            <a:ext cx="3589866" cy="3547533"/>
            <a:chOff x="5104343" y="2524127"/>
            <a:chExt cx="3589866" cy="3547533"/>
          </a:xfrm>
        </p:grpSpPr>
        <p:grpSp>
          <p:nvGrpSpPr>
            <p:cNvPr id="304" name="Group 303"/>
            <p:cNvGrpSpPr/>
            <p:nvPr/>
          </p:nvGrpSpPr>
          <p:grpSpPr>
            <a:xfrm>
              <a:off x="5104343" y="2524127"/>
              <a:ext cx="3589866" cy="3547533"/>
              <a:chOff x="5104343" y="2524127"/>
              <a:chExt cx="3589866" cy="3547533"/>
            </a:xfrm>
          </p:grpSpPr>
          <p:grpSp>
            <p:nvGrpSpPr>
              <p:cNvPr id="308" name="Group 307"/>
              <p:cNvGrpSpPr/>
              <p:nvPr/>
            </p:nvGrpSpPr>
            <p:grpSpPr>
              <a:xfrm>
                <a:off x="5104343" y="2524127"/>
                <a:ext cx="3589866" cy="3496734"/>
                <a:chOff x="5104343" y="2524127"/>
                <a:chExt cx="3589866" cy="3496734"/>
              </a:xfrm>
            </p:grpSpPr>
            <p:grpSp>
              <p:nvGrpSpPr>
                <p:cNvPr id="315" name="Group 314"/>
                <p:cNvGrpSpPr/>
                <p:nvPr/>
              </p:nvGrpSpPr>
              <p:grpSpPr>
                <a:xfrm>
                  <a:off x="5434542" y="4412194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76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77" name="Oval 376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16" name="Group 315"/>
                <p:cNvGrpSpPr/>
                <p:nvPr/>
              </p:nvGrpSpPr>
              <p:grpSpPr>
                <a:xfrm>
                  <a:off x="6873875" y="4234394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74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75" name="Oval 374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17" name="Group 316"/>
                <p:cNvGrpSpPr/>
                <p:nvPr/>
              </p:nvGrpSpPr>
              <p:grpSpPr>
                <a:xfrm>
                  <a:off x="7263343" y="3243793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72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73" name="Oval 372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18" name="Group 317"/>
                <p:cNvGrpSpPr/>
                <p:nvPr/>
              </p:nvGrpSpPr>
              <p:grpSpPr>
                <a:xfrm>
                  <a:off x="5180543" y="2574927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70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71" name="Oval 370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19" name="Group 318"/>
                <p:cNvGrpSpPr/>
                <p:nvPr/>
              </p:nvGrpSpPr>
              <p:grpSpPr>
                <a:xfrm>
                  <a:off x="5104343" y="3709460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68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69" name="Oval 368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20" name="Group 319"/>
                <p:cNvGrpSpPr/>
                <p:nvPr/>
              </p:nvGrpSpPr>
              <p:grpSpPr>
                <a:xfrm>
                  <a:off x="5840943" y="3777193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66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67" name="Oval 366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21" name="Group 320"/>
                <p:cNvGrpSpPr/>
                <p:nvPr/>
              </p:nvGrpSpPr>
              <p:grpSpPr>
                <a:xfrm>
                  <a:off x="7779809" y="4606927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64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65" name="Oval 364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22" name="Group 321"/>
                <p:cNvGrpSpPr/>
                <p:nvPr/>
              </p:nvGrpSpPr>
              <p:grpSpPr>
                <a:xfrm>
                  <a:off x="7305676" y="4479927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62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63" name="Oval 362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23" name="Group 322"/>
                <p:cNvGrpSpPr/>
                <p:nvPr/>
              </p:nvGrpSpPr>
              <p:grpSpPr>
                <a:xfrm>
                  <a:off x="6975476" y="4903261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60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61" name="Oval 360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24" name="Group 323"/>
                <p:cNvGrpSpPr/>
                <p:nvPr/>
              </p:nvGrpSpPr>
              <p:grpSpPr>
                <a:xfrm>
                  <a:off x="7593542" y="2845860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58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59" name="Oval 358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25" name="Group 324"/>
                <p:cNvGrpSpPr/>
                <p:nvPr/>
              </p:nvGrpSpPr>
              <p:grpSpPr>
                <a:xfrm>
                  <a:off x="7077076" y="2761194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56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57" name="Oval 356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26" name="Group 325"/>
                <p:cNvGrpSpPr/>
                <p:nvPr/>
              </p:nvGrpSpPr>
              <p:grpSpPr>
                <a:xfrm>
                  <a:off x="6365875" y="5089527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54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55" name="Oval 354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27" name="Group 326"/>
                <p:cNvGrpSpPr/>
                <p:nvPr/>
              </p:nvGrpSpPr>
              <p:grpSpPr>
                <a:xfrm>
                  <a:off x="7449609" y="5106461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52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53" name="Oval 352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28" name="Group 327"/>
                <p:cNvGrpSpPr/>
                <p:nvPr/>
              </p:nvGrpSpPr>
              <p:grpSpPr>
                <a:xfrm>
                  <a:off x="6772276" y="3760260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50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51" name="Oval 350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29" name="Group 328"/>
                <p:cNvGrpSpPr/>
                <p:nvPr/>
              </p:nvGrpSpPr>
              <p:grpSpPr>
                <a:xfrm>
                  <a:off x="6247343" y="2989794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48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49" name="Oval 348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30" name="Group 329"/>
                <p:cNvGrpSpPr/>
                <p:nvPr/>
              </p:nvGrpSpPr>
              <p:grpSpPr>
                <a:xfrm>
                  <a:off x="7618942" y="3768727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46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47" name="Oval 346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31" name="Group 330"/>
                <p:cNvGrpSpPr/>
                <p:nvPr/>
              </p:nvGrpSpPr>
              <p:grpSpPr>
                <a:xfrm>
                  <a:off x="6306609" y="3573994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44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45" name="Oval 344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32" name="Group 331"/>
                <p:cNvGrpSpPr/>
                <p:nvPr/>
              </p:nvGrpSpPr>
              <p:grpSpPr>
                <a:xfrm>
                  <a:off x="6755343" y="3192993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42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43" name="Oval 342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33" name="Group 332"/>
                <p:cNvGrpSpPr/>
                <p:nvPr/>
              </p:nvGrpSpPr>
              <p:grpSpPr>
                <a:xfrm>
                  <a:off x="5231342" y="3133727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40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41" name="Oval 340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34" name="Group 333"/>
                <p:cNvGrpSpPr/>
                <p:nvPr/>
              </p:nvGrpSpPr>
              <p:grpSpPr>
                <a:xfrm>
                  <a:off x="6433609" y="2524127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38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39" name="Oval 338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35" name="Group 334"/>
                <p:cNvGrpSpPr/>
                <p:nvPr/>
              </p:nvGrpSpPr>
              <p:grpSpPr>
                <a:xfrm>
                  <a:off x="5773209" y="2557993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36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37" name="Oval 336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grpSp>
            <p:nvGrpSpPr>
              <p:cNvPr id="309" name="Group 308"/>
              <p:cNvGrpSpPr/>
              <p:nvPr/>
            </p:nvGrpSpPr>
            <p:grpSpPr>
              <a:xfrm>
                <a:off x="6374342" y="4319061"/>
                <a:ext cx="914400" cy="914400"/>
                <a:chOff x="1014942" y="4818592"/>
                <a:chExt cx="914400" cy="914400"/>
              </a:xfrm>
            </p:grpSpPr>
            <p:sp>
              <p:nvSpPr>
                <p:cNvPr id="313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14" name="Oval 313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10" name="Group 309"/>
              <p:cNvGrpSpPr/>
              <p:nvPr/>
            </p:nvGrpSpPr>
            <p:grpSpPr>
              <a:xfrm>
                <a:off x="5840941" y="5157260"/>
                <a:ext cx="914400" cy="914400"/>
                <a:chOff x="1014942" y="4818592"/>
                <a:chExt cx="914400" cy="914400"/>
              </a:xfrm>
            </p:grpSpPr>
            <p:sp>
              <p:nvSpPr>
                <p:cNvPr id="311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12" name="Oval 311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05" name="Group 304"/>
            <p:cNvGrpSpPr/>
            <p:nvPr/>
          </p:nvGrpSpPr>
          <p:grpSpPr>
            <a:xfrm>
              <a:off x="7762875" y="3294593"/>
              <a:ext cx="914400" cy="914400"/>
              <a:chOff x="1014942" y="4818592"/>
              <a:chExt cx="914400" cy="914400"/>
            </a:xfrm>
          </p:grpSpPr>
          <p:sp>
            <p:nvSpPr>
              <p:cNvPr id="306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7" name="Oval 306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103" name="Content Placeholder 2"/>
          <p:cNvSpPr txBox="1">
            <a:spLocks/>
          </p:cNvSpPr>
          <p:nvPr/>
        </p:nvSpPr>
        <p:spPr bwMode="auto">
          <a:xfrm>
            <a:off x="-2" y="5955850"/>
            <a:ext cx="4655822" cy="8500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>
            <a:lvl1pPr marL="34290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200" b="1">
                <a:solidFill>
                  <a:srgbClr val="000000"/>
                </a:solidFill>
                <a:latin typeface="+mn-lt"/>
              </a:defRPr>
            </a:lvl2pPr>
            <a:lvl3pPr marL="1085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rgbClr val="000000"/>
                </a:solidFill>
                <a:latin typeface="+mn-lt"/>
              </a:defRPr>
            </a:lvl3pPr>
            <a:lvl4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rgbClr val="000000"/>
                </a:solidFill>
                <a:latin typeface="+mn-lt"/>
              </a:defRPr>
            </a:lvl4pPr>
            <a:lvl5pPr marL="19431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5pPr>
            <a:lvl6pPr marL="24003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6pPr>
            <a:lvl7pPr marL="28575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7pPr>
            <a:lvl8pPr marL="33147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8pPr>
            <a:lvl9pPr marL="37719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9pPr>
          </a:lstStyle>
          <a:p>
            <a:r>
              <a:rPr lang="en-US" sz="1800" kern="0" dirty="0" smtClean="0">
                <a:solidFill>
                  <a:schemeClr val="tx2"/>
                </a:solidFill>
              </a:rPr>
              <a:t>We claim in </a:t>
            </a:r>
            <a:r>
              <a:rPr lang="en-US" sz="1800" i="1" kern="0" dirty="0" smtClean="0">
                <a:solidFill>
                  <a:schemeClr val="tx2"/>
                </a:solidFill>
              </a:rPr>
              <a:t>practice,</a:t>
            </a:r>
            <a:r>
              <a:rPr lang="en-US" sz="1800" kern="0" dirty="0" smtClean="0">
                <a:solidFill>
                  <a:schemeClr val="tx2"/>
                </a:solidFill>
              </a:rPr>
              <a:t> sphere packing </a:t>
            </a:r>
            <a:br>
              <a:rPr lang="en-US" sz="1800" kern="0" dirty="0" smtClean="0">
                <a:solidFill>
                  <a:schemeClr val="tx2"/>
                </a:solidFill>
              </a:rPr>
            </a:br>
            <a:r>
              <a:rPr lang="en-US" sz="1800" kern="0" dirty="0" smtClean="0">
                <a:solidFill>
                  <a:schemeClr val="tx2"/>
                </a:solidFill>
              </a:rPr>
              <a:t>has better (direct) spacing control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-2" y="1151468"/>
            <a:ext cx="9106125" cy="5683978"/>
            <a:chOff x="-2" y="1151468"/>
            <a:chExt cx="9106125" cy="5683978"/>
          </a:xfrm>
        </p:grpSpPr>
        <p:grpSp>
          <p:nvGrpSpPr>
            <p:cNvPr id="6" name="Group 5"/>
            <p:cNvGrpSpPr/>
            <p:nvPr/>
          </p:nvGrpSpPr>
          <p:grpSpPr>
            <a:xfrm>
              <a:off x="-2" y="1151468"/>
              <a:ext cx="4996393" cy="4699822"/>
              <a:chOff x="-2" y="1151468"/>
              <a:chExt cx="4996393" cy="4699822"/>
            </a:xfrm>
          </p:grpSpPr>
          <p:pic>
            <p:nvPicPr>
              <p:cNvPr id="35" name="Picture 3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2787" y="4891872"/>
                <a:ext cx="4726507" cy="325966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8523" y="5240081"/>
                <a:ext cx="4656668" cy="303696"/>
              </a:xfrm>
              <a:prstGeom prst="rect">
                <a:avLst/>
              </a:prstGeom>
            </p:spPr>
          </p:pic>
          <p:sp>
            <p:nvSpPr>
              <p:cNvPr id="4" name="TextBox 3"/>
              <p:cNvSpPr txBox="1"/>
              <p:nvPr/>
            </p:nvSpPr>
            <p:spPr>
              <a:xfrm>
                <a:off x="106162" y="5512736"/>
                <a:ext cx="430214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smtClean="0"/>
                  <a:t>Provable angle bounds by Central Angle Theorem</a:t>
                </a:r>
                <a:endParaRPr lang="en-US" sz="1600"/>
              </a:p>
            </p:txBody>
          </p:sp>
          <p:sp>
            <p:nvSpPr>
              <p:cNvPr id="102" name="Content Placeholder 2"/>
              <p:cNvSpPr txBox="1">
                <a:spLocks/>
              </p:cNvSpPr>
              <p:nvPr/>
            </p:nvSpPr>
            <p:spPr bwMode="auto">
              <a:xfrm>
                <a:off x="-2" y="1151468"/>
                <a:ext cx="4996393" cy="362022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90487" tIns="44450" rIns="90487" bIns="44450" numCol="1" anchor="t" anchorCtr="0" compatLnSpc="1">
                <a:prstTxWarp prst="textNoShape">
                  <a:avLst/>
                </a:prstTxWarp>
              </a:bodyPr>
              <a:lstStyle>
                <a:lvl1pPr marL="342900" indent="-1714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400" b="1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–"/>
                  <a:defRPr sz="2200" b="1">
                    <a:solidFill>
                      <a:srgbClr val="000000"/>
                    </a:solidFill>
                    <a:latin typeface="+mn-lt"/>
                  </a:defRPr>
                </a:lvl2pPr>
                <a:lvl3pPr marL="1085850" indent="-1714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rgbClr val="000000"/>
                    </a:solidFill>
                    <a:latin typeface="+mn-lt"/>
                  </a:defRPr>
                </a:lvl3pPr>
                <a:lvl4pPr marL="1543050" indent="-1714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–"/>
                  <a:defRPr b="1">
                    <a:solidFill>
                      <a:srgbClr val="000000"/>
                    </a:solidFill>
                    <a:latin typeface="+mn-lt"/>
                  </a:defRPr>
                </a:lvl4pPr>
                <a:lvl5pPr marL="1943100" indent="-1143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b="1">
                    <a:solidFill>
                      <a:srgbClr val="000000"/>
                    </a:solidFill>
                    <a:latin typeface="+mn-lt"/>
                  </a:defRPr>
                </a:lvl5pPr>
                <a:lvl6pPr marL="2400300" indent="-1143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b="1">
                    <a:solidFill>
                      <a:srgbClr val="000000"/>
                    </a:solidFill>
                    <a:latin typeface="+mn-lt"/>
                  </a:defRPr>
                </a:lvl6pPr>
                <a:lvl7pPr marL="2857500" indent="-1143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b="1">
                    <a:solidFill>
                      <a:srgbClr val="000000"/>
                    </a:solidFill>
                    <a:latin typeface="+mn-lt"/>
                  </a:defRPr>
                </a:lvl7pPr>
                <a:lvl8pPr marL="3314700" indent="-1143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b="1">
                    <a:solidFill>
                      <a:srgbClr val="000000"/>
                    </a:solidFill>
                    <a:latin typeface="+mn-lt"/>
                  </a:defRPr>
                </a:lvl8pPr>
                <a:lvl9pPr marL="3771900" indent="-1143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b="1">
                    <a:solidFill>
                      <a:srgbClr val="000000"/>
                    </a:solidFill>
                    <a:latin typeface="+mn-lt"/>
                  </a:defRPr>
                </a:lvl9pPr>
              </a:lstStyle>
              <a:p>
                <a:r>
                  <a:rPr lang="en-US" sz="1600" kern="0" smtClean="0">
                    <a:solidFill>
                      <a:schemeClr val="tx2"/>
                    </a:solidFill>
                  </a:rPr>
                  <a:t>Delaunay Refinement</a:t>
                </a:r>
              </a:p>
              <a:p>
                <a:pPr lvl="1"/>
                <a:r>
                  <a:rPr lang="en-US" sz="1400" kern="0">
                    <a:solidFill>
                      <a:schemeClr val="tx2"/>
                    </a:solidFill>
                  </a:rPr>
                  <a:t>build quality, packing results</a:t>
                </a:r>
              </a:p>
              <a:p>
                <a:pPr lvl="1"/>
                <a:r>
                  <a:rPr lang="en-US" sz="1400" kern="0" smtClean="0"/>
                  <a:t>If triangle has bad quality</a:t>
                </a:r>
              </a:p>
              <a:p>
                <a:pPr lvl="2"/>
                <a:r>
                  <a:rPr lang="en-US" sz="1200" kern="0"/>
                  <a:t>Then add a </a:t>
                </a:r>
                <a:r>
                  <a:rPr lang="en-US" sz="1200" kern="0" smtClean="0"/>
                  <a:t>point</a:t>
                </a:r>
              </a:p>
              <a:p>
                <a:pPr lvl="1"/>
                <a:r>
                  <a:rPr lang="en-US" sz="1400" kern="0" smtClean="0"/>
                  <a:t>On termination, we have a sphere packing</a:t>
                </a:r>
              </a:p>
              <a:p>
                <a:r>
                  <a:rPr lang="en-US" sz="1600" kern="0" smtClean="0">
                    <a:solidFill>
                      <a:schemeClr val="tx2"/>
                    </a:solidFill>
                  </a:rPr>
                  <a:t>MPS</a:t>
                </a:r>
              </a:p>
              <a:p>
                <a:pPr lvl="1"/>
                <a:r>
                  <a:rPr lang="en-US" sz="1400" kern="0">
                    <a:solidFill>
                      <a:schemeClr val="tx2"/>
                    </a:solidFill>
                  </a:rPr>
                  <a:t>build packing, quality results</a:t>
                </a:r>
              </a:p>
              <a:p>
                <a:pPr lvl="1"/>
                <a:r>
                  <a:rPr lang="en-US" sz="1400" kern="0" smtClean="0"/>
                  <a:t>If packing is not maximal</a:t>
                </a:r>
              </a:p>
              <a:p>
                <a:pPr lvl="2"/>
                <a:r>
                  <a:rPr lang="en-US" sz="1200" kern="0" smtClean="0"/>
                  <a:t>Then add a point</a:t>
                </a:r>
              </a:p>
              <a:p>
                <a:pPr lvl="1"/>
                <a:r>
                  <a:rPr lang="en-US" sz="1400" kern="0" smtClean="0"/>
                  <a:t>On termination, the Delaunay triangulation will have good quality.</a:t>
                </a:r>
                <a:br>
                  <a:rPr lang="en-US" sz="1400" kern="0" smtClean="0"/>
                </a:br>
                <a:endParaRPr lang="en-US" sz="1400" kern="0" smtClean="0"/>
              </a:p>
              <a:p>
                <a:r>
                  <a:rPr lang="en-US" sz="1600" kern="0" smtClean="0"/>
                  <a:t>Equivalent in </a:t>
                </a:r>
                <a:r>
                  <a:rPr lang="en-US" sz="1600" i="1" kern="0" smtClean="0"/>
                  <a:t>theory</a:t>
                </a:r>
                <a:endParaRPr lang="en-US" sz="1600" kern="0" smtClean="0"/>
              </a:p>
              <a:p>
                <a:pPr marL="457200" lvl="1" indent="0">
                  <a:buNone/>
                </a:pPr>
                <a:r>
                  <a:rPr lang="en-US" sz="1400" kern="0" smtClean="0"/>
                  <a:t>bad quality = empty sphere is large (non-maximal)</a:t>
                </a:r>
                <a:br>
                  <a:rPr lang="en-US" sz="1400" kern="0" smtClean="0"/>
                </a:br>
                <a:r>
                  <a:rPr lang="en-US" sz="1400" kern="0" smtClean="0"/>
                  <a:t>	             compared to edge length (empty-disk)</a:t>
                </a:r>
              </a:p>
            </p:txBody>
          </p:sp>
        </p:grpSp>
        <p:sp>
          <p:nvSpPr>
            <p:cNvPr id="104" name="Content Placeholder 2"/>
            <p:cNvSpPr txBox="1">
              <a:spLocks/>
            </p:cNvSpPr>
            <p:nvPr/>
          </p:nvSpPr>
          <p:spPr bwMode="auto">
            <a:xfrm>
              <a:off x="5295901" y="6138333"/>
              <a:ext cx="3810222" cy="697113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90487" tIns="44450" rIns="90487" bIns="44450" numCol="1" anchor="t" anchorCtr="0" compatLnSpc="1">
              <a:prstTxWarp prst="textNoShape">
                <a:avLst/>
              </a:prstTxWarp>
            </a:bodyPr>
            <a:lstStyle>
              <a:lvl1pPr marL="342900" indent="-1714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400" b="1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–"/>
                <a:defRPr sz="2200" b="1">
                  <a:solidFill>
                    <a:srgbClr val="000000"/>
                  </a:solidFill>
                  <a:latin typeface="+mn-lt"/>
                </a:defRPr>
              </a:lvl2pPr>
              <a:lvl3pPr marL="1085850" indent="-1714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rgbClr val="000000"/>
                  </a:solidFill>
                  <a:latin typeface="+mn-lt"/>
                </a:defRPr>
              </a:lvl3pPr>
              <a:lvl4pPr marL="1543050" indent="-1714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–"/>
                <a:defRPr b="1">
                  <a:solidFill>
                    <a:srgbClr val="000000"/>
                  </a:solidFill>
                  <a:latin typeface="+mn-lt"/>
                </a:defRPr>
              </a:lvl4pPr>
              <a:lvl5pPr marL="19431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5pPr>
              <a:lvl6pPr marL="24003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6pPr>
              <a:lvl7pPr marL="28575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7pPr>
              <a:lvl8pPr marL="33147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8pPr>
              <a:lvl9pPr marL="37719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9pPr>
            </a:lstStyle>
            <a:p>
              <a:r>
                <a:rPr lang="en-US" sz="1200" kern="0" dirty="0" smtClean="0"/>
                <a:t>sphere packing algorithms are practical, our 2011-2013 work </a:t>
              </a:r>
            </a:p>
            <a:p>
              <a:r>
                <a:rPr lang="en-US" sz="1200" kern="0" dirty="0"/>
                <a:t>see </a:t>
              </a:r>
              <a:r>
                <a:rPr lang="en-US" sz="1200" kern="0" dirty="0" err="1" smtClean="0"/>
                <a:t>Dafna</a:t>
              </a:r>
              <a:r>
                <a:rPr lang="en-US" sz="1200" kern="0" dirty="0" smtClean="0"/>
                <a:t> </a:t>
              </a:r>
              <a:r>
                <a:rPr lang="en-US" sz="1200" kern="0" dirty="0" err="1" smtClean="0"/>
                <a:t>Talmor</a:t>
              </a:r>
              <a:r>
                <a:rPr lang="en-US" sz="1200" kern="0" dirty="0" smtClean="0"/>
                <a:t> thesis </a:t>
              </a:r>
              <a:r>
                <a:rPr lang="en-US" sz="1200" kern="0" dirty="0"/>
                <a:t>for quality theory</a:t>
              </a:r>
            </a:p>
            <a:p>
              <a:pPr marL="171450" indent="0">
                <a:buNone/>
              </a:pPr>
              <a:endParaRPr lang="en-US" sz="1100" kern="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349711917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0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2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793" y="48182"/>
            <a:ext cx="7772400" cy="799926"/>
          </a:xfrm>
        </p:spPr>
        <p:txBody>
          <a:bodyPr/>
          <a:lstStyle/>
          <a:p>
            <a:r>
              <a:rPr lang="en-US" sz="2400"/>
              <a:t>Reducing the Frequency of </a:t>
            </a:r>
            <a:r>
              <a:rPr lang="en-US" sz="2400" smtClean="0"/>
              <a:t>Mono-tris</a:t>
            </a:r>
            <a:br>
              <a:rPr lang="en-US" sz="2400" smtClean="0"/>
            </a:br>
            <a:r>
              <a:rPr lang="en-US" sz="2400" smtClean="0"/>
              <a:t>Sphere </a:t>
            </a:r>
            <a:r>
              <a:rPr lang="en-US" sz="2400"/>
              <a:t>Packing with Two Colors</a:t>
            </a: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109" y="3161878"/>
            <a:ext cx="4767909" cy="3696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845" y="902384"/>
            <a:ext cx="6133395" cy="210559"/>
          </a:xfrm>
          <a:prstGeom prst="rect">
            <a:avLst/>
          </a:prstGeom>
        </p:spPr>
      </p:pic>
      <p:grpSp>
        <p:nvGrpSpPr>
          <p:cNvPr id="53" name="Group 52"/>
          <p:cNvGrpSpPr/>
          <p:nvPr/>
        </p:nvGrpSpPr>
        <p:grpSpPr>
          <a:xfrm>
            <a:off x="50800" y="1218607"/>
            <a:ext cx="4844109" cy="1860804"/>
            <a:chOff x="128809" y="4990507"/>
            <a:chExt cx="4844109" cy="1860804"/>
          </a:xfrm>
        </p:grpSpPr>
        <p:grpSp>
          <p:nvGrpSpPr>
            <p:cNvPr id="7" name="Group 6"/>
            <p:cNvGrpSpPr/>
            <p:nvPr/>
          </p:nvGrpSpPr>
          <p:grpSpPr>
            <a:xfrm>
              <a:off x="128809" y="5022511"/>
              <a:ext cx="1828800" cy="1828800"/>
              <a:chOff x="7031673" y="1600369"/>
              <a:chExt cx="1828800" cy="1828800"/>
            </a:xfrm>
          </p:grpSpPr>
          <p:sp>
            <p:nvSpPr>
              <p:cNvPr id="23" name="Flowchart: Connector 3"/>
              <p:cNvSpPr/>
              <p:nvPr/>
            </p:nvSpPr>
            <p:spPr bwMode="auto">
              <a:xfrm>
                <a:off x="7031673" y="1600369"/>
                <a:ext cx="1828800" cy="1828800"/>
              </a:xfrm>
              <a:prstGeom prst="flowChartConnector">
                <a:avLst/>
              </a:prstGeom>
              <a:solidFill>
                <a:srgbClr val="0000FF">
                  <a:alpha val="20000"/>
                </a:srgbClr>
              </a:solidFill>
              <a:ln w="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grpSp>
            <p:nvGrpSpPr>
              <p:cNvPr id="21" name="Group 263"/>
              <p:cNvGrpSpPr>
                <a:grpSpLocks/>
              </p:cNvGrpSpPr>
              <p:nvPr/>
            </p:nvGrpSpPr>
            <p:grpSpPr bwMode="auto">
              <a:xfrm>
                <a:off x="7488873" y="2057569"/>
                <a:ext cx="914400" cy="914400"/>
                <a:chOff x="457200" y="457200"/>
                <a:chExt cx="914400" cy="914400"/>
              </a:xfrm>
            </p:grpSpPr>
            <p:sp>
              <p:nvSpPr>
                <p:cNvPr id="25" name="Flowchart: Connector 12"/>
                <p:cNvSpPr>
                  <a:spLocks noChangeAspect="1"/>
                </p:cNvSpPr>
                <p:nvPr/>
              </p:nvSpPr>
              <p:spPr>
                <a:xfrm>
                  <a:off x="457200" y="457200"/>
                  <a:ext cx="914400" cy="914400"/>
                </a:xfrm>
                <a:prstGeom prst="flowChartConnector">
                  <a:avLst/>
                </a:prstGeom>
                <a:solidFill>
                  <a:srgbClr val="FF0000">
                    <a:alpha val="50000"/>
                  </a:srgbClr>
                </a:solidFill>
                <a:ln w="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/>
                </a:p>
              </p:txBody>
            </p:sp>
            <p:sp>
              <p:nvSpPr>
                <p:cNvPr id="26" name="Oval 25"/>
                <p:cNvSpPr/>
                <p:nvPr/>
              </p:nvSpPr>
              <p:spPr>
                <a:xfrm>
                  <a:off x="904875" y="904875"/>
                  <a:ext cx="19050" cy="1905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/>
                </a:p>
              </p:txBody>
            </p:sp>
          </p:grpSp>
          <p:sp>
            <p:nvSpPr>
              <p:cNvPr id="24" name="Oval 23"/>
              <p:cNvSpPr>
                <a:spLocks noChangeAspect="1"/>
              </p:cNvSpPr>
              <p:nvPr/>
            </p:nvSpPr>
            <p:spPr bwMode="auto">
              <a:xfrm>
                <a:off x="7921689" y="2482765"/>
                <a:ext cx="73152" cy="73152"/>
              </a:xfrm>
              <a:prstGeom prst="ellipse">
                <a:avLst/>
              </a:prstGeom>
              <a:solidFill>
                <a:srgbClr val="0000FF"/>
              </a:solidFill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3144118" y="4990507"/>
              <a:ext cx="1828800" cy="1828800"/>
              <a:chOff x="7040817" y="3876844"/>
              <a:chExt cx="1828800" cy="1828800"/>
            </a:xfrm>
          </p:grpSpPr>
          <p:sp>
            <p:nvSpPr>
              <p:cNvPr id="37" name="Flowchart: Connector 12"/>
              <p:cNvSpPr>
                <a:spLocks noChangeAspect="1"/>
              </p:cNvSpPr>
              <p:nvPr/>
            </p:nvSpPr>
            <p:spPr bwMode="auto">
              <a:xfrm>
                <a:off x="7040817" y="3876844"/>
                <a:ext cx="1828800" cy="1828800"/>
              </a:xfrm>
              <a:prstGeom prst="flowChartConnector">
                <a:avLst/>
              </a:prstGeom>
              <a:solidFill>
                <a:srgbClr val="FF0000">
                  <a:alpha val="10001"/>
                </a:srgbClr>
              </a:solidFill>
              <a:ln w="0" algn="ctr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lt1"/>
                  </a:solidFill>
                  <a:latin typeface="+mn-lt"/>
                  <a:cs typeface="+mn-cs"/>
                </a:endParaRPr>
              </a:p>
            </p:txBody>
          </p:sp>
          <p:grpSp>
            <p:nvGrpSpPr>
              <p:cNvPr id="35" name="Group 43"/>
              <p:cNvGrpSpPr>
                <a:grpSpLocks/>
              </p:cNvGrpSpPr>
              <p:nvPr/>
            </p:nvGrpSpPr>
            <p:grpSpPr bwMode="auto">
              <a:xfrm>
                <a:off x="7498017" y="4334044"/>
                <a:ext cx="914400" cy="914400"/>
                <a:chOff x="457200" y="457200"/>
                <a:chExt cx="914400" cy="914400"/>
              </a:xfrm>
              <a:solidFill>
                <a:schemeClr val="tx2"/>
              </a:solidFill>
            </p:grpSpPr>
            <p:sp>
              <p:nvSpPr>
                <p:cNvPr id="39" name="Flowchart: Connector 12"/>
                <p:cNvSpPr>
                  <a:spLocks noChangeAspect="1"/>
                </p:cNvSpPr>
                <p:nvPr/>
              </p:nvSpPr>
              <p:spPr bwMode="auto">
                <a:xfrm>
                  <a:off x="457200" y="457200"/>
                  <a:ext cx="914400" cy="914400"/>
                </a:xfrm>
                <a:prstGeom prst="flowChartConnector">
                  <a:avLst/>
                </a:prstGeom>
                <a:grpFill/>
                <a:ln w="0" algn="ctr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solidFill>
                      <a:schemeClr val="lt1"/>
                    </a:solidFill>
                    <a:latin typeface="+mn-lt"/>
                    <a:cs typeface="+mn-cs"/>
                  </a:endParaRPr>
                </a:p>
              </p:txBody>
            </p:sp>
            <p:sp>
              <p:nvSpPr>
                <p:cNvPr id="40" name="Oval 65"/>
                <p:cNvSpPr>
                  <a:spLocks noChangeArrowheads="1"/>
                </p:cNvSpPr>
                <p:nvPr/>
              </p:nvSpPr>
              <p:spPr bwMode="auto">
                <a:xfrm>
                  <a:off x="904875" y="904875"/>
                  <a:ext cx="19050" cy="19050"/>
                </a:xfrm>
                <a:prstGeom prst="ellipse">
                  <a:avLst/>
                </a:prstGeom>
                <a:grpFill/>
                <a:ln w="25400" algn="ctr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solidFill>
                      <a:schemeClr val="lt1"/>
                    </a:solidFill>
                    <a:latin typeface="+mn-lt"/>
                    <a:cs typeface="+mn-cs"/>
                  </a:endParaRPr>
                </a:p>
              </p:txBody>
            </p:sp>
          </p:grpSp>
          <p:sp>
            <p:nvSpPr>
              <p:cNvPr id="38" name="Oval 37"/>
              <p:cNvSpPr>
                <a:spLocks noChangeAspect="1" noChangeArrowheads="1"/>
              </p:cNvSpPr>
              <p:nvPr/>
            </p:nvSpPr>
            <p:spPr bwMode="auto">
              <a:xfrm>
                <a:off x="7928547" y="4764574"/>
                <a:ext cx="73152" cy="73152"/>
              </a:xfrm>
              <a:prstGeom prst="ellipse">
                <a:avLst/>
              </a:prstGeom>
              <a:solidFill>
                <a:srgbClr val="FF0000"/>
              </a:solidFill>
              <a:ln w="25400" algn="ctr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lt1"/>
                  </a:solidFill>
                  <a:latin typeface="+mn-lt"/>
                  <a:cs typeface="+mn-cs"/>
                </a:endParaRPr>
              </a:p>
            </p:txBody>
          </p:sp>
        </p:grpSp>
        <p:sp>
          <p:nvSpPr>
            <p:cNvPr id="17" name="TextBox 16"/>
            <p:cNvSpPr txBox="1"/>
            <p:nvPr/>
          </p:nvSpPr>
          <p:spPr>
            <a:xfrm>
              <a:off x="2058006" y="5030544"/>
              <a:ext cx="17908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mtClean="0"/>
                <a:t>no red points</a:t>
              </a:r>
              <a:endParaRPr lang="en-US"/>
            </a:p>
          </p:txBody>
        </p:sp>
        <p:cxnSp>
          <p:nvCxnSpPr>
            <p:cNvPr id="19" name="Straight Arrow Connector 18"/>
            <p:cNvCxnSpPr>
              <a:stCxn id="17" idx="1"/>
            </p:cNvCxnSpPr>
            <p:nvPr/>
          </p:nvCxnSpPr>
          <p:spPr bwMode="auto">
            <a:xfrm flipH="1">
              <a:off x="1211580" y="5261377"/>
              <a:ext cx="846426" cy="53744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2" name="Straight Arrow Connector 41"/>
            <p:cNvCxnSpPr>
              <a:stCxn id="17" idx="3"/>
            </p:cNvCxnSpPr>
            <p:nvPr/>
          </p:nvCxnSpPr>
          <p:spPr bwMode="auto">
            <a:xfrm flipV="1">
              <a:off x="3848881" y="5261376"/>
              <a:ext cx="182967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8" name="TextBox 47"/>
            <p:cNvSpPr txBox="1"/>
            <p:nvPr/>
          </p:nvSpPr>
          <p:spPr>
            <a:xfrm>
              <a:off x="1379826" y="6333455"/>
              <a:ext cx="19271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mtClean="0"/>
                <a:t>no blue points</a:t>
              </a:r>
              <a:endParaRPr lang="en-US"/>
            </a:p>
          </p:txBody>
        </p:sp>
        <p:cxnSp>
          <p:nvCxnSpPr>
            <p:cNvPr id="44" name="Straight Arrow Connector 43"/>
            <p:cNvCxnSpPr>
              <a:stCxn id="48" idx="3"/>
            </p:cNvCxnSpPr>
            <p:nvPr/>
          </p:nvCxnSpPr>
          <p:spPr bwMode="auto">
            <a:xfrm flipV="1">
              <a:off x="3306957" y="6091026"/>
              <a:ext cx="663887" cy="47326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6" name="Straight Arrow Connector 45"/>
            <p:cNvCxnSpPr>
              <a:stCxn id="48" idx="1"/>
            </p:cNvCxnSpPr>
            <p:nvPr/>
          </p:nvCxnSpPr>
          <p:spPr bwMode="auto">
            <a:xfrm flipH="1" flipV="1">
              <a:off x="1122457" y="6564287"/>
              <a:ext cx="257369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49" name="TextBox 48"/>
          <p:cNvSpPr txBox="1"/>
          <p:nvPr/>
        </p:nvSpPr>
        <p:spPr>
          <a:xfrm>
            <a:off x="5094838" y="1167219"/>
            <a:ext cx="40491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Blue-blue farther than blue-red</a:t>
            </a:r>
          </a:p>
          <a:p>
            <a:r>
              <a:rPr lang="en-US" sz="2000" dirty="0" smtClean="0"/>
              <a:t>Mono-triangles less likely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can fit opposite </a:t>
            </a:r>
            <a:br>
              <a:rPr lang="en-US" sz="2000" dirty="0" smtClean="0"/>
            </a:br>
            <a:r>
              <a:rPr lang="en-US" sz="2000" dirty="0" smtClean="0"/>
              <a:t>  color inside</a:t>
            </a:r>
          </a:p>
        </p:txBody>
      </p:sp>
      <p:grpSp>
        <p:nvGrpSpPr>
          <p:cNvPr id="1031" name="Group 1030"/>
          <p:cNvGrpSpPr/>
          <p:nvPr/>
        </p:nvGrpSpPr>
        <p:grpSpPr>
          <a:xfrm rot="20143095">
            <a:off x="6484665" y="1804977"/>
            <a:ext cx="2282306" cy="2324680"/>
            <a:chOff x="5474393" y="2414576"/>
            <a:chExt cx="2282306" cy="2324680"/>
          </a:xfrm>
        </p:grpSpPr>
        <p:grpSp>
          <p:nvGrpSpPr>
            <p:cNvPr id="1030" name="Group 1029"/>
            <p:cNvGrpSpPr/>
            <p:nvPr/>
          </p:nvGrpSpPr>
          <p:grpSpPr>
            <a:xfrm>
              <a:off x="5474393" y="2414576"/>
              <a:ext cx="2282306" cy="2324680"/>
              <a:chOff x="5474393" y="2414576"/>
              <a:chExt cx="2282306" cy="2324680"/>
            </a:xfrm>
          </p:grpSpPr>
          <p:grpSp>
            <p:nvGrpSpPr>
              <p:cNvPr id="165" name="Group 164"/>
              <p:cNvGrpSpPr/>
              <p:nvPr/>
            </p:nvGrpSpPr>
            <p:grpSpPr>
              <a:xfrm rot="1297249">
                <a:off x="6472378" y="2414576"/>
                <a:ext cx="1284321" cy="1285464"/>
                <a:chOff x="7040817" y="3876844"/>
                <a:chExt cx="1828800" cy="1828800"/>
              </a:xfrm>
            </p:grpSpPr>
            <p:sp>
              <p:nvSpPr>
                <p:cNvPr id="166" name="Flowchart: Connector 12"/>
                <p:cNvSpPr>
                  <a:spLocks noChangeAspect="1"/>
                </p:cNvSpPr>
                <p:nvPr/>
              </p:nvSpPr>
              <p:spPr bwMode="auto">
                <a:xfrm>
                  <a:off x="7040817" y="3876844"/>
                  <a:ext cx="1828800" cy="1828800"/>
                </a:xfrm>
                <a:prstGeom prst="flowChartConnector">
                  <a:avLst/>
                </a:prstGeom>
                <a:solidFill>
                  <a:srgbClr val="FF0000">
                    <a:alpha val="10001"/>
                  </a:srgbClr>
                </a:solidFill>
                <a:ln w="0" algn="ctr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solidFill>
                      <a:schemeClr val="lt1"/>
                    </a:solidFill>
                    <a:latin typeface="+mn-lt"/>
                    <a:cs typeface="+mn-cs"/>
                  </a:endParaRPr>
                </a:p>
              </p:txBody>
            </p:sp>
            <p:grpSp>
              <p:nvGrpSpPr>
                <p:cNvPr id="167" name="Group 43"/>
                <p:cNvGrpSpPr>
                  <a:grpSpLocks/>
                </p:cNvGrpSpPr>
                <p:nvPr/>
              </p:nvGrpSpPr>
              <p:grpSpPr bwMode="auto">
                <a:xfrm>
                  <a:off x="7498017" y="4334044"/>
                  <a:ext cx="914400" cy="914400"/>
                  <a:chOff x="457200" y="457200"/>
                  <a:chExt cx="914400" cy="914400"/>
                </a:xfrm>
                <a:solidFill>
                  <a:schemeClr val="tx2"/>
                </a:solidFill>
              </p:grpSpPr>
              <p:sp>
                <p:nvSpPr>
                  <p:cNvPr id="169" name="Flowchart: Connector 12"/>
                  <p:cNvSpPr>
                    <a:spLocks noChangeAspect="1"/>
                  </p:cNvSpPr>
                  <p:nvPr/>
                </p:nvSpPr>
                <p:spPr bwMode="auto">
                  <a:xfrm>
                    <a:off x="457200" y="457200"/>
                    <a:ext cx="914400" cy="914400"/>
                  </a:xfrm>
                  <a:prstGeom prst="flowChartConnector">
                    <a:avLst/>
                  </a:prstGeom>
                  <a:grpFill/>
                  <a:ln w="0" algn="ctr">
                    <a:solidFill>
                      <a:schemeClr val="tx2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>
                      <a:solidFill>
                        <a:schemeClr val="lt1"/>
                      </a:solidFill>
                      <a:latin typeface="+mn-lt"/>
                      <a:cs typeface="+mn-cs"/>
                    </a:endParaRPr>
                  </a:p>
                </p:txBody>
              </p:sp>
              <p:sp>
                <p:nvSpPr>
                  <p:cNvPr id="170" name="Oval 65"/>
                  <p:cNvSpPr>
                    <a:spLocks noChangeArrowheads="1"/>
                  </p:cNvSpPr>
                  <p:nvPr/>
                </p:nvSpPr>
                <p:spPr bwMode="auto">
                  <a:xfrm>
                    <a:off x="904875" y="904875"/>
                    <a:ext cx="19050" cy="19050"/>
                  </a:xfrm>
                  <a:prstGeom prst="ellipse">
                    <a:avLst/>
                  </a:prstGeom>
                  <a:grpFill/>
                  <a:ln w="25400" algn="ctr">
                    <a:solidFill>
                      <a:schemeClr val="tx2"/>
                    </a:solidFill>
                    <a:round/>
                    <a:headEnd/>
                    <a:tailEnd/>
                  </a:ln>
                </p:spPr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>
                      <a:solidFill>
                        <a:schemeClr val="lt1"/>
                      </a:solidFill>
                      <a:latin typeface="+mn-lt"/>
                      <a:cs typeface="+mn-cs"/>
                    </a:endParaRPr>
                  </a:p>
                </p:txBody>
              </p:sp>
            </p:grpSp>
            <p:sp>
              <p:nvSpPr>
                <p:cNvPr id="168" name="Oval 167"/>
                <p:cNvSpPr>
                  <a:spLocks noChangeAspect="1" noChangeArrowheads="1"/>
                </p:cNvSpPr>
                <p:nvPr/>
              </p:nvSpPr>
              <p:spPr bwMode="auto">
                <a:xfrm>
                  <a:off x="7928547" y="4764574"/>
                  <a:ext cx="73152" cy="73152"/>
                </a:xfrm>
                <a:prstGeom prst="ellipse">
                  <a:avLst/>
                </a:prstGeom>
                <a:solidFill>
                  <a:srgbClr val="FF0000"/>
                </a:solidFill>
                <a:ln w="25400" algn="ctr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solidFill>
                      <a:schemeClr val="lt1"/>
                    </a:solidFill>
                    <a:latin typeface="+mn-lt"/>
                    <a:cs typeface="+mn-cs"/>
                  </a:endParaRPr>
                </a:p>
              </p:txBody>
            </p:sp>
          </p:grpSp>
          <p:grpSp>
            <p:nvGrpSpPr>
              <p:cNvPr id="140" name="Group 139"/>
              <p:cNvGrpSpPr/>
              <p:nvPr/>
            </p:nvGrpSpPr>
            <p:grpSpPr>
              <a:xfrm rot="1297249">
                <a:off x="5474393" y="2988814"/>
                <a:ext cx="1284321" cy="1285464"/>
                <a:chOff x="7040817" y="3876844"/>
                <a:chExt cx="1828800" cy="1828800"/>
              </a:xfrm>
            </p:grpSpPr>
            <p:sp>
              <p:nvSpPr>
                <p:cNvPr id="147" name="Flowchart: Connector 12"/>
                <p:cNvSpPr>
                  <a:spLocks noChangeAspect="1"/>
                </p:cNvSpPr>
                <p:nvPr/>
              </p:nvSpPr>
              <p:spPr bwMode="auto">
                <a:xfrm>
                  <a:off x="7040817" y="3876844"/>
                  <a:ext cx="1828800" cy="1828800"/>
                </a:xfrm>
                <a:prstGeom prst="flowChartConnector">
                  <a:avLst/>
                </a:prstGeom>
                <a:solidFill>
                  <a:srgbClr val="FF0000">
                    <a:alpha val="10001"/>
                  </a:srgbClr>
                </a:solidFill>
                <a:ln w="0" algn="ctr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solidFill>
                      <a:schemeClr val="lt1"/>
                    </a:solidFill>
                    <a:latin typeface="+mn-lt"/>
                    <a:cs typeface="+mn-cs"/>
                  </a:endParaRPr>
                </a:p>
              </p:txBody>
            </p:sp>
            <p:grpSp>
              <p:nvGrpSpPr>
                <p:cNvPr id="148" name="Group 43"/>
                <p:cNvGrpSpPr>
                  <a:grpSpLocks/>
                </p:cNvGrpSpPr>
                <p:nvPr/>
              </p:nvGrpSpPr>
              <p:grpSpPr bwMode="auto">
                <a:xfrm>
                  <a:off x="7498017" y="4334044"/>
                  <a:ext cx="914400" cy="914400"/>
                  <a:chOff x="457200" y="457200"/>
                  <a:chExt cx="914400" cy="914400"/>
                </a:xfrm>
                <a:solidFill>
                  <a:schemeClr val="tx2"/>
                </a:solidFill>
              </p:grpSpPr>
              <p:sp>
                <p:nvSpPr>
                  <p:cNvPr id="150" name="Flowchart: Connector 12"/>
                  <p:cNvSpPr>
                    <a:spLocks noChangeAspect="1"/>
                  </p:cNvSpPr>
                  <p:nvPr/>
                </p:nvSpPr>
                <p:spPr bwMode="auto">
                  <a:xfrm>
                    <a:off x="457200" y="457200"/>
                    <a:ext cx="914400" cy="914400"/>
                  </a:xfrm>
                  <a:prstGeom prst="flowChartConnector">
                    <a:avLst/>
                  </a:prstGeom>
                  <a:grpFill/>
                  <a:ln w="0" algn="ctr">
                    <a:solidFill>
                      <a:schemeClr val="tx2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>
                      <a:solidFill>
                        <a:schemeClr val="lt1"/>
                      </a:solidFill>
                      <a:latin typeface="+mn-lt"/>
                      <a:cs typeface="+mn-cs"/>
                    </a:endParaRPr>
                  </a:p>
                </p:txBody>
              </p:sp>
              <p:sp>
                <p:nvSpPr>
                  <p:cNvPr id="151" name="Oval 65"/>
                  <p:cNvSpPr>
                    <a:spLocks noChangeArrowheads="1"/>
                  </p:cNvSpPr>
                  <p:nvPr/>
                </p:nvSpPr>
                <p:spPr bwMode="auto">
                  <a:xfrm>
                    <a:off x="904875" y="904875"/>
                    <a:ext cx="19050" cy="19050"/>
                  </a:xfrm>
                  <a:prstGeom prst="ellipse">
                    <a:avLst/>
                  </a:prstGeom>
                  <a:grpFill/>
                  <a:ln w="25400" algn="ctr">
                    <a:solidFill>
                      <a:schemeClr val="tx2"/>
                    </a:solidFill>
                    <a:round/>
                    <a:headEnd/>
                    <a:tailEnd/>
                  </a:ln>
                </p:spPr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>
                      <a:solidFill>
                        <a:schemeClr val="lt1"/>
                      </a:solidFill>
                      <a:latin typeface="+mn-lt"/>
                      <a:cs typeface="+mn-cs"/>
                    </a:endParaRPr>
                  </a:p>
                </p:txBody>
              </p:sp>
            </p:grpSp>
            <p:sp>
              <p:nvSpPr>
                <p:cNvPr id="149" name="Oval 148"/>
                <p:cNvSpPr>
                  <a:spLocks noChangeAspect="1" noChangeArrowheads="1"/>
                </p:cNvSpPr>
                <p:nvPr/>
              </p:nvSpPr>
              <p:spPr bwMode="auto">
                <a:xfrm>
                  <a:off x="7928547" y="4764574"/>
                  <a:ext cx="73152" cy="73152"/>
                </a:xfrm>
                <a:prstGeom prst="ellipse">
                  <a:avLst/>
                </a:prstGeom>
                <a:solidFill>
                  <a:srgbClr val="FF0000"/>
                </a:solidFill>
                <a:ln w="25400" algn="ctr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solidFill>
                      <a:schemeClr val="lt1"/>
                    </a:solidFill>
                    <a:latin typeface="+mn-lt"/>
                    <a:cs typeface="+mn-cs"/>
                  </a:endParaRPr>
                </a:p>
              </p:txBody>
            </p:sp>
          </p:grpSp>
          <p:grpSp>
            <p:nvGrpSpPr>
              <p:cNvPr id="159" name="Group 158"/>
              <p:cNvGrpSpPr/>
              <p:nvPr/>
            </p:nvGrpSpPr>
            <p:grpSpPr>
              <a:xfrm rot="1297249">
                <a:off x="6380785" y="3453792"/>
                <a:ext cx="1284321" cy="1285464"/>
                <a:chOff x="7040817" y="3876844"/>
                <a:chExt cx="1828800" cy="1828800"/>
              </a:xfrm>
            </p:grpSpPr>
            <p:sp>
              <p:nvSpPr>
                <p:cNvPr id="160" name="Flowchart: Connector 12"/>
                <p:cNvSpPr>
                  <a:spLocks noChangeAspect="1"/>
                </p:cNvSpPr>
                <p:nvPr/>
              </p:nvSpPr>
              <p:spPr bwMode="auto">
                <a:xfrm>
                  <a:off x="7040817" y="3876844"/>
                  <a:ext cx="1828800" cy="1828800"/>
                </a:xfrm>
                <a:prstGeom prst="flowChartConnector">
                  <a:avLst/>
                </a:prstGeom>
                <a:solidFill>
                  <a:srgbClr val="FF0000">
                    <a:alpha val="10001"/>
                  </a:srgbClr>
                </a:solidFill>
                <a:ln w="0" algn="ctr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solidFill>
                      <a:schemeClr val="lt1"/>
                    </a:solidFill>
                    <a:latin typeface="+mn-lt"/>
                    <a:cs typeface="+mn-cs"/>
                  </a:endParaRPr>
                </a:p>
              </p:txBody>
            </p:sp>
            <p:grpSp>
              <p:nvGrpSpPr>
                <p:cNvPr id="161" name="Group 43"/>
                <p:cNvGrpSpPr>
                  <a:grpSpLocks/>
                </p:cNvGrpSpPr>
                <p:nvPr/>
              </p:nvGrpSpPr>
              <p:grpSpPr bwMode="auto">
                <a:xfrm>
                  <a:off x="7498017" y="4334044"/>
                  <a:ext cx="914400" cy="914400"/>
                  <a:chOff x="457200" y="457200"/>
                  <a:chExt cx="914400" cy="914400"/>
                </a:xfrm>
                <a:solidFill>
                  <a:schemeClr val="tx2"/>
                </a:solidFill>
              </p:grpSpPr>
              <p:sp>
                <p:nvSpPr>
                  <p:cNvPr id="163" name="Flowchart: Connector 12"/>
                  <p:cNvSpPr>
                    <a:spLocks noChangeAspect="1"/>
                  </p:cNvSpPr>
                  <p:nvPr/>
                </p:nvSpPr>
                <p:spPr bwMode="auto">
                  <a:xfrm>
                    <a:off x="457200" y="457200"/>
                    <a:ext cx="914400" cy="914400"/>
                  </a:xfrm>
                  <a:prstGeom prst="flowChartConnector">
                    <a:avLst/>
                  </a:prstGeom>
                  <a:grpFill/>
                  <a:ln w="0" algn="ctr">
                    <a:solidFill>
                      <a:schemeClr val="tx2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>
                      <a:solidFill>
                        <a:schemeClr val="lt1"/>
                      </a:solidFill>
                      <a:latin typeface="+mn-lt"/>
                      <a:cs typeface="+mn-cs"/>
                    </a:endParaRPr>
                  </a:p>
                </p:txBody>
              </p:sp>
              <p:sp>
                <p:nvSpPr>
                  <p:cNvPr id="164" name="Oval 65"/>
                  <p:cNvSpPr>
                    <a:spLocks noChangeArrowheads="1"/>
                  </p:cNvSpPr>
                  <p:nvPr/>
                </p:nvSpPr>
                <p:spPr bwMode="auto">
                  <a:xfrm>
                    <a:off x="904875" y="904875"/>
                    <a:ext cx="19050" cy="19050"/>
                  </a:xfrm>
                  <a:prstGeom prst="ellipse">
                    <a:avLst/>
                  </a:prstGeom>
                  <a:grpFill/>
                  <a:ln w="25400" algn="ctr">
                    <a:solidFill>
                      <a:schemeClr val="tx2"/>
                    </a:solidFill>
                    <a:round/>
                    <a:headEnd/>
                    <a:tailEnd/>
                  </a:ln>
                </p:spPr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>
                      <a:solidFill>
                        <a:schemeClr val="lt1"/>
                      </a:solidFill>
                      <a:latin typeface="+mn-lt"/>
                      <a:cs typeface="+mn-cs"/>
                    </a:endParaRPr>
                  </a:p>
                </p:txBody>
              </p:sp>
            </p:grpSp>
            <p:sp>
              <p:nvSpPr>
                <p:cNvPr id="162" name="Oval 161"/>
                <p:cNvSpPr>
                  <a:spLocks noChangeAspect="1" noChangeArrowheads="1"/>
                </p:cNvSpPr>
                <p:nvPr/>
              </p:nvSpPr>
              <p:spPr bwMode="auto">
                <a:xfrm>
                  <a:off x="7928547" y="4764574"/>
                  <a:ext cx="73152" cy="73152"/>
                </a:xfrm>
                <a:prstGeom prst="ellipse">
                  <a:avLst/>
                </a:prstGeom>
                <a:solidFill>
                  <a:srgbClr val="FF0000"/>
                </a:solidFill>
                <a:ln w="25400" algn="ctr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solidFill>
                      <a:schemeClr val="lt1"/>
                    </a:solidFill>
                    <a:latin typeface="+mn-lt"/>
                    <a:cs typeface="+mn-cs"/>
                  </a:endParaRPr>
                </a:p>
              </p:txBody>
            </p:sp>
          </p:grpSp>
        </p:grpSp>
        <p:cxnSp>
          <p:nvCxnSpPr>
            <p:cNvPr id="133" name="Straight Connector 132"/>
            <p:cNvCxnSpPr>
              <a:endCxn id="162" idx="6"/>
            </p:cNvCxnSpPr>
            <p:nvPr/>
          </p:nvCxnSpPr>
          <p:spPr bwMode="auto">
            <a:xfrm>
              <a:off x="6122805" y="3633177"/>
              <a:ext cx="927922" cy="48184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5" name="Straight Connector 134"/>
            <p:cNvCxnSpPr/>
            <p:nvPr/>
          </p:nvCxnSpPr>
          <p:spPr bwMode="auto">
            <a:xfrm flipV="1">
              <a:off x="6107867" y="3073017"/>
              <a:ext cx="1026937" cy="56016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2" name="Straight Connector 171"/>
            <p:cNvCxnSpPr>
              <a:stCxn id="162" idx="0"/>
              <a:endCxn id="168" idx="5"/>
            </p:cNvCxnSpPr>
            <p:nvPr/>
          </p:nvCxnSpPr>
          <p:spPr bwMode="auto">
            <a:xfrm flipV="1">
              <a:off x="7036321" y="3089938"/>
              <a:ext cx="92307" cy="99172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033" name="Group 1032"/>
          <p:cNvGrpSpPr/>
          <p:nvPr/>
        </p:nvGrpSpPr>
        <p:grpSpPr>
          <a:xfrm>
            <a:off x="5554775" y="4332230"/>
            <a:ext cx="2507649" cy="2061070"/>
            <a:chOff x="5768135" y="4695450"/>
            <a:chExt cx="2507649" cy="2061070"/>
          </a:xfrm>
        </p:grpSpPr>
        <p:grpSp>
          <p:nvGrpSpPr>
            <p:cNvPr id="50" name="Group 49"/>
            <p:cNvGrpSpPr/>
            <p:nvPr/>
          </p:nvGrpSpPr>
          <p:grpSpPr>
            <a:xfrm rot="5400000">
              <a:off x="6266490" y="4588387"/>
              <a:ext cx="1412150" cy="1626275"/>
              <a:chOff x="7435192" y="5270526"/>
              <a:chExt cx="522760" cy="703705"/>
            </a:xfrm>
          </p:grpSpPr>
          <p:cxnSp>
            <p:nvCxnSpPr>
              <p:cNvPr id="126" name="Straight Connector 125"/>
              <p:cNvCxnSpPr/>
              <p:nvPr/>
            </p:nvCxnSpPr>
            <p:spPr bwMode="auto">
              <a:xfrm>
                <a:off x="7446714" y="5925891"/>
                <a:ext cx="50292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7" name="Straight Connector 126"/>
              <p:cNvCxnSpPr/>
              <p:nvPr/>
            </p:nvCxnSpPr>
            <p:spPr bwMode="auto">
              <a:xfrm>
                <a:off x="7453541" y="5315988"/>
                <a:ext cx="50292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1" name="Straight Connector 80"/>
              <p:cNvCxnSpPr>
                <a:stCxn id="91" idx="5"/>
              </p:cNvCxnSpPr>
              <p:nvPr/>
            </p:nvCxnSpPr>
            <p:spPr bwMode="auto">
              <a:xfrm rot="16200000" flipH="1">
                <a:off x="7436419" y="5427152"/>
                <a:ext cx="566928" cy="42224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2" name="Straight Connector 81"/>
              <p:cNvCxnSpPr/>
              <p:nvPr/>
            </p:nvCxnSpPr>
            <p:spPr bwMode="auto">
              <a:xfrm flipH="1">
                <a:off x="7468177" y="5346005"/>
                <a:ext cx="0" cy="566928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4" name="Straight Connector 83"/>
              <p:cNvCxnSpPr/>
              <p:nvPr/>
            </p:nvCxnSpPr>
            <p:spPr bwMode="auto">
              <a:xfrm flipH="1">
                <a:off x="7922557" y="5327662"/>
                <a:ext cx="0" cy="566928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1" name="Oval 90"/>
              <p:cNvSpPr/>
              <p:nvPr/>
            </p:nvSpPr>
            <p:spPr bwMode="auto">
              <a:xfrm>
                <a:off x="7442306" y="5275901"/>
                <a:ext cx="77855" cy="92449"/>
              </a:xfrm>
              <a:prstGeom prst="ellipse">
                <a:avLst/>
              </a:prstGeom>
              <a:solidFill>
                <a:srgbClr val="0000FF"/>
              </a:solidFill>
              <a:ln w="12700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  <p:sp>
            <p:nvSpPr>
              <p:cNvPr id="94" name="Oval 93"/>
              <p:cNvSpPr/>
              <p:nvPr/>
            </p:nvSpPr>
            <p:spPr bwMode="auto">
              <a:xfrm>
                <a:off x="7880097" y="5270526"/>
                <a:ext cx="77855" cy="92449"/>
              </a:xfrm>
              <a:prstGeom prst="ellipse">
                <a:avLst/>
              </a:prstGeom>
              <a:solidFill>
                <a:srgbClr val="FF0000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  <p:sp>
            <p:nvSpPr>
              <p:cNvPr id="118" name="Oval 117"/>
              <p:cNvSpPr/>
              <p:nvPr/>
            </p:nvSpPr>
            <p:spPr bwMode="auto">
              <a:xfrm>
                <a:off x="7435192" y="5881782"/>
                <a:ext cx="77855" cy="92449"/>
              </a:xfrm>
              <a:prstGeom prst="ellipse">
                <a:avLst/>
              </a:prstGeom>
              <a:solidFill>
                <a:srgbClr val="FF0000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  <p:sp>
            <p:nvSpPr>
              <p:cNvPr id="122" name="Oval 121"/>
              <p:cNvSpPr/>
              <p:nvPr/>
            </p:nvSpPr>
            <p:spPr bwMode="auto">
              <a:xfrm>
                <a:off x="7875658" y="5879667"/>
                <a:ext cx="77855" cy="92449"/>
              </a:xfrm>
              <a:prstGeom prst="ellipse">
                <a:avLst/>
              </a:prstGeom>
              <a:solidFill>
                <a:srgbClr val="0000FF"/>
              </a:solidFill>
              <a:ln w="12700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</p:grpSp>
        <p:sp>
          <p:nvSpPr>
            <p:cNvPr id="1029" name="Rectangle 1028"/>
            <p:cNvSpPr/>
            <p:nvPr/>
          </p:nvSpPr>
          <p:spPr>
            <a:xfrm>
              <a:off x="5768135" y="6048634"/>
              <a:ext cx="2507649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 smtClean="0"/>
                <a:t>discard </a:t>
              </a:r>
              <a:r>
                <a:rPr lang="en-US" sz="2000" dirty="0"/>
                <a:t>long diagonals </a:t>
              </a:r>
              <a:r>
                <a:rPr lang="en-US" sz="2000" dirty="0" smtClean="0"/>
                <a:t/>
              </a:r>
              <a:br>
                <a:rPr lang="en-US" sz="2000" dirty="0" smtClean="0"/>
              </a:br>
              <a:r>
                <a:rPr lang="en-US" sz="2000" dirty="0" smtClean="0"/>
                <a:t>for </a:t>
              </a:r>
              <a:r>
                <a:rPr lang="en-US" sz="2000" dirty="0"/>
                <a:t>square-like quads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87819162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0444606"/>
              </p:ext>
            </p:extLst>
          </p:nvPr>
        </p:nvGraphicFramePr>
        <p:xfrm>
          <a:off x="114081" y="2628901"/>
          <a:ext cx="6525363" cy="42484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" name="Acrobat Document" r:id="rId4" imgW="6714965" imgH="4371772" progId="AcroExch.Document.11">
                  <p:embed/>
                </p:oleObj>
              </mc:Choice>
              <mc:Fallback>
                <p:oleObj name="Acrobat Document" r:id="rId4" imgW="6714965" imgH="4371772" progId="AcroExch.Document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4081" y="2628901"/>
                        <a:ext cx="6525363" cy="42484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793" y="48182"/>
            <a:ext cx="7772400" cy="969030"/>
          </a:xfrm>
        </p:spPr>
        <p:txBody>
          <a:bodyPr/>
          <a:lstStyle/>
          <a:p>
            <a:r>
              <a:rPr lang="en-US" sz="2400" smtClean="0"/>
              <a:t>Reducing the Frequency of Mono-tris</a:t>
            </a:r>
            <a:br>
              <a:rPr lang="en-US" sz="2400" smtClean="0"/>
            </a:br>
            <a:r>
              <a:rPr lang="en-US" sz="2400" smtClean="0"/>
              <a:t>Two-radii Plus Color Switching</a:t>
            </a:r>
            <a:endParaRPr lang="en-US" sz="2400" dirty="0"/>
          </a:p>
        </p:txBody>
      </p:sp>
      <p:grpSp>
        <p:nvGrpSpPr>
          <p:cNvPr id="53" name="Group 52"/>
          <p:cNvGrpSpPr>
            <a:grpSpLocks noChangeAspect="1"/>
          </p:cNvGrpSpPr>
          <p:nvPr/>
        </p:nvGrpSpPr>
        <p:grpSpPr>
          <a:xfrm>
            <a:off x="331314" y="1212387"/>
            <a:ext cx="3145152" cy="1208171"/>
            <a:chOff x="128809" y="4990507"/>
            <a:chExt cx="4844109" cy="1860804"/>
          </a:xfrm>
        </p:grpSpPr>
        <p:grpSp>
          <p:nvGrpSpPr>
            <p:cNvPr id="7" name="Group 6"/>
            <p:cNvGrpSpPr/>
            <p:nvPr/>
          </p:nvGrpSpPr>
          <p:grpSpPr>
            <a:xfrm>
              <a:off x="128809" y="5022511"/>
              <a:ext cx="1828800" cy="1828800"/>
              <a:chOff x="7031673" y="1600369"/>
              <a:chExt cx="1828800" cy="1828800"/>
            </a:xfrm>
          </p:grpSpPr>
          <p:sp>
            <p:nvSpPr>
              <p:cNvPr id="23" name="Flowchart: Connector 3"/>
              <p:cNvSpPr/>
              <p:nvPr/>
            </p:nvSpPr>
            <p:spPr bwMode="auto">
              <a:xfrm>
                <a:off x="7031673" y="1600369"/>
                <a:ext cx="1828800" cy="1828800"/>
              </a:xfrm>
              <a:prstGeom prst="flowChartConnector">
                <a:avLst/>
              </a:prstGeom>
              <a:solidFill>
                <a:srgbClr val="0000FF">
                  <a:alpha val="20000"/>
                </a:srgbClr>
              </a:solidFill>
              <a:ln w="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grpSp>
            <p:nvGrpSpPr>
              <p:cNvPr id="21" name="Group 263"/>
              <p:cNvGrpSpPr>
                <a:grpSpLocks/>
              </p:cNvGrpSpPr>
              <p:nvPr/>
            </p:nvGrpSpPr>
            <p:grpSpPr bwMode="auto">
              <a:xfrm>
                <a:off x="7488873" y="2057569"/>
                <a:ext cx="914400" cy="914400"/>
                <a:chOff x="457200" y="457200"/>
                <a:chExt cx="914400" cy="914400"/>
              </a:xfrm>
            </p:grpSpPr>
            <p:sp>
              <p:nvSpPr>
                <p:cNvPr id="25" name="Flowchart: Connector 12"/>
                <p:cNvSpPr>
                  <a:spLocks noChangeAspect="1"/>
                </p:cNvSpPr>
                <p:nvPr/>
              </p:nvSpPr>
              <p:spPr>
                <a:xfrm>
                  <a:off x="457200" y="457200"/>
                  <a:ext cx="914400" cy="914400"/>
                </a:xfrm>
                <a:prstGeom prst="flowChartConnector">
                  <a:avLst/>
                </a:prstGeom>
                <a:solidFill>
                  <a:srgbClr val="FF0000">
                    <a:alpha val="50000"/>
                  </a:srgbClr>
                </a:solidFill>
                <a:ln w="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/>
                </a:p>
              </p:txBody>
            </p:sp>
            <p:sp>
              <p:nvSpPr>
                <p:cNvPr id="26" name="Oval 25"/>
                <p:cNvSpPr/>
                <p:nvPr/>
              </p:nvSpPr>
              <p:spPr>
                <a:xfrm>
                  <a:off x="904875" y="904875"/>
                  <a:ext cx="19050" cy="1905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/>
                </a:p>
              </p:txBody>
            </p:sp>
          </p:grpSp>
          <p:sp>
            <p:nvSpPr>
              <p:cNvPr id="24" name="Oval 23"/>
              <p:cNvSpPr>
                <a:spLocks noChangeAspect="1"/>
              </p:cNvSpPr>
              <p:nvPr/>
            </p:nvSpPr>
            <p:spPr bwMode="auto">
              <a:xfrm>
                <a:off x="7921689" y="2482765"/>
                <a:ext cx="73152" cy="73152"/>
              </a:xfrm>
              <a:prstGeom prst="ellipse">
                <a:avLst/>
              </a:prstGeom>
              <a:solidFill>
                <a:srgbClr val="0000FF"/>
              </a:solidFill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3144118" y="4990507"/>
              <a:ext cx="1828800" cy="1828800"/>
              <a:chOff x="7040817" y="3876844"/>
              <a:chExt cx="1828800" cy="1828800"/>
            </a:xfrm>
          </p:grpSpPr>
          <p:sp>
            <p:nvSpPr>
              <p:cNvPr id="37" name="Flowchart: Connector 12"/>
              <p:cNvSpPr>
                <a:spLocks noChangeAspect="1"/>
              </p:cNvSpPr>
              <p:nvPr/>
            </p:nvSpPr>
            <p:spPr bwMode="auto">
              <a:xfrm>
                <a:off x="7040817" y="3876844"/>
                <a:ext cx="1828800" cy="1828800"/>
              </a:xfrm>
              <a:prstGeom prst="flowChartConnector">
                <a:avLst/>
              </a:prstGeom>
              <a:solidFill>
                <a:srgbClr val="FF0000">
                  <a:alpha val="10001"/>
                </a:srgbClr>
              </a:solidFill>
              <a:ln w="0" algn="ctr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lt1"/>
                  </a:solidFill>
                  <a:latin typeface="+mn-lt"/>
                  <a:cs typeface="+mn-cs"/>
                </a:endParaRPr>
              </a:p>
            </p:txBody>
          </p:sp>
          <p:grpSp>
            <p:nvGrpSpPr>
              <p:cNvPr id="35" name="Group 43"/>
              <p:cNvGrpSpPr>
                <a:grpSpLocks/>
              </p:cNvGrpSpPr>
              <p:nvPr/>
            </p:nvGrpSpPr>
            <p:grpSpPr bwMode="auto">
              <a:xfrm>
                <a:off x="7498017" y="4334044"/>
                <a:ext cx="914400" cy="914400"/>
                <a:chOff x="457200" y="457200"/>
                <a:chExt cx="914400" cy="914400"/>
              </a:xfrm>
              <a:solidFill>
                <a:schemeClr val="tx2"/>
              </a:solidFill>
            </p:grpSpPr>
            <p:sp>
              <p:nvSpPr>
                <p:cNvPr id="39" name="Flowchart: Connector 12"/>
                <p:cNvSpPr>
                  <a:spLocks noChangeAspect="1"/>
                </p:cNvSpPr>
                <p:nvPr/>
              </p:nvSpPr>
              <p:spPr bwMode="auto">
                <a:xfrm>
                  <a:off x="457200" y="457200"/>
                  <a:ext cx="914400" cy="914400"/>
                </a:xfrm>
                <a:prstGeom prst="flowChartConnector">
                  <a:avLst/>
                </a:prstGeom>
                <a:grpFill/>
                <a:ln w="0" algn="ctr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solidFill>
                      <a:schemeClr val="lt1"/>
                    </a:solidFill>
                    <a:latin typeface="+mn-lt"/>
                    <a:cs typeface="+mn-cs"/>
                  </a:endParaRPr>
                </a:p>
              </p:txBody>
            </p:sp>
            <p:sp>
              <p:nvSpPr>
                <p:cNvPr id="40" name="Oval 65"/>
                <p:cNvSpPr>
                  <a:spLocks noChangeArrowheads="1"/>
                </p:cNvSpPr>
                <p:nvPr/>
              </p:nvSpPr>
              <p:spPr bwMode="auto">
                <a:xfrm>
                  <a:off x="904875" y="904875"/>
                  <a:ext cx="19050" cy="19050"/>
                </a:xfrm>
                <a:prstGeom prst="ellipse">
                  <a:avLst/>
                </a:prstGeom>
                <a:grpFill/>
                <a:ln w="25400" algn="ctr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solidFill>
                      <a:schemeClr val="lt1"/>
                    </a:solidFill>
                    <a:latin typeface="+mn-lt"/>
                    <a:cs typeface="+mn-cs"/>
                  </a:endParaRPr>
                </a:p>
              </p:txBody>
            </p:sp>
          </p:grpSp>
          <p:sp>
            <p:nvSpPr>
              <p:cNvPr id="38" name="Oval 37"/>
              <p:cNvSpPr>
                <a:spLocks noChangeAspect="1" noChangeArrowheads="1"/>
              </p:cNvSpPr>
              <p:nvPr/>
            </p:nvSpPr>
            <p:spPr bwMode="auto">
              <a:xfrm>
                <a:off x="7928547" y="4764574"/>
                <a:ext cx="73152" cy="73152"/>
              </a:xfrm>
              <a:prstGeom prst="ellipse">
                <a:avLst/>
              </a:prstGeom>
              <a:solidFill>
                <a:srgbClr val="FF0000"/>
              </a:solidFill>
              <a:ln w="25400" algn="ctr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lt1"/>
                  </a:solidFill>
                  <a:latin typeface="+mn-lt"/>
                  <a:cs typeface="+mn-cs"/>
                </a:endParaRPr>
              </a:p>
            </p:txBody>
          </p:sp>
        </p:grpSp>
        <p:sp>
          <p:nvSpPr>
            <p:cNvPr id="17" name="TextBox 16"/>
            <p:cNvSpPr txBox="1"/>
            <p:nvPr/>
          </p:nvSpPr>
          <p:spPr>
            <a:xfrm>
              <a:off x="2058007" y="5030544"/>
              <a:ext cx="1728737" cy="4740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smtClean="0"/>
                <a:t>no red points</a:t>
              </a:r>
              <a:endParaRPr lang="en-US" sz="1400"/>
            </a:p>
          </p:txBody>
        </p:sp>
        <p:cxnSp>
          <p:nvCxnSpPr>
            <p:cNvPr id="19" name="Straight Arrow Connector 18"/>
            <p:cNvCxnSpPr>
              <a:stCxn id="17" idx="1"/>
            </p:cNvCxnSpPr>
            <p:nvPr/>
          </p:nvCxnSpPr>
          <p:spPr bwMode="auto">
            <a:xfrm flipH="1">
              <a:off x="1211581" y="5267561"/>
              <a:ext cx="846426" cy="53126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2" name="Straight Arrow Connector 41"/>
            <p:cNvCxnSpPr>
              <a:stCxn id="17" idx="3"/>
            </p:cNvCxnSpPr>
            <p:nvPr/>
          </p:nvCxnSpPr>
          <p:spPr bwMode="auto">
            <a:xfrm flipV="1">
              <a:off x="3786743" y="5261382"/>
              <a:ext cx="245106" cy="6179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8" name="TextBox 47"/>
            <p:cNvSpPr txBox="1"/>
            <p:nvPr/>
          </p:nvSpPr>
          <p:spPr>
            <a:xfrm>
              <a:off x="1379826" y="6333454"/>
              <a:ext cx="1852182" cy="4740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smtClean="0"/>
                <a:t>no blue points</a:t>
              </a:r>
              <a:endParaRPr lang="en-US" sz="1400"/>
            </a:p>
          </p:txBody>
        </p:sp>
        <p:cxnSp>
          <p:nvCxnSpPr>
            <p:cNvPr id="44" name="Straight Arrow Connector 43"/>
            <p:cNvCxnSpPr>
              <a:stCxn id="48" idx="3"/>
            </p:cNvCxnSpPr>
            <p:nvPr/>
          </p:nvCxnSpPr>
          <p:spPr bwMode="auto">
            <a:xfrm flipV="1">
              <a:off x="3232008" y="6091031"/>
              <a:ext cx="738836" cy="47944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6" name="Straight Arrow Connector 45"/>
            <p:cNvCxnSpPr>
              <a:stCxn id="48" idx="1"/>
            </p:cNvCxnSpPr>
            <p:nvPr/>
          </p:nvCxnSpPr>
          <p:spPr bwMode="auto">
            <a:xfrm flipH="1" flipV="1">
              <a:off x="1122458" y="6564292"/>
              <a:ext cx="257368" cy="6179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129" name="TextBox 128"/>
          <p:cNvSpPr txBox="1"/>
          <p:nvPr/>
        </p:nvSpPr>
        <p:spPr>
          <a:xfrm>
            <a:off x="5284314" y="4978006"/>
            <a:ext cx="32726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Ratio 2.5 works well, </a:t>
            </a:r>
          </a:p>
          <a:p>
            <a:r>
              <a:rPr lang="en-US" dirty="0" smtClean="0"/>
              <a:t>&gt; </a:t>
            </a:r>
            <a:r>
              <a:rPr lang="en-US" dirty="0" err="1" smtClean="0"/>
              <a:t>sqrt</a:t>
            </a:r>
            <a:r>
              <a:rPr lang="en-US" dirty="0" smtClean="0"/>
              <a:t>(2) square diagonal</a:t>
            </a:r>
            <a:endParaRPr lang="en-US" dirty="0"/>
          </a:p>
        </p:txBody>
      </p:sp>
      <p:sp>
        <p:nvSpPr>
          <p:cNvPr id="83" name="TextBox 82"/>
          <p:cNvSpPr txBox="1"/>
          <p:nvPr/>
        </p:nvSpPr>
        <p:spPr>
          <a:xfrm>
            <a:off x="4599022" y="1257951"/>
            <a:ext cx="42867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smtClean="0"/>
              <a:t>Color switching works even better!</a:t>
            </a:r>
          </a:p>
          <a:p>
            <a:r>
              <a:rPr lang="en-US" sz="2000" smtClean="0"/>
              <a:t>  if mono-tri, change color of one vertex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207594" y="1997360"/>
            <a:ext cx="3241939" cy="1345321"/>
            <a:chOff x="4407494" y="2124360"/>
            <a:chExt cx="3241939" cy="1345321"/>
          </a:xfrm>
        </p:grpSpPr>
        <p:cxnSp>
          <p:nvCxnSpPr>
            <p:cNvPr id="85" name="Straight Connector 84"/>
            <p:cNvCxnSpPr/>
            <p:nvPr/>
          </p:nvCxnSpPr>
          <p:spPr bwMode="auto">
            <a:xfrm rot="20143095">
              <a:off x="4639740" y="2987833"/>
              <a:ext cx="927922" cy="481848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Straight Connector 85"/>
            <p:cNvCxnSpPr/>
            <p:nvPr/>
          </p:nvCxnSpPr>
          <p:spPr bwMode="auto">
            <a:xfrm rot="20143095" flipV="1">
              <a:off x="4407494" y="2459549"/>
              <a:ext cx="1026937" cy="56016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7" name="Straight Connector 86"/>
            <p:cNvCxnSpPr/>
            <p:nvPr/>
          </p:nvCxnSpPr>
          <p:spPr bwMode="auto">
            <a:xfrm rot="20143095" flipV="1">
              <a:off x="5390846" y="2266252"/>
              <a:ext cx="92307" cy="991722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9" name="Oval 88"/>
            <p:cNvSpPr/>
            <p:nvPr/>
          </p:nvSpPr>
          <p:spPr bwMode="auto">
            <a:xfrm rot="5400000">
              <a:off x="5488425" y="3151837"/>
              <a:ext cx="210312" cy="2136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90" name="Oval 89"/>
            <p:cNvSpPr/>
            <p:nvPr/>
          </p:nvSpPr>
          <p:spPr bwMode="auto">
            <a:xfrm rot="5400000">
              <a:off x="4539818" y="3099258"/>
              <a:ext cx="210312" cy="2136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93" name="Oval 92"/>
            <p:cNvSpPr/>
            <p:nvPr/>
          </p:nvSpPr>
          <p:spPr bwMode="auto">
            <a:xfrm rot="5400000">
              <a:off x="5175261" y="2188921"/>
              <a:ext cx="210312" cy="2136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cxnSp>
          <p:nvCxnSpPr>
            <p:cNvPr id="95" name="Straight Connector 94"/>
            <p:cNvCxnSpPr/>
            <p:nvPr/>
          </p:nvCxnSpPr>
          <p:spPr bwMode="auto">
            <a:xfrm rot="20143095">
              <a:off x="6588767" y="2935191"/>
              <a:ext cx="927922" cy="481848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6" name="Straight Connector 95"/>
            <p:cNvCxnSpPr/>
            <p:nvPr/>
          </p:nvCxnSpPr>
          <p:spPr bwMode="auto">
            <a:xfrm rot="20143095" flipV="1">
              <a:off x="6356521" y="2406907"/>
              <a:ext cx="1026937" cy="56016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7" name="Straight Connector 96"/>
            <p:cNvCxnSpPr/>
            <p:nvPr/>
          </p:nvCxnSpPr>
          <p:spPr bwMode="auto">
            <a:xfrm rot="20143095" flipV="1">
              <a:off x="7339873" y="2213610"/>
              <a:ext cx="92307" cy="991722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8" name="Oval 97"/>
            <p:cNvSpPr/>
            <p:nvPr/>
          </p:nvSpPr>
          <p:spPr bwMode="auto">
            <a:xfrm rot="5400000">
              <a:off x="7437452" y="3099195"/>
              <a:ext cx="210312" cy="2136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99" name="Oval 98"/>
            <p:cNvSpPr/>
            <p:nvPr/>
          </p:nvSpPr>
          <p:spPr bwMode="auto">
            <a:xfrm rot="5400000">
              <a:off x="6488845" y="3046616"/>
              <a:ext cx="210312" cy="2136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88" name="Oval 87"/>
            <p:cNvSpPr/>
            <p:nvPr/>
          </p:nvSpPr>
          <p:spPr bwMode="auto">
            <a:xfrm rot="5400000">
              <a:off x="7098898" y="2122690"/>
              <a:ext cx="210312" cy="213651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</p:grpSp>
      <p:sp>
        <p:nvSpPr>
          <p:cNvPr id="101" name="TextBox 100"/>
          <p:cNvSpPr txBox="1"/>
          <p:nvPr/>
        </p:nvSpPr>
        <p:spPr>
          <a:xfrm>
            <a:off x="6673690" y="5988588"/>
            <a:ext cx="2613967" cy="101566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dirty="0" smtClean="0"/>
              <a:t>switching, stubborn 2%</a:t>
            </a:r>
          </a:p>
          <a:p>
            <a:endParaRPr lang="en-US" sz="2000" dirty="0" smtClean="0"/>
          </a:p>
          <a:p>
            <a:endParaRPr lang="en-US" sz="2000" dirty="0" smtClean="0"/>
          </a:p>
        </p:txBody>
      </p:sp>
      <p:sp>
        <p:nvSpPr>
          <p:cNvPr id="102" name="TextBox 101"/>
          <p:cNvSpPr txBox="1"/>
          <p:nvPr/>
        </p:nvSpPr>
        <p:spPr>
          <a:xfrm rot="1726465">
            <a:off x="3480111" y="5381522"/>
            <a:ext cx="1500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smtClean="0"/>
              <a:t>no switching</a:t>
            </a:r>
          </a:p>
        </p:txBody>
      </p:sp>
      <p:cxnSp>
        <p:nvCxnSpPr>
          <p:cNvPr id="103" name="Straight Arrow Connector 102"/>
          <p:cNvCxnSpPr/>
          <p:nvPr/>
        </p:nvCxnSpPr>
        <p:spPr bwMode="auto">
          <a:xfrm flipH="1">
            <a:off x="5204445" y="5486400"/>
            <a:ext cx="0" cy="799368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307802403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793" y="48182"/>
            <a:ext cx="7772400" cy="1026238"/>
          </a:xfrm>
        </p:spPr>
        <p:txBody>
          <a:bodyPr/>
          <a:lstStyle/>
          <a:p>
            <a:r>
              <a:rPr lang="en-US" sz="2400" smtClean="0"/>
              <a:t>Resolving Stubborn Mono-tris</a:t>
            </a:r>
            <a:br>
              <a:rPr lang="en-US" sz="2400" smtClean="0"/>
            </a:br>
            <a:r>
              <a:rPr lang="en-US" sz="2400" smtClean="0">
                <a:solidFill>
                  <a:srgbClr val="0000FF"/>
                </a:solidFill>
              </a:rPr>
              <a:t>Circumcircle Delaunay Refinement</a:t>
            </a:r>
            <a:endParaRPr lang="en-US" sz="2400" dirty="0">
              <a:solidFill>
                <a:srgbClr val="0000FF"/>
              </a:solidFill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1546863" y="1671877"/>
            <a:ext cx="2625385" cy="1858125"/>
            <a:chOff x="689820" y="1859280"/>
            <a:chExt cx="2625385" cy="1858125"/>
          </a:xfrm>
        </p:grpSpPr>
        <p:sp>
          <p:nvSpPr>
            <p:cNvPr id="65" name="Oval 64"/>
            <p:cNvSpPr/>
            <p:nvPr/>
          </p:nvSpPr>
          <p:spPr>
            <a:xfrm>
              <a:off x="1257055" y="1969240"/>
              <a:ext cx="1449555" cy="1449555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prstDash val="sysDot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1" name="Straight Connector 70"/>
            <p:cNvCxnSpPr/>
            <p:nvPr/>
          </p:nvCxnSpPr>
          <p:spPr>
            <a:xfrm flipV="1">
              <a:off x="2611645" y="2778943"/>
              <a:ext cx="94965" cy="883482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flipH="1" flipV="1">
              <a:off x="1382022" y="3123817"/>
              <a:ext cx="1229622" cy="53860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 flipH="1" flipV="1">
              <a:off x="742219" y="2134179"/>
              <a:ext cx="639803" cy="98963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 flipH="1">
              <a:off x="742219" y="1969240"/>
              <a:ext cx="1184636" cy="16494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flipV="1">
              <a:off x="1926855" y="1929255"/>
              <a:ext cx="1324593" cy="39985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flipH="1">
              <a:off x="2706609" y="1929254"/>
              <a:ext cx="544840" cy="849689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 flipV="1">
              <a:off x="1382022" y="1969240"/>
              <a:ext cx="537332" cy="1154577"/>
            </a:xfrm>
            <a:prstGeom prst="line">
              <a:avLst/>
            </a:prstGeom>
            <a:ln>
              <a:solidFill>
                <a:srgbClr val="0000FF"/>
              </a:solidFill>
              <a:prstDash val="sys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67" idx="1"/>
            </p:cNvCxnSpPr>
            <p:nvPr/>
          </p:nvCxnSpPr>
          <p:spPr>
            <a:xfrm flipH="1" flipV="1">
              <a:off x="1919355" y="1969240"/>
              <a:ext cx="748378" cy="764634"/>
            </a:xfrm>
            <a:prstGeom prst="line">
              <a:avLst/>
            </a:prstGeom>
            <a:ln>
              <a:solidFill>
                <a:srgbClr val="0000FF"/>
              </a:solidFill>
              <a:prstDash val="sys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 flipV="1">
              <a:off x="1382022" y="2778943"/>
              <a:ext cx="1324587" cy="344874"/>
            </a:xfrm>
            <a:prstGeom prst="line">
              <a:avLst/>
            </a:prstGeom>
            <a:ln>
              <a:solidFill>
                <a:srgbClr val="0000FF"/>
              </a:solidFill>
              <a:prstDash val="sys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1871872" y="2694017"/>
              <a:ext cx="239926" cy="0"/>
            </a:xfrm>
            <a:prstGeom prst="line">
              <a:avLst/>
            </a:prstGeom>
            <a:ln>
              <a:solidFill>
                <a:srgbClr val="0000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 flipV="1">
              <a:off x="1981832" y="2584014"/>
              <a:ext cx="0" cy="243717"/>
            </a:xfrm>
            <a:prstGeom prst="line">
              <a:avLst/>
            </a:prstGeom>
            <a:ln>
              <a:solidFill>
                <a:srgbClr val="0000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/>
            <p:cNvGrpSpPr/>
            <p:nvPr/>
          </p:nvGrpSpPr>
          <p:grpSpPr>
            <a:xfrm>
              <a:off x="1325844" y="1929254"/>
              <a:ext cx="1435745" cy="1253347"/>
              <a:chOff x="1325844" y="1929254"/>
              <a:chExt cx="1435745" cy="1253347"/>
            </a:xfrm>
          </p:grpSpPr>
          <p:sp>
            <p:nvSpPr>
              <p:cNvPr id="64" name="Oval 63"/>
              <p:cNvSpPr/>
              <p:nvPr/>
            </p:nvSpPr>
            <p:spPr>
              <a:xfrm>
                <a:off x="1871872" y="1929254"/>
                <a:ext cx="109960" cy="109960"/>
              </a:xfrm>
              <a:prstGeom prst="ellipse">
                <a:avLst/>
              </a:prstGeom>
              <a:solidFill>
                <a:srgbClr val="0000FF"/>
              </a:solidFill>
              <a:ln>
                <a:solidFill>
                  <a:srgbClr val="0000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Oval 65"/>
              <p:cNvSpPr/>
              <p:nvPr/>
            </p:nvSpPr>
            <p:spPr>
              <a:xfrm>
                <a:off x="1325844" y="3072641"/>
                <a:ext cx="109960" cy="109960"/>
              </a:xfrm>
              <a:prstGeom prst="ellipse">
                <a:avLst/>
              </a:prstGeom>
              <a:solidFill>
                <a:srgbClr val="0000FF"/>
              </a:solidFill>
              <a:ln>
                <a:solidFill>
                  <a:srgbClr val="0000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Oval 66"/>
              <p:cNvSpPr/>
              <p:nvPr/>
            </p:nvSpPr>
            <p:spPr>
              <a:xfrm>
                <a:off x="2651629" y="2717771"/>
                <a:ext cx="109960" cy="109960"/>
              </a:xfrm>
              <a:prstGeom prst="ellipse">
                <a:avLst/>
              </a:prstGeom>
              <a:solidFill>
                <a:srgbClr val="0000FF"/>
              </a:solidFill>
              <a:ln>
                <a:solidFill>
                  <a:srgbClr val="0000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>
              <a:off x="689820" y="1859280"/>
              <a:ext cx="2625385" cy="1858125"/>
              <a:chOff x="689820" y="1859280"/>
              <a:chExt cx="2625385" cy="1858125"/>
            </a:xfrm>
          </p:grpSpPr>
          <p:sp>
            <p:nvSpPr>
              <p:cNvPr id="68" name="Oval 67"/>
              <p:cNvSpPr/>
              <p:nvPr/>
            </p:nvSpPr>
            <p:spPr>
              <a:xfrm>
                <a:off x="3205245" y="1859280"/>
                <a:ext cx="109960" cy="1099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Oval 68"/>
              <p:cNvSpPr/>
              <p:nvPr/>
            </p:nvSpPr>
            <p:spPr>
              <a:xfrm>
                <a:off x="689820" y="2078006"/>
                <a:ext cx="109960" cy="1099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Oval 69"/>
              <p:cNvSpPr/>
              <p:nvPr/>
            </p:nvSpPr>
            <p:spPr>
              <a:xfrm>
                <a:off x="2566652" y="3607445"/>
                <a:ext cx="109960" cy="1099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84" name="Oval 83"/>
          <p:cNvSpPr/>
          <p:nvPr/>
        </p:nvSpPr>
        <p:spPr>
          <a:xfrm>
            <a:off x="5466071" y="1815694"/>
            <a:ext cx="1551691" cy="1551691"/>
          </a:xfrm>
          <a:prstGeom prst="ellipse">
            <a:avLst/>
          </a:prstGeom>
          <a:noFill/>
          <a:ln w="22225">
            <a:solidFill>
              <a:srgbClr val="0000FF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" name="Straight Connector 104"/>
          <p:cNvCxnSpPr/>
          <p:nvPr/>
        </p:nvCxnSpPr>
        <p:spPr>
          <a:xfrm flipV="1">
            <a:off x="6916106" y="2682450"/>
            <a:ext cx="101656" cy="94573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 flipH="1" flipV="1">
            <a:off x="5599844" y="3051624"/>
            <a:ext cx="1316262" cy="57655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 flipH="1" flipV="1">
            <a:off x="4914960" y="1992256"/>
            <a:ext cx="684884" cy="105936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 flipH="1">
            <a:off x="4914960" y="1815694"/>
            <a:ext cx="1268106" cy="17656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 flipV="1">
            <a:off x="6183066" y="1772892"/>
            <a:ext cx="1417924" cy="4280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 flipH="1">
            <a:off x="7017762" y="1772892"/>
            <a:ext cx="583230" cy="90955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/>
          <p:nvPr/>
        </p:nvCxnSpPr>
        <p:spPr>
          <a:xfrm>
            <a:off x="6175037" y="1815694"/>
            <a:ext cx="66880" cy="775845"/>
          </a:xfrm>
          <a:prstGeom prst="line">
            <a:avLst/>
          </a:prstGeom>
          <a:ln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 flipH="1">
            <a:off x="5599844" y="2591540"/>
            <a:ext cx="642073" cy="460084"/>
          </a:xfrm>
          <a:prstGeom prst="line">
            <a:avLst/>
          </a:prstGeom>
          <a:ln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/>
          <p:nvPr/>
        </p:nvCxnSpPr>
        <p:spPr>
          <a:xfrm flipH="1" flipV="1">
            <a:off x="6241920" y="2591540"/>
            <a:ext cx="775842" cy="90910"/>
          </a:xfrm>
          <a:prstGeom prst="line">
            <a:avLst/>
          </a:prstGeom>
          <a:ln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>
            <a:off x="4914960" y="1992256"/>
            <a:ext cx="1326956" cy="599284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6183066" y="1815694"/>
            <a:ext cx="834696" cy="86675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 flipH="1" flipV="1">
            <a:off x="6241920" y="2591540"/>
            <a:ext cx="674186" cy="1036643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6124209" y="1772892"/>
            <a:ext cx="117707" cy="117707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/>
          <p:cNvSpPr/>
          <p:nvPr/>
        </p:nvSpPr>
        <p:spPr>
          <a:xfrm>
            <a:off x="5539707" y="2996842"/>
            <a:ext cx="117707" cy="117707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/>
          <p:cNvSpPr/>
          <p:nvPr/>
        </p:nvSpPr>
        <p:spPr>
          <a:xfrm>
            <a:off x="6958908" y="2616968"/>
            <a:ext cx="117707" cy="117707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/>
          <p:cNvSpPr/>
          <p:nvPr/>
        </p:nvSpPr>
        <p:spPr>
          <a:xfrm>
            <a:off x="7551532" y="1697987"/>
            <a:ext cx="117707" cy="11770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/>
          <p:cNvSpPr/>
          <p:nvPr/>
        </p:nvSpPr>
        <p:spPr>
          <a:xfrm>
            <a:off x="4858869" y="1932124"/>
            <a:ext cx="117707" cy="11770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/>
          <p:cNvSpPr/>
          <p:nvPr/>
        </p:nvSpPr>
        <p:spPr>
          <a:xfrm>
            <a:off x="6867943" y="3569329"/>
            <a:ext cx="117707" cy="11770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Connector 110"/>
          <p:cNvCxnSpPr/>
          <p:nvPr/>
        </p:nvCxnSpPr>
        <p:spPr>
          <a:xfrm>
            <a:off x="6124209" y="2591540"/>
            <a:ext cx="256831" cy="0"/>
          </a:xfrm>
          <a:prstGeom prst="line">
            <a:avLst/>
          </a:prstGeom>
          <a:ln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 flipV="1">
            <a:off x="6241916" y="2473786"/>
            <a:ext cx="0" cy="260890"/>
          </a:xfrm>
          <a:prstGeom prst="line">
            <a:avLst/>
          </a:prstGeom>
          <a:ln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Oval 112"/>
          <p:cNvSpPr/>
          <p:nvPr/>
        </p:nvSpPr>
        <p:spPr>
          <a:xfrm>
            <a:off x="6183066" y="2542109"/>
            <a:ext cx="117707" cy="11770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Title 1"/>
          <p:cNvSpPr txBox="1">
            <a:spLocks/>
          </p:cNvSpPr>
          <p:nvPr/>
        </p:nvSpPr>
        <p:spPr bwMode="auto">
          <a:xfrm>
            <a:off x="2212659" y="3711431"/>
            <a:ext cx="5928041" cy="10262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l"/>
            <a:r>
              <a:rPr lang="en-US" sz="2400" kern="0" dirty="0"/>
              <a:t>Removes the mono-tri</a:t>
            </a:r>
          </a:p>
          <a:p>
            <a:pPr algn="l"/>
            <a:r>
              <a:rPr lang="en-US" sz="2000" kern="0" dirty="0"/>
              <a:t>  </a:t>
            </a:r>
            <a:r>
              <a:rPr lang="en-US" sz="2000" kern="0" dirty="0" smtClean="0"/>
              <a:t>Rare cases produce another mono-tri, </a:t>
            </a:r>
            <a:br>
              <a:rPr lang="en-US" sz="2000" kern="0" dirty="0" smtClean="0"/>
            </a:br>
            <a:r>
              <a:rPr lang="en-US" sz="2000" kern="0" dirty="0" smtClean="0"/>
              <a:t>  requiring more refinement...</a:t>
            </a:r>
            <a:br>
              <a:rPr lang="en-US" sz="2000" kern="0" dirty="0" smtClean="0"/>
            </a:br>
            <a:endParaRPr lang="en-US" sz="2000" kern="0" dirty="0"/>
          </a:p>
        </p:txBody>
      </p:sp>
    </p:spTree>
    <p:extLst>
      <p:ext uri="{BB962C8B-B14F-4D97-AF65-F5344CB8AC3E}">
        <p14:creationId xmlns:p14="http://schemas.microsoft.com/office/powerpoint/2010/main" val="368697390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7004050" y="923925"/>
            <a:ext cx="1562100" cy="33972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Avoiding Reflex Quad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39126"/>
            <a:ext cx="8458200" cy="3195482"/>
          </a:xfrm>
        </p:spPr>
        <p:txBody>
          <a:bodyPr/>
          <a:lstStyle/>
          <a:p>
            <a:r>
              <a:rPr lang="en-US" smtClean="0"/>
              <a:t>Median-refinement template is provably good</a:t>
            </a:r>
          </a:p>
          <a:p>
            <a:pPr lvl="1"/>
            <a:r>
              <a:rPr lang="en-US" smtClean="0"/>
              <a:t>but not that good, 10-174 degrees</a:t>
            </a:r>
          </a:p>
          <a:p>
            <a:r>
              <a:rPr lang="en-US" smtClean="0"/>
              <a:t>Practical alternative</a:t>
            </a:r>
          </a:p>
          <a:p>
            <a:pPr lvl="1"/>
            <a:r>
              <a:rPr lang="en-US" smtClean="0"/>
              <a:t>remove vertices and resample locally</a:t>
            </a:r>
          </a:p>
          <a:p>
            <a:pPr lvl="1"/>
            <a:r>
              <a:rPr lang="en-US" smtClean="0"/>
              <a:t>works every time in practice</a:t>
            </a:r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3621908" y="3721800"/>
            <a:ext cx="903286" cy="1501771"/>
            <a:chOff x="2005156" y="3635379"/>
            <a:chExt cx="903286" cy="1501771"/>
          </a:xfrm>
        </p:grpSpPr>
        <p:sp>
          <p:nvSpPr>
            <p:cNvPr id="23" name="Oval 64"/>
            <p:cNvSpPr>
              <a:spLocks noChangeAspect="1" noChangeArrowheads="1"/>
            </p:cNvSpPr>
            <p:nvPr/>
          </p:nvSpPr>
          <p:spPr bwMode="auto">
            <a:xfrm>
              <a:off x="2055253" y="4508500"/>
              <a:ext cx="615061" cy="61506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cxnSp>
          <p:nvCxnSpPr>
            <p:cNvPr id="24" name="Straight Connector 23"/>
            <p:cNvCxnSpPr/>
            <p:nvPr/>
          </p:nvCxnSpPr>
          <p:spPr>
            <a:xfrm>
              <a:off x="2045759" y="3646218"/>
              <a:ext cx="0" cy="1478534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>
              <a:cxnSpLocks/>
            </p:cNvCxnSpPr>
            <p:nvPr/>
          </p:nvCxnSpPr>
          <p:spPr>
            <a:xfrm>
              <a:off x="2374900" y="4819650"/>
              <a:ext cx="533400" cy="311150"/>
            </a:xfrm>
            <a:prstGeom prst="line">
              <a:avLst/>
            </a:prstGeom>
            <a:ln>
              <a:solidFill>
                <a:srgbClr val="008000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cxnSpLocks/>
            </p:cNvCxnSpPr>
            <p:nvPr/>
          </p:nvCxnSpPr>
          <p:spPr>
            <a:xfrm flipV="1">
              <a:off x="2039409" y="4816475"/>
              <a:ext cx="335491" cy="317500"/>
            </a:xfrm>
            <a:prstGeom prst="line">
              <a:avLst/>
            </a:prstGeom>
            <a:ln>
              <a:solidFill>
                <a:srgbClr val="008000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cxnSpLocks/>
            </p:cNvCxnSpPr>
            <p:nvPr/>
          </p:nvCxnSpPr>
          <p:spPr>
            <a:xfrm>
              <a:off x="2040590" y="3643043"/>
              <a:ext cx="334310" cy="1173432"/>
            </a:xfrm>
            <a:prstGeom prst="line">
              <a:avLst/>
            </a:prstGeom>
            <a:ln>
              <a:solidFill>
                <a:srgbClr val="008000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flipH="1" flipV="1">
              <a:off x="2039411" y="3635379"/>
              <a:ext cx="868889" cy="1501771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>
              <a:cxnSpLocks/>
            </p:cNvCxnSpPr>
            <p:nvPr/>
          </p:nvCxnSpPr>
          <p:spPr>
            <a:xfrm flipH="1">
              <a:off x="2048906" y="5133975"/>
              <a:ext cx="859536" cy="1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044794" y="3646218"/>
              <a:ext cx="0" cy="301752"/>
            </a:xfrm>
            <a:prstGeom prst="line">
              <a:avLst/>
            </a:prstGeom>
            <a:ln>
              <a:solidFill>
                <a:srgbClr val="66006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2046005" y="4828921"/>
              <a:ext cx="0" cy="301752"/>
            </a:xfrm>
            <a:prstGeom prst="line">
              <a:avLst/>
            </a:prstGeom>
            <a:ln>
              <a:solidFill>
                <a:srgbClr val="66006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>
              <a:cxnSpLocks noChangeAspect="1"/>
            </p:cNvCxnSpPr>
            <p:nvPr/>
          </p:nvCxnSpPr>
          <p:spPr>
            <a:xfrm flipH="1" flipV="1">
              <a:off x="2047879" y="3946527"/>
              <a:ext cx="64871" cy="539748"/>
            </a:xfrm>
            <a:prstGeom prst="line">
              <a:avLst/>
            </a:prstGeom>
            <a:ln>
              <a:solidFill>
                <a:srgbClr val="660066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>
              <a:cxnSpLocks noChangeAspect="1"/>
            </p:cNvCxnSpPr>
            <p:nvPr/>
          </p:nvCxnSpPr>
          <p:spPr>
            <a:xfrm flipH="1">
              <a:off x="2044703" y="4483100"/>
              <a:ext cx="65040" cy="346075"/>
            </a:xfrm>
            <a:prstGeom prst="line">
              <a:avLst/>
            </a:prstGeom>
            <a:ln>
              <a:solidFill>
                <a:srgbClr val="660066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cxnSpLocks noChangeAspect="1"/>
            </p:cNvCxnSpPr>
            <p:nvPr/>
          </p:nvCxnSpPr>
          <p:spPr>
            <a:xfrm>
              <a:off x="2115316" y="4486275"/>
              <a:ext cx="253234" cy="333375"/>
            </a:xfrm>
            <a:prstGeom prst="line">
              <a:avLst/>
            </a:prstGeom>
            <a:ln>
              <a:solidFill>
                <a:srgbClr val="660066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2005156" y="4795478"/>
              <a:ext cx="32041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 smtClean="0">
                  <a:solidFill>
                    <a:srgbClr val="000000"/>
                  </a:solidFill>
                </a:rPr>
                <a:t>45°</a:t>
              </a:r>
              <a:endParaRPr lang="en-US" sz="700" baseline="-25000" dirty="0">
                <a:solidFill>
                  <a:srgbClr val="000000"/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081356" y="3658828"/>
              <a:ext cx="32041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 smtClean="0">
                  <a:solidFill>
                    <a:srgbClr val="000000"/>
                  </a:solidFill>
                </a:rPr>
                <a:t>15°</a:t>
              </a:r>
              <a:endParaRPr lang="en-US" sz="700" baseline="-250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2848652" y="3721797"/>
            <a:ext cx="623770" cy="1498601"/>
            <a:chOff x="1231900" y="3635376"/>
            <a:chExt cx="623770" cy="1498601"/>
          </a:xfrm>
        </p:grpSpPr>
        <p:cxnSp>
          <p:nvCxnSpPr>
            <p:cNvPr id="38" name="Straight Connector 37"/>
            <p:cNvCxnSpPr>
              <a:cxnSpLocks noChangeAspect="1"/>
            </p:cNvCxnSpPr>
            <p:nvPr/>
          </p:nvCxnSpPr>
          <p:spPr>
            <a:xfrm flipV="1">
              <a:off x="1651000" y="3952877"/>
              <a:ext cx="104775" cy="489790"/>
            </a:xfrm>
            <a:prstGeom prst="line">
              <a:avLst/>
            </a:prstGeom>
            <a:ln>
              <a:solidFill>
                <a:srgbClr val="660066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>
              <a:cxnSpLocks noChangeAspect="1"/>
            </p:cNvCxnSpPr>
            <p:nvPr/>
          </p:nvCxnSpPr>
          <p:spPr>
            <a:xfrm>
              <a:off x="1657350" y="4439042"/>
              <a:ext cx="98425" cy="374258"/>
            </a:xfrm>
            <a:prstGeom prst="line">
              <a:avLst/>
            </a:prstGeom>
            <a:ln>
              <a:solidFill>
                <a:srgbClr val="660066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cxnSpLocks noChangeAspect="1"/>
            </p:cNvCxnSpPr>
            <p:nvPr/>
          </p:nvCxnSpPr>
          <p:spPr>
            <a:xfrm flipV="1">
              <a:off x="1238250" y="4434771"/>
              <a:ext cx="415925" cy="184855"/>
            </a:xfrm>
            <a:prstGeom prst="line">
              <a:avLst/>
            </a:prstGeom>
            <a:ln>
              <a:solidFill>
                <a:srgbClr val="66006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1516206" y="4801828"/>
              <a:ext cx="32041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 smtClean="0">
                  <a:solidFill>
                    <a:srgbClr val="008000"/>
                  </a:solidFill>
                </a:rPr>
                <a:t>45°</a:t>
              </a:r>
              <a:endParaRPr lang="en-US" sz="700" baseline="-25000" dirty="0">
                <a:solidFill>
                  <a:srgbClr val="008000"/>
                </a:solidFill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535256" y="3858853"/>
              <a:ext cx="32041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rgbClr val="008000"/>
                  </a:solidFill>
                </a:rPr>
                <a:t>30</a:t>
              </a:r>
              <a:r>
                <a:rPr lang="en-US" sz="700" dirty="0" smtClean="0">
                  <a:solidFill>
                    <a:srgbClr val="008000"/>
                  </a:solidFill>
                </a:rPr>
                <a:t>°</a:t>
              </a:r>
              <a:endParaRPr lang="en-US" sz="700" baseline="-25000" dirty="0">
                <a:solidFill>
                  <a:srgbClr val="008000"/>
                </a:solidFill>
              </a:endParaRPr>
            </a:p>
          </p:txBody>
        </p:sp>
        <p:grpSp>
          <p:nvGrpSpPr>
            <p:cNvPr id="43" name="Group 42"/>
            <p:cNvGrpSpPr/>
            <p:nvPr/>
          </p:nvGrpSpPr>
          <p:grpSpPr>
            <a:xfrm>
              <a:off x="1755869" y="3646218"/>
              <a:ext cx="1211" cy="1484455"/>
              <a:chOff x="2197194" y="3798618"/>
              <a:chExt cx="1211" cy="1484455"/>
            </a:xfrm>
          </p:grpSpPr>
          <p:cxnSp>
            <p:nvCxnSpPr>
              <p:cNvPr id="46" name="Straight Connector 45"/>
              <p:cNvCxnSpPr/>
              <p:nvPr/>
            </p:nvCxnSpPr>
            <p:spPr>
              <a:xfrm>
                <a:off x="2198159" y="3798618"/>
                <a:ext cx="0" cy="147853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>
              <a:xfrm>
                <a:off x="2197194" y="3798618"/>
                <a:ext cx="0" cy="301752"/>
              </a:xfrm>
              <a:prstGeom prst="line">
                <a:avLst/>
              </a:prstGeom>
              <a:ln>
                <a:solidFill>
                  <a:srgbClr val="660066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>
                <a:off x="2198405" y="4981321"/>
                <a:ext cx="0" cy="301752"/>
              </a:xfrm>
              <a:prstGeom prst="line">
                <a:avLst/>
              </a:prstGeom>
              <a:ln>
                <a:solidFill>
                  <a:srgbClr val="660066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4" name="Straight Connector 43"/>
            <p:cNvCxnSpPr/>
            <p:nvPr/>
          </p:nvCxnSpPr>
          <p:spPr>
            <a:xfrm flipV="1">
              <a:off x="1231900" y="3635376"/>
              <a:ext cx="531284" cy="1000124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>
              <a:cxnSpLocks/>
            </p:cNvCxnSpPr>
            <p:nvPr/>
          </p:nvCxnSpPr>
          <p:spPr>
            <a:xfrm>
              <a:off x="1231900" y="4629150"/>
              <a:ext cx="521759" cy="504827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5" name="Straight Connector 54"/>
          <p:cNvCxnSpPr/>
          <p:nvPr/>
        </p:nvCxnSpPr>
        <p:spPr>
          <a:xfrm>
            <a:off x="1382184" y="3293158"/>
            <a:ext cx="0" cy="1478534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cxnSpLocks/>
          </p:cNvCxnSpPr>
          <p:nvPr/>
        </p:nvCxnSpPr>
        <p:spPr>
          <a:xfrm flipV="1">
            <a:off x="149108" y="4321683"/>
            <a:ext cx="987226" cy="1254762"/>
          </a:xfrm>
          <a:prstGeom prst="line">
            <a:avLst/>
          </a:prstGeom>
          <a:ln>
            <a:solidFill>
              <a:srgbClr val="6600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cxnSpLocks/>
          </p:cNvCxnSpPr>
          <p:nvPr/>
        </p:nvCxnSpPr>
        <p:spPr>
          <a:xfrm>
            <a:off x="1708150" y="4580890"/>
            <a:ext cx="904061" cy="995553"/>
          </a:xfrm>
          <a:prstGeom prst="line">
            <a:avLst/>
          </a:prstGeom>
          <a:ln>
            <a:solidFill>
              <a:srgbClr val="00800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cxnSpLocks noChangeAspect="1"/>
          </p:cNvCxnSpPr>
          <p:nvPr/>
        </p:nvCxnSpPr>
        <p:spPr>
          <a:xfrm flipV="1">
            <a:off x="145963" y="4780915"/>
            <a:ext cx="1233046" cy="79692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145963" y="3282316"/>
            <a:ext cx="1242571" cy="229552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64"/>
          <p:cNvSpPr>
            <a:spLocks noChangeAspect="1" noChangeArrowheads="1"/>
          </p:cNvSpPr>
          <p:nvPr/>
        </p:nvSpPr>
        <p:spPr bwMode="auto">
          <a:xfrm>
            <a:off x="1394854" y="4282440"/>
            <a:ext cx="630936" cy="630936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cxnSp>
        <p:nvCxnSpPr>
          <p:cNvPr id="61" name="Straight Connector 60"/>
          <p:cNvCxnSpPr>
            <a:cxnSpLocks/>
          </p:cNvCxnSpPr>
          <p:nvPr/>
        </p:nvCxnSpPr>
        <p:spPr>
          <a:xfrm flipV="1">
            <a:off x="1375834" y="4580891"/>
            <a:ext cx="332316" cy="200024"/>
          </a:xfrm>
          <a:prstGeom prst="line">
            <a:avLst/>
          </a:prstGeom>
          <a:ln>
            <a:solidFill>
              <a:srgbClr val="00800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cxnSpLocks/>
          </p:cNvCxnSpPr>
          <p:nvPr/>
        </p:nvCxnSpPr>
        <p:spPr>
          <a:xfrm>
            <a:off x="1377015" y="3289983"/>
            <a:ext cx="331135" cy="1290907"/>
          </a:xfrm>
          <a:prstGeom prst="line">
            <a:avLst/>
          </a:prstGeom>
          <a:ln>
            <a:solidFill>
              <a:srgbClr val="00800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 flipV="1">
            <a:off x="1375834" y="3282316"/>
            <a:ext cx="1236377" cy="2294127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cxnSpLocks noChangeAspect="1"/>
          </p:cNvCxnSpPr>
          <p:nvPr/>
        </p:nvCxnSpPr>
        <p:spPr>
          <a:xfrm flipH="1" flipV="1">
            <a:off x="1385328" y="4780915"/>
            <a:ext cx="1226883" cy="795528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>
            <a:cxnSpLocks noChangeAspect="1"/>
          </p:cNvCxnSpPr>
          <p:nvPr/>
        </p:nvCxnSpPr>
        <p:spPr>
          <a:xfrm flipH="1" flipV="1">
            <a:off x="1136334" y="4321683"/>
            <a:ext cx="242675" cy="157353"/>
          </a:xfrm>
          <a:prstGeom prst="line">
            <a:avLst/>
          </a:prstGeom>
          <a:ln>
            <a:solidFill>
              <a:srgbClr val="6600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1381219" y="3293158"/>
            <a:ext cx="0" cy="301752"/>
          </a:xfrm>
          <a:prstGeom prst="line">
            <a:avLst/>
          </a:prstGeom>
          <a:ln>
            <a:solidFill>
              <a:srgbClr val="6600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cxnSpLocks noChangeAspect="1"/>
          </p:cNvCxnSpPr>
          <p:nvPr/>
        </p:nvCxnSpPr>
        <p:spPr>
          <a:xfrm flipH="1">
            <a:off x="1139393" y="3591735"/>
            <a:ext cx="239616" cy="729948"/>
          </a:xfrm>
          <a:prstGeom prst="line">
            <a:avLst/>
          </a:prstGeom>
          <a:ln>
            <a:solidFill>
              <a:srgbClr val="6600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1382430" y="4475861"/>
            <a:ext cx="0" cy="301752"/>
          </a:xfrm>
          <a:prstGeom prst="line">
            <a:avLst/>
          </a:prstGeom>
          <a:ln>
            <a:solidFill>
              <a:srgbClr val="6600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cxnSpLocks noChangeAspect="1"/>
          </p:cNvCxnSpPr>
          <p:nvPr/>
        </p:nvCxnSpPr>
        <p:spPr>
          <a:xfrm>
            <a:off x="1452413" y="4142740"/>
            <a:ext cx="255737" cy="438150"/>
          </a:xfrm>
          <a:prstGeom prst="line">
            <a:avLst/>
          </a:prstGeom>
          <a:ln>
            <a:solidFill>
              <a:srgbClr val="660066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cxnSpLocks noChangeAspect="1"/>
          </p:cNvCxnSpPr>
          <p:nvPr/>
        </p:nvCxnSpPr>
        <p:spPr>
          <a:xfrm flipV="1">
            <a:off x="1385359" y="4139565"/>
            <a:ext cx="61726" cy="333121"/>
          </a:xfrm>
          <a:prstGeom prst="line">
            <a:avLst/>
          </a:prstGeom>
          <a:ln>
            <a:solidFill>
              <a:srgbClr val="660066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cxnSpLocks noChangeAspect="1"/>
          </p:cNvCxnSpPr>
          <p:nvPr/>
        </p:nvCxnSpPr>
        <p:spPr>
          <a:xfrm>
            <a:off x="1384394" y="3594910"/>
            <a:ext cx="61845" cy="547830"/>
          </a:xfrm>
          <a:prstGeom prst="line">
            <a:avLst/>
          </a:prstGeom>
          <a:ln>
            <a:solidFill>
              <a:srgbClr val="660066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344756" y="4477343"/>
            <a:ext cx="3785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srgbClr val="000000"/>
                </a:solidFill>
              </a:rPr>
              <a:t>60°</a:t>
            </a:r>
            <a:endParaRPr lang="en-US" sz="1000" baseline="-25000" dirty="0">
              <a:solidFill>
                <a:srgbClr val="00000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411431" y="3296243"/>
            <a:ext cx="3785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15</a:t>
            </a:r>
            <a:r>
              <a:rPr lang="en-US" sz="1000" dirty="0" smtClean="0">
                <a:solidFill>
                  <a:srgbClr val="000000"/>
                </a:solidFill>
              </a:rPr>
              <a:t>°</a:t>
            </a:r>
            <a:endParaRPr lang="en-US" sz="1000" baseline="-25000" dirty="0">
              <a:solidFill>
                <a:srgbClr val="00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95506" y="4597993"/>
            <a:ext cx="4283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120</a:t>
            </a:r>
            <a:r>
              <a:rPr lang="en-US" sz="1000" dirty="0" smtClean="0"/>
              <a:t>°</a:t>
            </a:r>
            <a:endParaRPr lang="en-US" sz="1000" baseline="-25000" dirty="0"/>
          </a:p>
        </p:txBody>
      </p:sp>
      <p:sp>
        <p:nvSpPr>
          <p:cNvPr id="54" name="TextBox 53"/>
          <p:cNvSpPr txBox="1"/>
          <p:nvPr/>
        </p:nvSpPr>
        <p:spPr>
          <a:xfrm>
            <a:off x="973281" y="3296243"/>
            <a:ext cx="3785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30</a:t>
            </a:r>
            <a:r>
              <a:rPr lang="en-US" sz="1000" dirty="0" smtClean="0"/>
              <a:t>°</a:t>
            </a:r>
            <a:endParaRPr lang="en-US" sz="1000" baseline="-25000" dirty="0"/>
          </a:p>
        </p:txBody>
      </p:sp>
      <p:sp>
        <p:nvSpPr>
          <p:cNvPr id="72" name="TextBox 71"/>
          <p:cNvSpPr txBox="1"/>
          <p:nvPr/>
        </p:nvSpPr>
        <p:spPr>
          <a:xfrm>
            <a:off x="484265" y="5426214"/>
            <a:ext cx="36952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worst case: 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rgbClr val="008000"/>
                </a:solidFill>
              </a:rPr>
              <a:t>incircle</a:t>
            </a:r>
            <a:r>
              <a:rPr lang="en-US" sz="2000" dirty="0" smtClean="0"/>
              <a:t> followed by </a:t>
            </a:r>
            <a:r>
              <a:rPr lang="en-US" sz="2000" dirty="0" smtClean="0">
                <a:solidFill>
                  <a:srgbClr val="660066"/>
                </a:solidFill>
              </a:rPr>
              <a:t>reflex</a:t>
            </a:r>
            <a:r>
              <a:rPr lang="en-US" sz="2000" dirty="0" smtClean="0">
                <a:solidFill>
                  <a:schemeClr val="accent2"/>
                </a:solidFill>
              </a:rPr>
              <a:t> </a:t>
            </a:r>
            <a:r>
              <a:rPr lang="en-US" sz="2000" dirty="0" smtClean="0"/>
              <a:t>refine</a:t>
            </a:r>
            <a:endParaRPr lang="en-US" sz="2000" dirty="0"/>
          </a:p>
        </p:txBody>
      </p:sp>
      <p:sp>
        <p:nvSpPr>
          <p:cNvPr id="73" name="Oval 72"/>
          <p:cNvSpPr/>
          <p:nvPr/>
        </p:nvSpPr>
        <p:spPr bwMode="auto">
          <a:xfrm rot="5400000">
            <a:off x="7280614" y="5188533"/>
            <a:ext cx="210312" cy="21365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74" name="Oval 73"/>
          <p:cNvSpPr/>
          <p:nvPr/>
        </p:nvSpPr>
        <p:spPr bwMode="auto">
          <a:xfrm rot="5400000">
            <a:off x="6169247" y="3775166"/>
            <a:ext cx="210312" cy="213651"/>
          </a:xfrm>
          <a:prstGeom prst="ellipse">
            <a:avLst/>
          </a:prstGeom>
          <a:solidFill>
            <a:srgbClr val="0000FF"/>
          </a:solidFill>
          <a:ln w="127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75" name="Oval 74"/>
          <p:cNvSpPr/>
          <p:nvPr/>
        </p:nvSpPr>
        <p:spPr bwMode="auto">
          <a:xfrm rot="5400000">
            <a:off x="8165697" y="5259780"/>
            <a:ext cx="210312" cy="21365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77" name="Oval 76"/>
          <p:cNvSpPr/>
          <p:nvPr/>
        </p:nvSpPr>
        <p:spPr bwMode="auto">
          <a:xfrm rot="5400000">
            <a:off x="6171655" y="4153325"/>
            <a:ext cx="210312" cy="21365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78" name="Oval 77"/>
          <p:cNvSpPr/>
          <p:nvPr/>
        </p:nvSpPr>
        <p:spPr bwMode="auto">
          <a:xfrm rot="5400000">
            <a:off x="5774556" y="4640290"/>
            <a:ext cx="210312" cy="213651"/>
          </a:xfrm>
          <a:prstGeom prst="ellipse">
            <a:avLst/>
          </a:prstGeom>
          <a:solidFill>
            <a:srgbClr val="0000FF"/>
          </a:solidFill>
          <a:ln w="127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79" name="Oval 78"/>
          <p:cNvSpPr/>
          <p:nvPr/>
        </p:nvSpPr>
        <p:spPr bwMode="auto">
          <a:xfrm rot="5400000">
            <a:off x="6319343" y="5720970"/>
            <a:ext cx="210312" cy="21365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80" name="Oval 79"/>
          <p:cNvSpPr/>
          <p:nvPr/>
        </p:nvSpPr>
        <p:spPr bwMode="auto">
          <a:xfrm rot="5400000">
            <a:off x="5979931" y="5223746"/>
            <a:ext cx="210312" cy="213651"/>
          </a:xfrm>
          <a:prstGeom prst="ellipse">
            <a:avLst/>
          </a:prstGeom>
          <a:solidFill>
            <a:srgbClr val="0000FF"/>
          </a:solidFill>
          <a:ln w="127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84" name="Oval 83"/>
          <p:cNvSpPr/>
          <p:nvPr/>
        </p:nvSpPr>
        <p:spPr bwMode="auto">
          <a:xfrm rot="5400000">
            <a:off x="6854896" y="5442821"/>
            <a:ext cx="210312" cy="213651"/>
          </a:xfrm>
          <a:prstGeom prst="ellipse">
            <a:avLst/>
          </a:prstGeom>
          <a:solidFill>
            <a:srgbClr val="0000FF"/>
          </a:solidFill>
          <a:ln w="127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85" name="Oval 84"/>
          <p:cNvSpPr/>
          <p:nvPr/>
        </p:nvSpPr>
        <p:spPr bwMode="auto">
          <a:xfrm rot="5400000">
            <a:off x="7416511" y="3633927"/>
            <a:ext cx="210312" cy="21365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86" name="Oval 85"/>
          <p:cNvSpPr/>
          <p:nvPr/>
        </p:nvSpPr>
        <p:spPr bwMode="auto">
          <a:xfrm rot="5400000">
            <a:off x="8232862" y="4607180"/>
            <a:ext cx="210312" cy="213651"/>
          </a:xfrm>
          <a:prstGeom prst="ellipse">
            <a:avLst/>
          </a:prstGeom>
          <a:solidFill>
            <a:srgbClr val="0000FF"/>
          </a:solidFill>
          <a:ln w="127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89" name="Oval 88"/>
          <p:cNvSpPr/>
          <p:nvPr/>
        </p:nvSpPr>
        <p:spPr bwMode="auto">
          <a:xfrm rot="5400000">
            <a:off x="7877181" y="4176128"/>
            <a:ext cx="210312" cy="21365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90" name="Oval 89"/>
          <p:cNvSpPr/>
          <p:nvPr/>
        </p:nvSpPr>
        <p:spPr bwMode="auto">
          <a:xfrm rot="5400000">
            <a:off x="7806827" y="5438089"/>
            <a:ext cx="210312" cy="213651"/>
          </a:xfrm>
          <a:prstGeom prst="ellipse">
            <a:avLst/>
          </a:prstGeom>
          <a:solidFill>
            <a:srgbClr val="0000FF"/>
          </a:solidFill>
          <a:ln w="127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91" name="Oval 90"/>
          <p:cNvSpPr/>
          <p:nvPr/>
        </p:nvSpPr>
        <p:spPr bwMode="auto">
          <a:xfrm rot="5400000">
            <a:off x="7555645" y="5858331"/>
            <a:ext cx="210312" cy="21365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grpSp>
        <p:nvGrpSpPr>
          <p:cNvPr id="122" name="Group 121"/>
          <p:cNvGrpSpPr/>
          <p:nvPr/>
        </p:nvGrpSpPr>
        <p:grpSpPr>
          <a:xfrm>
            <a:off x="6482708" y="3962685"/>
            <a:ext cx="1349248" cy="1217095"/>
            <a:chOff x="6425923" y="3962686"/>
            <a:chExt cx="1349248" cy="1217095"/>
          </a:xfrm>
        </p:grpSpPr>
        <p:cxnSp>
          <p:nvCxnSpPr>
            <p:cNvPr id="106" name="Straight Connector 105"/>
            <p:cNvCxnSpPr/>
            <p:nvPr/>
          </p:nvCxnSpPr>
          <p:spPr bwMode="auto">
            <a:xfrm flipV="1">
              <a:off x="7036594" y="4631532"/>
              <a:ext cx="245269" cy="14763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4" name="Straight Connector 93"/>
            <p:cNvCxnSpPr>
              <a:stCxn id="92" idx="0"/>
              <a:endCxn id="88" idx="4"/>
            </p:cNvCxnSpPr>
            <p:nvPr/>
          </p:nvCxnSpPr>
          <p:spPr bwMode="auto">
            <a:xfrm>
              <a:off x="7131655" y="4788123"/>
              <a:ext cx="429866" cy="10515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6" name="Straight Connector 95"/>
            <p:cNvCxnSpPr>
              <a:stCxn id="88" idx="3"/>
              <a:endCxn id="82" idx="7"/>
            </p:cNvCxnSpPr>
            <p:nvPr/>
          </p:nvCxnSpPr>
          <p:spPr bwMode="auto">
            <a:xfrm flipH="1" flipV="1">
              <a:off x="7110849" y="4142199"/>
              <a:ext cx="481960" cy="67672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8" name="Straight Connector 97"/>
            <p:cNvCxnSpPr>
              <a:stCxn id="82" idx="6"/>
              <a:endCxn id="92" idx="2"/>
            </p:cNvCxnSpPr>
            <p:nvPr/>
          </p:nvCxnSpPr>
          <p:spPr bwMode="auto">
            <a:xfrm flipH="1">
              <a:off x="7024829" y="4172998"/>
              <a:ext cx="10482" cy="509969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9" name="Straight Connector 98"/>
            <p:cNvCxnSpPr/>
            <p:nvPr/>
          </p:nvCxnSpPr>
          <p:spPr bwMode="auto">
            <a:xfrm flipV="1">
              <a:off x="6538913" y="4788695"/>
              <a:ext cx="488156" cy="2905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2" name="Straight Connector 101"/>
            <p:cNvCxnSpPr/>
            <p:nvPr/>
          </p:nvCxnSpPr>
          <p:spPr bwMode="auto">
            <a:xfrm flipV="1">
              <a:off x="6543675" y="4064794"/>
              <a:ext cx="488156" cy="100250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9" name="Straight Connector 118"/>
            <p:cNvCxnSpPr/>
            <p:nvPr/>
          </p:nvCxnSpPr>
          <p:spPr bwMode="auto">
            <a:xfrm flipH="1" flipV="1">
              <a:off x="7036594" y="4074319"/>
              <a:ext cx="238125" cy="55721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1" name="Oval 80"/>
            <p:cNvSpPr/>
            <p:nvPr/>
          </p:nvSpPr>
          <p:spPr bwMode="auto">
            <a:xfrm rot="5400000">
              <a:off x="6427593" y="4967799"/>
              <a:ext cx="210312" cy="2136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82" name="Oval 81"/>
            <p:cNvSpPr/>
            <p:nvPr/>
          </p:nvSpPr>
          <p:spPr bwMode="auto">
            <a:xfrm rot="5400000">
              <a:off x="6930155" y="3961016"/>
              <a:ext cx="210312" cy="213651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83" name="Oval 82"/>
            <p:cNvSpPr/>
            <p:nvPr/>
          </p:nvSpPr>
          <p:spPr bwMode="auto">
            <a:xfrm rot="5400000">
              <a:off x="7173788" y="4523727"/>
              <a:ext cx="210312" cy="2136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88" name="Oval 87"/>
            <p:cNvSpPr/>
            <p:nvPr/>
          </p:nvSpPr>
          <p:spPr bwMode="auto">
            <a:xfrm rot="5400000">
              <a:off x="7563190" y="4786453"/>
              <a:ext cx="210312" cy="213651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92" name="Oval 91"/>
            <p:cNvSpPr/>
            <p:nvPr/>
          </p:nvSpPr>
          <p:spPr bwMode="auto">
            <a:xfrm rot="5400000">
              <a:off x="6919673" y="4681297"/>
              <a:ext cx="210312" cy="213651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</p:grpSp>
      <p:grpSp>
        <p:nvGrpSpPr>
          <p:cNvPr id="130" name="Group 129"/>
          <p:cNvGrpSpPr/>
          <p:nvPr/>
        </p:nvGrpSpPr>
        <p:grpSpPr>
          <a:xfrm>
            <a:off x="6505521" y="4007693"/>
            <a:ext cx="1518071" cy="1086625"/>
            <a:chOff x="6567699" y="4042870"/>
            <a:chExt cx="1518071" cy="1086625"/>
          </a:xfrm>
        </p:grpSpPr>
        <p:sp>
          <p:nvSpPr>
            <p:cNvPr id="123" name="Oval 122"/>
            <p:cNvSpPr/>
            <p:nvPr/>
          </p:nvSpPr>
          <p:spPr bwMode="auto">
            <a:xfrm rot="5400000">
              <a:off x="6569369" y="4558426"/>
              <a:ext cx="210312" cy="213651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24" name="Oval 123"/>
            <p:cNvSpPr/>
            <p:nvPr/>
          </p:nvSpPr>
          <p:spPr bwMode="auto">
            <a:xfrm rot="5400000">
              <a:off x="6762428" y="4917513"/>
              <a:ext cx="210312" cy="2136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25" name="Oval 124"/>
            <p:cNvSpPr/>
            <p:nvPr/>
          </p:nvSpPr>
          <p:spPr bwMode="auto">
            <a:xfrm rot="5400000">
              <a:off x="6897542" y="4041200"/>
              <a:ext cx="210312" cy="2136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26" name="Oval 125"/>
            <p:cNvSpPr/>
            <p:nvPr/>
          </p:nvSpPr>
          <p:spPr bwMode="auto">
            <a:xfrm rot="5400000">
              <a:off x="7381928" y="4138909"/>
              <a:ext cx="210312" cy="213651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27" name="Oval 126"/>
            <p:cNvSpPr/>
            <p:nvPr/>
          </p:nvSpPr>
          <p:spPr bwMode="auto">
            <a:xfrm rot="5400000">
              <a:off x="7443924" y="4843629"/>
              <a:ext cx="210312" cy="213651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28" name="Oval 127"/>
            <p:cNvSpPr/>
            <p:nvPr/>
          </p:nvSpPr>
          <p:spPr bwMode="auto">
            <a:xfrm rot="5400000">
              <a:off x="7873789" y="4745447"/>
              <a:ext cx="210312" cy="2136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29" name="Oval 128"/>
            <p:cNvSpPr/>
            <p:nvPr/>
          </p:nvSpPr>
          <p:spPr bwMode="auto">
            <a:xfrm rot="5400000">
              <a:off x="7206742" y="4491268"/>
              <a:ext cx="210312" cy="2136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6260459" y="521758"/>
            <a:ext cx="2823497" cy="2461412"/>
            <a:chOff x="5301609" y="3544358"/>
            <a:chExt cx="2823497" cy="2461412"/>
          </a:xfrm>
        </p:grpSpPr>
        <p:grpSp>
          <p:nvGrpSpPr>
            <p:cNvPr id="95" name="Group 94"/>
            <p:cNvGrpSpPr/>
            <p:nvPr/>
          </p:nvGrpSpPr>
          <p:grpSpPr>
            <a:xfrm>
              <a:off x="5301609" y="3544358"/>
              <a:ext cx="2823497" cy="2461412"/>
              <a:chOff x="5301609" y="3544358"/>
              <a:chExt cx="2823497" cy="2461412"/>
            </a:xfrm>
          </p:grpSpPr>
          <p:grpSp>
            <p:nvGrpSpPr>
              <p:cNvPr id="100" name="Group 99"/>
              <p:cNvGrpSpPr/>
              <p:nvPr/>
            </p:nvGrpSpPr>
            <p:grpSpPr>
              <a:xfrm>
                <a:off x="5301609" y="3544358"/>
                <a:ext cx="2823497" cy="2461412"/>
                <a:chOff x="5619109" y="3362325"/>
                <a:chExt cx="2823497" cy="2461412"/>
              </a:xfrm>
            </p:grpSpPr>
            <p:cxnSp>
              <p:nvCxnSpPr>
                <p:cNvPr id="104" name="Straight Connector 103"/>
                <p:cNvCxnSpPr/>
                <p:nvPr/>
              </p:nvCxnSpPr>
              <p:spPr>
                <a:xfrm flipV="1">
                  <a:off x="5619109" y="4860925"/>
                  <a:ext cx="1489716" cy="96281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/>
                <p:cNvCxnSpPr/>
                <p:nvPr/>
              </p:nvCxnSpPr>
              <p:spPr>
                <a:xfrm flipH="1">
                  <a:off x="7108825" y="3369993"/>
                  <a:ext cx="8340" cy="149093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/>
                <p:cNvCxnSpPr/>
                <p:nvPr/>
              </p:nvCxnSpPr>
              <p:spPr>
                <a:xfrm flipV="1">
                  <a:off x="5619109" y="3362325"/>
                  <a:ext cx="1499241" cy="245524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/>
                <p:cNvCxnSpPr/>
                <p:nvPr/>
              </p:nvCxnSpPr>
              <p:spPr>
                <a:xfrm flipV="1">
                  <a:off x="7103114" y="4313266"/>
                  <a:ext cx="1339492" cy="54697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/>
                <p:cNvCxnSpPr/>
                <p:nvPr/>
              </p:nvCxnSpPr>
              <p:spPr>
                <a:xfrm>
                  <a:off x="7115444" y="3374428"/>
                  <a:ext cx="1320997" cy="93883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/>
                <p:cNvCxnSpPr/>
                <p:nvPr/>
              </p:nvCxnSpPr>
              <p:spPr>
                <a:xfrm flipV="1">
                  <a:off x="5636042" y="4119033"/>
                  <a:ext cx="1475958" cy="1696238"/>
                </a:xfrm>
                <a:prstGeom prst="line">
                  <a:avLst/>
                </a:prstGeom>
                <a:ln>
                  <a:solidFill>
                    <a:schemeClr val="accent6"/>
                  </a:solidFill>
                  <a:prstDash val="sysDot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/>
                <p:cNvCxnSpPr/>
                <p:nvPr/>
              </p:nvCxnSpPr>
              <p:spPr>
                <a:xfrm>
                  <a:off x="7112000" y="4114800"/>
                  <a:ext cx="1309439" cy="206932"/>
                </a:xfrm>
                <a:prstGeom prst="line">
                  <a:avLst/>
                </a:prstGeom>
                <a:ln>
                  <a:solidFill>
                    <a:schemeClr val="accent6"/>
                  </a:solidFill>
                  <a:prstDash val="sysDot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/>
                <p:cNvCxnSpPr/>
                <p:nvPr/>
              </p:nvCxnSpPr>
              <p:spPr>
                <a:xfrm flipV="1">
                  <a:off x="6900336" y="3746500"/>
                  <a:ext cx="215897" cy="618069"/>
                </a:xfrm>
                <a:prstGeom prst="line">
                  <a:avLst/>
                </a:prstGeom>
                <a:ln>
                  <a:solidFill>
                    <a:srgbClr val="008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Straight Connector 112"/>
                <p:cNvCxnSpPr>
                  <a:cxnSpLocks noChangeAspect="1"/>
                </p:cNvCxnSpPr>
                <p:nvPr/>
              </p:nvCxnSpPr>
              <p:spPr>
                <a:xfrm>
                  <a:off x="6884235" y="4364567"/>
                  <a:ext cx="223530" cy="131234"/>
                </a:xfrm>
                <a:prstGeom prst="line">
                  <a:avLst/>
                </a:prstGeom>
                <a:ln>
                  <a:solidFill>
                    <a:srgbClr val="008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Straight Connector 113"/>
                <p:cNvCxnSpPr>
                  <a:cxnSpLocks noChangeAspect="1"/>
                </p:cNvCxnSpPr>
                <p:nvPr/>
              </p:nvCxnSpPr>
              <p:spPr>
                <a:xfrm flipH="1">
                  <a:off x="7113059" y="3386928"/>
                  <a:ext cx="2087" cy="372733"/>
                </a:xfrm>
                <a:prstGeom prst="line">
                  <a:avLst/>
                </a:prstGeom>
                <a:ln>
                  <a:solidFill>
                    <a:srgbClr val="008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Straight Connector 114"/>
                <p:cNvCxnSpPr>
                  <a:cxnSpLocks noChangeAspect="1"/>
                </p:cNvCxnSpPr>
                <p:nvPr/>
              </p:nvCxnSpPr>
              <p:spPr>
                <a:xfrm flipH="1">
                  <a:off x="7108826" y="4483362"/>
                  <a:ext cx="2087" cy="372733"/>
                </a:xfrm>
                <a:prstGeom prst="line">
                  <a:avLst/>
                </a:prstGeom>
                <a:ln>
                  <a:solidFill>
                    <a:srgbClr val="008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Straight Connector 115"/>
                <p:cNvCxnSpPr>
                  <a:cxnSpLocks noChangeAspect="1"/>
                </p:cNvCxnSpPr>
                <p:nvPr/>
              </p:nvCxnSpPr>
              <p:spPr>
                <a:xfrm flipH="1">
                  <a:off x="7107767" y="4149021"/>
                  <a:ext cx="224366" cy="355246"/>
                </a:xfrm>
                <a:prstGeom prst="line">
                  <a:avLst/>
                </a:prstGeom>
                <a:ln>
                  <a:solidFill>
                    <a:srgbClr val="008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Connector 116"/>
                <p:cNvCxnSpPr/>
                <p:nvPr/>
              </p:nvCxnSpPr>
              <p:spPr>
                <a:xfrm flipH="1" flipV="1">
                  <a:off x="7120467" y="3767667"/>
                  <a:ext cx="207436" cy="385237"/>
                </a:xfrm>
                <a:prstGeom prst="line">
                  <a:avLst/>
                </a:prstGeom>
                <a:ln>
                  <a:solidFill>
                    <a:srgbClr val="008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Straight Connector 117"/>
                <p:cNvCxnSpPr>
                  <a:cxnSpLocks noChangeAspect="1"/>
                </p:cNvCxnSpPr>
                <p:nvPr/>
              </p:nvCxnSpPr>
              <p:spPr>
                <a:xfrm>
                  <a:off x="7323667" y="4145573"/>
                  <a:ext cx="1114706" cy="176158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solid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Straight Connector 119"/>
                <p:cNvCxnSpPr>
                  <a:cxnSpLocks noChangeAspect="1"/>
                </p:cNvCxnSpPr>
                <p:nvPr/>
              </p:nvCxnSpPr>
              <p:spPr>
                <a:xfrm flipV="1">
                  <a:off x="5627575" y="4373033"/>
                  <a:ext cx="1258628" cy="1446472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solid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1" name="TextBox 100"/>
              <p:cNvSpPr txBox="1"/>
              <p:nvPr/>
            </p:nvSpPr>
            <p:spPr>
              <a:xfrm>
                <a:off x="6448398" y="4724400"/>
                <a:ext cx="3985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1/5</a:t>
                </a:r>
              </a:p>
            </p:txBody>
          </p:sp>
          <p:sp>
            <p:nvSpPr>
              <p:cNvPr id="103" name="TextBox 102"/>
              <p:cNvSpPr txBox="1"/>
              <p:nvPr/>
            </p:nvSpPr>
            <p:spPr>
              <a:xfrm rot="523323">
                <a:off x="7078133" y="4140488"/>
                <a:ext cx="68938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>
                    <a:solidFill>
                      <a:srgbClr val="FF0000"/>
                    </a:solidFill>
                  </a:rPr>
                  <a:t>median</a:t>
                </a:r>
              </a:p>
            </p:txBody>
          </p:sp>
        </p:grpSp>
        <p:sp>
          <p:nvSpPr>
            <p:cNvPr id="97" name="TextBox 96"/>
            <p:cNvSpPr txBox="1"/>
            <p:nvPr/>
          </p:nvSpPr>
          <p:spPr>
            <a:xfrm rot="1833722">
              <a:off x="6824619" y="4404688"/>
              <a:ext cx="6376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008000"/>
                  </a:solidFill>
                </a:rPr>
                <a:t>offset</a:t>
              </a:r>
              <a:br>
                <a:rPr lang="en-US" sz="1200">
                  <a:solidFill>
                    <a:srgbClr val="008000"/>
                  </a:solidFill>
                </a:rPr>
              </a:br>
              <a:r>
                <a:rPr lang="en-US" sz="1200">
                  <a:solidFill>
                    <a:srgbClr val="008000"/>
                  </a:solidFill>
                </a:rPr>
                <a:t>median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2661249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Heuristic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200" y="1143000"/>
            <a:ext cx="7772400" cy="4572000"/>
          </a:xfrm>
        </p:spPr>
        <p:txBody>
          <a:bodyPr/>
          <a:lstStyle/>
          <a:p>
            <a:r>
              <a:rPr lang="en-US" dirty="0"/>
              <a:t>Reduce frequency of mono-</a:t>
            </a:r>
            <a:r>
              <a:rPr lang="en-US" dirty="0" err="1"/>
              <a:t>tris</a:t>
            </a:r>
            <a:endParaRPr lang="en-US" dirty="0"/>
          </a:p>
          <a:p>
            <a:pPr lvl="1"/>
            <a:r>
              <a:rPr lang="en-US" dirty="0"/>
              <a:t>Two-color multiclass sampling with radii ratio 2.5</a:t>
            </a:r>
          </a:p>
          <a:p>
            <a:pPr lvl="1"/>
            <a:r>
              <a:rPr lang="en-US" dirty="0"/>
              <a:t>Color switching</a:t>
            </a:r>
          </a:p>
          <a:p>
            <a:r>
              <a:rPr lang="en-US" dirty="0"/>
              <a:t>Resolve mono-</a:t>
            </a:r>
            <a:r>
              <a:rPr lang="en-US" dirty="0" err="1"/>
              <a:t>tris</a:t>
            </a:r>
            <a:endParaRPr lang="en-US" dirty="0"/>
          </a:p>
          <a:p>
            <a:pPr lvl="1"/>
            <a:r>
              <a:rPr lang="en-US" dirty="0"/>
              <a:t>Delaunay </a:t>
            </a:r>
            <a:r>
              <a:rPr lang="en-US" dirty="0" err="1"/>
              <a:t>incircle</a:t>
            </a:r>
            <a:r>
              <a:rPr lang="en-US" dirty="0"/>
              <a:t> refinement</a:t>
            </a:r>
          </a:p>
          <a:p>
            <a:r>
              <a:rPr lang="en-US" dirty="0"/>
              <a:t>Avoid reflex quads</a:t>
            </a:r>
          </a:p>
          <a:p>
            <a:pPr lvl="1"/>
            <a:r>
              <a:rPr lang="en-US" dirty="0"/>
              <a:t>Local resampling</a:t>
            </a:r>
          </a:p>
          <a:p>
            <a:pPr lvl="1"/>
            <a:endParaRPr lang="en-US" dirty="0"/>
          </a:p>
          <a:p>
            <a:r>
              <a:rPr lang="en-US" sz="2000" dirty="0"/>
              <a:t>Traditional cleanup may also be applied post-process</a:t>
            </a:r>
          </a:p>
          <a:p>
            <a:pPr lvl="1"/>
            <a:r>
              <a:rPr lang="en-US" sz="1800" dirty="0"/>
              <a:t>we provide ok quality, convex-element starting point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564547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295400"/>
          </a:xfrm>
        </p:spPr>
        <p:txBody>
          <a:bodyPr/>
          <a:lstStyle/>
          <a:p>
            <a:r>
              <a:rPr lang="en-US" dirty="0"/>
              <a:t>Curved Surfaces</a:t>
            </a:r>
            <a:br>
              <a:rPr lang="en-US" dirty="0"/>
            </a:br>
            <a:r>
              <a:rPr lang="en-US" dirty="0"/>
              <a:t>Mesh Size may Vary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967" y="1209320"/>
            <a:ext cx="5684255" cy="55052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5000" y="2203450"/>
            <a:ext cx="20226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slowly varying </a:t>
            </a:r>
          </a:p>
          <a:p>
            <a:r>
              <a:rPr lang="en-US"/>
              <a:t>sizing 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950" y="5994400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27800" y="1428750"/>
            <a:ext cx="9706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coarse</a:t>
            </a:r>
          </a:p>
        </p:txBody>
      </p:sp>
    </p:spTree>
    <p:extLst>
      <p:ext uri="{BB962C8B-B14F-4D97-AF65-F5344CB8AC3E}">
        <p14:creationId xmlns:p14="http://schemas.microsoft.com/office/powerpoint/2010/main" val="192949768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280988"/>
            <a:ext cx="4965700" cy="1014412"/>
          </a:xfrm>
        </p:spPr>
        <p:txBody>
          <a:bodyPr/>
          <a:lstStyle/>
          <a:p>
            <a:r>
              <a:rPr lang="en-US" dirty="0"/>
              <a:t>Fourier </a:t>
            </a:r>
            <a:r>
              <a:rPr lang="en-US" dirty="0" smtClean="0"/>
              <a:t>Spectrum</a:t>
            </a:r>
            <a:endParaRPr lang="en-US" dirty="0"/>
          </a:p>
        </p:txBody>
      </p:sp>
      <p:pic>
        <p:nvPicPr>
          <p:cNvPr id="5" name="Picture 4" descr="unit_square_quad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5868"/>
            <a:ext cx="5626100" cy="5614981"/>
          </a:xfrm>
          <a:prstGeom prst="rect">
            <a:avLst/>
          </a:prstGeom>
        </p:spPr>
      </p:pic>
      <p:pic>
        <p:nvPicPr>
          <p:cNvPr id="6" name="Picture 5" descr="Screen Shot 2014-10-02 at 6.20.43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451" y="1206500"/>
            <a:ext cx="5416550" cy="40602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67200" y="4032250"/>
            <a:ext cx="18251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vertex-vertex</a:t>
            </a:r>
          </a:p>
          <a:p>
            <a:r>
              <a:rPr lang="en-US"/>
              <a:t>distances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200" y="4095750"/>
            <a:ext cx="23641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Fourier transform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4543" y="0"/>
            <a:ext cx="3569457" cy="1200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Some graphics applications</a:t>
            </a:r>
          </a:p>
          <a:p>
            <a:r>
              <a:rPr lang="en-US"/>
              <a:t>rely on random positions</a:t>
            </a:r>
          </a:p>
          <a:p>
            <a:r>
              <a:rPr lang="en-US"/>
              <a:t>to avoid artifacts</a:t>
            </a:r>
          </a:p>
        </p:txBody>
      </p:sp>
    </p:spTree>
    <p:extLst>
      <p:ext uri="{BB962C8B-B14F-4D97-AF65-F5344CB8AC3E}">
        <p14:creationId xmlns:p14="http://schemas.microsoft.com/office/powerpoint/2010/main" val="102881601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Random</a:t>
            </a:r>
            <a:endParaRPr lang="en-US" dirty="0"/>
          </a:p>
        </p:txBody>
      </p:sp>
      <p:pic>
        <p:nvPicPr>
          <p:cNvPr id="4" name="Picture 3" descr="Screen Shot 2014-06-11 at 2.07.22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397510" y="1222112"/>
            <a:ext cx="8295640" cy="545300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333500"/>
            <a:ext cx="1449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reflected image</a:t>
            </a:r>
          </a:p>
          <a:p>
            <a:r>
              <a:rPr lang="en-US" sz="1200" dirty="0" smtClean="0"/>
              <a:t>produce </a:t>
            </a:r>
            <a:r>
              <a:rPr lang="en-US" sz="1200" dirty="0"/>
              <a:t>mesh above</a:t>
            </a:r>
            <a:br>
              <a:rPr lang="en-US" sz="1200" dirty="0"/>
            </a:br>
            <a:r>
              <a:rPr lang="en-US" sz="1200" dirty="0"/>
              <a:t>disks below </a:t>
            </a:r>
          </a:p>
        </p:txBody>
      </p:sp>
    </p:spTree>
    <p:extLst>
      <p:ext uri="{BB962C8B-B14F-4D97-AF65-F5344CB8AC3E}">
        <p14:creationId xmlns:p14="http://schemas.microsoft.com/office/powerpoint/2010/main" val="738018027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Structured</a:t>
            </a:r>
            <a:endParaRPr lang="en-US" dirty="0"/>
          </a:p>
        </p:txBody>
      </p:sp>
      <p:pic>
        <p:nvPicPr>
          <p:cNvPr id="3" name="Picture 2" descr="structured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5760" y="1188720"/>
            <a:ext cx="8375904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1333500"/>
            <a:ext cx="1449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reflected image</a:t>
            </a:r>
          </a:p>
          <a:p>
            <a:r>
              <a:rPr lang="en-US" sz="1200" dirty="0" smtClean="0"/>
              <a:t>produce </a:t>
            </a:r>
            <a:r>
              <a:rPr lang="en-US" sz="1200" dirty="0"/>
              <a:t>mesh above</a:t>
            </a:r>
            <a:br>
              <a:rPr lang="en-US" sz="1200" dirty="0"/>
            </a:br>
            <a:r>
              <a:rPr lang="en-US" sz="1200" dirty="0"/>
              <a:t>disks below </a:t>
            </a:r>
          </a:p>
        </p:txBody>
      </p:sp>
    </p:spTree>
    <p:extLst>
      <p:ext uri="{BB962C8B-B14F-4D97-AF65-F5344CB8AC3E}">
        <p14:creationId xmlns:p14="http://schemas.microsoft.com/office/powerpoint/2010/main" val="1197157751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Advancing Front for Structured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1342145"/>
          </a:xfrm>
        </p:spPr>
        <p:txBody>
          <a:bodyPr/>
          <a:lstStyle/>
          <a:p>
            <a:r>
              <a:rPr lang="en-US" smtClean="0"/>
              <a:t>Advance front</a:t>
            </a:r>
          </a:p>
          <a:p>
            <a:pPr lvl="1"/>
            <a:r>
              <a:rPr lang="en-US" smtClean="0"/>
              <a:t>columns, rows of disks set spacing and color</a:t>
            </a:r>
          </a:p>
          <a:p>
            <a:pPr lvl="1"/>
            <a:r>
              <a:rPr lang="en-US" smtClean="0"/>
              <a:t>fill front collision zones by random algorithm</a:t>
            </a:r>
            <a:endParaRPr lang="en-US"/>
          </a:p>
        </p:txBody>
      </p:sp>
      <p:pic>
        <p:nvPicPr>
          <p:cNvPr id="4" name="Picture 3" descr="alg_a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40280"/>
            <a:ext cx="9144000" cy="22920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 rot="20429406">
            <a:off x="6127749" y="3644900"/>
            <a:ext cx="23472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domain boundary</a:t>
            </a:r>
          </a:p>
        </p:txBody>
      </p:sp>
    </p:spTree>
    <p:extLst>
      <p:ext uri="{BB962C8B-B14F-4D97-AF65-F5344CB8AC3E}">
        <p14:creationId xmlns:p14="http://schemas.microsoft.com/office/powerpoint/2010/main" val="3395288187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lg_b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0" y="1961340"/>
            <a:ext cx="9410700" cy="28965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Advancing Front for Structured</a:t>
            </a:r>
            <a:endParaRPr lang="en-US"/>
          </a:p>
        </p:txBody>
      </p:sp>
      <p:sp>
        <p:nvSpPr>
          <p:cNvPr id="8" name="Title 1"/>
          <p:cNvSpPr txBox="1">
            <a:spLocks/>
          </p:cNvSpPr>
          <p:nvPr/>
        </p:nvSpPr>
        <p:spPr bwMode="auto">
          <a:xfrm>
            <a:off x="685800" y="280988"/>
            <a:ext cx="7772400" cy="10144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9pPr>
          </a:lstStyle>
          <a:p>
            <a:r>
              <a:rPr lang="en-US" smtClean="0"/>
              <a:t>Advancing Front for Structured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578100" y="1441450"/>
            <a:ext cx="31686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add </a:t>
            </a:r>
            <a:r>
              <a:rPr lang="en-US" sz="2000">
                <a:solidFill>
                  <a:schemeClr val="tx2"/>
                </a:solidFill>
              </a:rPr>
              <a:t>blue</a:t>
            </a:r>
            <a:r>
              <a:rPr lang="en-US" sz="2000"/>
              <a:t> disks</a:t>
            </a:r>
          </a:p>
          <a:p>
            <a:pPr algn="ctr"/>
            <a:r>
              <a:rPr lang="en-US" sz="2000"/>
              <a:t>centered at intersections of </a:t>
            </a:r>
            <a:br>
              <a:rPr lang="en-US" sz="2000"/>
            </a:br>
            <a:r>
              <a:rPr lang="en-US" sz="2000"/>
              <a:t>large </a:t>
            </a:r>
            <a:r>
              <a:rPr lang="en-US" sz="2000">
                <a:solidFill>
                  <a:srgbClr val="0000FF"/>
                </a:solidFill>
              </a:rPr>
              <a:t>blue</a:t>
            </a:r>
            <a:r>
              <a:rPr lang="en-US" sz="2000"/>
              <a:t> circles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8250" y="4794250"/>
            <a:ext cx="5562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This is the closest we can place blue disks </a:t>
            </a:r>
            <a:br>
              <a:rPr lang="en-US" sz="2000" dirty="0"/>
            </a:br>
            <a:r>
              <a:rPr lang="en-US" sz="2000" dirty="0"/>
              <a:t>and not violate the </a:t>
            </a:r>
            <a:r>
              <a:rPr lang="en-US" sz="2000" dirty="0">
                <a:solidFill>
                  <a:srgbClr val="0000FF"/>
                </a:solidFill>
              </a:rPr>
              <a:t>blue-blue </a:t>
            </a:r>
            <a:r>
              <a:rPr lang="en-US" sz="2000" dirty="0"/>
              <a:t>separation distance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2658" y="3921048"/>
            <a:ext cx="204815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smtClean="0"/>
              <a:t>no blue points allowed </a:t>
            </a:r>
          </a:p>
          <a:p>
            <a:r>
              <a:rPr lang="en-US" sz="1600" smtClean="0"/>
              <a:t>in blue shaded</a:t>
            </a:r>
            <a:endParaRPr lang="en-US" sz="1600"/>
          </a:p>
        </p:txBody>
      </p:sp>
      <p:grpSp>
        <p:nvGrpSpPr>
          <p:cNvPr id="12" name="Group 11"/>
          <p:cNvGrpSpPr/>
          <p:nvPr/>
        </p:nvGrpSpPr>
        <p:grpSpPr>
          <a:xfrm>
            <a:off x="6160440" y="2012950"/>
            <a:ext cx="1901952" cy="1901952"/>
            <a:chOff x="7031673" y="1600369"/>
            <a:chExt cx="1828800" cy="1828800"/>
          </a:xfrm>
        </p:grpSpPr>
        <p:sp>
          <p:nvSpPr>
            <p:cNvPr id="13" name="Flowchart: Connector 3"/>
            <p:cNvSpPr/>
            <p:nvPr/>
          </p:nvSpPr>
          <p:spPr bwMode="auto">
            <a:xfrm>
              <a:off x="7031673" y="1600369"/>
              <a:ext cx="1828800" cy="1828800"/>
            </a:xfrm>
            <a:prstGeom prst="flowChartConnector">
              <a:avLst/>
            </a:prstGeom>
            <a:solidFill>
              <a:srgbClr val="0000FF">
                <a:alpha val="20000"/>
              </a:srgbClr>
            </a:solidFill>
            <a:ln w="15875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grpSp>
          <p:nvGrpSpPr>
            <p:cNvPr id="14" name="Group 263"/>
            <p:cNvGrpSpPr>
              <a:grpSpLocks/>
            </p:cNvGrpSpPr>
            <p:nvPr/>
          </p:nvGrpSpPr>
          <p:grpSpPr bwMode="auto">
            <a:xfrm>
              <a:off x="7495223" y="2057569"/>
              <a:ext cx="914400" cy="914400"/>
              <a:chOff x="463550" y="457200"/>
              <a:chExt cx="914400" cy="914400"/>
            </a:xfrm>
          </p:grpSpPr>
          <p:sp>
            <p:nvSpPr>
              <p:cNvPr id="16" name="Flowchart: Connector 12"/>
              <p:cNvSpPr>
                <a:spLocks noChangeAspect="1"/>
              </p:cNvSpPr>
              <p:nvPr/>
            </p:nvSpPr>
            <p:spPr>
              <a:xfrm>
                <a:off x="463550" y="457200"/>
                <a:ext cx="914400" cy="914400"/>
              </a:xfrm>
              <a:prstGeom prst="flowChartConnector">
                <a:avLst/>
              </a:prstGeom>
              <a:solidFill>
                <a:srgbClr val="FF0000">
                  <a:alpha val="50000"/>
                </a:srgbClr>
              </a:solidFill>
              <a:ln w="254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904875" y="904875"/>
                <a:ext cx="19050" cy="19050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</p:grpSp>
        <p:sp>
          <p:nvSpPr>
            <p:cNvPr id="15" name="Oval 14"/>
            <p:cNvSpPr>
              <a:spLocks noChangeAspect="1"/>
            </p:cNvSpPr>
            <p:nvPr/>
          </p:nvSpPr>
          <p:spPr bwMode="auto">
            <a:xfrm>
              <a:off x="7921689" y="2482765"/>
              <a:ext cx="73152" cy="73152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302250" y="1581150"/>
            <a:ext cx="1901952" cy="1901952"/>
            <a:chOff x="7031673" y="1600369"/>
            <a:chExt cx="1828800" cy="1828800"/>
          </a:xfrm>
        </p:grpSpPr>
        <p:sp>
          <p:nvSpPr>
            <p:cNvPr id="19" name="Flowchart: Connector 3"/>
            <p:cNvSpPr/>
            <p:nvPr/>
          </p:nvSpPr>
          <p:spPr bwMode="auto">
            <a:xfrm>
              <a:off x="7031673" y="1600369"/>
              <a:ext cx="1828800" cy="1828800"/>
            </a:xfrm>
            <a:prstGeom prst="flowChartConnector">
              <a:avLst/>
            </a:prstGeom>
            <a:solidFill>
              <a:srgbClr val="0000FF">
                <a:alpha val="20000"/>
              </a:srgbClr>
            </a:solidFill>
            <a:ln w="15875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grpSp>
          <p:nvGrpSpPr>
            <p:cNvPr id="20" name="Group 263"/>
            <p:cNvGrpSpPr>
              <a:grpSpLocks/>
            </p:cNvGrpSpPr>
            <p:nvPr/>
          </p:nvGrpSpPr>
          <p:grpSpPr bwMode="auto">
            <a:xfrm>
              <a:off x="7495223" y="2057569"/>
              <a:ext cx="914400" cy="914400"/>
              <a:chOff x="463550" y="457200"/>
              <a:chExt cx="914400" cy="914400"/>
            </a:xfrm>
          </p:grpSpPr>
          <p:sp>
            <p:nvSpPr>
              <p:cNvPr id="22" name="Flowchart: Connector 12"/>
              <p:cNvSpPr>
                <a:spLocks noChangeAspect="1"/>
              </p:cNvSpPr>
              <p:nvPr/>
            </p:nvSpPr>
            <p:spPr>
              <a:xfrm>
                <a:off x="463550" y="457200"/>
                <a:ext cx="914400" cy="914400"/>
              </a:xfrm>
              <a:prstGeom prst="flowChartConnector">
                <a:avLst/>
              </a:prstGeom>
              <a:solidFill>
                <a:srgbClr val="FF0000">
                  <a:alpha val="50000"/>
                </a:srgbClr>
              </a:solidFill>
              <a:ln w="254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23" name="Oval 22"/>
              <p:cNvSpPr/>
              <p:nvPr/>
            </p:nvSpPr>
            <p:spPr>
              <a:xfrm>
                <a:off x="904875" y="904875"/>
                <a:ext cx="19050" cy="19050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</p:grpSp>
        <p:sp>
          <p:nvSpPr>
            <p:cNvPr id="21" name="Oval 20"/>
            <p:cNvSpPr>
              <a:spLocks noChangeAspect="1"/>
            </p:cNvSpPr>
            <p:nvPr/>
          </p:nvSpPr>
          <p:spPr bwMode="auto">
            <a:xfrm>
              <a:off x="7921689" y="2482765"/>
              <a:ext cx="73152" cy="73152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890440" y="2432050"/>
            <a:ext cx="1901952" cy="1901952"/>
            <a:chOff x="7031673" y="1600369"/>
            <a:chExt cx="1828800" cy="1828800"/>
          </a:xfrm>
        </p:grpSpPr>
        <p:sp>
          <p:nvSpPr>
            <p:cNvPr id="25" name="Flowchart: Connector 3"/>
            <p:cNvSpPr/>
            <p:nvPr/>
          </p:nvSpPr>
          <p:spPr bwMode="auto">
            <a:xfrm>
              <a:off x="7031673" y="1600369"/>
              <a:ext cx="1828800" cy="1828800"/>
            </a:xfrm>
            <a:prstGeom prst="flowChartConnector">
              <a:avLst/>
            </a:prstGeom>
            <a:solidFill>
              <a:srgbClr val="0000FF">
                <a:alpha val="20000"/>
              </a:srgbClr>
            </a:solidFill>
            <a:ln w="15875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grpSp>
          <p:nvGrpSpPr>
            <p:cNvPr id="26" name="Group 263"/>
            <p:cNvGrpSpPr>
              <a:grpSpLocks/>
            </p:cNvGrpSpPr>
            <p:nvPr/>
          </p:nvGrpSpPr>
          <p:grpSpPr bwMode="auto">
            <a:xfrm>
              <a:off x="7495223" y="2057569"/>
              <a:ext cx="914400" cy="914400"/>
              <a:chOff x="463550" y="457200"/>
              <a:chExt cx="914400" cy="914400"/>
            </a:xfrm>
          </p:grpSpPr>
          <p:sp>
            <p:nvSpPr>
              <p:cNvPr id="28" name="Flowchart: Connector 12"/>
              <p:cNvSpPr>
                <a:spLocks noChangeAspect="1"/>
              </p:cNvSpPr>
              <p:nvPr/>
            </p:nvSpPr>
            <p:spPr>
              <a:xfrm>
                <a:off x="463550" y="457200"/>
                <a:ext cx="914400" cy="914400"/>
              </a:xfrm>
              <a:prstGeom prst="flowChartConnector">
                <a:avLst/>
              </a:prstGeom>
              <a:solidFill>
                <a:srgbClr val="FF0000">
                  <a:alpha val="50000"/>
                </a:srgbClr>
              </a:solidFill>
              <a:ln w="254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904875" y="904875"/>
                <a:ext cx="19050" cy="19050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</p:grpSp>
        <p:sp>
          <p:nvSpPr>
            <p:cNvPr id="27" name="Oval 26"/>
            <p:cNvSpPr>
              <a:spLocks noChangeAspect="1"/>
            </p:cNvSpPr>
            <p:nvPr/>
          </p:nvSpPr>
          <p:spPr bwMode="auto">
            <a:xfrm>
              <a:off x="7921689" y="2482765"/>
              <a:ext cx="73152" cy="73152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cxnSp>
        <p:nvCxnSpPr>
          <p:cNvPr id="30" name="Straight Arrow Connector 29"/>
          <p:cNvCxnSpPr/>
          <p:nvPr/>
        </p:nvCxnSpPr>
        <p:spPr bwMode="auto">
          <a:xfrm>
            <a:off x="5156200" y="2114550"/>
            <a:ext cx="996950" cy="37465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305499002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lg_c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609" y="1746250"/>
            <a:ext cx="9205359" cy="326802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Advancing Front for Structured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603500" y="1435100"/>
            <a:ext cx="31686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add </a:t>
            </a:r>
            <a:r>
              <a:rPr lang="en-US" sz="2000">
                <a:solidFill>
                  <a:srgbClr val="FF0000"/>
                </a:solidFill>
              </a:rPr>
              <a:t>red</a:t>
            </a:r>
            <a:r>
              <a:rPr lang="en-US" sz="2000">
                <a:solidFill>
                  <a:schemeClr val="tx2"/>
                </a:solidFill>
              </a:rPr>
              <a:t> </a:t>
            </a:r>
            <a:r>
              <a:rPr lang="en-US" sz="2000"/>
              <a:t>disks</a:t>
            </a:r>
          </a:p>
          <a:p>
            <a:pPr algn="ctr"/>
            <a:r>
              <a:rPr lang="en-US" sz="2000"/>
              <a:t>centered at intersections of </a:t>
            </a:r>
            <a:br>
              <a:rPr lang="en-US" sz="2000"/>
            </a:br>
            <a:r>
              <a:rPr lang="en-US" sz="2000"/>
              <a:t>large </a:t>
            </a:r>
            <a:r>
              <a:rPr lang="en-US" sz="2000">
                <a:solidFill>
                  <a:srgbClr val="FF0000"/>
                </a:solidFill>
              </a:rPr>
              <a:t>red </a:t>
            </a:r>
            <a:r>
              <a:rPr lang="en-US" sz="2000"/>
              <a:t>circles</a:t>
            </a:r>
          </a:p>
        </p:txBody>
      </p:sp>
    </p:spTree>
    <p:extLst>
      <p:ext uri="{BB962C8B-B14F-4D97-AF65-F5344CB8AC3E}">
        <p14:creationId xmlns:p14="http://schemas.microsoft.com/office/powerpoint/2010/main" val="422603035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 txBox="1"/>
          <p:nvPr/>
        </p:nvSpPr>
        <p:spPr>
          <a:xfrm>
            <a:off x="558800" y="1066800"/>
            <a:ext cx="833755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38300" y="1193800"/>
            <a:ext cx="50863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some gaps arise because </a:t>
            </a:r>
          </a:p>
          <a:p>
            <a:pPr algn="ctr"/>
            <a:r>
              <a:rPr lang="en-US" sz="2000"/>
              <a:t>some </a:t>
            </a:r>
            <a:r>
              <a:rPr lang="en-US" sz="2000">
                <a:solidFill>
                  <a:srgbClr val="FF0000"/>
                </a:solidFill>
              </a:rPr>
              <a:t>red</a:t>
            </a:r>
            <a:r>
              <a:rPr lang="en-US" sz="2000">
                <a:solidFill>
                  <a:schemeClr val="tx2"/>
                </a:solidFill>
              </a:rPr>
              <a:t> </a:t>
            </a:r>
            <a:r>
              <a:rPr lang="en-US" sz="2000"/>
              <a:t>and</a:t>
            </a:r>
            <a:r>
              <a:rPr lang="en-US" sz="2000">
                <a:solidFill>
                  <a:schemeClr val="tx2"/>
                </a:solidFill>
              </a:rPr>
              <a:t> blue </a:t>
            </a:r>
            <a:r>
              <a:rPr lang="en-US" sz="2000"/>
              <a:t>disks would</a:t>
            </a:r>
          </a:p>
          <a:p>
            <a:pPr algn="ctr"/>
            <a:r>
              <a:rPr lang="en-US" sz="2000"/>
              <a:t>violate the separation distances,</a:t>
            </a:r>
          </a:p>
          <a:p>
            <a:pPr algn="ctr"/>
            <a:r>
              <a:rPr lang="en-US" sz="2000"/>
              <a:t>don’t add those</a:t>
            </a:r>
          </a:p>
        </p:txBody>
      </p:sp>
      <p:pic>
        <p:nvPicPr>
          <p:cNvPr id="5" name="Picture 4" descr="alg_d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50" y="1792940"/>
            <a:ext cx="9213850" cy="3247504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5385741" y="0"/>
            <a:ext cx="1828800" cy="1828800"/>
            <a:chOff x="7031673" y="1600369"/>
            <a:chExt cx="1828800" cy="1828800"/>
          </a:xfrm>
        </p:grpSpPr>
        <p:sp>
          <p:nvSpPr>
            <p:cNvPr id="23" name="Flowchart: Connector 3"/>
            <p:cNvSpPr/>
            <p:nvPr/>
          </p:nvSpPr>
          <p:spPr bwMode="auto">
            <a:xfrm>
              <a:off x="7031673" y="1600369"/>
              <a:ext cx="1828800" cy="1828800"/>
            </a:xfrm>
            <a:prstGeom prst="flowChartConnector">
              <a:avLst/>
            </a:prstGeom>
            <a:solidFill>
              <a:srgbClr val="0000FF">
                <a:alpha val="20000"/>
              </a:srgbClr>
            </a:solidFill>
            <a:ln w="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grpSp>
          <p:nvGrpSpPr>
            <p:cNvPr id="24" name="Group 263"/>
            <p:cNvGrpSpPr>
              <a:grpSpLocks/>
            </p:cNvGrpSpPr>
            <p:nvPr/>
          </p:nvGrpSpPr>
          <p:grpSpPr bwMode="auto">
            <a:xfrm>
              <a:off x="7488873" y="2057569"/>
              <a:ext cx="914400" cy="914400"/>
              <a:chOff x="457200" y="457200"/>
              <a:chExt cx="914400" cy="914400"/>
            </a:xfrm>
          </p:grpSpPr>
          <p:sp>
            <p:nvSpPr>
              <p:cNvPr id="26" name="Flowchart: Connector 12"/>
              <p:cNvSpPr>
                <a:spLocks noChangeAspect="1"/>
              </p:cNvSpPr>
              <p:nvPr/>
            </p:nvSpPr>
            <p:spPr>
              <a:xfrm>
                <a:off x="457200" y="457200"/>
                <a:ext cx="914400" cy="914400"/>
              </a:xfrm>
              <a:prstGeom prst="flowChartConnector">
                <a:avLst/>
              </a:prstGeom>
              <a:solidFill>
                <a:srgbClr val="FF0000">
                  <a:alpha val="50000"/>
                </a:srgbClr>
              </a:solidFill>
              <a:ln w="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904875" y="904875"/>
                <a:ext cx="19050" cy="19050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</p:grpSp>
        <p:sp>
          <p:nvSpPr>
            <p:cNvPr id="25" name="Oval 24"/>
            <p:cNvSpPr>
              <a:spLocks noChangeAspect="1"/>
            </p:cNvSpPr>
            <p:nvPr/>
          </p:nvSpPr>
          <p:spPr bwMode="auto">
            <a:xfrm>
              <a:off x="7921689" y="2482765"/>
              <a:ext cx="73152" cy="73152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7315200" y="0"/>
            <a:ext cx="1828800" cy="1828800"/>
            <a:chOff x="7040817" y="3876844"/>
            <a:chExt cx="1828800" cy="1828800"/>
          </a:xfrm>
        </p:grpSpPr>
        <p:sp>
          <p:nvSpPr>
            <p:cNvPr id="18" name="Flowchart: Connector 12"/>
            <p:cNvSpPr>
              <a:spLocks noChangeAspect="1"/>
            </p:cNvSpPr>
            <p:nvPr/>
          </p:nvSpPr>
          <p:spPr bwMode="auto">
            <a:xfrm>
              <a:off x="7040817" y="3876844"/>
              <a:ext cx="1828800" cy="1828800"/>
            </a:xfrm>
            <a:prstGeom prst="flowChartConnector">
              <a:avLst/>
            </a:prstGeom>
            <a:solidFill>
              <a:srgbClr val="FF0000">
                <a:alpha val="10001"/>
              </a:srgbClr>
            </a:solidFill>
            <a:ln w="0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lt1"/>
                </a:solidFill>
                <a:latin typeface="+mn-lt"/>
                <a:cs typeface="+mn-cs"/>
              </a:endParaRPr>
            </a:p>
          </p:txBody>
        </p:sp>
        <p:grpSp>
          <p:nvGrpSpPr>
            <p:cNvPr id="19" name="Group 43"/>
            <p:cNvGrpSpPr>
              <a:grpSpLocks/>
            </p:cNvGrpSpPr>
            <p:nvPr/>
          </p:nvGrpSpPr>
          <p:grpSpPr bwMode="auto">
            <a:xfrm>
              <a:off x="7498017" y="4334044"/>
              <a:ext cx="914400" cy="914400"/>
              <a:chOff x="457200" y="457200"/>
              <a:chExt cx="914400" cy="914400"/>
            </a:xfrm>
            <a:solidFill>
              <a:schemeClr val="tx2"/>
            </a:solidFill>
          </p:grpSpPr>
          <p:sp>
            <p:nvSpPr>
              <p:cNvPr id="21" name="Flowchart: Connector 12"/>
              <p:cNvSpPr>
                <a:spLocks noChangeAspect="1"/>
              </p:cNvSpPr>
              <p:nvPr/>
            </p:nvSpPr>
            <p:spPr bwMode="auto">
              <a:xfrm>
                <a:off x="457200" y="457200"/>
                <a:ext cx="914400" cy="914400"/>
              </a:xfrm>
              <a:prstGeom prst="flowChartConnector">
                <a:avLst/>
              </a:prstGeom>
              <a:grpFill/>
              <a:ln w="0" algn="ctr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lt1"/>
                  </a:solidFill>
                  <a:latin typeface="+mn-lt"/>
                  <a:cs typeface="+mn-cs"/>
                </a:endParaRPr>
              </a:p>
            </p:txBody>
          </p:sp>
          <p:sp>
            <p:nvSpPr>
              <p:cNvPr id="22" name="Oval 65"/>
              <p:cNvSpPr>
                <a:spLocks noChangeArrowheads="1"/>
              </p:cNvSpPr>
              <p:nvPr/>
            </p:nvSpPr>
            <p:spPr bwMode="auto">
              <a:xfrm>
                <a:off x="904875" y="904875"/>
                <a:ext cx="19050" cy="19050"/>
              </a:xfrm>
              <a:prstGeom prst="ellipse">
                <a:avLst/>
              </a:prstGeom>
              <a:grpFill/>
              <a:ln w="25400" algn="ctr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lt1"/>
                  </a:solidFill>
                  <a:latin typeface="+mn-lt"/>
                  <a:cs typeface="+mn-cs"/>
                </a:endParaRPr>
              </a:p>
            </p:txBody>
          </p:sp>
        </p:grpSp>
        <p:sp>
          <p:nvSpPr>
            <p:cNvPr id="20" name="Oval 19"/>
            <p:cNvSpPr>
              <a:spLocks noChangeAspect="1" noChangeArrowheads="1"/>
            </p:cNvSpPr>
            <p:nvPr/>
          </p:nvSpPr>
          <p:spPr bwMode="auto">
            <a:xfrm>
              <a:off x="7928547" y="4764574"/>
              <a:ext cx="73152" cy="73152"/>
            </a:xfrm>
            <a:prstGeom prst="ellipse">
              <a:avLst/>
            </a:prstGeom>
            <a:solidFill>
              <a:srgbClr val="FF0000"/>
            </a:solidFill>
            <a:ln w="25400" algn="ctr">
              <a:solidFill>
                <a:srgbClr val="FF0000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lt1"/>
                </a:solidFill>
                <a:latin typeface="+mn-lt"/>
                <a:cs typeface="+mn-cs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6673588" y="0"/>
            <a:ext cx="12560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smtClean="0"/>
              <a:t>no red points</a:t>
            </a:r>
            <a:endParaRPr lang="en-US" sz="1600"/>
          </a:p>
        </p:txBody>
      </p:sp>
      <p:cxnSp>
        <p:nvCxnSpPr>
          <p:cNvPr id="13" name="Straight Arrow Connector 12"/>
          <p:cNvCxnSpPr>
            <a:stCxn id="12" idx="1"/>
          </p:cNvCxnSpPr>
          <p:nvPr/>
        </p:nvCxnSpPr>
        <p:spPr bwMode="auto">
          <a:xfrm flipH="1">
            <a:off x="6356350" y="169277"/>
            <a:ext cx="317238" cy="484773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Straight Arrow Connector 13"/>
          <p:cNvCxnSpPr>
            <a:stCxn id="12" idx="3"/>
          </p:cNvCxnSpPr>
          <p:nvPr/>
        </p:nvCxnSpPr>
        <p:spPr bwMode="auto">
          <a:xfrm>
            <a:off x="7929661" y="169277"/>
            <a:ext cx="261839" cy="135523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5989058" y="1349298"/>
            <a:ext cx="13473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smtClean="0"/>
              <a:t>no blue points</a:t>
            </a:r>
            <a:endParaRPr lang="en-US" sz="1600"/>
          </a:p>
        </p:txBody>
      </p:sp>
      <p:cxnSp>
        <p:nvCxnSpPr>
          <p:cNvPr id="16" name="Straight Arrow Connector 15"/>
          <p:cNvCxnSpPr>
            <a:stCxn id="15" idx="3"/>
          </p:cNvCxnSpPr>
          <p:nvPr/>
        </p:nvCxnSpPr>
        <p:spPr bwMode="auto">
          <a:xfrm flipV="1">
            <a:off x="7336402" y="1079500"/>
            <a:ext cx="709048" cy="439075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/>
          <p:cNvCxnSpPr>
            <a:stCxn id="15" idx="1"/>
          </p:cNvCxnSpPr>
          <p:nvPr/>
        </p:nvCxnSpPr>
        <p:spPr bwMode="auto">
          <a:xfrm flipH="1" flipV="1">
            <a:off x="5753100" y="1377950"/>
            <a:ext cx="235958" cy="140625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2" name="Straight Arrow Connector 31"/>
          <p:cNvCxnSpPr/>
          <p:nvPr/>
        </p:nvCxnSpPr>
        <p:spPr bwMode="auto">
          <a:xfrm>
            <a:off x="4166608" y="2458376"/>
            <a:ext cx="119642" cy="56422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4" name="Oval 33"/>
          <p:cNvSpPr>
            <a:spLocks noChangeAspect="1" noChangeArrowheads="1"/>
          </p:cNvSpPr>
          <p:nvPr/>
        </p:nvSpPr>
        <p:spPr bwMode="auto">
          <a:xfrm>
            <a:off x="4291330" y="3072130"/>
            <a:ext cx="73152" cy="73152"/>
          </a:xfrm>
          <a:prstGeom prst="ellipse">
            <a:avLst/>
          </a:prstGeom>
          <a:solidFill>
            <a:srgbClr val="FF0000"/>
          </a:solidFill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lt1"/>
              </a:solidFill>
              <a:latin typeface="+mn-lt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-539750" y="4889500"/>
            <a:ext cx="50863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some gaps arise </a:t>
            </a:r>
          </a:p>
          <a:p>
            <a:pPr algn="ctr"/>
            <a:r>
              <a:rPr lang="en-US" sz="2000" dirty="0"/>
              <a:t>from diverging fronts</a:t>
            </a:r>
          </a:p>
          <a:p>
            <a:pPr algn="ctr"/>
            <a:r>
              <a:rPr lang="en-US" sz="2000" dirty="0"/>
              <a:t>e.g. large blue circles didn’t intersect</a:t>
            </a:r>
          </a:p>
        </p:txBody>
      </p:sp>
      <p:cxnSp>
        <p:nvCxnSpPr>
          <p:cNvPr id="37" name="Straight Arrow Connector 36"/>
          <p:cNvCxnSpPr/>
          <p:nvPr/>
        </p:nvCxnSpPr>
        <p:spPr bwMode="auto">
          <a:xfrm flipV="1">
            <a:off x="3276600" y="4851400"/>
            <a:ext cx="774700" cy="4572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53" name="Group 52"/>
          <p:cNvGrpSpPr/>
          <p:nvPr/>
        </p:nvGrpSpPr>
        <p:grpSpPr>
          <a:xfrm>
            <a:off x="3334691" y="0"/>
            <a:ext cx="1828800" cy="1828800"/>
            <a:chOff x="7031673" y="1600369"/>
            <a:chExt cx="1828800" cy="1828800"/>
          </a:xfrm>
        </p:grpSpPr>
        <p:sp>
          <p:nvSpPr>
            <p:cNvPr id="54" name="Flowchart: Connector 3"/>
            <p:cNvSpPr/>
            <p:nvPr/>
          </p:nvSpPr>
          <p:spPr bwMode="auto">
            <a:xfrm>
              <a:off x="7031673" y="1600369"/>
              <a:ext cx="1828800" cy="1828800"/>
            </a:xfrm>
            <a:prstGeom prst="flowChartConnector">
              <a:avLst/>
            </a:prstGeom>
            <a:solidFill>
              <a:srgbClr val="0000FF">
                <a:alpha val="20000"/>
              </a:srgbClr>
            </a:solidFill>
            <a:ln w="15875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grpSp>
          <p:nvGrpSpPr>
            <p:cNvPr id="55" name="Group 263"/>
            <p:cNvGrpSpPr>
              <a:grpSpLocks/>
            </p:cNvGrpSpPr>
            <p:nvPr/>
          </p:nvGrpSpPr>
          <p:grpSpPr bwMode="auto">
            <a:xfrm>
              <a:off x="7495223" y="2057569"/>
              <a:ext cx="914400" cy="914400"/>
              <a:chOff x="463550" y="457200"/>
              <a:chExt cx="914400" cy="914400"/>
            </a:xfrm>
          </p:grpSpPr>
          <p:sp>
            <p:nvSpPr>
              <p:cNvPr id="57" name="Flowchart: Connector 12"/>
              <p:cNvSpPr>
                <a:spLocks noChangeAspect="1"/>
              </p:cNvSpPr>
              <p:nvPr/>
            </p:nvSpPr>
            <p:spPr>
              <a:xfrm>
                <a:off x="463550" y="457200"/>
                <a:ext cx="914400" cy="914400"/>
              </a:xfrm>
              <a:prstGeom prst="flowChartConnector">
                <a:avLst/>
              </a:prstGeom>
              <a:solidFill>
                <a:srgbClr val="FF0000">
                  <a:alpha val="50000"/>
                </a:srgbClr>
              </a:solidFill>
              <a:ln w="254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58" name="Oval 57"/>
              <p:cNvSpPr/>
              <p:nvPr/>
            </p:nvSpPr>
            <p:spPr>
              <a:xfrm>
                <a:off x="904875" y="904875"/>
                <a:ext cx="19050" cy="19050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</p:grpSp>
        <p:sp>
          <p:nvSpPr>
            <p:cNvPr id="56" name="Oval 55"/>
            <p:cNvSpPr>
              <a:spLocks noChangeAspect="1"/>
            </p:cNvSpPr>
            <p:nvPr/>
          </p:nvSpPr>
          <p:spPr bwMode="auto">
            <a:xfrm>
              <a:off x="7921689" y="2482765"/>
              <a:ext cx="73152" cy="73152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79266449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 txBox="1"/>
          <p:nvPr/>
        </p:nvSpPr>
        <p:spPr>
          <a:xfrm>
            <a:off x="558800" y="1066800"/>
            <a:ext cx="833755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pic>
        <p:nvPicPr>
          <p:cNvPr id="2" name="Picture 1" descr="alg_e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1" y="1388664"/>
            <a:ext cx="9207501" cy="44596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 rot="1026124">
            <a:off x="342900" y="1333500"/>
            <a:ext cx="5086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pyramid-like termination</a:t>
            </a:r>
          </a:p>
        </p:txBody>
      </p:sp>
      <p:sp>
        <p:nvSpPr>
          <p:cNvPr id="36" name="TextBox 35"/>
          <p:cNvSpPr txBox="1"/>
          <p:nvPr/>
        </p:nvSpPr>
        <p:spPr>
          <a:xfrm rot="20407251">
            <a:off x="2889250" y="557313"/>
            <a:ext cx="50863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typically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one </a:t>
            </a:r>
            <a:r>
              <a:rPr lang="en-US" sz="2000" dirty="0"/>
              <a:t>fewer disk per layer</a:t>
            </a:r>
          </a:p>
          <a:p>
            <a:pPr algn="ctr"/>
            <a:r>
              <a:rPr lang="en-US" sz="2000" dirty="0"/>
              <a:t>on each front</a:t>
            </a:r>
          </a:p>
        </p:txBody>
      </p:sp>
    </p:spTree>
    <p:extLst>
      <p:ext uri="{BB962C8B-B14F-4D97-AF65-F5344CB8AC3E}">
        <p14:creationId xmlns:p14="http://schemas.microsoft.com/office/powerpoint/2010/main" val="1332958171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 txBox="1"/>
          <p:nvPr/>
        </p:nvSpPr>
        <p:spPr>
          <a:xfrm>
            <a:off x="558800" y="1066800"/>
            <a:ext cx="833755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pic>
        <p:nvPicPr>
          <p:cNvPr id="3" name="Picture 2" descr="alg_f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1450" y="933450"/>
            <a:ext cx="9384862" cy="54432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38300" y="1193800"/>
            <a:ext cx="5086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horizontal advancement</a:t>
            </a:r>
          </a:p>
        </p:txBody>
      </p:sp>
      <p:sp>
        <p:nvSpPr>
          <p:cNvPr id="36" name="TextBox 35"/>
          <p:cNvSpPr txBox="1"/>
          <p:nvPr/>
        </p:nvSpPr>
        <p:spPr>
          <a:xfrm rot="921701">
            <a:off x="-273249" y="5454649"/>
            <a:ext cx="5086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can continue vertical advancement</a:t>
            </a:r>
          </a:p>
        </p:txBody>
      </p:sp>
    </p:spTree>
    <p:extLst>
      <p:ext uri="{BB962C8B-B14F-4D97-AF65-F5344CB8AC3E}">
        <p14:creationId xmlns:p14="http://schemas.microsoft.com/office/powerpoint/2010/main" val="3577760613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 txBox="1"/>
          <p:nvPr/>
        </p:nvSpPr>
        <p:spPr>
          <a:xfrm>
            <a:off x="558800" y="1066800"/>
            <a:ext cx="833755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pic>
        <p:nvPicPr>
          <p:cNvPr id="3" name="Picture 2" descr="alg_f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1450" y="933450"/>
            <a:ext cx="9384862" cy="54432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701601" y="323849"/>
            <a:ext cx="50863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fill large gaps with random algorithm</a:t>
            </a:r>
          </a:p>
          <a:p>
            <a:pPr algn="ctr"/>
            <a:r>
              <a:rPr lang="en-US" sz="2000"/>
              <a:t>small gaps are provably OK</a:t>
            </a:r>
          </a:p>
          <a:p>
            <a:pPr algn="ctr"/>
            <a:r>
              <a:rPr lang="en-US" sz="2000"/>
              <a:t>Most gaps are where fronts collide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9334500" y="2025650"/>
            <a:ext cx="1828800" cy="1828800"/>
            <a:chOff x="7040817" y="3876844"/>
            <a:chExt cx="1828800" cy="1828800"/>
          </a:xfrm>
        </p:grpSpPr>
        <p:sp>
          <p:nvSpPr>
            <p:cNvPr id="7" name="Flowchart: Connector 12"/>
            <p:cNvSpPr>
              <a:spLocks noChangeAspect="1"/>
            </p:cNvSpPr>
            <p:nvPr/>
          </p:nvSpPr>
          <p:spPr bwMode="auto">
            <a:xfrm>
              <a:off x="7040817" y="3876844"/>
              <a:ext cx="1828800" cy="1828800"/>
            </a:xfrm>
            <a:prstGeom prst="flowChartConnector">
              <a:avLst/>
            </a:prstGeom>
            <a:solidFill>
              <a:srgbClr val="FF0000">
                <a:alpha val="10001"/>
              </a:srgbClr>
            </a:solidFill>
            <a:ln w="0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lt1"/>
                </a:solidFill>
                <a:latin typeface="+mn-lt"/>
                <a:cs typeface="+mn-cs"/>
              </a:endParaRPr>
            </a:p>
          </p:txBody>
        </p:sp>
        <p:grpSp>
          <p:nvGrpSpPr>
            <p:cNvPr id="9" name="Group 43"/>
            <p:cNvGrpSpPr>
              <a:grpSpLocks/>
            </p:cNvGrpSpPr>
            <p:nvPr/>
          </p:nvGrpSpPr>
          <p:grpSpPr bwMode="auto">
            <a:xfrm>
              <a:off x="7498017" y="4334044"/>
              <a:ext cx="914400" cy="914400"/>
              <a:chOff x="457200" y="457200"/>
              <a:chExt cx="914400" cy="914400"/>
            </a:xfrm>
            <a:solidFill>
              <a:schemeClr val="tx2"/>
            </a:solidFill>
          </p:grpSpPr>
          <p:sp>
            <p:nvSpPr>
              <p:cNvPr id="11" name="Flowchart: Connector 12"/>
              <p:cNvSpPr>
                <a:spLocks noChangeAspect="1"/>
              </p:cNvSpPr>
              <p:nvPr/>
            </p:nvSpPr>
            <p:spPr bwMode="auto">
              <a:xfrm>
                <a:off x="457200" y="457200"/>
                <a:ext cx="914400" cy="914400"/>
              </a:xfrm>
              <a:prstGeom prst="flowChartConnector">
                <a:avLst/>
              </a:prstGeom>
              <a:grpFill/>
              <a:ln w="0" algn="ctr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lt1"/>
                  </a:solidFill>
                  <a:latin typeface="+mn-lt"/>
                  <a:cs typeface="+mn-cs"/>
                </a:endParaRPr>
              </a:p>
            </p:txBody>
          </p:sp>
          <p:sp>
            <p:nvSpPr>
              <p:cNvPr id="12" name="Oval 65"/>
              <p:cNvSpPr>
                <a:spLocks noChangeArrowheads="1"/>
              </p:cNvSpPr>
              <p:nvPr/>
            </p:nvSpPr>
            <p:spPr bwMode="auto">
              <a:xfrm>
                <a:off x="904875" y="904875"/>
                <a:ext cx="19050" cy="19050"/>
              </a:xfrm>
              <a:prstGeom prst="ellipse">
                <a:avLst/>
              </a:prstGeom>
              <a:grpFill/>
              <a:ln w="25400" algn="ctr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lt1"/>
                  </a:solidFill>
                  <a:latin typeface="+mn-lt"/>
                  <a:cs typeface="+mn-cs"/>
                </a:endParaRPr>
              </a:p>
            </p:txBody>
          </p:sp>
        </p:grpSp>
        <p:sp>
          <p:nvSpPr>
            <p:cNvPr id="10" name="Oval 9"/>
            <p:cNvSpPr>
              <a:spLocks noChangeAspect="1" noChangeArrowheads="1"/>
            </p:cNvSpPr>
            <p:nvPr/>
          </p:nvSpPr>
          <p:spPr bwMode="auto">
            <a:xfrm>
              <a:off x="7928547" y="4764574"/>
              <a:ext cx="73152" cy="73152"/>
            </a:xfrm>
            <a:prstGeom prst="ellipse">
              <a:avLst/>
            </a:prstGeom>
            <a:solidFill>
              <a:srgbClr val="FF0000"/>
            </a:solidFill>
            <a:ln w="25400" algn="ctr">
              <a:solidFill>
                <a:srgbClr val="FF0000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lt1"/>
                </a:solidFill>
                <a:latin typeface="+mn-lt"/>
                <a:cs typeface="+mn-cs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061641" y="3638550"/>
            <a:ext cx="1828800" cy="1828800"/>
            <a:chOff x="7031673" y="1600369"/>
            <a:chExt cx="1828800" cy="1828800"/>
          </a:xfrm>
        </p:grpSpPr>
        <p:sp>
          <p:nvSpPr>
            <p:cNvPr id="14" name="Flowchart: Connector 3"/>
            <p:cNvSpPr/>
            <p:nvPr/>
          </p:nvSpPr>
          <p:spPr bwMode="auto">
            <a:xfrm>
              <a:off x="7031673" y="1600369"/>
              <a:ext cx="1828800" cy="1828800"/>
            </a:xfrm>
            <a:prstGeom prst="flowChartConnector">
              <a:avLst/>
            </a:prstGeom>
            <a:solidFill>
              <a:srgbClr val="0000FF">
                <a:alpha val="20000"/>
              </a:srgbClr>
            </a:solidFill>
            <a:ln w="15875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grpSp>
          <p:nvGrpSpPr>
            <p:cNvPr id="15" name="Group 263"/>
            <p:cNvGrpSpPr>
              <a:grpSpLocks/>
            </p:cNvGrpSpPr>
            <p:nvPr/>
          </p:nvGrpSpPr>
          <p:grpSpPr bwMode="auto">
            <a:xfrm>
              <a:off x="7495223" y="2057569"/>
              <a:ext cx="914400" cy="914400"/>
              <a:chOff x="463550" y="457200"/>
              <a:chExt cx="914400" cy="914400"/>
            </a:xfrm>
          </p:grpSpPr>
          <p:sp>
            <p:nvSpPr>
              <p:cNvPr id="17" name="Flowchart: Connector 12"/>
              <p:cNvSpPr>
                <a:spLocks noChangeAspect="1"/>
              </p:cNvSpPr>
              <p:nvPr/>
            </p:nvSpPr>
            <p:spPr>
              <a:xfrm>
                <a:off x="463550" y="457200"/>
                <a:ext cx="914400" cy="914400"/>
              </a:xfrm>
              <a:prstGeom prst="flowChartConnector">
                <a:avLst/>
              </a:prstGeom>
              <a:solidFill>
                <a:srgbClr val="FF0000">
                  <a:alpha val="50000"/>
                </a:srgbClr>
              </a:solidFill>
              <a:ln w="254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904875" y="904875"/>
                <a:ext cx="19050" cy="19050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</p:grpSp>
        <p:sp>
          <p:nvSpPr>
            <p:cNvPr id="16" name="Oval 15"/>
            <p:cNvSpPr>
              <a:spLocks noChangeAspect="1"/>
            </p:cNvSpPr>
            <p:nvPr/>
          </p:nvSpPr>
          <p:spPr bwMode="auto">
            <a:xfrm>
              <a:off x="7921689" y="2482765"/>
              <a:ext cx="73152" cy="73152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9348141" y="177800"/>
            <a:ext cx="1828800" cy="1828800"/>
            <a:chOff x="7031673" y="1600369"/>
            <a:chExt cx="1828800" cy="1828800"/>
          </a:xfrm>
        </p:grpSpPr>
        <p:sp>
          <p:nvSpPr>
            <p:cNvPr id="21" name="Flowchart: Connector 3"/>
            <p:cNvSpPr/>
            <p:nvPr/>
          </p:nvSpPr>
          <p:spPr bwMode="auto">
            <a:xfrm>
              <a:off x="7031673" y="1600369"/>
              <a:ext cx="1828800" cy="1828800"/>
            </a:xfrm>
            <a:prstGeom prst="flowChartConnector">
              <a:avLst/>
            </a:prstGeom>
            <a:solidFill>
              <a:srgbClr val="0000FF">
                <a:alpha val="20000"/>
              </a:srgbClr>
            </a:solidFill>
            <a:ln w="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grpSp>
          <p:nvGrpSpPr>
            <p:cNvPr id="22" name="Group 263"/>
            <p:cNvGrpSpPr>
              <a:grpSpLocks/>
            </p:cNvGrpSpPr>
            <p:nvPr/>
          </p:nvGrpSpPr>
          <p:grpSpPr bwMode="auto">
            <a:xfrm>
              <a:off x="7488873" y="2057569"/>
              <a:ext cx="914400" cy="914400"/>
              <a:chOff x="457200" y="457200"/>
              <a:chExt cx="914400" cy="914400"/>
            </a:xfrm>
          </p:grpSpPr>
          <p:sp>
            <p:nvSpPr>
              <p:cNvPr id="24" name="Flowchart: Connector 12"/>
              <p:cNvSpPr>
                <a:spLocks noChangeAspect="1"/>
              </p:cNvSpPr>
              <p:nvPr/>
            </p:nvSpPr>
            <p:spPr>
              <a:xfrm>
                <a:off x="457200" y="457200"/>
                <a:ext cx="914400" cy="914400"/>
              </a:xfrm>
              <a:prstGeom prst="flowChartConnector">
                <a:avLst/>
              </a:prstGeom>
              <a:solidFill>
                <a:srgbClr val="FF0000">
                  <a:alpha val="50000"/>
                </a:srgbClr>
              </a:solidFill>
              <a:ln w="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25" name="Oval 24"/>
              <p:cNvSpPr/>
              <p:nvPr/>
            </p:nvSpPr>
            <p:spPr>
              <a:xfrm>
                <a:off x="904875" y="904875"/>
                <a:ext cx="19050" cy="19050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</p:grpSp>
        <p:sp>
          <p:nvSpPr>
            <p:cNvPr id="23" name="Oval 22"/>
            <p:cNvSpPr>
              <a:spLocks noChangeAspect="1"/>
            </p:cNvSpPr>
            <p:nvPr/>
          </p:nvSpPr>
          <p:spPr bwMode="auto">
            <a:xfrm>
              <a:off x="7921689" y="2482765"/>
              <a:ext cx="73152" cy="73152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4141141" y="4159250"/>
            <a:ext cx="1828800" cy="1828800"/>
            <a:chOff x="7031673" y="1600369"/>
            <a:chExt cx="1828800" cy="1828800"/>
          </a:xfrm>
        </p:grpSpPr>
        <p:sp>
          <p:nvSpPr>
            <p:cNvPr id="27" name="Flowchart: Connector 3"/>
            <p:cNvSpPr/>
            <p:nvPr/>
          </p:nvSpPr>
          <p:spPr bwMode="auto">
            <a:xfrm>
              <a:off x="7031673" y="1600369"/>
              <a:ext cx="1828800" cy="1828800"/>
            </a:xfrm>
            <a:prstGeom prst="flowChartConnector">
              <a:avLst/>
            </a:prstGeom>
            <a:solidFill>
              <a:srgbClr val="0000FF">
                <a:alpha val="20000"/>
              </a:srgbClr>
            </a:solidFill>
            <a:ln w="15875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grpSp>
          <p:nvGrpSpPr>
            <p:cNvPr id="28" name="Group 263"/>
            <p:cNvGrpSpPr>
              <a:grpSpLocks/>
            </p:cNvGrpSpPr>
            <p:nvPr/>
          </p:nvGrpSpPr>
          <p:grpSpPr bwMode="auto">
            <a:xfrm>
              <a:off x="7495223" y="2057569"/>
              <a:ext cx="914400" cy="914400"/>
              <a:chOff x="463550" y="457200"/>
              <a:chExt cx="914400" cy="914400"/>
            </a:xfrm>
          </p:grpSpPr>
          <p:sp>
            <p:nvSpPr>
              <p:cNvPr id="30" name="Flowchart: Connector 12"/>
              <p:cNvSpPr>
                <a:spLocks noChangeAspect="1"/>
              </p:cNvSpPr>
              <p:nvPr/>
            </p:nvSpPr>
            <p:spPr>
              <a:xfrm>
                <a:off x="463550" y="457200"/>
                <a:ext cx="914400" cy="914400"/>
              </a:xfrm>
              <a:prstGeom prst="flowChartConnector">
                <a:avLst/>
              </a:prstGeom>
              <a:solidFill>
                <a:srgbClr val="FF0000">
                  <a:alpha val="50000"/>
                </a:srgbClr>
              </a:solidFill>
              <a:ln w="254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904875" y="904875"/>
                <a:ext cx="19050" cy="19050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</p:grpSp>
        <p:sp>
          <p:nvSpPr>
            <p:cNvPr id="29" name="Oval 28"/>
            <p:cNvSpPr>
              <a:spLocks noChangeAspect="1"/>
            </p:cNvSpPr>
            <p:nvPr/>
          </p:nvSpPr>
          <p:spPr bwMode="auto">
            <a:xfrm>
              <a:off x="7921689" y="2482765"/>
              <a:ext cx="73152" cy="73152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7008803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Sharp Corners</a:t>
            </a:r>
          </a:p>
        </p:txBody>
      </p:sp>
      <p:pic>
        <p:nvPicPr>
          <p:cNvPr id="3" name="Picture 2" descr="sharp_corner_a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1250"/>
            <a:ext cx="3657600" cy="2053389"/>
          </a:xfrm>
          <a:prstGeom prst="rect">
            <a:avLst/>
          </a:prstGeom>
        </p:spPr>
      </p:pic>
      <p:pic>
        <p:nvPicPr>
          <p:cNvPr id="4" name="Picture 3" descr="sharp_corner_b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250" y="2260600"/>
            <a:ext cx="3657600" cy="2232268"/>
          </a:xfrm>
          <a:prstGeom prst="rect">
            <a:avLst/>
          </a:prstGeom>
        </p:spPr>
      </p:pic>
      <p:pic>
        <p:nvPicPr>
          <p:cNvPr id="5" name="Picture 4" descr="sharp_corner_c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149" y="3543300"/>
            <a:ext cx="3657600" cy="2394766"/>
          </a:xfrm>
          <a:prstGeom prst="rect">
            <a:avLst/>
          </a:prstGeom>
        </p:spPr>
      </p:pic>
      <p:pic>
        <p:nvPicPr>
          <p:cNvPr id="6" name="Picture 5" descr="sharp_corner_d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350" y="4762501"/>
            <a:ext cx="3657600" cy="22977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0850" y="4337050"/>
            <a:ext cx="4500902" cy="1200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Add opposite-colored midpoint </a:t>
            </a:r>
            <a:br>
              <a:rPr lang="en-US"/>
            </a:br>
            <a:r>
              <a:rPr lang="en-US"/>
              <a:t>  on mono-edges</a:t>
            </a:r>
          </a:p>
          <a:p>
            <a:r>
              <a:rPr lang="en-US"/>
              <a:t>exploit alternating boundary colors</a:t>
            </a:r>
          </a:p>
        </p:txBody>
      </p:sp>
    </p:spTree>
    <p:extLst>
      <p:ext uri="{BB962C8B-B14F-4D97-AF65-F5344CB8AC3E}">
        <p14:creationId xmlns:p14="http://schemas.microsoft.com/office/powerpoint/2010/main" val="3718529322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5150" y="63500"/>
            <a:ext cx="4083050" cy="749300"/>
          </a:xfrm>
        </p:spPr>
        <p:txBody>
          <a:bodyPr/>
          <a:lstStyle/>
          <a:p>
            <a:r>
              <a:rPr lang="en-US"/>
              <a:t>Adv. Front Wedge</a:t>
            </a:r>
          </a:p>
        </p:txBody>
      </p:sp>
      <p:pic>
        <p:nvPicPr>
          <p:cNvPr id="15" name="Picture 14" descr="Initial Fron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12005" cy="2443163"/>
          </a:xfrm>
          <a:prstGeom prst="rect">
            <a:avLst/>
          </a:prstGeom>
        </p:spPr>
      </p:pic>
      <p:pic>
        <p:nvPicPr>
          <p:cNvPr id="16" name="Picture 15" descr="Phase I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151" y="513023"/>
            <a:ext cx="4573429" cy="2477453"/>
          </a:xfrm>
          <a:prstGeom prst="rect">
            <a:avLst/>
          </a:prstGeom>
        </p:spPr>
      </p:pic>
      <p:pic>
        <p:nvPicPr>
          <p:cNvPr id="17" name="Picture 16" descr="Phase II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11400"/>
            <a:ext cx="4594860" cy="2571750"/>
          </a:xfrm>
          <a:prstGeom prst="rect">
            <a:avLst/>
          </a:prstGeom>
        </p:spPr>
      </p:pic>
      <p:pic>
        <p:nvPicPr>
          <p:cNvPr id="18" name="Picture 17" descr="Phase III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7077" y="2828925"/>
            <a:ext cx="4637723" cy="2657475"/>
          </a:xfrm>
          <a:prstGeom prst="rect">
            <a:avLst/>
          </a:prstGeom>
        </p:spPr>
      </p:pic>
      <p:pic>
        <p:nvPicPr>
          <p:cNvPr id="19" name="Picture 18" descr="wedge_structured.pdf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038" y="4432300"/>
            <a:ext cx="4691162" cy="2508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33500" y="6203950"/>
            <a:ext cx="1453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(example of a coarser mesh</a:t>
            </a:r>
          </a:p>
          <a:p>
            <a:r>
              <a:rPr lang="en-US" sz="900"/>
              <a:t>than the disk pictures)</a:t>
            </a:r>
          </a:p>
        </p:txBody>
      </p:sp>
    </p:spTree>
    <p:extLst>
      <p:ext uri="{BB962C8B-B14F-4D97-AF65-F5344CB8AC3E}">
        <p14:creationId xmlns:p14="http://schemas.microsoft.com/office/powerpoint/2010/main" val="307756803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 bwMode="auto">
          <a:xfrm>
            <a:off x="-762000" y="-215900"/>
            <a:ext cx="4514850" cy="895350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4660900" y="933450"/>
            <a:ext cx="4292600" cy="56515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67507" y="139700"/>
            <a:ext cx="6732314" cy="1025661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2697" y="152400"/>
            <a:ext cx="3501757" cy="19621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5697" y="2112652"/>
            <a:ext cx="2592055" cy="233869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120" y="4502150"/>
            <a:ext cx="4083730" cy="23558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1231900" y="469900"/>
            <a:ext cx="11248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Bimba</a:t>
            </a:r>
          </a:p>
          <a:p>
            <a:r>
              <a:rPr lang="en-US"/>
              <a:t>random</a:t>
            </a:r>
          </a:p>
        </p:txBody>
      </p:sp>
    </p:spTree>
    <p:extLst>
      <p:ext uri="{BB962C8B-B14F-4D97-AF65-F5344CB8AC3E}">
        <p14:creationId xmlns:p14="http://schemas.microsoft.com/office/powerpoint/2010/main" val="815181539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 bwMode="auto">
          <a:xfrm>
            <a:off x="8401050" y="6076950"/>
            <a:ext cx="895350" cy="895350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4660900" y="933450"/>
            <a:ext cx="4292600" cy="56515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6" name="Picture 5" descr="bimba_structured_quad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51000" y="0"/>
            <a:ext cx="6832600" cy="10256613"/>
          </a:xfrm>
          <a:prstGeom prst="rect">
            <a:avLst/>
          </a:prstGeom>
        </p:spPr>
      </p:pic>
      <p:pic>
        <p:nvPicPr>
          <p:cNvPr id="8" name="Picture 7" descr="angles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950" y="158750"/>
            <a:ext cx="3702050" cy="1962150"/>
          </a:xfrm>
          <a:prstGeom prst="rect">
            <a:avLst/>
          </a:prstGeom>
        </p:spPr>
      </p:pic>
      <p:pic>
        <p:nvPicPr>
          <p:cNvPr id="10" name="Picture 9" descr="valence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800" y="2112652"/>
            <a:ext cx="2609850" cy="2338697"/>
          </a:xfrm>
          <a:prstGeom prst="rect">
            <a:avLst/>
          </a:prstGeom>
        </p:spPr>
      </p:pic>
      <p:pic>
        <p:nvPicPr>
          <p:cNvPr id="9" name="Picture 8" descr="edge_len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4502150"/>
            <a:ext cx="3587750" cy="23558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-1231900" y="469900"/>
            <a:ext cx="13644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Bimba</a:t>
            </a:r>
          </a:p>
          <a:p>
            <a:r>
              <a:rPr lang="en-US"/>
              <a:t>adv. front</a:t>
            </a:r>
          </a:p>
        </p:txBody>
      </p:sp>
    </p:spTree>
    <p:extLst>
      <p:ext uri="{BB962C8B-B14F-4D97-AF65-F5344CB8AC3E}">
        <p14:creationId xmlns:p14="http://schemas.microsoft.com/office/powerpoint/2010/main" val="2835926575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1219200"/>
          </a:xfrm>
        </p:spPr>
        <p:txBody>
          <a:bodyPr/>
          <a:lstStyle/>
          <a:p>
            <a:r>
              <a:rPr lang="en-US" sz="2400"/>
              <a:t>Qualitative comparison </a:t>
            </a:r>
            <a:br>
              <a:rPr lang="en-US" sz="2400"/>
            </a:br>
            <a:r>
              <a:rPr lang="en-US" sz="2400"/>
              <a:t>to a production code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 bwMode="auto">
          <a:xfrm>
            <a:off x="285750" y="5321300"/>
            <a:ext cx="3987800" cy="1219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9pPr>
          </a:lstStyle>
          <a:p>
            <a:r>
              <a:rPr lang="en-US" sz="2400"/>
              <a:t>Cubit paver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 bwMode="auto">
          <a:xfrm>
            <a:off x="4889500" y="5524500"/>
            <a:ext cx="3987800" cy="1219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9pPr>
          </a:lstStyle>
          <a:p>
            <a:r>
              <a:rPr lang="en-US" sz="2400"/>
              <a:t>Two-color adv. front </a:t>
            </a:r>
            <a:br>
              <a:rPr lang="en-US" sz="2400"/>
            </a:br>
            <a:r>
              <a:rPr lang="en-US" sz="2400"/>
              <a:t>no cleanup</a:t>
            </a:r>
          </a:p>
        </p:txBody>
      </p:sp>
      <p:pic>
        <p:nvPicPr>
          <p:cNvPr id="5" name="Picture 4" descr="Screen Shot 2014-10-02 at 5.57.36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8550" y="2159000"/>
            <a:ext cx="4037668" cy="3200400"/>
          </a:xfrm>
          <a:prstGeom prst="rect">
            <a:avLst/>
          </a:prstGeom>
        </p:spPr>
      </p:pic>
      <p:pic>
        <p:nvPicPr>
          <p:cNvPr id="6" name="Picture 5" descr="spikey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50" y="2158499"/>
            <a:ext cx="4051300" cy="325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6241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1219200"/>
          </a:xfrm>
        </p:spPr>
        <p:txBody>
          <a:bodyPr/>
          <a:lstStyle/>
          <a:p>
            <a:r>
              <a:rPr lang="en-US" sz="2400"/>
              <a:t>Qualitative comparison </a:t>
            </a:r>
            <a:br>
              <a:rPr lang="en-US" sz="2400"/>
            </a:br>
            <a:r>
              <a:rPr lang="en-US" sz="2400"/>
              <a:t>to a production code</a:t>
            </a:r>
          </a:p>
        </p:txBody>
      </p:sp>
      <p:pic>
        <p:nvPicPr>
          <p:cNvPr id="4" name="Picture 3" descr="cubitface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2" y="1207535"/>
            <a:ext cx="4330698" cy="4349804"/>
          </a:xfrm>
          <a:prstGeom prst="rect">
            <a:avLst/>
          </a:prstGeom>
        </p:spPr>
      </p:pic>
      <p:pic>
        <p:nvPicPr>
          <p:cNvPr id="7" name="Picture 6" descr="Screen Shot 2014-10-02 at 5.48.24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950" y="1187450"/>
            <a:ext cx="4546600" cy="4445000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 bwMode="auto">
          <a:xfrm>
            <a:off x="285750" y="5321300"/>
            <a:ext cx="3987800" cy="1219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9pPr>
          </a:lstStyle>
          <a:p>
            <a:r>
              <a:rPr lang="en-US" sz="2400"/>
              <a:t>Cubit paver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 bwMode="auto">
          <a:xfrm>
            <a:off x="4527550" y="5524500"/>
            <a:ext cx="4679950" cy="1219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9pPr>
          </a:lstStyle>
          <a:p>
            <a:r>
              <a:rPr lang="en-US" sz="2400"/>
              <a:t>Two-color “biased” adv. front </a:t>
            </a:r>
            <a:br>
              <a:rPr lang="en-US" sz="2400"/>
            </a:br>
            <a:r>
              <a:rPr lang="en-US" sz="2400"/>
              <a:t>no cleanup</a:t>
            </a:r>
          </a:p>
        </p:txBody>
      </p:sp>
      <p:pic>
        <p:nvPicPr>
          <p:cNvPr id="12" name="Picture 11" descr="angles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951" y="0"/>
            <a:ext cx="2920934" cy="1765300"/>
          </a:xfrm>
          <a:prstGeom prst="rect">
            <a:avLst/>
          </a:prstGeom>
        </p:spPr>
      </p:pic>
      <p:pic>
        <p:nvPicPr>
          <p:cNvPr id="13" name="Picture 12" descr="AR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850" y="0"/>
            <a:ext cx="2476500" cy="16649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85900" y="95250"/>
            <a:ext cx="9709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angles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8700" y="88900"/>
            <a:ext cx="15946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aspect ratio</a:t>
            </a:r>
          </a:p>
        </p:txBody>
      </p:sp>
    </p:spTree>
    <p:extLst>
      <p:ext uri="{BB962C8B-B14F-4D97-AF65-F5344CB8AC3E}">
        <p14:creationId xmlns:p14="http://schemas.microsoft.com/office/powerpoint/2010/main" val="2029128882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Closing Thoughts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62050"/>
            <a:ext cx="7772400" cy="4572000"/>
          </a:xfrm>
        </p:spPr>
        <p:txBody>
          <a:bodyPr/>
          <a:lstStyle/>
          <a:p>
            <a:r>
              <a:rPr lang="en-US" dirty="0"/>
              <a:t>Three centers: </a:t>
            </a:r>
            <a:r>
              <a:rPr lang="en-US" dirty="0" err="1"/>
              <a:t>Circumcenter</a:t>
            </a:r>
            <a:r>
              <a:rPr lang="en-US" dirty="0"/>
              <a:t>, </a:t>
            </a:r>
            <a:r>
              <a:rPr lang="en-US" dirty="0" err="1"/>
              <a:t>Incenter</a:t>
            </a:r>
            <a:r>
              <a:rPr lang="en-US" dirty="0"/>
              <a:t>, Centroid</a:t>
            </a:r>
          </a:p>
        </p:txBody>
      </p:sp>
      <p:grpSp>
        <p:nvGrpSpPr>
          <p:cNvPr id="24" name="Group 23"/>
          <p:cNvGrpSpPr>
            <a:grpSpLocks noChangeAspect="1"/>
          </p:cNvGrpSpPr>
          <p:nvPr/>
        </p:nvGrpSpPr>
        <p:grpSpPr>
          <a:xfrm>
            <a:off x="169798" y="2510784"/>
            <a:ext cx="2488177" cy="2118365"/>
            <a:chOff x="5821299" y="3552185"/>
            <a:chExt cx="1614410" cy="1374464"/>
          </a:xfrm>
        </p:grpSpPr>
        <p:cxnSp>
          <p:nvCxnSpPr>
            <p:cNvPr id="4" name="Straight Connector 3"/>
            <p:cNvCxnSpPr/>
            <p:nvPr/>
          </p:nvCxnSpPr>
          <p:spPr>
            <a:xfrm flipV="1">
              <a:off x="5844042" y="4418784"/>
              <a:ext cx="744858" cy="481406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/>
            <p:nvPr/>
          </p:nvCxnSpPr>
          <p:spPr>
            <a:xfrm flipH="1">
              <a:off x="6588900" y="3673318"/>
              <a:ext cx="4170" cy="745466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 flipV="1">
              <a:off x="5844042" y="3669484"/>
              <a:ext cx="749621" cy="1227624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6592604" y="3677421"/>
              <a:ext cx="793750" cy="658283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H="1">
              <a:off x="6590487" y="4339938"/>
              <a:ext cx="800100" cy="7620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64"/>
            <p:cNvSpPr>
              <a:spLocks noChangeAspect="1" noChangeArrowheads="1"/>
            </p:cNvSpPr>
            <p:nvPr/>
          </p:nvSpPr>
          <p:spPr bwMode="auto">
            <a:xfrm>
              <a:off x="6592637" y="3937770"/>
              <a:ext cx="455051" cy="455051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cxnSp>
          <p:nvCxnSpPr>
            <p:cNvPr id="10" name="Straight Connector 9"/>
            <p:cNvCxnSpPr>
              <a:cxnSpLocks/>
            </p:cNvCxnSpPr>
            <p:nvPr/>
          </p:nvCxnSpPr>
          <p:spPr>
            <a:xfrm>
              <a:off x="6588371" y="3679538"/>
              <a:ext cx="224367" cy="474134"/>
            </a:xfrm>
            <a:prstGeom prst="line">
              <a:avLst/>
            </a:prstGeom>
            <a:ln>
              <a:solidFill>
                <a:srgbClr val="008000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>
              <a:cxnSpLocks/>
            </p:cNvCxnSpPr>
            <p:nvPr/>
          </p:nvCxnSpPr>
          <p:spPr>
            <a:xfrm flipH="1">
              <a:off x="6592604" y="4155788"/>
              <a:ext cx="220133" cy="260350"/>
            </a:xfrm>
            <a:prstGeom prst="line">
              <a:avLst/>
            </a:prstGeom>
            <a:ln>
              <a:solidFill>
                <a:srgbClr val="008000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cxnSpLocks/>
            </p:cNvCxnSpPr>
            <p:nvPr/>
          </p:nvCxnSpPr>
          <p:spPr>
            <a:xfrm>
              <a:off x="6816971" y="4160021"/>
              <a:ext cx="571500" cy="177800"/>
            </a:xfrm>
            <a:prstGeom prst="line">
              <a:avLst/>
            </a:prstGeom>
            <a:ln>
              <a:solidFill>
                <a:srgbClr val="008000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H="1" flipV="1">
              <a:off x="6594721" y="4420372"/>
              <a:ext cx="361950" cy="327025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952117" y="4340996"/>
              <a:ext cx="436354" cy="406794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7382121" y="3578996"/>
              <a:ext cx="0" cy="7493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V="1">
              <a:off x="6594721" y="3578996"/>
              <a:ext cx="787400" cy="98425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/>
            <p:cNvSpPr/>
            <p:nvPr/>
          </p:nvSpPr>
          <p:spPr bwMode="auto">
            <a:xfrm>
              <a:off x="6545212" y="3645712"/>
              <a:ext cx="94366" cy="92449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 bwMode="auto">
            <a:xfrm>
              <a:off x="6542466" y="4374649"/>
              <a:ext cx="94366" cy="92449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 bwMode="auto">
            <a:xfrm>
              <a:off x="7324595" y="4297297"/>
              <a:ext cx="94366" cy="92449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0" name="Oval 19"/>
            <p:cNvSpPr/>
            <p:nvPr/>
          </p:nvSpPr>
          <p:spPr bwMode="auto">
            <a:xfrm>
              <a:off x="6765578" y="4130357"/>
              <a:ext cx="94366" cy="92449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1" name="Oval 20"/>
            <p:cNvSpPr/>
            <p:nvPr/>
          </p:nvSpPr>
          <p:spPr bwMode="auto">
            <a:xfrm>
              <a:off x="5821299" y="4834200"/>
              <a:ext cx="94366" cy="92449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2" name="Oval 21"/>
            <p:cNvSpPr/>
            <p:nvPr/>
          </p:nvSpPr>
          <p:spPr bwMode="auto">
            <a:xfrm>
              <a:off x="6917361" y="4712055"/>
              <a:ext cx="94366" cy="92449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3" name="Oval 22"/>
            <p:cNvSpPr/>
            <p:nvPr/>
          </p:nvSpPr>
          <p:spPr bwMode="auto">
            <a:xfrm>
              <a:off x="7341343" y="3552185"/>
              <a:ext cx="94366" cy="92449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139700" y="1955800"/>
            <a:ext cx="24494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rgbClr val="0000FF"/>
                </a:solidFill>
              </a:rPr>
              <a:t>Incenter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  <a:r>
              <a:rPr lang="en-US" sz="2000" dirty="0"/>
              <a:t>for mono-</a:t>
            </a:r>
            <a:r>
              <a:rPr lang="en-US" sz="2000" dirty="0" err="1"/>
              <a:t>tris</a:t>
            </a:r>
            <a:endParaRPr lang="en-US" sz="2000" dirty="0"/>
          </a:p>
          <a:p>
            <a:r>
              <a:rPr lang="en-US" sz="2000" dirty="0"/>
              <a:t>template</a:t>
            </a:r>
          </a:p>
        </p:txBody>
      </p:sp>
      <p:grpSp>
        <p:nvGrpSpPr>
          <p:cNvPr id="107" name="Group 106"/>
          <p:cNvGrpSpPr>
            <a:grpSpLocks noChangeAspect="1"/>
          </p:cNvGrpSpPr>
          <p:nvPr/>
        </p:nvGrpSpPr>
        <p:grpSpPr>
          <a:xfrm>
            <a:off x="3398369" y="2508250"/>
            <a:ext cx="2257687" cy="1597886"/>
            <a:chOff x="3207869" y="2383787"/>
            <a:chExt cx="2810370" cy="1989049"/>
          </a:xfrm>
        </p:grpSpPr>
        <p:sp>
          <p:nvSpPr>
            <p:cNvPr id="26" name="Oval 25"/>
            <p:cNvSpPr/>
            <p:nvPr/>
          </p:nvSpPr>
          <p:spPr>
            <a:xfrm>
              <a:off x="3815071" y="2501494"/>
              <a:ext cx="1551691" cy="1551691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/>
            <p:cNvCxnSpPr/>
            <p:nvPr/>
          </p:nvCxnSpPr>
          <p:spPr>
            <a:xfrm flipV="1">
              <a:off x="5265106" y="3368250"/>
              <a:ext cx="101656" cy="945733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flipH="1" flipV="1">
              <a:off x="3948844" y="3737424"/>
              <a:ext cx="1316262" cy="576559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H="1" flipV="1">
              <a:off x="3263960" y="2678056"/>
              <a:ext cx="684884" cy="105936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flipH="1">
              <a:off x="3263960" y="2501494"/>
              <a:ext cx="1268106" cy="17656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V="1">
              <a:off x="4532066" y="2458692"/>
              <a:ext cx="1417924" cy="42802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flipH="1">
              <a:off x="5366762" y="2458692"/>
              <a:ext cx="583230" cy="9095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4524037" y="2501494"/>
              <a:ext cx="66880" cy="775845"/>
            </a:xfrm>
            <a:prstGeom prst="line">
              <a:avLst/>
            </a:prstGeom>
            <a:ln>
              <a:solidFill>
                <a:srgbClr val="008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H="1">
              <a:off x="3948844" y="3277340"/>
              <a:ext cx="642073" cy="460084"/>
            </a:xfrm>
            <a:prstGeom prst="line">
              <a:avLst/>
            </a:prstGeom>
            <a:ln>
              <a:solidFill>
                <a:srgbClr val="008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H="1" flipV="1">
              <a:off x="4590920" y="3277340"/>
              <a:ext cx="775842" cy="90910"/>
            </a:xfrm>
            <a:prstGeom prst="line">
              <a:avLst/>
            </a:prstGeom>
            <a:ln>
              <a:solidFill>
                <a:srgbClr val="008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>
              <a:stCxn id="40" idx="0"/>
              <a:endCxn id="39" idx="3"/>
            </p:cNvCxnSpPr>
            <p:nvPr/>
          </p:nvCxnSpPr>
          <p:spPr>
            <a:xfrm flipV="1">
              <a:off x="3947561" y="2559161"/>
              <a:ext cx="542886" cy="1123481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4532066" y="2501494"/>
              <a:ext cx="834696" cy="866755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>
              <a:stCxn id="40" idx="6"/>
              <a:endCxn id="41" idx="3"/>
            </p:cNvCxnSpPr>
            <p:nvPr/>
          </p:nvCxnSpPr>
          <p:spPr>
            <a:xfrm flipV="1">
              <a:off x="4006414" y="3403237"/>
              <a:ext cx="1318732" cy="338259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/>
            <p:cNvSpPr/>
            <p:nvPr/>
          </p:nvSpPr>
          <p:spPr>
            <a:xfrm>
              <a:off x="4473209" y="2458692"/>
              <a:ext cx="117707" cy="117707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/>
            <p:cNvSpPr/>
            <p:nvPr/>
          </p:nvSpPr>
          <p:spPr>
            <a:xfrm>
              <a:off x="3888707" y="3682642"/>
              <a:ext cx="117707" cy="117707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5307908" y="3302768"/>
              <a:ext cx="117707" cy="117707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/>
            <p:cNvSpPr/>
            <p:nvPr/>
          </p:nvSpPr>
          <p:spPr>
            <a:xfrm>
              <a:off x="5900532" y="2383787"/>
              <a:ext cx="117707" cy="117707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/>
            <p:cNvSpPr/>
            <p:nvPr/>
          </p:nvSpPr>
          <p:spPr>
            <a:xfrm>
              <a:off x="3207869" y="2617924"/>
              <a:ext cx="117707" cy="117707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/>
            <p:cNvSpPr/>
            <p:nvPr/>
          </p:nvSpPr>
          <p:spPr>
            <a:xfrm>
              <a:off x="5216943" y="4255129"/>
              <a:ext cx="117707" cy="117707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Connector 44"/>
            <p:cNvCxnSpPr/>
            <p:nvPr/>
          </p:nvCxnSpPr>
          <p:spPr>
            <a:xfrm>
              <a:off x="4473209" y="3277340"/>
              <a:ext cx="256831" cy="0"/>
            </a:xfrm>
            <a:prstGeom prst="line">
              <a:avLst/>
            </a:prstGeom>
            <a:ln>
              <a:solidFill>
                <a:srgbClr val="0000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flipV="1">
              <a:off x="4590916" y="3159586"/>
              <a:ext cx="0" cy="260890"/>
            </a:xfrm>
            <a:prstGeom prst="line">
              <a:avLst/>
            </a:prstGeom>
            <a:ln>
              <a:solidFill>
                <a:srgbClr val="0000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Oval 46"/>
            <p:cNvSpPr/>
            <p:nvPr/>
          </p:nvSpPr>
          <p:spPr>
            <a:xfrm>
              <a:off x="4532066" y="3227909"/>
              <a:ext cx="117707" cy="117707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2" name="Rectangle 51"/>
          <p:cNvSpPr/>
          <p:nvPr/>
        </p:nvSpPr>
        <p:spPr bwMode="auto">
          <a:xfrm>
            <a:off x="7521294" y="2308225"/>
            <a:ext cx="1562100" cy="33972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grpSp>
        <p:nvGrpSpPr>
          <p:cNvPr id="53" name="Group 52"/>
          <p:cNvGrpSpPr/>
          <p:nvPr/>
        </p:nvGrpSpPr>
        <p:grpSpPr>
          <a:xfrm>
            <a:off x="6320503" y="3798358"/>
            <a:ext cx="2823497" cy="2461412"/>
            <a:chOff x="5301609" y="3544358"/>
            <a:chExt cx="2823497" cy="2461412"/>
          </a:xfrm>
        </p:grpSpPr>
        <p:grpSp>
          <p:nvGrpSpPr>
            <p:cNvPr id="54" name="Group 53"/>
            <p:cNvGrpSpPr/>
            <p:nvPr/>
          </p:nvGrpSpPr>
          <p:grpSpPr>
            <a:xfrm>
              <a:off x="5301609" y="3544358"/>
              <a:ext cx="2823497" cy="2461412"/>
              <a:chOff x="5301609" y="3544358"/>
              <a:chExt cx="2823497" cy="2461412"/>
            </a:xfrm>
          </p:grpSpPr>
          <p:grpSp>
            <p:nvGrpSpPr>
              <p:cNvPr id="56" name="Group 55"/>
              <p:cNvGrpSpPr/>
              <p:nvPr/>
            </p:nvGrpSpPr>
            <p:grpSpPr>
              <a:xfrm>
                <a:off x="5301609" y="3544358"/>
                <a:ext cx="2823497" cy="2461412"/>
                <a:chOff x="5619109" y="3362325"/>
                <a:chExt cx="2823497" cy="2461412"/>
              </a:xfrm>
            </p:grpSpPr>
            <p:cxnSp>
              <p:nvCxnSpPr>
                <p:cNvPr id="59" name="Straight Connector 58"/>
                <p:cNvCxnSpPr/>
                <p:nvPr/>
              </p:nvCxnSpPr>
              <p:spPr>
                <a:xfrm flipV="1">
                  <a:off x="5619109" y="4860925"/>
                  <a:ext cx="1489716" cy="96281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/>
                <p:cNvCxnSpPr/>
                <p:nvPr/>
              </p:nvCxnSpPr>
              <p:spPr>
                <a:xfrm flipH="1">
                  <a:off x="7108825" y="3369993"/>
                  <a:ext cx="8340" cy="149093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/>
                <p:cNvCxnSpPr/>
                <p:nvPr/>
              </p:nvCxnSpPr>
              <p:spPr>
                <a:xfrm flipV="1">
                  <a:off x="5619109" y="3362325"/>
                  <a:ext cx="1499241" cy="245524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/>
                <p:cNvCxnSpPr/>
                <p:nvPr/>
              </p:nvCxnSpPr>
              <p:spPr>
                <a:xfrm flipV="1">
                  <a:off x="7103114" y="4313266"/>
                  <a:ext cx="1339492" cy="54697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/>
                <p:cNvCxnSpPr/>
                <p:nvPr/>
              </p:nvCxnSpPr>
              <p:spPr>
                <a:xfrm>
                  <a:off x="7115444" y="3374428"/>
                  <a:ext cx="1320997" cy="93883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/>
                <p:nvPr/>
              </p:nvCxnSpPr>
              <p:spPr>
                <a:xfrm flipV="1">
                  <a:off x="5636042" y="4119033"/>
                  <a:ext cx="1475958" cy="1696238"/>
                </a:xfrm>
                <a:prstGeom prst="line">
                  <a:avLst/>
                </a:prstGeom>
                <a:ln>
                  <a:solidFill>
                    <a:schemeClr val="accent6"/>
                  </a:solidFill>
                  <a:prstDash val="sysDot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/>
                <p:cNvCxnSpPr/>
                <p:nvPr/>
              </p:nvCxnSpPr>
              <p:spPr>
                <a:xfrm>
                  <a:off x="7112000" y="4114800"/>
                  <a:ext cx="1309439" cy="206932"/>
                </a:xfrm>
                <a:prstGeom prst="line">
                  <a:avLst/>
                </a:prstGeom>
                <a:ln>
                  <a:solidFill>
                    <a:schemeClr val="accent6"/>
                  </a:solidFill>
                  <a:prstDash val="sysDot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/>
                <p:cNvCxnSpPr/>
                <p:nvPr/>
              </p:nvCxnSpPr>
              <p:spPr>
                <a:xfrm flipV="1">
                  <a:off x="6900336" y="3746500"/>
                  <a:ext cx="215897" cy="618069"/>
                </a:xfrm>
                <a:prstGeom prst="line">
                  <a:avLst/>
                </a:prstGeom>
                <a:ln>
                  <a:solidFill>
                    <a:srgbClr val="008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/>
                <p:cNvCxnSpPr>
                  <a:cxnSpLocks noChangeAspect="1"/>
                </p:cNvCxnSpPr>
                <p:nvPr/>
              </p:nvCxnSpPr>
              <p:spPr>
                <a:xfrm>
                  <a:off x="6884235" y="4364567"/>
                  <a:ext cx="223530" cy="131234"/>
                </a:xfrm>
                <a:prstGeom prst="line">
                  <a:avLst/>
                </a:prstGeom>
                <a:ln>
                  <a:solidFill>
                    <a:srgbClr val="008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/>
                <p:cNvCxnSpPr>
                  <a:cxnSpLocks noChangeAspect="1"/>
                </p:cNvCxnSpPr>
                <p:nvPr/>
              </p:nvCxnSpPr>
              <p:spPr>
                <a:xfrm flipH="1">
                  <a:off x="7113059" y="3386928"/>
                  <a:ext cx="2087" cy="372733"/>
                </a:xfrm>
                <a:prstGeom prst="line">
                  <a:avLst/>
                </a:prstGeom>
                <a:ln>
                  <a:solidFill>
                    <a:srgbClr val="008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/>
                <p:cNvCxnSpPr>
                  <a:cxnSpLocks noChangeAspect="1"/>
                </p:cNvCxnSpPr>
                <p:nvPr/>
              </p:nvCxnSpPr>
              <p:spPr>
                <a:xfrm flipH="1">
                  <a:off x="7108826" y="4483362"/>
                  <a:ext cx="2087" cy="372733"/>
                </a:xfrm>
                <a:prstGeom prst="line">
                  <a:avLst/>
                </a:prstGeom>
                <a:ln>
                  <a:solidFill>
                    <a:srgbClr val="008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/>
                <p:cNvCxnSpPr>
                  <a:cxnSpLocks noChangeAspect="1"/>
                </p:cNvCxnSpPr>
                <p:nvPr/>
              </p:nvCxnSpPr>
              <p:spPr>
                <a:xfrm flipH="1">
                  <a:off x="7107767" y="4149021"/>
                  <a:ext cx="224366" cy="355246"/>
                </a:xfrm>
                <a:prstGeom prst="line">
                  <a:avLst/>
                </a:prstGeom>
                <a:ln>
                  <a:solidFill>
                    <a:srgbClr val="008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Connector 70"/>
                <p:cNvCxnSpPr/>
                <p:nvPr/>
              </p:nvCxnSpPr>
              <p:spPr>
                <a:xfrm flipH="1" flipV="1">
                  <a:off x="7120467" y="3767667"/>
                  <a:ext cx="207436" cy="385237"/>
                </a:xfrm>
                <a:prstGeom prst="line">
                  <a:avLst/>
                </a:prstGeom>
                <a:ln>
                  <a:solidFill>
                    <a:srgbClr val="008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/>
                <p:cNvCxnSpPr>
                  <a:cxnSpLocks noChangeAspect="1"/>
                </p:cNvCxnSpPr>
                <p:nvPr/>
              </p:nvCxnSpPr>
              <p:spPr>
                <a:xfrm>
                  <a:off x="7323667" y="4145573"/>
                  <a:ext cx="1114706" cy="176158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solid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/>
                <p:cNvCxnSpPr>
                  <a:cxnSpLocks noChangeAspect="1"/>
                </p:cNvCxnSpPr>
                <p:nvPr/>
              </p:nvCxnSpPr>
              <p:spPr>
                <a:xfrm flipV="1">
                  <a:off x="5627575" y="4373033"/>
                  <a:ext cx="1258628" cy="1446472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solid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7" name="TextBox 56"/>
              <p:cNvSpPr txBox="1"/>
              <p:nvPr/>
            </p:nvSpPr>
            <p:spPr>
              <a:xfrm>
                <a:off x="6448398" y="4724400"/>
                <a:ext cx="3985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1/5</a:t>
                </a: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 rot="523323">
                <a:off x="7078133" y="4140488"/>
                <a:ext cx="68938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>
                    <a:solidFill>
                      <a:srgbClr val="FF0000"/>
                    </a:solidFill>
                  </a:rPr>
                  <a:t>median</a:t>
                </a:r>
              </a:p>
            </p:txBody>
          </p:sp>
        </p:grpSp>
        <p:sp>
          <p:nvSpPr>
            <p:cNvPr id="55" name="TextBox 54"/>
            <p:cNvSpPr txBox="1"/>
            <p:nvPr/>
          </p:nvSpPr>
          <p:spPr>
            <a:xfrm rot="1833722">
              <a:off x="6824619" y="4404688"/>
              <a:ext cx="6376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008000"/>
                  </a:solidFill>
                </a:rPr>
                <a:t>offset</a:t>
              </a:r>
              <a:br>
                <a:rPr lang="en-US" sz="1200">
                  <a:solidFill>
                    <a:srgbClr val="008000"/>
                  </a:solidFill>
                </a:rPr>
              </a:br>
              <a:r>
                <a:rPr lang="en-US" sz="1200">
                  <a:solidFill>
                    <a:srgbClr val="008000"/>
                  </a:solidFill>
                </a:rPr>
                <a:t>median</a:t>
              </a: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6272166" y="1061510"/>
            <a:ext cx="2871834" cy="2476438"/>
            <a:chOff x="4491559" y="3195110"/>
            <a:chExt cx="2871834" cy="2476438"/>
          </a:xfrm>
        </p:grpSpPr>
        <p:cxnSp>
          <p:nvCxnSpPr>
            <p:cNvPr id="75" name="Straight Connector 74"/>
            <p:cNvCxnSpPr/>
            <p:nvPr/>
          </p:nvCxnSpPr>
          <p:spPr>
            <a:xfrm>
              <a:off x="5759450" y="4464051"/>
              <a:ext cx="903788" cy="589952"/>
            </a:xfrm>
            <a:prstGeom prst="line">
              <a:avLst/>
            </a:prstGeom>
            <a:ln>
              <a:solidFill>
                <a:schemeClr val="accent6"/>
              </a:solidFill>
              <a:prstDash val="sys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flipV="1">
              <a:off x="5756834" y="3571077"/>
              <a:ext cx="913812" cy="1660293"/>
            </a:xfrm>
            <a:prstGeom prst="line">
              <a:avLst/>
            </a:prstGeom>
            <a:ln>
              <a:solidFill>
                <a:schemeClr val="accent6"/>
              </a:solidFill>
              <a:prstDash val="sys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>
              <a:cxnSpLocks/>
            </p:cNvCxnSpPr>
            <p:nvPr/>
          </p:nvCxnSpPr>
          <p:spPr>
            <a:xfrm flipV="1">
              <a:off x="4832350" y="5062010"/>
              <a:ext cx="1831975" cy="338665"/>
            </a:xfrm>
            <a:prstGeom prst="line">
              <a:avLst/>
            </a:prstGeom>
            <a:ln>
              <a:solidFill>
                <a:srgbClr val="008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 flipH="1">
              <a:off x="6664325" y="3571076"/>
              <a:ext cx="8340" cy="1490932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 flipV="1">
              <a:off x="4832350" y="3563409"/>
              <a:ext cx="1841500" cy="1837266"/>
            </a:xfrm>
            <a:prstGeom prst="line">
              <a:avLst/>
            </a:prstGeom>
            <a:ln>
              <a:solidFill>
                <a:srgbClr val="008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>
              <a:cxnSpLocks noChangeAspect="1"/>
            </p:cNvCxnSpPr>
            <p:nvPr/>
          </p:nvCxnSpPr>
          <p:spPr>
            <a:xfrm flipV="1">
              <a:off x="4832350" y="4308537"/>
              <a:ext cx="1831975" cy="1092121"/>
            </a:xfrm>
            <a:prstGeom prst="line">
              <a:avLst/>
            </a:prstGeom>
            <a:ln>
              <a:solidFill>
                <a:schemeClr val="accent6"/>
              </a:solidFill>
              <a:prstDash val="sys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cxnSpLocks noChangeAspect="1"/>
            </p:cNvCxnSpPr>
            <p:nvPr/>
          </p:nvCxnSpPr>
          <p:spPr>
            <a:xfrm flipH="1">
              <a:off x="6671734" y="3568961"/>
              <a:ext cx="1670" cy="298186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>
              <a:cxnSpLocks noChangeAspect="1"/>
            </p:cNvCxnSpPr>
            <p:nvPr/>
          </p:nvCxnSpPr>
          <p:spPr>
            <a:xfrm flipH="1">
              <a:off x="6664326" y="4757470"/>
              <a:ext cx="1670" cy="298186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>
              <a:cxnSpLocks noChangeAspect="1"/>
            </p:cNvCxnSpPr>
            <p:nvPr/>
          </p:nvCxnSpPr>
          <p:spPr>
            <a:xfrm flipV="1">
              <a:off x="4832350" y="4511332"/>
              <a:ext cx="1496966" cy="889330"/>
            </a:xfrm>
            <a:prstGeom prst="line">
              <a:avLst/>
            </a:prstGeom>
            <a:ln w="38100">
              <a:solidFill>
                <a:srgbClr val="FF0000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/>
            <p:cNvSpPr txBox="1"/>
            <p:nvPr/>
          </p:nvSpPr>
          <p:spPr>
            <a:xfrm>
              <a:off x="4491559" y="5216009"/>
              <a:ext cx="3514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</a:t>
              </a:r>
              <a:endParaRPr lang="en-US" baseline="-25000" dirty="0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6507559" y="3195110"/>
              <a:ext cx="3386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</a:lstStyle>
            <a:p>
              <a:r>
                <a:rPr lang="en-US" dirty="0"/>
                <a:t>B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6655263" y="5054003"/>
              <a:ext cx="3513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  <a:endParaRPr lang="en-US" baseline="-25000" dirty="0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5401577" y="395439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</a:lstStyle>
            <a:p>
              <a:r>
                <a:rPr lang="en-US" dirty="0" smtClean="0"/>
                <a:t>c</a:t>
              </a:r>
              <a:endParaRPr lang="en-US" dirty="0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5752321" y="5302216"/>
              <a:ext cx="3130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</a:lstStyle>
            <a:p>
              <a:r>
                <a:rPr lang="en-US" dirty="0" smtClean="0"/>
                <a:t>b</a:t>
              </a:r>
              <a:endParaRPr lang="en-US" dirty="0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7050349" y="4052776"/>
              <a:ext cx="3130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6830313" y="4387992"/>
              <a:ext cx="3985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</a:lstStyle>
            <a:p>
              <a:r>
                <a:rPr lang="en-US" sz="1200" dirty="0" smtClean="0"/>
                <a:t>a/2</a:t>
              </a:r>
              <a:endParaRPr lang="en-US" sz="1200" dirty="0"/>
            </a:p>
          </p:txBody>
        </p:sp>
        <p:cxnSp>
          <p:nvCxnSpPr>
            <p:cNvPr id="91" name="Straight Connector 90"/>
            <p:cNvCxnSpPr>
              <a:cxnSpLocks noChangeAspect="1"/>
            </p:cNvCxnSpPr>
            <p:nvPr/>
          </p:nvCxnSpPr>
          <p:spPr>
            <a:xfrm>
              <a:off x="6055230" y="4660900"/>
              <a:ext cx="602221" cy="393103"/>
            </a:xfrm>
            <a:prstGeom prst="line">
              <a:avLst/>
            </a:prstGeom>
            <a:ln w="25400">
              <a:solidFill>
                <a:srgbClr val="FF0000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/>
            <p:cNvSpPr txBox="1"/>
            <p:nvPr/>
          </p:nvSpPr>
          <p:spPr>
            <a:xfrm>
              <a:off x="5065739" y="4526492"/>
              <a:ext cx="38995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</a:lstStyle>
            <a:p>
              <a:r>
                <a:rPr lang="en-US" sz="1200" dirty="0" smtClean="0"/>
                <a:t>c/2</a:t>
              </a:r>
              <a:endParaRPr lang="en-US" sz="1200" dirty="0"/>
            </a:p>
          </p:txBody>
        </p:sp>
        <p:cxnSp>
          <p:nvCxnSpPr>
            <p:cNvPr id="93" name="Straight Connector 92"/>
            <p:cNvCxnSpPr>
              <a:cxnSpLocks noChangeAspect="1"/>
            </p:cNvCxnSpPr>
            <p:nvPr/>
          </p:nvCxnSpPr>
          <p:spPr>
            <a:xfrm flipV="1">
              <a:off x="6069685" y="3568969"/>
              <a:ext cx="600990" cy="1091931"/>
            </a:xfrm>
            <a:prstGeom prst="line">
              <a:avLst/>
            </a:prstGeom>
            <a:ln w="25400">
              <a:solidFill>
                <a:srgbClr val="FF0000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/>
            <p:cNvSpPr txBox="1"/>
            <p:nvPr/>
          </p:nvSpPr>
          <p:spPr>
            <a:xfrm>
              <a:off x="6825690" y="4777004"/>
              <a:ext cx="3985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</a:lstStyle>
            <a:p>
              <a:r>
                <a:rPr lang="en-US" sz="1200" dirty="0" smtClean="0"/>
                <a:t>a/5</a:t>
              </a:r>
              <a:endParaRPr lang="en-US" sz="1200" dirty="0"/>
            </a:p>
          </p:txBody>
        </p:sp>
        <p:cxnSp>
          <p:nvCxnSpPr>
            <p:cNvPr id="95" name="Straight Connector 94"/>
            <p:cNvCxnSpPr>
              <a:cxnSpLocks noChangeAspect="1"/>
            </p:cNvCxnSpPr>
            <p:nvPr/>
          </p:nvCxnSpPr>
          <p:spPr>
            <a:xfrm>
              <a:off x="6329316" y="4525223"/>
              <a:ext cx="334014" cy="218029"/>
            </a:xfrm>
            <a:prstGeom prst="line">
              <a:avLst/>
            </a:prstGeom>
            <a:ln w="38100">
              <a:solidFill>
                <a:srgbClr val="FF0000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>
              <a:cxnSpLocks noChangeAspect="1"/>
            </p:cNvCxnSpPr>
            <p:nvPr/>
          </p:nvCxnSpPr>
          <p:spPr>
            <a:xfrm flipV="1">
              <a:off x="6311133" y="3868803"/>
              <a:ext cx="359542" cy="653245"/>
            </a:xfrm>
            <a:prstGeom prst="line">
              <a:avLst/>
            </a:prstGeom>
            <a:ln w="38100">
              <a:solidFill>
                <a:srgbClr val="FF0000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/>
            <p:cNvSpPr txBox="1"/>
            <p:nvPr/>
          </p:nvSpPr>
          <p:spPr>
            <a:xfrm>
              <a:off x="5455690" y="4226182"/>
              <a:ext cx="35137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</a:lstStyle>
            <a:p>
              <a:r>
                <a:rPr lang="en-US" sz="1100" dirty="0"/>
                <a:t>M</a:t>
              </a:r>
              <a:r>
                <a:rPr lang="en-US" sz="1100" baseline="-25000" smtClean="0"/>
                <a:t>c</a:t>
              </a:r>
              <a:endParaRPr lang="en-US" sz="1100" baseline="-25000" dirty="0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5715566" y="4528398"/>
              <a:ext cx="30217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</a:lstStyle>
            <a:p>
              <a:r>
                <a:rPr lang="en-US" sz="1100" dirty="0"/>
                <a:t>M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6657451" y="4181599"/>
              <a:ext cx="3699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</a:lstStyle>
            <a:p>
              <a:r>
                <a:rPr lang="en-US" sz="1200" smtClean="0"/>
                <a:t>M</a:t>
              </a:r>
              <a:r>
                <a:rPr lang="en-US" sz="1200" baseline="-25000" smtClean="0"/>
                <a:t>a</a:t>
              </a:r>
              <a:endParaRPr lang="en-US" sz="1200" baseline="-25000" dirty="0"/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6668547" y="4597020"/>
              <a:ext cx="3514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</a:lstStyle>
            <a:p>
              <a:r>
                <a:rPr lang="en-US" sz="1200" dirty="0"/>
                <a:t>A</a:t>
              </a:r>
              <a:r>
                <a:rPr lang="en-US" sz="1200" baseline="-25000" smtClean="0"/>
                <a:t>c</a:t>
              </a:r>
              <a:endParaRPr lang="en-US" sz="1200" baseline="-25000" dirty="0"/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6671683" y="3725298"/>
              <a:ext cx="36420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</a:lstStyle>
            <a:p>
              <a:r>
                <a:rPr lang="en-US" sz="1200" dirty="0" err="1"/>
                <a:t>A</a:t>
              </a:r>
              <a:r>
                <a:rPr lang="en-US" sz="1200" baseline="-25000" smtClean="0"/>
                <a:t>b</a:t>
              </a:r>
              <a:endParaRPr lang="en-US" sz="1200" baseline="-25000" dirty="0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6189190" y="4493546"/>
              <a:ext cx="28653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</a:lstStyle>
            <a:p>
              <a:r>
                <a:rPr lang="en-US" sz="1100" dirty="0"/>
                <a:t>D</a:t>
              </a:r>
              <a:endParaRPr lang="en-US" sz="1100" baseline="-25000" dirty="0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5202670" y="5294203"/>
              <a:ext cx="3985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</a:lstStyle>
            <a:p>
              <a:r>
                <a:rPr lang="en-US" sz="1200" dirty="0" smtClean="0"/>
                <a:t>b/2</a:t>
              </a:r>
              <a:endParaRPr lang="en-US" sz="1200" dirty="0"/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5601262" y="5180790"/>
              <a:ext cx="35447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</a:lstStyle>
            <a:p>
              <a:r>
                <a:rPr lang="en-US" sz="1100" dirty="0" err="1"/>
                <a:t>M</a:t>
              </a:r>
              <a:r>
                <a:rPr lang="en-US" sz="1100" baseline="-25000" smtClean="0"/>
                <a:t>b</a:t>
              </a:r>
              <a:endParaRPr lang="en-US" sz="1100" baseline="-25000" dirty="0"/>
            </a:p>
          </p:txBody>
        </p:sp>
      </p:grpSp>
      <p:sp>
        <p:nvSpPr>
          <p:cNvPr id="105" name="TextBox 104"/>
          <p:cNvSpPr txBox="1"/>
          <p:nvPr/>
        </p:nvSpPr>
        <p:spPr>
          <a:xfrm>
            <a:off x="3327400" y="1873250"/>
            <a:ext cx="30050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0000FF"/>
                </a:solidFill>
              </a:rPr>
              <a:t>Circumcenter</a:t>
            </a:r>
            <a:r>
              <a:rPr lang="en-US" sz="2000"/>
              <a:t> for mono-tris</a:t>
            </a:r>
          </a:p>
          <a:p>
            <a:r>
              <a:rPr lang="en-US" sz="2000"/>
              <a:t>heuristic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724383" y="3632200"/>
            <a:ext cx="20720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Centroid</a:t>
            </a:r>
            <a:r>
              <a:rPr lang="en-US" sz="2000" dirty="0"/>
              <a:t> (median) </a:t>
            </a:r>
            <a:br>
              <a:rPr lang="en-US" sz="2000" dirty="0"/>
            </a:br>
            <a:r>
              <a:rPr lang="en-US" sz="2000" dirty="0"/>
              <a:t>for reflex quads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330450" y="4559300"/>
            <a:ext cx="21856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Orthocenter</a:t>
            </a:r>
            <a:r>
              <a:rPr lang="en-US" sz="2000" dirty="0"/>
              <a:t> feeling </a:t>
            </a:r>
            <a:br>
              <a:rPr lang="en-US" sz="2000" dirty="0"/>
            </a:br>
            <a:r>
              <a:rPr lang="en-US" sz="2000" dirty="0"/>
              <a:t>left out</a:t>
            </a:r>
          </a:p>
        </p:txBody>
      </p:sp>
      <p:pic>
        <p:nvPicPr>
          <p:cNvPr id="110" name="Picture 1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3900" y="4965700"/>
            <a:ext cx="833298" cy="838200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6299200" y="6519446"/>
            <a:ext cx="17876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deviantArt Free Ai Vector Smiley Pack</a:t>
            </a:r>
          </a:p>
          <a:p>
            <a:r>
              <a:rPr lang="en-US" sz="800"/>
              <a:t>by MathieuBerenguer</a:t>
            </a:r>
          </a:p>
        </p:txBody>
      </p:sp>
    </p:spTree>
    <p:extLst>
      <p:ext uri="{BB962C8B-B14F-4D97-AF65-F5344CB8AC3E}">
        <p14:creationId xmlns:p14="http://schemas.microsoft.com/office/powerpoint/2010/main" val="3708728431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Closing Thoughts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62050"/>
            <a:ext cx="7772400" cy="4572000"/>
          </a:xfrm>
        </p:spPr>
        <p:txBody>
          <a:bodyPr/>
          <a:lstStyle/>
          <a:p>
            <a:r>
              <a:rPr lang="en-US" dirty="0"/>
              <a:t>We create two-colorable quad meshes</a:t>
            </a:r>
          </a:p>
          <a:p>
            <a:pPr lvl="1"/>
            <a:r>
              <a:rPr lang="en-US" dirty="0" smtClean="0"/>
              <a:t>For non-disk domain topologies,</a:t>
            </a:r>
            <a:br>
              <a:rPr lang="en-US" dirty="0" smtClean="0"/>
            </a:br>
            <a:r>
              <a:rPr lang="en-US" dirty="0"/>
              <a:t>s</a:t>
            </a:r>
            <a:r>
              <a:rPr lang="en-US" dirty="0" smtClean="0"/>
              <a:t>ome </a:t>
            </a:r>
            <a:r>
              <a:rPr lang="en-US" dirty="0"/>
              <a:t>given quad meshes are not two-colorable</a:t>
            </a:r>
          </a:p>
          <a:p>
            <a:endParaRPr lang="en-US" dirty="0"/>
          </a:p>
        </p:txBody>
      </p:sp>
      <p:grpSp>
        <p:nvGrpSpPr>
          <p:cNvPr id="33" name="Group 32"/>
          <p:cNvGrpSpPr/>
          <p:nvPr/>
        </p:nvGrpSpPr>
        <p:grpSpPr>
          <a:xfrm>
            <a:off x="12700" y="2567644"/>
            <a:ext cx="5826474" cy="2382172"/>
            <a:chOff x="-1930400" y="2292460"/>
            <a:chExt cx="5826474" cy="2382172"/>
          </a:xfrm>
        </p:grpSpPr>
        <p:sp>
          <p:nvSpPr>
            <p:cNvPr id="4" name="Donut 3"/>
            <p:cNvSpPr/>
            <p:nvPr/>
          </p:nvSpPr>
          <p:spPr bwMode="auto">
            <a:xfrm>
              <a:off x="1022350" y="2305050"/>
              <a:ext cx="2781300" cy="1949450"/>
            </a:xfrm>
            <a:prstGeom prst="donut">
              <a:avLst/>
            </a:prstGeom>
            <a:solidFill>
              <a:schemeClr val="accent1">
                <a:alpha val="34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cxnSp>
          <p:nvCxnSpPr>
            <p:cNvPr id="6" name="Straight Connector 5"/>
            <p:cNvCxnSpPr>
              <a:endCxn id="4" idx="6"/>
            </p:cNvCxnSpPr>
            <p:nvPr/>
          </p:nvCxnSpPr>
          <p:spPr bwMode="auto">
            <a:xfrm flipV="1">
              <a:off x="3327400" y="3279775"/>
              <a:ext cx="476250" cy="317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" name="Straight Connector 7"/>
            <p:cNvCxnSpPr/>
            <p:nvPr/>
          </p:nvCxnSpPr>
          <p:spPr bwMode="auto">
            <a:xfrm flipV="1">
              <a:off x="1035050" y="3267075"/>
              <a:ext cx="476250" cy="317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Straight Connector 8"/>
            <p:cNvCxnSpPr/>
            <p:nvPr/>
          </p:nvCxnSpPr>
          <p:spPr bwMode="auto">
            <a:xfrm flipH="1" flipV="1">
              <a:off x="1752600" y="2425700"/>
              <a:ext cx="215900" cy="43815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Straight Connector 12"/>
            <p:cNvCxnSpPr>
              <a:stCxn id="4" idx="4"/>
            </p:cNvCxnSpPr>
            <p:nvPr/>
          </p:nvCxnSpPr>
          <p:spPr bwMode="auto">
            <a:xfrm flipV="1">
              <a:off x="2413000" y="3778250"/>
              <a:ext cx="0" cy="47625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" name="Oval 16"/>
            <p:cNvSpPr/>
            <p:nvPr/>
          </p:nvSpPr>
          <p:spPr bwMode="auto">
            <a:xfrm rot="5400000">
              <a:off x="3209156" y="3186141"/>
              <a:ext cx="210312" cy="213651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 bwMode="auto">
            <a:xfrm flipV="1">
              <a:off x="2794000" y="2393950"/>
              <a:ext cx="215900" cy="45085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2" name="TextBox 21"/>
            <p:cNvSpPr txBox="1"/>
            <p:nvPr/>
          </p:nvSpPr>
          <p:spPr>
            <a:xfrm>
              <a:off x="-1930400" y="2927350"/>
              <a:ext cx="289186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odd-cycle of edges</a:t>
              </a:r>
            </a:p>
            <a:p>
              <a:r>
                <a:rPr lang="en-US" sz="2000" dirty="0"/>
                <a:t>non-disk domain topology</a:t>
              </a:r>
            </a:p>
          </p:txBody>
        </p:sp>
        <p:sp>
          <p:nvSpPr>
            <p:cNvPr id="23" name="Oval 22"/>
            <p:cNvSpPr/>
            <p:nvPr/>
          </p:nvSpPr>
          <p:spPr bwMode="auto">
            <a:xfrm rot="5400000">
              <a:off x="1391743" y="3174622"/>
              <a:ext cx="210312" cy="2136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4" name="Oval 23"/>
            <p:cNvSpPr/>
            <p:nvPr/>
          </p:nvSpPr>
          <p:spPr bwMode="auto">
            <a:xfrm rot="5400000">
              <a:off x="1843906" y="2747992"/>
              <a:ext cx="210312" cy="213651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5" name="Oval 24"/>
            <p:cNvSpPr/>
            <p:nvPr/>
          </p:nvSpPr>
          <p:spPr bwMode="auto">
            <a:xfrm rot="5400000">
              <a:off x="3684093" y="3187322"/>
              <a:ext cx="210312" cy="2136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6" name="Oval 25"/>
            <p:cNvSpPr/>
            <p:nvPr/>
          </p:nvSpPr>
          <p:spPr bwMode="auto">
            <a:xfrm rot="5400000">
              <a:off x="1633043" y="2317372"/>
              <a:ext cx="210312" cy="2136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7" name="Oval 26"/>
            <p:cNvSpPr/>
            <p:nvPr/>
          </p:nvSpPr>
          <p:spPr bwMode="auto">
            <a:xfrm rot="5400000">
              <a:off x="2313806" y="3656042"/>
              <a:ext cx="210312" cy="213651"/>
            </a:xfrm>
            <a:prstGeom prst="ellipse">
              <a:avLst/>
            </a:prstGeom>
            <a:solidFill>
              <a:schemeClr val="bg2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8" name="Oval 27"/>
            <p:cNvSpPr/>
            <p:nvPr/>
          </p:nvSpPr>
          <p:spPr bwMode="auto">
            <a:xfrm rot="5400000">
              <a:off x="2307456" y="4138642"/>
              <a:ext cx="210312" cy="213651"/>
            </a:xfrm>
            <a:prstGeom prst="ellipse">
              <a:avLst/>
            </a:prstGeom>
            <a:solidFill>
              <a:schemeClr val="bg2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Oval 28"/>
            <p:cNvSpPr/>
            <p:nvPr/>
          </p:nvSpPr>
          <p:spPr bwMode="auto">
            <a:xfrm rot="5400000">
              <a:off x="910456" y="3167091"/>
              <a:ext cx="210312" cy="213651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30" name="Oval 29"/>
            <p:cNvSpPr/>
            <p:nvPr/>
          </p:nvSpPr>
          <p:spPr bwMode="auto">
            <a:xfrm rot="5400000">
              <a:off x="2904356" y="2290790"/>
              <a:ext cx="210312" cy="213651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8" name="Oval 17"/>
            <p:cNvSpPr/>
            <p:nvPr/>
          </p:nvSpPr>
          <p:spPr bwMode="auto">
            <a:xfrm rot="5400000">
              <a:off x="2693493" y="2736471"/>
              <a:ext cx="210312" cy="2136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273300" y="3308350"/>
              <a:ext cx="2871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/>
                <a:t>?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266950" y="4305300"/>
              <a:ext cx="2871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295105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Closing thoughts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508760"/>
            <a:ext cx="7772400" cy="4572000"/>
          </a:xfrm>
        </p:spPr>
        <p:txBody>
          <a:bodyPr/>
          <a:lstStyle/>
          <a:p>
            <a:pPr lvl="1"/>
            <a:r>
              <a:rPr lang="en-US" sz="2400" dirty="0"/>
              <a:t>Can we create hex meshes by coloring?</a:t>
            </a:r>
          </a:p>
          <a:p>
            <a:pPr marL="914400" lvl="2" indent="0">
              <a:buNone/>
            </a:pP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no.</a:t>
            </a:r>
            <a:endParaRPr lang="en-US" dirty="0"/>
          </a:p>
          <a:p>
            <a:pPr marL="914400" lvl="2" indent="0">
              <a:buNone/>
            </a:pPr>
            <a:endParaRPr lang="en-US" dirty="0" smtClean="0"/>
          </a:p>
          <a:p>
            <a:pPr marL="914400" lvl="2" indent="0">
              <a:buNone/>
            </a:pPr>
            <a:r>
              <a:rPr lang="en-US" dirty="0" smtClean="0"/>
              <a:t>2d, a chain of edges of even length -&gt; 2n-gon</a:t>
            </a:r>
          </a:p>
          <a:p>
            <a:pPr marL="914400" lvl="2" indent="0">
              <a:buNone/>
            </a:pPr>
            <a:r>
              <a:rPr lang="en-US" dirty="0" smtClean="0"/>
              <a:t>3d, a chain of edges of even length </a:t>
            </a:r>
            <a:br>
              <a:rPr lang="en-US" dirty="0" smtClean="0"/>
            </a:br>
            <a:r>
              <a:rPr lang="en-US" dirty="0" smtClean="0"/>
              <a:t>	!= edge cycles bounding hexes</a:t>
            </a:r>
            <a:endParaRPr lang="en-US" dirty="0"/>
          </a:p>
          <a:p>
            <a:pPr marL="914400" lvl="2" indent="0">
              <a:buNone/>
            </a:pPr>
            <a:endParaRPr lang="en-US" sz="1800" dirty="0"/>
          </a:p>
          <a:p>
            <a:pPr marL="914400" lvl="2" indent="0">
              <a:buNone/>
            </a:pPr>
            <a:r>
              <a:rPr lang="en-US" dirty="0" smtClean="0"/>
              <a:t>Pairings: combine </a:t>
            </a:r>
            <a:r>
              <a:rPr lang="en-US" dirty="0" err="1" smtClean="0"/>
              <a:t>tets</a:t>
            </a:r>
            <a:r>
              <a:rPr lang="en-US" dirty="0" smtClean="0"/>
              <a:t> to form hexes?</a:t>
            </a:r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r>
              <a:rPr lang="en-US" dirty="0" smtClean="0"/>
              <a:t>Closest idea: graphics and meshing literature </a:t>
            </a:r>
            <a:r>
              <a:rPr lang="en-US" dirty="0"/>
              <a:t>on 3d cross-fields and connecting hex-duals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685800" y="1508760"/>
            <a:ext cx="7772400" cy="13370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>
            <a:lvl1pPr marL="34290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200" b="1">
                <a:solidFill>
                  <a:srgbClr val="000000"/>
                </a:solidFill>
                <a:latin typeface="+mn-lt"/>
              </a:defRPr>
            </a:lvl2pPr>
            <a:lvl3pPr marL="1085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rgbClr val="000000"/>
                </a:solidFill>
                <a:latin typeface="+mn-lt"/>
              </a:defRPr>
            </a:lvl3pPr>
            <a:lvl4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rgbClr val="000000"/>
                </a:solidFill>
                <a:latin typeface="+mn-lt"/>
              </a:defRPr>
            </a:lvl4pPr>
            <a:lvl5pPr marL="19431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5pPr>
            <a:lvl6pPr marL="24003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6pPr>
            <a:lvl7pPr marL="28575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7pPr>
            <a:lvl8pPr marL="33147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8pPr>
            <a:lvl9pPr marL="37719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9pPr>
          </a:lstStyle>
          <a:p>
            <a:pPr lvl="1"/>
            <a:r>
              <a:rPr lang="en-US" sz="2400" dirty="0" smtClean="0"/>
              <a:t>Can we create hex meshes by coloring?</a:t>
            </a:r>
          </a:p>
          <a:p>
            <a:pPr marL="914400" lvl="2" indent="0">
              <a:buFontTx/>
              <a:buNone/>
            </a:pP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no.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1182937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Reasonable Extensions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62050"/>
            <a:ext cx="7772400" cy="5338642"/>
          </a:xfrm>
        </p:spPr>
        <p:txBody>
          <a:bodyPr/>
          <a:lstStyle/>
          <a:p>
            <a:r>
              <a:rPr lang="en-US" dirty="0"/>
              <a:t>Q</a:t>
            </a:r>
            <a:r>
              <a:rPr lang="en-US" dirty="0" smtClean="0"/>
              <a:t>uestions</a:t>
            </a:r>
          </a:p>
          <a:p>
            <a:pPr lvl="1"/>
            <a:r>
              <a:rPr lang="en-US" sz="2400" dirty="0" smtClean="0"/>
              <a:t>Varying-size advancing front?</a:t>
            </a:r>
          </a:p>
          <a:p>
            <a:pPr lvl="1"/>
            <a:r>
              <a:rPr lang="en-US" sz="2400" dirty="0" smtClean="0"/>
              <a:t>How fast can we vary the size?</a:t>
            </a:r>
          </a:p>
          <a:p>
            <a:pPr lvl="2"/>
            <a:r>
              <a:rPr lang="en-US" dirty="0" smtClean="0"/>
              <a:t>Bounds for two-radii DT known</a:t>
            </a:r>
          </a:p>
        </p:txBody>
      </p:sp>
    </p:spTree>
    <p:extLst>
      <p:ext uri="{BB962C8B-B14F-4D97-AF65-F5344CB8AC3E}">
        <p14:creationId xmlns:p14="http://schemas.microsoft.com/office/powerpoint/2010/main" val="4174486829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62050"/>
            <a:ext cx="7772400" cy="5338642"/>
          </a:xfrm>
        </p:spPr>
        <p:txBody>
          <a:bodyPr/>
          <a:lstStyle/>
          <a:p>
            <a:r>
              <a:rPr lang="en-US" sz="2000" dirty="0" smtClean="0"/>
              <a:t>Three key ideas</a:t>
            </a:r>
          </a:p>
          <a:p>
            <a:pPr lvl="1"/>
            <a:r>
              <a:rPr lang="en-US" sz="1800" dirty="0" smtClean="0"/>
              <a:t>Graph theory, two-coloring of vertices</a:t>
            </a:r>
          </a:p>
          <a:p>
            <a:pPr lvl="1"/>
            <a:r>
              <a:rPr lang="en-US" sz="1800" dirty="0" smtClean="0"/>
              <a:t>Random sphere-</a:t>
            </a:r>
            <a:r>
              <a:rPr lang="en-US" sz="1800" dirty="0" err="1" smtClean="0"/>
              <a:t>packings</a:t>
            </a:r>
            <a:r>
              <a:rPr lang="en-US" sz="1800" dirty="0" smtClean="0"/>
              <a:t> (better control than Delaunay refine)</a:t>
            </a:r>
          </a:p>
          <a:p>
            <a:pPr lvl="1"/>
            <a:r>
              <a:rPr lang="en-US" sz="1800" dirty="0" smtClean="0"/>
              <a:t>Advancing front</a:t>
            </a:r>
          </a:p>
          <a:p>
            <a:pPr lvl="2"/>
            <a:endParaRPr lang="en-US" sz="1800" dirty="0" smtClean="0"/>
          </a:p>
          <a:p>
            <a:r>
              <a:rPr lang="en-US" sz="2000" dirty="0" smtClean="0"/>
              <a:t>Features</a:t>
            </a:r>
          </a:p>
          <a:p>
            <a:pPr lvl="1"/>
            <a:r>
              <a:rPr lang="en-US" sz="2000" dirty="0" smtClean="0"/>
              <a:t>Robust</a:t>
            </a:r>
          </a:p>
          <a:p>
            <a:pPr lvl="1"/>
            <a:r>
              <a:rPr lang="en-US" sz="2000" dirty="0" smtClean="0"/>
              <a:t>Simple</a:t>
            </a:r>
          </a:p>
          <a:p>
            <a:pPr lvl="1"/>
            <a:r>
              <a:rPr lang="en-US" sz="2000" dirty="0" smtClean="0"/>
              <a:t>Local</a:t>
            </a:r>
          </a:p>
          <a:p>
            <a:pPr lvl="1"/>
            <a:r>
              <a:rPr lang="en-US" sz="2000" dirty="0" smtClean="0"/>
              <a:t>Provable quality</a:t>
            </a:r>
          </a:p>
          <a:p>
            <a:pPr lvl="1"/>
            <a:r>
              <a:rPr lang="en-US" sz="2000" dirty="0" smtClean="0"/>
              <a:t>Heuristics for good quality in practice</a:t>
            </a:r>
          </a:p>
          <a:p>
            <a:pPr lvl="1"/>
            <a:r>
              <a:rPr lang="en-US" sz="2000" dirty="0" smtClean="0"/>
              <a:t>What more do you want?</a:t>
            </a:r>
          </a:p>
          <a:p>
            <a:r>
              <a:rPr lang="en-US" sz="2000" dirty="0" smtClean="0"/>
              <a:t>Quality is reasonable before cleanup</a:t>
            </a:r>
          </a:p>
          <a:p>
            <a:pPr lvl="1"/>
            <a:r>
              <a:rPr lang="en-US" sz="2000" dirty="0" smtClean="0"/>
              <a:t>someone could build a production tool based on this</a:t>
            </a:r>
          </a:p>
          <a:p>
            <a:pPr lvl="1"/>
            <a:r>
              <a:rPr lang="en-US" sz="2000" dirty="0" smtClean="0"/>
              <a:t>add traditional cleanup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80861102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FF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>
        <a:ln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68353</TotalTime>
  <Words>1717</Words>
  <Application>Microsoft Macintosh PowerPoint</Application>
  <PresentationFormat>On-screen Show (4:3)</PresentationFormat>
  <Paragraphs>414</Paragraphs>
  <Slides>41</Slides>
  <Notes>41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3" baseType="lpstr">
      <vt:lpstr>Default Design</vt:lpstr>
      <vt:lpstr>Acrobat Document</vt:lpstr>
      <vt:lpstr> Delaunay quadrangulation by two-coloring vertices or  How to turn a triangle mesh into a quad one with no global problems</vt:lpstr>
      <vt:lpstr>Outline</vt:lpstr>
      <vt:lpstr>Convert tri mesh to quads One-slide Algorithm</vt:lpstr>
      <vt:lpstr>Convert tri mesh to quads One-slide Algorithm</vt:lpstr>
      <vt:lpstr>Convert tri mesh to quads One-slide Algorithm</vt:lpstr>
      <vt:lpstr>Why does this work?</vt:lpstr>
      <vt:lpstr>Incircle refinement details</vt:lpstr>
      <vt:lpstr>Pairing different than two-coloring (unless all-quad without refinement)</vt:lpstr>
      <vt:lpstr>Why two-coloring vertices?  Why not matching triangles?</vt:lpstr>
      <vt:lpstr>Why two-coloring vertices?  Why not matching triangles?</vt:lpstr>
      <vt:lpstr>Why two-coloring vertices?  Why not matching triangles?</vt:lpstr>
      <vt:lpstr>Interval Assignment Interpretation</vt:lpstr>
      <vt:lpstr>Back to the algorithm</vt:lpstr>
      <vt:lpstr>Sphere packing,  better control than Delaunay Refinement</vt:lpstr>
      <vt:lpstr>Reducing the Frequency of Mono-tris Sphere Packing with Two Colors</vt:lpstr>
      <vt:lpstr>Reducing the Frequency of Mono-tris Two-radii Plus Color Switching</vt:lpstr>
      <vt:lpstr>Resolving Stubborn Mono-tris Circumcircle Delaunay Refinement</vt:lpstr>
      <vt:lpstr>Avoiding Reflex Quad</vt:lpstr>
      <vt:lpstr>Heuristic Summary</vt:lpstr>
      <vt:lpstr>Curved Surfaces Mesh Size may Vary</vt:lpstr>
      <vt:lpstr>Fourier Spectrum</vt:lpstr>
      <vt:lpstr>Random</vt:lpstr>
      <vt:lpstr>Structured</vt:lpstr>
      <vt:lpstr>Advancing Front for Structured</vt:lpstr>
      <vt:lpstr>Advancing Front for Structured</vt:lpstr>
      <vt:lpstr>Advancing Front for Structured</vt:lpstr>
      <vt:lpstr>PowerPoint Presentation</vt:lpstr>
      <vt:lpstr>PowerPoint Presentation</vt:lpstr>
      <vt:lpstr>PowerPoint Presentation</vt:lpstr>
      <vt:lpstr>PowerPoint Presentation</vt:lpstr>
      <vt:lpstr>Sharp Corners</vt:lpstr>
      <vt:lpstr>Adv. Front Wedge</vt:lpstr>
      <vt:lpstr>PowerPoint Presentation</vt:lpstr>
      <vt:lpstr>PowerPoint Presentation</vt:lpstr>
      <vt:lpstr>Qualitative comparison  to a production code</vt:lpstr>
      <vt:lpstr>Qualitative comparison  to a production code</vt:lpstr>
      <vt:lpstr>Closing Thoughts</vt:lpstr>
      <vt:lpstr>Closing Thoughts</vt:lpstr>
      <vt:lpstr>Closing thoughts</vt:lpstr>
      <vt:lpstr>Reasonable Extensions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Title 32pt</dc:title>
  <cp:lastModifiedBy>Scott Mitchell</cp:lastModifiedBy>
  <cp:revision>978</cp:revision>
  <cp:lastPrinted>2011-09-09T19:40:28Z</cp:lastPrinted>
  <dcterms:modified xsi:type="dcterms:W3CDTF">2014-10-22T19:47:29Z</dcterms:modified>
</cp:coreProperties>
</file>