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357" r:id="rId3"/>
    <p:sldId id="392" r:id="rId4"/>
    <p:sldId id="383" r:id="rId5"/>
    <p:sldId id="374" r:id="rId6"/>
    <p:sldId id="381" r:id="rId7"/>
    <p:sldId id="384" r:id="rId8"/>
    <p:sldId id="377" r:id="rId9"/>
    <p:sldId id="386" r:id="rId10"/>
    <p:sldId id="376" r:id="rId11"/>
    <p:sldId id="378" r:id="rId12"/>
    <p:sldId id="379" r:id="rId13"/>
    <p:sldId id="385" r:id="rId14"/>
    <p:sldId id="387" r:id="rId15"/>
    <p:sldId id="382" r:id="rId16"/>
    <p:sldId id="388" r:id="rId17"/>
    <p:sldId id="367" r:id="rId18"/>
    <p:sldId id="390" r:id="rId19"/>
    <p:sldId id="369" r:id="rId20"/>
    <p:sldId id="370" r:id="rId21"/>
    <p:sldId id="371" r:id="rId22"/>
    <p:sldId id="389" r:id="rId23"/>
    <p:sldId id="373" r:id="rId24"/>
    <p:sldId id="391" r:id="rId25"/>
    <p:sldId id="372" r:id="rId26"/>
    <p:sldId id="380" r:id="rId27"/>
    <p:sldId id="368" r:id="rId28"/>
    <p:sldId id="393" r:id="rId29"/>
    <p:sldId id="366" r:id="rId30"/>
    <p:sldId id="375" r:id="rId31"/>
  </p:sldIdLst>
  <p:sldSz cx="9144000" cy="6858000" type="screen4x3"/>
  <p:notesSz cx="6940550" cy="90805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AA0"/>
    <a:srgbClr val="FFD906"/>
    <a:srgbClr val="FF0000"/>
    <a:srgbClr val="00D200"/>
    <a:srgbClr val="FA0456"/>
    <a:srgbClr val="3366FF"/>
    <a:srgbClr val="000000"/>
    <a:srgbClr val="080808"/>
    <a:srgbClr val="3A984A"/>
    <a:srgbClr val="25B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86" autoAdjust="0"/>
    <p:restoredTop sz="94660" autoAdjust="0"/>
  </p:normalViewPr>
  <p:slideViewPr>
    <p:cSldViewPr snapToGrid="0">
      <p:cViewPr varScale="1">
        <p:scale>
          <a:sx n="210" d="100"/>
          <a:sy n="210" d="100"/>
        </p:scale>
        <p:origin x="-276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8" d="100"/>
          <a:sy n="128" d="100"/>
        </p:scale>
        <p:origin x="-4416" y="-128"/>
      </p:cViewPr>
      <p:guideLst>
        <p:guide orient="horz" pos="2860"/>
        <p:guide pos="21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handoutMaster" Target="handoutMasters/handoutMaster1.xml"/><Relationship Id="rId34" Type="http://schemas.openxmlformats.org/officeDocument/2006/relationships/printerSettings" Target="printerSettings/printerSettings1.bin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3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340225"/>
            <a:ext cx="5049837" cy="410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581" tIns="46085" rIns="90581" bIns="460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687388"/>
            <a:ext cx="4522788" cy="3392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891742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2438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04875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57313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09750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Fraction</a:t>
            </a:r>
            <a:r>
              <a:rPr lang="en-US" baseline="0" dirty="0"/>
              <a:t> of work…</a:t>
            </a:r>
            <a:endParaRPr lang="en-US" dirty="0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0988"/>
            <a:ext cx="1943100" cy="5815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0988"/>
            <a:ext cx="5676900" cy="5815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wmf"/><Relationship Id="rId14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Subtitle 24 pt</a:t>
            </a:r>
          </a:p>
          <a:p>
            <a:pPr lvl="1"/>
            <a:r>
              <a:rPr lang="en-US" smtClean="0"/>
              <a:t>Second level 22 pt</a:t>
            </a:r>
          </a:p>
          <a:p>
            <a:pPr lvl="2"/>
            <a:r>
              <a:rPr lang="en-US" smtClean="0"/>
              <a:t>Third level 20 pt</a:t>
            </a:r>
          </a:p>
          <a:p>
            <a:pPr lvl="3"/>
            <a:r>
              <a:rPr lang="en-US" smtClean="0"/>
              <a:t>Fourth level 18pt</a:t>
            </a:r>
          </a:p>
          <a:p>
            <a:pPr lvl="4"/>
            <a:r>
              <a:rPr lang="en-US" smtClean="0"/>
              <a:t>Fifth level 18pt</a:t>
            </a:r>
          </a:p>
        </p:txBody>
      </p:sp>
      <p:pic>
        <p:nvPicPr>
          <p:cNvPr id="1027" name="Picture 3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2578100" cy="147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817563" y="1143000"/>
            <a:ext cx="75898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 - 28 Point Helvetica Bold</a:t>
            </a:r>
          </a:p>
        </p:txBody>
      </p:sp>
      <p:pic>
        <p:nvPicPr>
          <p:cNvPr id="1030" name="Picture 6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6418263"/>
            <a:ext cx="889000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34290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200" b="1">
          <a:solidFill>
            <a:srgbClr val="000000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000000"/>
          </a:solidFill>
          <a:latin typeface="+mn-lt"/>
        </a:defRPr>
      </a:lvl3pPr>
      <a:lvl4pPr marL="15430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b="1">
          <a:solidFill>
            <a:srgbClr val="000000"/>
          </a:solidFill>
          <a:latin typeface="+mn-lt"/>
        </a:defRPr>
      </a:lvl4pPr>
      <a:lvl5pPr marL="19431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5pPr>
      <a:lvl6pPr marL="24003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6pPr>
      <a:lvl7pPr marL="28575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7pPr>
      <a:lvl8pPr marL="33147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8pPr>
      <a:lvl9pPr marL="37719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4" Type="http://schemas.openxmlformats.org/officeDocument/2006/relationships/image" Target="../media/image4.jpeg"/><Relationship Id="rId5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5.emf"/><Relationship Id="rId6" Type="http://schemas.openxmlformats.org/officeDocument/2006/relationships/image" Target="../media/image9.emf"/><Relationship Id="rId7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6.emf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5" Type="http://schemas.openxmlformats.org/officeDocument/2006/relationships/image" Target="../media/image28.emf"/><Relationship Id="rId6" Type="http://schemas.openxmlformats.org/officeDocument/2006/relationships/image" Target="../media/image26.emf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emf"/><Relationship Id="rId3" Type="http://schemas.openxmlformats.org/officeDocument/2006/relationships/image" Target="../media/image34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3" Type="http://schemas.openxmlformats.org/officeDocument/2006/relationships/image" Target="../media/image26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emf"/><Relationship Id="rId3" Type="http://schemas.openxmlformats.org/officeDocument/2006/relationships/image" Target="../media/image2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4" Type="http://schemas.openxmlformats.org/officeDocument/2006/relationships/image" Target="../media/image38.emf"/><Relationship Id="rId5" Type="http://schemas.openxmlformats.org/officeDocument/2006/relationships/image" Target="../media/image39.emf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emf"/><Relationship Id="rId3" Type="http://schemas.openxmlformats.org/officeDocument/2006/relationships/image" Target="../media/image41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5.emf"/><Relationship Id="rId6" Type="http://schemas.openxmlformats.org/officeDocument/2006/relationships/image" Target="../media/image9.emf"/><Relationship Id="rId7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981200" y="6283325"/>
            <a:ext cx="5180013" cy="498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Sandia is a multiprogram laboratory operated by Sandia Corporation, a Lockheed Martin Company,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for the United States Department of Energy’s National Nuclear Security Administration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 under contract DE-AC04-94AL85000.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0700" y="4392034"/>
            <a:ext cx="8070850" cy="1763120"/>
          </a:xfrm>
          <a:noFill/>
          <a:ln/>
        </p:spPr>
        <p:txBody>
          <a:bodyPr/>
          <a:lstStyle/>
          <a:p>
            <a:pPr marL="342900" indent="-171450">
              <a:lnSpc>
                <a:spcPct val="80000"/>
              </a:lnSpc>
            </a:pPr>
            <a:endParaRPr lang="en-US" sz="1600" dirty="0" smtClean="0">
              <a:solidFill>
                <a:schemeClr val="accent2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chemeClr val="tx2"/>
                </a:solidFill>
              </a:rPr>
              <a:t>Scott </a:t>
            </a:r>
            <a:r>
              <a:rPr lang="en-US" sz="1600" dirty="0">
                <a:solidFill>
                  <a:schemeClr val="tx2"/>
                </a:solidFill>
              </a:rPr>
              <a:t>A. </a:t>
            </a:r>
            <a:r>
              <a:rPr lang="en-US" sz="1600" dirty="0" smtClean="0">
                <a:solidFill>
                  <a:schemeClr val="tx2"/>
                </a:solidFill>
              </a:rPr>
              <a:t>Mitchell</a:t>
            </a:r>
          </a:p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chemeClr val="tx2"/>
                </a:solidFill>
              </a:rPr>
              <a:t>Computing Research</a:t>
            </a:r>
          </a:p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chemeClr val="tx2"/>
                </a:solidFill>
              </a:rPr>
              <a:t>Sandia National Laboratories</a:t>
            </a:r>
            <a:r>
              <a:rPr lang="en-US" sz="1600" dirty="0">
                <a:solidFill>
                  <a:schemeClr val="tx2"/>
                </a:solidFill>
              </a:rPr>
              <a:t/>
            </a: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 smtClean="0">
              <a:solidFill>
                <a:schemeClr val="tx2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chemeClr val="accent6"/>
                </a:solidFill>
              </a:rPr>
              <a:t>International Meshing Roundtable</a:t>
            </a:r>
            <a:br>
              <a:rPr lang="en-US" sz="1600" dirty="0" smtClean="0">
                <a:solidFill>
                  <a:schemeClr val="accent6"/>
                </a:solidFill>
              </a:rPr>
            </a:br>
            <a:r>
              <a:rPr lang="en-US" sz="1600" dirty="0" smtClean="0">
                <a:solidFill>
                  <a:schemeClr val="accent6"/>
                </a:solidFill>
              </a:rPr>
              <a:t>October 2013</a:t>
            </a:r>
          </a:p>
          <a:p>
            <a:pPr marL="342900" indent="-171450">
              <a:lnSpc>
                <a:spcPct val="80000"/>
              </a:lnSpc>
            </a:pPr>
            <a:r>
              <a:rPr lang="en-US" sz="1200" dirty="0">
                <a:solidFill>
                  <a:srgbClr val="3366FF"/>
                </a:solidFill>
              </a:rPr>
              <a:t>20 minute talk, 5 minute questions</a:t>
            </a:r>
          </a:p>
          <a:p>
            <a:pPr marL="342900" indent="-171450">
              <a:lnSpc>
                <a:spcPct val="80000"/>
              </a:lnSpc>
            </a:pPr>
            <a:endParaRPr lang="en-US" sz="1600" dirty="0">
              <a:solidFill>
                <a:schemeClr val="accent6"/>
              </a:solidFill>
            </a:endParaRPr>
          </a:p>
        </p:txBody>
      </p:sp>
      <p:pic>
        <p:nvPicPr>
          <p:cNvPr id="4101" name="Picture 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24800" y="6324600"/>
            <a:ext cx="1104900" cy="44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4106" name="Picture 10" descr="NNSAlogo041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6343650"/>
            <a:ext cx="914400" cy="333375"/>
          </a:xfrm>
          <a:prstGeom prst="rect">
            <a:avLst/>
          </a:prstGeom>
          <a:noFill/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8443" y="3319437"/>
            <a:ext cx="8286750" cy="1203559"/>
          </a:xfrm>
          <a:noFill/>
          <a:ln/>
        </p:spPr>
        <p:txBody>
          <a:bodyPr/>
          <a:lstStyle/>
          <a:p>
            <a:r>
              <a:rPr lang="en-US" sz="2400" dirty="0"/>
              <a:t>Simple and Fast Interval </a:t>
            </a:r>
            <a:r>
              <a:rPr lang="en-US" sz="2400" dirty="0" smtClean="0"/>
              <a:t>Assignment</a:t>
            </a:r>
            <a:r>
              <a:rPr lang="en-US" sz="2400" dirty="0" smtClean="0">
                <a:solidFill>
                  <a:schemeClr val="tx1"/>
                </a:solidFill>
                <a:latin typeface="Helvetica" pitchFamily="34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Helvetica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Helvetica" pitchFamily="34" charset="0"/>
              </a:rPr>
              <a:t>Using Nonlinear and Piecewise Linear Objectives</a:t>
            </a:r>
            <a:r>
              <a:rPr lang="en-US" sz="2000" dirty="0" smtClean="0">
                <a:solidFill>
                  <a:schemeClr val="tx1"/>
                </a:solidFill>
                <a:latin typeface="Helvetica" pitchFamily="34" charset="0"/>
              </a:rPr>
              <a:t/>
            </a:r>
            <a:br>
              <a:rPr lang="en-US" sz="2000" dirty="0" smtClean="0">
                <a:solidFill>
                  <a:schemeClr val="tx1"/>
                </a:solidFill>
                <a:latin typeface="Helvetica" pitchFamily="34" charset="0"/>
              </a:rPr>
            </a:br>
            <a:endParaRPr lang="en-US" sz="1800" dirty="0">
              <a:solidFill>
                <a:schemeClr val="tx1"/>
              </a:solidFill>
              <a:latin typeface="Helvetica" pitchFamily="34" charset="0"/>
            </a:endParaRPr>
          </a:p>
        </p:txBody>
      </p:sp>
      <p:pic>
        <p:nvPicPr>
          <p:cNvPr id="10" name="Picture 9" descr="linearized-objective-bigfont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216" y="447545"/>
            <a:ext cx="5636133" cy="2514296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Problem definition</a:t>
            </a:r>
          </a:p>
          <a:p>
            <a:pPr lvl="1"/>
            <a:r>
              <a:rPr lang="en-US" sz="1600" dirty="0" smtClean="0"/>
              <a:t>a few simple examples of why it is hard</a:t>
            </a:r>
          </a:p>
          <a:p>
            <a:pPr lvl="2"/>
            <a:r>
              <a:rPr lang="en-US" sz="1100" dirty="0" smtClean="0"/>
              <a:t>tradeoffs needed</a:t>
            </a:r>
          </a:p>
          <a:p>
            <a:pPr lvl="2"/>
            <a:r>
              <a:rPr lang="en-US" sz="1100" dirty="0" smtClean="0"/>
              <a:t>may be infeasible</a:t>
            </a:r>
          </a:p>
          <a:p>
            <a:pPr lvl="1"/>
            <a:r>
              <a:rPr lang="en-US" sz="1600" dirty="0" smtClean="0"/>
              <a:t>an infeasible example</a:t>
            </a:r>
          </a:p>
          <a:p>
            <a:endParaRPr lang="en-US" sz="1800" dirty="0"/>
          </a:p>
          <a:p>
            <a:r>
              <a:rPr lang="en-US" sz="1800" dirty="0" smtClean="0"/>
              <a:t>Prior approaches</a:t>
            </a:r>
          </a:p>
          <a:p>
            <a:pPr lvl="1"/>
            <a:r>
              <a:rPr lang="en-US" sz="1600" dirty="0" smtClean="0"/>
              <a:t>Linear constraints – good</a:t>
            </a:r>
          </a:p>
          <a:p>
            <a:pPr lvl="1"/>
            <a:r>
              <a:rPr lang="en-US" sz="1600" dirty="0" smtClean="0"/>
              <a:t>Linear objective – not so much IMHO, depending on setting</a:t>
            </a:r>
          </a:p>
          <a:p>
            <a:pPr lvl="2"/>
            <a:r>
              <a:rPr lang="en-US" sz="1100" dirty="0"/>
              <a:t>Tam &amp; </a:t>
            </a:r>
            <a:r>
              <a:rPr lang="en-US" sz="1100" dirty="0" smtClean="0"/>
              <a:t>Armstrong concentrates deviations</a:t>
            </a:r>
          </a:p>
          <a:p>
            <a:pPr lvl="2"/>
            <a:r>
              <a:rPr lang="en-US" sz="1100" dirty="0" err="1" smtClean="0"/>
              <a:t>Lex</a:t>
            </a:r>
            <a:r>
              <a:rPr lang="en-US" sz="1100" dirty="0" smtClean="0"/>
              <a:t> min max is slow series of problems</a:t>
            </a:r>
          </a:p>
          <a:p>
            <a:endParaRPr lang="en-US" sz="1800" dirty="0" smtClean="0"/>
          </a:p>
          <a:p>
            <a:r>
              <a:rPr lang="en-US" sz="1800" dirty="0" smtClean="0"/>
              <a:t>New solution</a:t>
            </a:r>
          </a:p>
          <a:p>
            <a:pPr lvl="1"/>
            <a:r>
              <a:rPr lang="en-US" sz="1600" dirty="0" smtClean="0"/>
              <a:t>Cubic Objective</a:t>
            </a:r>
          </a:p>
          <a:p>
            <a:pPr lvl="1"/>
            <a:r>
              <a:rPr lang="en-US" sz="1600" dirty="0" smtClean="0"/>
              <a:t>Piecewise linear to get integer solution</a:t>
            </a:r>
          </a:p>
          <a:p>
            <a:pPr lvl="1"/>
            <a:r>
              <a:rPr lang="en-US" sz="1600" dirty="0" smtClean="0"/>
              <a:t>Implemented</a:t>
            </a:r>
            <a:endParaRPr lang="en-US" sz="1600" dirty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6632872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950"/>
            <a:ext cx="7772400" cy="1187450"/>
          </a:xfrm>
        </p:spPr>
        <p:txBody>
          <a:bodyPr/>
          <a:lstStyle/>
          <a:p>
            <a:r>
              <a:rPr lang="en-US" dirty="0"/>
              <a:t>Interval </a:t>
            </a:r>
            <a:r>
              <a:rPr lang="en-US" dirty="0" smtClean="0"/>
              <a:t>Assignment Summary 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800600"/>
            <a:ext cx="7816850" cy="1746250"/>
          </a:xfrm>
        </p:spPr>
        <p:txBody>
          <a:bodyPr/>
          <a:lstStyle/>
          <a:p>
            <a:r>
              <a:rPr lang="en-US" sz="1400" dirty="0" smtClean="0"/>
              <a:t>First known improvement to FEM interval assignment </a:t>
            </a:r>
            <a:r>
              <a:rPr lang="en-US" sz="1400" dirty="0" smtClean="0">
                <a:solidFill>
                  <a:srgbClr val="0000FF"/>
                </a:solidFill>
              </a:rPr>
              <a:t>structure</a:t>
            </a:r>
            <a:r>
              <a:rPr lang="en-US" sz="1400" dirty="0" smtClean="0"/>
              <a:t> since 1997 lexicographic min-max</a:t>
            </a:r>
          </a:p>
          <a:p>
            <a:pPr lvl="1"/>
            <a:r>
              <a:rPr lang="en-US" sz="1200" dirty="0"/>
              <a:t>Lots of people write new constraints for new schemes, but this is first change to objective (except Graphics community solving related-but-different problem using MIQP)</a:t>
            </a:r>
          </a:p>
          <a:p>
            <a:r>
              <a:rPr lang="en-US" sz="1400" dirty="0" smtClean="0"/>
              <a:t>Implemented in MeshKit, using IPOPT</a:t>
            </a:r>
          </a:p>
          <a:p>
            <a:pPr lvl="1"/>
            <a:r>
              <a:rPr lang="en-US" sz="1200" dirty="0" smtClean="0"/>
              <a:t>scales to thousands of surfaces in nuclear reactor core models</a:t>
            </a:r>
          </a:p>
          <a:p>
            <a:pPr lvl="1"/>
            <a:r>
              <a:rPr lang="en-US" sz="1200" dirty="0"/>
              <a:t>1997-2013, Cubit </a:t>
            </a:r>
            <a:r>
              <a:rPr lang="en-US" sz="1200" dirty="0" smtClean="0"/>
              <a:t>runs </a:t>
            </a:r>
            <a:r>
              <a:rPr lang="en-US" sz="1200" dirty="0" err="1"/>
              <a:t>lex</a:t>
            </a:r>
            <a:r>
              <a:rPr lang="en-US" sz="1200" dirty="0"/>
              <a:t> min-max for </a:t>
            </a:r>
            <a:r>
              <a:rPr lang="en-US" sz="1200" i="1" dirty="0"/>
              <a:t>every</a:t>
            </a:r>
            <a:r>
              <a:rPr lang="en-US" sz="1200" dirty="0"/>
              <a:t> quad and hex mesh</a:t>
            </a:r>
          </a:p>
          <a:p>
            <a:pPr lvl="1"/>
            <a:r>
              <a:rPr lang="en-US" sz="1200" dirty="0" smtClean="0"/>
              <a:t>New solution may migrate to Cubit, as Cubit includes MeshKit</a:t>
            </a:r>
            <a:r>
              <a:rPr lang="en-US" sz="1200" dirty="0"/>
              <a:t> </a:t>
            </a:r>
            <a:r>
              <a:rPr lang="en-US" sz="1200" dirty="0" smtClean="0"/>
              <a:t>library 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1059247"/>
            <a:ext cx="4330700" cy="1143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450" y="3409950"/>
            <a:ext cx="1828800" cy="825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5100" y="4184650"/>
            <a:ext cx="8909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2"/>
                </a:solidFill>
              </a:rPr>
              <a:t>I just relax	                    bend	                             tilt               &amp;          wave!    </a:t>
            </a:r>
            <a:r>
              <a:rPr lang="en-US" sz="2000" dirty="0" smtClean="0">
                <a:solidFill>
                  <a:schemeClr val="accent2"/>
                </a:solidFill>
                <a:sym typeface="Wingdings"/>
              </a:rPr>
              <a:t>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05400" y="1346200"/>
            <a:ext cx="410210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New nonlinear objective function</a:t>
            </a:r>
          </a:p>
          <a:p>
            <a:pPr marL="342900" lvl="0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Finesse </a:t>
            </a:r>
            <a:r>
              <a:rPr lang="en-US" sz="1200" b="1" kern="0" dirty="0">
                <a:solidFill>
                  <a:srgbClr val="000000"/>
                </a:solidFill>
                <a:latin typeface="Arial"/>
              </a:rPr>
              <a:t>integer constraints using </a:t>
            </a: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/>
            </a:r>
            <a:br>
              <a:rPr lang="en-US" sz="1200" b="1" kern="0" dirty="0" smtClean="0">
                <a:solidFill>
                  <a:srgbClr val="000000"/>
                </a:solidFill>
                <a:latin typeface="Arial"/>
              </a:rPr>
            </a:b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L</a:t>
            </a:r>
            <a:r>
              <a:rPr lang="en-US" sz="1200" b="1" kern="0" baseline="-25000" dirty="0" smtClean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200" b="1" kern="0" dirty="0">
                <a:solidFill>
                  <a:srgbClr val="000000"/>
                </a:solidFill>
                <a:latin typeface="Arial"/>
              </a:rPr>
              <a:t>minimization of </a:t>
            </a: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convex </a:t>
            </a:r>
            <a:br>
              <a:rPr lang="en-US" sz="1200" b="1" kern="0" dirty="0" smtClean="0">
                <a:solidFill>
                  <a:srgbClr val="000000"/>
                </a:solidFill>
                <a:latin typeface="Arial"/>
              </a:rPr>
            </a:b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piecewise </a:t>
            </a:r>
            <a:r>
              <a:rPr lang="en-US" sz="1200" b="1" kern="0" dirty="0">
                <a:solidFill>
                  <a:srgbClr val="000000"/>
                </a:solidFill>
                <a:latin typeface="Arial"/>
              </a:rPr>
              <a:t>linear </a:t>
            </a: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approximation</a:t>
            </a:r>
          </a:p>
          <a:p>
            <a:pPr marL="800100" lvl="1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adapt piecewise, slope</a:t>
            </a:r>
          </a:p>
          <a:p>
            <a:pPr marL="800100" lvl="1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heuristics for constraint interactions</a:t>
            </a:r>
            <a:endParaRPr lang="en-US" sz="1200" b="1" kern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Picture 11" descr="tilts-bigfont-fatline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2968624"/>
            <a:ext cx="2044700" cy="1192743"/>
          </a:xfrm>
          <a:prstGeom prst="rect">
            <a:avLst/>
          </a:prstGeom>
        </p:spPr>
      </p:pic>
      <p:pic>
        <p:nvPicPr>
          <p:cNvPr id="13" name="Picture 12" descr="linearized-objective-bigfont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082" y="3175000"/>
            <a:ext cx="2206329" cy="984250"/>
          </a:xfrm>
          <a:prstGeom prst="rect">
            <a:avLst/>
          </a:prstGeom>
        </p:spPr>
      </p:pic>
      <p:pic>
        <p:nvPicPr>
          <p:cNvPr id="14" name="Picture 13" descr="cubic-objective-bigfont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0" y="3162300"/>
            <a:ext cx="2208006" cy="1003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1596345"/>
            <a:ext cx="806450" cy="8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4680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Interval Assignment (IA)</a:t>
            </a:r>
            <a:br>
              <a:rPr lang="en-US" dirty="0" smtClean="0"/>
            </a:br>
            <a:r>
              <a:rPr lang="en-US" sz="2400" dirty="0" smtClean="0"/>
              <a:t>Problem Definition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2019905"/>
          </a:xfrm>
        </p:spPr>
        <p:txBody>
          <a:bodyPr/>
          <a:lstStyle/>
          <a:p>
            <a:r>
              <a:rPr lang="en-US" dirty="0" smtClean="0"/>
              <a:t>Set the </a:t>
            </a:r>
            <a:r>
              <a:rPr lang="en-US" dirty="0" smtClean="0">
                <a:solidFill>
                  <a:schemeClr val="accent6"/>
                </a:solidFill>
              </a:rPr>
              <a:t>number of mesh edges </a:t>
            </a:r>
            <a:r>
              <a:rPr lang="en-US" dirty="0" smtClean="0"/>
              <a:t>on each curve, </a:t>
            </a:r>
            <a:br>
              <a:rPr lang="en-US" dirty="0" smtClean="0"/>
            </a:br>
            <a:r>
              <a:rPr lang="en-US" dirty="0" smtClean="0"/>
              <a:t>such that the owning surfaces and volumes </a:t>
            </a:r>
            <a:br>
              <a:rPr lang="en-US" dirty="0" smtClean="0"/>
            </a:br>
            <a:r>
              <a:rPr lang="en-US" dirty="0" smtClean="0"/>
              <a:t>can be meshed according to their schemes.</a:t>
            </a:r>
          </a:p>
          <a:p>
            <a:pPr lvl="1"/>
            <a:r>
              <a:rPr lang="en-US" dirty="0"/>
              <a:t>compatible interface </a:t>
            </a:r>
            <a:r>
              <a:rPr lang="en-US" dirty="0" smtClean="0"/>
              <a:t>meshes, e.g. for parallel</a:t>
            </a:r>
            <a:endParaRPr lang="en-US" dirty="0"/>
          </a:p>
          <a:p>
            <a:pPr lvl="1"/>
            <a:r>
              <a:rPr lang="en-US" dirty="0" smtClean="0"/>
              <a:t>quad and hex meshing</a:t>
            </a:r>
          </a:p>
          <a:p>
            <a:pPr lvl="2"/>
            <a:r>
              <a:rPr lang="en-US" dirty="0" smtClean="0"/>
              <a:t>triangle and </a:t>
            </a:r>
            <a:r>
              <a:rPr lang="en-US" dirty="0" err="1" smtClean="0"/>
              <a:t>tet</a:t>
            </a:r>
            <a:r>
              <a:rPr lang="en-US" dirty="0" smtClean="0"/>
              <a:t> meshes have trivial constraints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359821" y="4476922"/>
            <a:ext cx="1578428" cy="69547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" name="Oval 4"/>
          <p:cNvSpPr>
            <a:spLocks noChangeAspect="1"/>
          </p:cNvSpPr>
          <p:nvPr/>
        </p:nvSpPr>
        <p:spPr bwMode="auto">
          <a:xfrm>
            <a:off x="4901964" y="4876064"/>
            <a:ext cx="73152" cy="7315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27202" y="453135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655221" y="4707941"/>
            <a:ext cx="321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2478" y="43886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723888" y="4562798"/>
            <a:ext cx="714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map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53698" y="5058703"/>
            <a:ext cx="321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18622" y="406205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2" name="Trapezoid 11"/>
          <p:cNvSpPr/>
          <p:nvPr/>
        </p:nvSpPr>
        <p:spPr bwMode="auto">
          <a:xfrm rot="16200000">
            <a:off x="4874749" y="4268278"/>
            <a:ext cx="1236738" cy="1103690"/>
          </a:xfrm>
          <a:prstGeom prst="trapezoid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80546" y="524255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080041" y="456642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240632" y="3932637"/>
            <a:ext cx="300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3955" y="4570055"/>
            <a:ext cx="765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pave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3190" y="4642015"/>
            <a:ext cx="70385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a=</a:t>
            </a:r>
            <a:r>
              <a:rPr lang="en-US" dirty="0" err="1" smtClean="0"/>
              <a:t>b+c</a:t>
            </a:r>
            <a:endParaRPr lang="en-US" dirty="0" smtClean="0"/>
          </a:p>
          <a:p>
            <a:r>
              <a:rPr lang="en-US" dirty="0" smtClean="0"/>
              <a:t>d=e</a:t>
            </a:r>
          </a:p>
          <a:p>
            <a:r>
              <a:rPr lang="en-US" dirty="0" err="1" smtClean="0"/>
              <a:t>b+c+f+g+h</a:t>
            </a:r>
            <a:r>
              <a:rPr lang="en-US" dirty="0" smtClean="0"/>
              <a:t>=even number</a:t>
            </a:r>
          </a:p>
          <a:p>
            <a:r>
              <a:rPr lang="en-US" dirty="0" smtClean="0"/>
              <a:t>all variables integer (e.g. a=4, b=2.5, c=1.5 is not valid)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96742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Interval Assignment Hard?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705" y="1161143"/>
            <a:ext cx="5161031" cy="1747762"/>
          </a:xfrm>
        </p:spPr>
        <p:txBody>
          <a:bodyPr/>
          <a:lstStyle/>
          <a:p>
            <a:r>
              <a:rPr lang="en-US" sz="1800" dirty="0" smtClean="0"/>
              <a:t>What’s the problem?</a:t>
            </a:r>
          </a:p>
          <a:p>
            <a:pPr lvl="1"/>
            <a:r>
              <a:rPr lang="en-US" sz="1800" dirty="0" smtClean="0"/>
              <a:t>hex meshing is a global problem</a:t>
            </a:r>
          </a:p>
          <a:p>
            <a:pPr lvl="1"/>
            <a:r>
              <a:rPr lang="en-US" sz="1800" dirty="0" smtClean="0"/>
              <a:t>quad meshing is a global problem </a:t>
            </a:r>
          </a:p>
          <a:p>
            <a:pPr lvl="2"/>
            <a:r>
              <a:rPr lang="en-US" sz="1600" dirty="0" smtClean="0"/>
              <a:t>for the same reasons, </a:t>
            </a:r>
          </a:p>
          <a:p>
            <a:pPr lvl="2"/>
            <a:r>
              <a:rPr lang="en-US" sz="1600" dirty="0" smtClean="0"/>
              <a:t>but with much weaker constraints</a:t>
            </a:r>
          </a:p>
          <a:p>
            <a:r>
              <a:rPr lang="en-US" sz="1800" dirty="0" smtClean="0"/>
              <a:t>Integrality makes it much harder. </a:t>
            </a:r>
          </a:p>
          <a:p>
            <a:pPr lvl="1"/>
            <a:r>
              <a:rPr lang="en-US" sz="1600" dirty="0" smtClean="0"/>
              <a:t>Discrete problem</a:t>
            </a:r>
          </a:p>
          <a:p>
            <a:pPr lvl="1"/>
            <a:r>
              <a:rPr lang="en-US" sz="1600" dirty="0" smtClean="0"/>
              <a:t>Combinatorial algorithms needed</a:t>
            </a:r>
            <a:endParaRPr lang="en-US" sz="1600" dirty="0"/>
          </a:p>
        </p:txBody>
      </p:sp>
      <p:grpSp>
        <p:nvGrpSpPr>
          <p:cNvPr id="5" name="Group 4"/>
          <p:cNvGrpSpPr/>
          <p:nvPr/>
        </p:nvGrpSpPr>
        <p:grpSpPr>
          <a:xfrm>
            <a:off x="488459" y="3698823"/>
            <a:ext cx="4507465" cy="3057836"/>
            <a:chOff x="163285" y="3318419"/>
            <a:chExt cx="4507465" cy="305783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6284" y="3318419"/>
              <a:ext cx="2437191" cy="1988972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 bwMode="auto">
            <a:xfrm flipV="1">
              <a:off x="604762" y="4378476"/>
              <a:ext cx="1136952" cy="113090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8" name="Straight Arrow Connector 7"/>
            <p:cNvCxnSpPr/>
            <p:nvPr/>
          </p:nvCxnSpPr>
          <p:spPr bwMode="auto">
            <a:xfrm flipV="1">
              <a:off x="604762" y="5237238"/>
              <a:ext cx="2080381" cy="28423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9" name="TextBox 8"/>
            <p:cNvSpPr txBox="1"/>
            <p:nvPr/>
          </p:nvSpPr>
          <p:spPr>
            <a:xfrm>
              <a:off x="163285" y="5448904"/>
              <a:ext cx="215956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Sweep </a:t>
              </a:r>
              <a:br>
                <a:rPr lang="en-US" sz="1400" dirty="0" smtClean="0"/>
              </a:br>
              <a:r>
                <a:rPr lang="en-US" sz="1400" dirty="0" smtClean="0"/>
                <a:t>same quad mesh</a:t>
              </a:r>
            </a:p>
            <a:p>
              <a:r>
                <a:rPr lang="en-US" sz="1400" dirty="0" smtClean="0"/>
                <a:t>connectivity front and back</a:t>
              </a:r>
              <a:endParaRPr lang="en-US" sz="1400" dirty="0"/>
            </a:p>
          </p:txBody>
        </p:sp>
        <p:cxnSp>
          <p:nvCxnSpPr>
            <p:cNvPr id="13" name="Straight Arrow Connector 12"/>
            <p:cNvCxnSpPr>
              <a:stCxn id="19" idx="0"/>
            </p:cNvCxnSpPr>
            <p:nvPr/>
          </p:nvCxnSpPr>
          <p:spPr bwMode="auto">
            <a:xfrm flipH="1" flipV="1">
              <a:off x="2600477" y="4529667"/>
              <a:ext cx="893622" cy="11079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" name="Straight Arrow Connector 17"/>
            <p:cNvCxnSpPr>
              <a:stCxn id="19" idx="0"/>
            </p:cNvCxnSpPr>
            <p:nvPr/>
          </p:nvCxnSpPr>
          <p:spPr bwMode="auto">
            <a:xfrm flipV="1">
              <a:off x="3494099" y="5043714"/>
              <a:ext cx="25616" cy="59387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2317447" y="5637591"/>
              <a:ext cx="2353303" cy="738664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00AE00"/>
                  </a:solidFill>
                </a:rPr>
                <a:t>Map</a:t>
              </a:r>
              <a:br>
                <a:rPr lang="en-US" sz="1400" dirty="0" smtClean="0">
                  <a:solidFill>
                    <a:srgbClr val="00AE00"/>
                  </a:solidFill>
                </a:rPr>
              </a:br>
              <a:r>
                <a:rPr lang="en-US" sz="1400" dirty="0" smtClean="0">
                  <a:solidFill>
                    <a:srgbClr val="00AE00"/>
                  </a:solidFill>
                </a:rPr>
                <a:t>same curve mesh connectivity</a:t>
              </a:r>
            </a:p>
            <a:p>
              <a:r>
                <a:rPr lang="en-US" sz="1400" dirty="0" smtClean="0">
                  <a:solidFill>
                    <a:srgbClr val="00AE00"/>
                  </a:solidFill>
                </a:rPr>
                <a:t>top and bottom. e.g. 3 edges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718" y="1191432"/>
            <a:ext cx="3089275" cy="223760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394" y="4245761"/>
            <a:ext cx="2372917" cy="12730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79825" y="3417872"/>
            <a:ext cx="40744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Unstructured quad meshing:</a:t>
            </a:r>
          </a:p>
          <a:p>
            <a:r>
              <a:rPr lang="en-US" sz="1100" dirty="0" smtClean="0"/>
              <a:t>  Each chord enters the quad mesh an even number of times (0 or 2) </a:t>
            </a:r>
          </a:p>
          <a:p>
            <a:r>
              <a:rPr lang="en-US" sz="1100" dirty="0" smtClean="0"/>
              <a:t>  so we need an even number of mesh edges on the boundary.</a:t>
            </a:r>
          </a:p>
          <a:p>
            <a:r>
              <a:rPr lang="en-US" sz="1100" dirty="0" smtClean="0"/>
              <a:t>  (necessary and topologically sufficient)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5152465" y="5404799"/>
            <a:ext cx="393333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/>
              <a:t>Unstructured hex meshing:</a:t>
            </a:r>
          </a:p>
          <a:p>
            <a:r>
              <a:rPr lang="en-US" sz="1100" dirty="0" smtClean="0"/>
              <a:t>  </a:t>
            </a:r>
            <a:r>
              <a:rPr lang="en-US" sz="1100" dirty="0"/>
              <a:t>Each chord enters the </a:t>
            </a:r>
            <a:r>
              <a:rPr lang="en-US" sz="1100" dirty="0" smtClean="0"/>
              <a:t>hex </a:t>
            </a:r>
            <a:r>
              <a:rPr lang="en-US" sz="1100" dirty="0"/>
              <a:t>mesh an even number of times (0 or 2) </a:t>
            </a:r>
          </a:p>
          <a:p>
            <a:r>
              <a:rPr lang="en-US" sz="1100" dirty="0"/>
              <a:t>  so we need an even number of </a:t>
            </a:r>
            <a:r>
              <a:rPr lang="en-US" sz="1100" dirty="0" smtClean="0"/>
              <a:t>quads on </a:t>
            </a:r>
            <a:r>
              <a:rPr lang="en-US" sz="1100" dirty="0"/>
              <a:t>the boundary</a:t>
            </a:r>
            <a:r>
              <a:rPr lang="en-US" sz="1100" dirty="0" smtClean="0"/>
              <a:t>.</a:t>
            </a:r>
          </a:p>
          <a:p>
            <a:r>
              <a:rPr lang="en-US" sz="1100" dirty="0" smtClean="0"/>
              <a:t>  Plus contractible loops must be even.</a:t>
            </a:r>
            <a:endParaRPr lang="en-US" sz="1100" dirty="0"/>
          </a:p>
          <a:p>
            <a:r>
              <a:rPr lang="en-US" sz="1100" dirty="0"/>
              <a:t>  (necessary and topologically sufficient</a:t>
            </a:r>
            <a:r>
              <a:rPr lang="en-US" sz="1100" dirty="0" smtClean="0"/>
              <a:t>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7674136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Interval Assignment </a:t>
            </a:r>
            <a:br>
              <a:rPr lang="en-US" dirty="0" smtClean="0"/>
            </a:br>
            <a:r>
              <a:rPr lang="en-US" sz="2400" dirty="0" smtClean="0"/>
              <a:t>by linear constraints is old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524000"/>
            <a:ext cx="4914430" cy="4572000"/>
          </a:xfrm>
        </p:spPr>
        <p:txBody>
          <a:bodyPr/>
          <a:lstStyle/>
          <a:p>
            <a:pPr marL="171450" indent="0">
              <a:buNone/>
            </a:pPr>
            <a:r>
              <a:rPr lang="en-US" sz="1600" dirty="0" smtClean="0"/>
              <a:t>Interval assignment problem form</a:t>
            </a:r>
          </a:p>
          <a:p>
            <a:r>
              <a:rPr lang="en-US" sz="1400" dirty="0" smtClean="0"/>
              <a:t>Linear constraints, linear objective</a:t>
            </a:r>
          </a:p>
          <a:p>
            <a:pPr lvl="1"/>
            <a:r>
              <a:rPr lang="en-US" sz="1200" dirty="0" smtClean="0"/>
              <a:t>Tam &amp; Armstrong 1993</a:t>
            </a:r>
          </a:p>
          <a:p>
            <a:r>
              <a:rPr lang="en-US" sz="1400" dirty="0" smtClean="0"/>
              <a:t>Linear constraints, lexicographic min-max objective</a:t>
            </a:r>
          </a:p>
          <a:p>
            <a:pPr lvl="1"/>
            <a:r>
              <a:rPr lang="en-US" sz="1200" dirty="0" smtClean="0"/>
              <a:t>Mitchell 1997</a:t>
            </a:r>
          </a:p>
          <a:p>
            <a:r>
              <a:rPr lang="en-US" sz="1400" dirty="0" smtClean="0"/>
              <a:t>Fluid flow matching</a:t>
            </a:r>
          </a:p>
          <a:p>
            <a:pPr lvl="1"/>
            <a:r>
              <a:rPr lang="en-US" sz="1200" dirty="0" smtClean="0"/>
              <a:t>Muller-</a:t>
            </a:r>
            <a:r>
              <a:rPr lang="en-US" sz="1200" dirty="0" err="1" smtClean="0"/>
              <a:t>Hanneman</a:t>
            </a:r>
            <a:r>
              <a:rPr lang="en-US" sz="1200" dirty="0" smtClean="0"/>
              <a:t> 1997</a:t>
            </a:r>
          </a:p>
          <a:p>
            <a:r>
              <a:rPr lang="en-US" sz="1400" dirty="0" smtClean="0"/>
              <a:t>Linear constraints, quadratic objective</a:t>
            </a:r>
          </a:p>
          <a:p>
            <a:pPr lvl="1"/>
            <a:r>
              <a:rPr lang="en-US" sz="1200" dirty="0" err="1" smtClean="0"/>
              <a:t>Bommes</a:t>
            </a:r>
            <a:r>
              <a:rPr lang="en-US" sz="1200" dirty="0" smtClean="0"/>
              <a:t> et al. 2009+</a:t>
            </a:r>
          </a:p>
          <a:p>
            <a:pPr lvl="1"/>
            <a:endParaRPr lang="en-US" sz="1400" dirty="0"/>
          </a:p>
          <a:p>
            <a:pPr marL="171450" indent="0">
              <a:buNone/>
            </a:pPr>
            <a:r>
              <a:rPr lang="en-US" sz="1600" dirty="0" smtClean="0"/>
              <a:t>Interval assignment constraints</a:t>
            </a:r>
          </a:p>
          <a:p>
            <a:r>
              <a:rPr lang="en-US" sz="1400" dirty="0"/>
              <a:t>Volumes with holes</a:t>
            </a:r>
          </a:p>
          <a:p>
            <a:pPr lvl="1"/>
            <a:r>
              <a:rPr lang="en-US" sz="1200" dirty="0"/>
              <a:t>Shepherd et al</a:t>
            </a:r>
            <a:r>
              <a:rPr lang="en-US" sz="1200" dirty="0" smtClean="0"/>
              <a:t>.</a:t>
            </a:r>
            <a:endParaRPr lang="en-US" sz="1600" dirty="0"/>
          </a:p>
          <a:p>
            <a:r>
              <a:rPr lang="en-US" sz="1400" dirty="0" smtClean="0"/>
              <a:t>Midpoint subdivision</a:t>
            </a:r>
          </a:p>
          <a:p>
            <a:r>
              <a:rPr lang="en-US" sz="1400" dirty="0" smtClean="0"/>
              <a:t>Paver</a:t>
            </a:r>
          </a:p>
          <a:p>
            <a:r>
              <a:rPr lang="en-US" sz="1400" dirty="0" err="1" smtClean="0"/>
              <a:t>Submapping</a:t>
            </a:r>
            <a:endParaRPr lang="en-US" sz="1400" dirty="0" smtClean="0"/>
          </a:p>
          <a:p>
            <a:r>
              <a:rPr lang="en-US" sz="1400" dirty="0" smtClean="0"/>
              <a:t>Skew control</a:t>
            </a:r>
          </a:p>
          <a:p>
            <a:endParaRPr lang="en-US" sz="1400" dirty="0"/>
          </a:p>
          <a:p>
            <a:pPr marL="171450" indent="0">
              <a:buNone/>
            </a:pPr>
            <a:r>
              <a:rPr lang="en-US" sz="1400" dirty="0"/>
              <a:t>Automatic Scheme selection</a:t>
            </a:r>
          </a:p>
          <a:p>
            <a:pPr lvl="1"/>
            <a:r>
              <a:rPr lang="en-US" sz="1200" dirty="0"/>
              <a:t>White &amp; Tautges 2000</a:t>
            </a:r>
          </a:p>
          <a:p>
            <a:endParaRPr 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4859212" y="1349819"/>
            <a:ext cx="4227269" cy="37240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Popular to define constraints for new meshing schemes.</a:t>
            </a:r>
          </a:p>
          <a:p>
            <a:endParaRPr lang="en-US" dirty="0" smtClean="0">
              <a:solidFill>
                <a:srgbClr val="00AE00"/>
              </a:solidFill>
            </a:endParaRPr>
          </a:p>
          <a:p>
            <a:endParaRPr lang="en-US" dirty="0" smtClean="0">
              <a:solidFill>
                <a:srgbClr val="00AE00"/>
              </a:solidFill>
            </a:endParaRPr>
          </a:p>
          <a:p>
            <a:r>
              <a:rPr lang="en-US" dirty="0" smtClean="0">
                <a:solidFill>
                  <a:srgbClr val="00AE00"/>
                </a:solidFill>
              </a:rPr>
              <a:t>Little change to </a:t>
            </a:r>
          </a:p>
          <a:p>
            <a:r>
              <a:rPr lang="en-US" b="1" i="1" dirty="0" smtClean="0">
                <a:solidFill>
                  <a:srgbClr val="00AE00"/>
                </a:solidFill>
              </a:rPr>
              <a:t>objective function form</a:t>
            </a:r>
          </a:p>
          <a:p>
            <a:r>
              <a:rPr lang="en-US" dirty="0" smtClean="0">
                <a:solidFill>
                  <a:srgbClr val="00AE00"/>
                </a:solidFill>
              </a:rPr>
              <a:t>in FEM community </a:t>
            </a:r>
            <a:br>
              <a:rPr lang="en-US" dirty="0" smtClean="0">
                <a:solidFill>
                  <a:srgbClr val="00AE00"/>
                </a:solidFill>
              </a:rPr>
            </a:br>
            <a:r>
              <a:rPr lang="en-US" dirty="0" smtClean="0">
                <a:solidFill>
                  <a:srgbClr val="00AE00"/>
                </a:solidFill>
              </a:rPr>
              <a:t>1997—this paper</a:t>
            </a:r>
          </a:p>
          <a:p>
            <a:endParaRPr lang="en-US" dirty="0" smtClean="0">
              <a:solidFill>
                <a:srgbClr val="00AE00"/>
              </a:solidFill>
            </a:endParaRPr>
          </a:p>
          <a:p>
            <a:r>
              <a:rPr lang="en-US" sz="2000" dirty="0" smtClean="0">
                <a:solidFill>
                  <a:srgbClr val="00AE00"/>
                </a:solidFill>
              </a:rPr>
              <a:t>(But active area in Graphics 2009+)</a:t>
            </a:r>
            <a:endParaRPr lang="en-US" sz="2000" dirty="0">
              <a:solidFill>
                <a:srgbClr val="00AE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61601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Constraints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1427195"/>
          </a:xfrm>
        </p:spPr>
        <p:txBody>
          <a:bodyPr/>
          <a:lstStyle/>
          <a:p>
            <a:r>
              <a:rPr lang="en-US" dirty="0"/>
              <a:t>Each surface has local </a:t>
            </a:r>
            <a:r>
              <a:rPr lang="en-US" dirty="0" smtClean="0"/>
              <a:t>constraints </a:t>
            </a:r>
          </a:p>
          <a:p>
            <a:pPr lvl="1"/>
            <a:r>
              <a:rPr lang="en-US" dirty="0" smtClean="0"/>
              <a:t>depending </a:t>
            </a:r>
            <a:r>
              <a:rPr lang="en-US" dirty="0"/>
              <a:t>on scheme (structure</a:t>
            </a:r>
            <a:r>
              <a:rPr lang="en-US" dirty="0" smtClean="0"/>
              <a:t>) </a:t>
            </a:r>
          </a:p>
          <a:p>
            <a:pPr lvl="1"/>
            <a:r>
              <a:rPr lang="en-US" dirty="0" smtClean="0"/>
              <a:t>depending </a:t>
            </a:r>
            <a:r>
              <a:rPr lang="en-US" dirty="0"/>
              <a:t>on user desires (sizing, skew)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315771" y="2782639"/>
            <a:ext cx="1578428" cy="69547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" name="Oval 6"/>
          <p:cNvSpPr>
            <a:spLocks noChangeAspect="1"/>
          </p:cNvSpPr>
          <p:nvPr/>
        </p:nvSpPr>
        <p:spPr bwMode="auto">
          <a:xfrm>
            <a:off x="1857914" y="3181781"/>
            <a:ext cx="73152" cy="73152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838" y="2868515"/>
            <a:ext cx="714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map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4" name="Trapezoid 13"/>
          <p:cNvSpPr/>
          <p:nvPr/>
        </p:nvSpPr>
        <p:spPr bwMode="auto">
          <a:xfrm rot="16200000">
            <a:off x="2063843" y="2788739"/>
            <a:ext cx="1236738" cy="1103690"/>
          </a:xfrm>
          <a:prstGeom prst="trapezoid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78944" y="3065974"/>
            <a:ext cx="765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pave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20" name="Picture 19" descr="Screen shot 2013-10-10 at 12.01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085" y="3165937"/>
            <a:ext cx="2704749" cy="167346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57509" y="2981873"/>
            <a:ext cx="1176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Goodyear tire</a:t>
            </a:r>
            <a:endParaRPr lang="en-US" sz="14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25" y="4435995"/>
            <a:ext cx="3166984" cy="257539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8122" y="6344149"/>
            <a:ext cx="333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holes line up, smaller than outside</a:t>
            </a:r>
            <a:endParaRPr lang="en-US" sz="1800" dirty="0"/>
          </a:p>
        </p:txBody>
      </p:sp>
      <p:sp>
        <p:nvSpPr>
          <p:cNvPr id="24" name="TextBox 23"/>
          <p:cNvSpPr txBox="1"/>
          <p:nvPr/>
        </p:nvSpPr>
        <p:spPr>
          <a:xfrm>
            <a:off x="411069" y="5951474"/>
            <a:ext cx="12150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Eloi</a:t>
            </a:r>
            <a:r>
              <a:rPr lang="en-US" sz="1100" dirty="0"/>
              <a:t> Ruiz-</a:t>
            </a:r>
            <a:r>
              <a:rPr lang="en-US" sz="1100" dirty="0" err="1"/>
              <a:t>Gironés</a:t>
            </a:r>
            <a:endParaRPr lang="en-US" sz="1100" dirty="0"/>
          </a:p>
        </p:txBody>
      </p:sp>
      <p:cxnSp>
        <p:nvCxnSpPr>
          <p:cNvPr id="26" name="Straight Arrow Connector 25"/>
          <p:cNvCxnSpPr/>
          <p:nvPr/>
        </p:nvCxnSpPr>
        <p:spPr bwMode="auto">
          <a:xfrm flipH="1">
            <a:off x="2116704" y="4535286"/>
            <a:ext cx="423206" cy="63766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618FF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 flipV="1">
            <a:off x="2061483" y="5006601"/>
            <a:ext cx="36812" cy="20247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1714516" y="4100115"/>
            <a:ext cx="1914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Edge length at least 0.1:</a:t>
            </a:r>
          </a:p>
          <a:p>
            <a:r>
              <a:rPr lang="en-US" sz="1400" dirty="0" smtClean="0"/>
              <a:t>X &lt;= 4</a:t>
            </a:r>
            <a:endParaRPr lang="en-US" sz="1400" dirty="0"/>
          </a:p>
        </p:txBody>
      </p:sp>
      <p:pic>
        <p:nvPicPr>
          <p:cNvPr id="33" name="Picture 32" descr="Screen shot 2013-10-10 at 12.10.20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832" y="4723015"/>
            <a:ext cx="1576998" cy="16686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3876" y="4290972"/>
            <a:ext cx="114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tx2"/>
                </a:solidFill>
              </a:rPr>
              <a:t>submap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87488" y="4595519"/>
            <a:ext cx="264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a</a:t>
            </a:r>
            <a:endParaRPr lang="en-US" sz="1400" dirty="0"/>
          </a:p>
        </p:txBody>
      </p:sp>
      <p:cxnSp>
        <p:nvCxnSpPr>
          <p:cNvPr id="37" name="Straight Connector 36"/>
          <p:cNvCxnSpPr/>
          <p:nvPr/>
        </p:nvCxnSpPr>
        <p:spPr bwMode="auto">
          <a:xfrm flipV="1">
            <a:off x="6116962" y="4975924"/>
            <a:ext cx="337445" cy="56446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6116963" y="5540393"/>
            <a:ext cx="319039" cy="53379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/>
          <p:nvPr/>
        </p:nvCxnSpPr>
        <p:spPr bwMode="auto">
          <a:xfrm flipV="1">
            <a:off x="5478884" y="5534260"/>
            <a:ext cx="656486" cy="613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6625215" y="495039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00825" y="5378891"/>
            <a:ext cx="264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e</a:t>
            </a:r>
            <a:endParaRPr 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5696806" y="612030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50" name="TextBox 49"/>
          <p:cNvSpPr txBox="1"/>
          <p:nvPr/>
        </p:nvSpPr>
        <p:spPr>
          <a:xfrm>
            <a:off x="6640669" y="5653012"/>
            <a:ext cx="264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c</a:t>
            </a:r>
            <a:endParaRPr lang="en-US" sz="1400" dirty="0"/>
          </a:p>
        </p:txBody>
      </p:sp>
      <p:sp>
        <p:nvSpPr>
          <p:cNvPr id="52" name="Freeform 51"/>
          <p:cNvSpPr/>
          <p:nvPr/>
        </p:nvSpPr>
        <p:spPr>
          <a:xfrm>
            <a:off x="5485020" y="5049550"/>
            <a:ext cx="92030" cy="85897"/>
          </a:xfrm>
          <a:custGeom>
            <a:avLst/>
            <a:gdLst>
              <a:gd name="connsiteX0" fmla="*/ 0 w 92030"/>
              <a:gd name="connsiteY0" fmla="*/ 85897 h 85897"/>
              <a:gd name="connsiteX1" fmla="*/ 92030 w 92030"/>
              <a:gd name="connsiteY1" fmla="*/ 73626 h 85897"/>
              <a:gd name="connsiteX2" fmla="*/ 79759 w 92030"/>
              <a:gd name="connsiteY2" fmla="*/ 0 h 85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030" h="85897">
                <a:moveTo>
                  <a:pt x="0" y="85897"/>
                </a:moveTo>
                <a:lnTo>
                  <a:pt x="92030" y="73626"/>
                </a:lnTo>
                <a:lnTo>
                  <a:pt x="79759" y="0"/>
                </a:lnTo>
              </a:path>
            </a:pathLst>
          </a:custGeom>
          <a:ln w="25400">
            <a:solidFill>
              <a:schemeClr val="accent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3" name="Freeform 52"/>
          <p:cNvSpPr/>
          <p:nvPr/>
        </p:nvSpPr>
        <p:spPr>
          <a:xfrm rot="16200000">
            <a:off x="5490172" y="5950486"/>
            <a:ext cx="92030" cy="85897"/>
          </a:xfrm>
          <a:custGeom>
            <a:avLst/>
            <a:gdLst>
              <a:gd name="connsiteX0" fmla="*/ 0 w 92030"/>
              <a:gd name="connsiteY0" fmla="*/ 85897 h 85897"/>
              <a:gd name="connsiteX1" fmla="*/ 92030 w 92030"/>
              <a:gd name="connsiteY1" fmla="*/ 73626 h 85897"/>
              <a:gd name="connsiteX2" fmla="*/ 79759 w 92030"/>
              <a:gd name="connsiteY2" fmla="*/ 0 h 85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030" h="85897">
                <a:moveTo>
                  <a:pt x="0" y="85897"/>
                </a:moveTo>
                <a:lnTo>
                  <a:pt x="92030" y="73626"/>
                </a:lnTo>
                <a:lnTo>
                  <a:pt x="79759" y="0"/>
                </a:lnTo>
              </a:path>
            </a:pathLst>
          </a:custGeom>
          <a:ln w="25400">
            <a:solidFill>
              <a:schemeClr val="accent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4" name="Freeform 53"/>
          <p:cNvSpPr/>
          <p:nvPr/>
        </p:nvSpPr>
        <p:spPr>
          <a:xfrm rot="8460000">
            <a:off x="6765345" y="5489333"/>
            <a:ext cx="92030" cy="85897"/>
          </a:xfrm>
          <a:custGeom>
            <a:avLst/>
            <a:gdLst>
              <a:gd name="connsiteX0" fmla="*/ 0 w 92030"/>
              <a:gd name="connsiteY0" fmla="*/ 85897 h 85897"/>
              <a:gd name="connsiteX1" fmla="*/ 92030 w 92030"/>
              <a:gd name="connsiteY1" fmla="*/ 73626 h 85897"/>
              <a:gd name="connsiteX2" fmla="*/ 79759 w 92030"/>
              <a:gd name="connsiteY2" fmla="*/ 0 h 85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030" h="85897">
                <a:moveTo>
                  <a:pt x="0" y="85897"/>
                </a:moveTo>
                <a:lnTo>
                  <a:pt x="92030" y="73626"/>
                </a:lnTo>
                <a:lnTo>
                  <a:pt x="79759" y="0"/>
                </a:lnTo>
              </a:path>
            </a:pathLst>
          </a:custGeom>
          <a:ln w="25400">
            <a:solidFill>
              <a:schemeClr val="accent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981066" y="4944257"/>
            <a:ext cx="157341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midpoint subdivision</a:t>
            </a:r>
          </a:p>
          <a:p>
            <a:r>
              <a:rPr lang="en-US" sz="1200" dirty="0" smtClean="0"/>
              <a:t>side1 = </a:t>
            </a:r>
            <a:r>
              <a:rPr lang="en-US" sz="1200" dirty="0" err="1" smtClean="0"/>
              <a:t>a+b</a:t>
            </a:r>
            <a:endParaRPr lang="en-US" sz="1200" dirty="0" smtClean="0"/>
          </a:p>
          <a:p>
            <a:r>
              <a:rPr lang="en-US" sz="1200" dirty="0" smtClean="0"/>
              <a:t>side2 = </a:t>
            </a:r>
            <a:r>
              <a:rPr lang="en-US" sz="1200" dirty="0" err="1" smtClean="0"/>
              <a:t>c+d</a:t>
            </a:r>
            <a:endParaRPr lang="en-US" sz="1200" dirty="0" smtClean="0"/>
          </a:p>
          <a:p>
            <a:r>
              <a:rPr lang="en-US" sz="1200" dirty="0" smtClean="0"/>
              <a:t>side3 = e</a:t>
            </a:r>
          </a:p>
          <a:p>
            <a:r>
              <a:rPr lang="en-US" sz="1200" dirty="0" smtClean="0"/>
              <a:t>side1 &lt;= side2 + side3</a:t>
            </a:r>
          </a:p>
          <a:p>
            <a:r>
              <a:rPr lang="en-US" sz="1200" dirty="0" smtClean="0"/>
              <a:t>side2 &lt;= side1 + side3</a:t>
            </a:r>
          </a:p>
          <a:p>
            <a:r>
              <a:rPr lang="en-US" sz="1200" dirty="0" smtClean="0"/>
              <a:t>side3 &lt;= side2 + side3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7108924" y="1249673"/>
            <a:ext cx="182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curve has at least one edge</a:t>
            </a:r>
          </a:p>
          <a:p>
            <a:r>
              <a:rPr lang="en-US" sz="1200" dirty="0" smtClean="0"/>
              <a:t>x &gt;= 1</a:t>
            </a:r>
            <a:endParaRPr lang="en-US" sz="1200" dirty="0"/>
          </a:p>
        </p:txBody>
      </p:sp>
      <p:sp>
        <p:nvSpPr>
          <p:cNvPr id="62" name="Freeform 61"/>
          <p:cNvSpPr/>
          <p:nvPr/>
        </p:nvSpPr>
        <p:spPr>
          <a:xfrm>
            <a:off x="3705763" y="3172075"/>
            <a:ext cx="1938776" cy="1227108"/>
          </a:xfrm>
          <a:custGeom>
            <a:avLst/>
            <a:gdLst>
              <a:gd name="connsiteX0" fmla="*/ 306769 w 926441"/>
              <a:gd name="connsiteY0" fmla="*/ 159524 h 533792"/>
              <a:gd name="connsiteX1" fmla="*/ 300633 w 926441"/>
              <a:gd name="connsiteY1" fmla="*/ 12272 h 533792"/>
              <a:gd name="connsiteX2" fmla="*/ 0 w 926441"/>
              <a:gd name="connsiteY2" fmla="*/ 12272 h 533792"/>
              <a:gd name="connsiteX3" fmla="*/ 30677 w 926441"/>
              <a:gd name="connsiteY3" fmla="*/ 515386 h 533792"/>
              <a:gd name="connsiteX4" fmla="*/ 926441 w 926441"/>
              <a:gd name="connsiteY4" fmla="*/ 533792 h 533792"/>
              <a:gd name="connsiteX5" fmla="*/ 920306 w 926441"/>
              <a:gd name="connsiteY5" fmla="*/ 0 h 533792"/>
              <a:gd name="connsiteX6" fmla="*/ 687162 w 926441"/>
              <a:gd name="connsiteY6" fmla="*/ 0 h 533792"/>
              <a:gd name="connsiteX7" fmla="*/ 711703 w 926441"/>
              <a:gd name="connsiteY7" fmla="*/ 319049 h 533792"/>
              <a:gd name="connsiteX8" fmla="*/ 122708 w 926441"/>
              <a:gd name="connsiteY8" fmla="*/ 312913 h 533792"/>
              <a:gd name="connsiteX9" fmla="*/ 116572 w 926441"/>
              <a:gd name="connsiteY9" fmla="*/ 153389 h 533792"/>
              <a:gd name="connsiteX10" fmla="*/ 306769 w 926441"/>
              <a:gd name="connsiteY10" fmla="*/ 159524 h 53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26441" h="533792">
                <a:moveTo>
                  <a:pt x="306769" y="159524"/>
                </a:moveTo>
                <a:lnTo>
                  <a:pt x="300633" y="12272"/>
                </a:lnTo>
                <a:lnTo>
                  <a:pt x="0" y="12272"/>
                </a:lnTo>
                <a:lnTo>
                  <a:pt x="30677" y="515386"/>
                </a:lnTo>
                <a:lnTo>
                  <a:pt x="926441" y="533792"/>
                </a:lnTo>
                <a:lnTo>
                  <a:pt x="920306" y="0"/>
                </a:lnTo>
                <a:lnTo>
                  <a:pt x="687162" y="0"/>
                </a:lnTo>
                <a:lnTo>
                  <a:pt x="711703" y="319049"/>
                </a:lnTo>
                <a:lnTo>
                  <a:pt x="122708" y="312913"/>
                </a:lnTo>
                <a:lnTo>
                  <a:pt x="116572" y="153389"/>
                </a:lnTo>
                <a:lnTo>
                  <a:pt x="306769" y="159524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483971" y="3643519"/>
            <a:ext cx="264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a</a:t>
            </a:r>
            <a:endParaRPr lang="en-US" sz="1400" dirty="0"/>
          </a:p>
        </p:txBody>
      </p:sp>
      <p:sp>
        <p:nvSpPr>
          <p:cNvPr id="64" name="TextBox 63"/>
          <p:cNvSpPr txBox="1"/>
          <p:nvPr/>
        </p:nvSpPr>
        <p:spPr>
          <a:xfrm>
            <a:off x="5256044" y="2893997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07529" y="4335849"/>
            <a:ext cx="264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c</a:t>
            </a:r>
            <a:endParaRPr lang="en-US" sz="1400" dirty="0"/>
          </a:p>
        </p:txBody>
      </p:sp>
      <p:sp>
        <p:nvSpPr>
          <p:cNvPr id="66" name="TextBox 65"/>
          <p:cNvSpPr txBox="1"/>
          <p:nvPr/>
        </p:nvSpPr>
        <p:spPr>
          <a:xfrm>
            <a:off x="3881720" y="292467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d</a:t>
            </a:r>
            <a:endParaRPr lang="en-US" sz="1400" dirty="0"/>
          </a:p>
        </p:txBody>
      </p:sp>
      <p:sp>
        <p:nvSpPr>
          <p:cNvPr id="67" name="TextBox 66"/>
          <p:cNvSpPr txBox="1"/>
          <p:nvPr/>
        </p:nvSpPr>
        <p:spPr>
          <a:xfrm>
            <a:off x="4009579" y="3439068"/>
            <a:ext cx="264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04427" y="4575136"/>
            <a:ext cx="13558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d – e + a + b = c</a:t>
            </a:r>
          </a:p>
          <a:p>
            <a:r>
              <a:rPr lang="en-US" sz="1400" dirty="0" smtClean="0"/>
              <a:t>e &lt;= d + 1</a:t>
            </a:r>
          </a:p>
          <a:p>
            <a:r>
              <a:rPr lang="en-US" sz="1400" dirty="0" smtClean="0"/>
              <a:t>a &lt; c</a:t>
            </a:r>
          </a:p>
          <a:p>
            <a:r>
              <a:rPr lang="en-US" sz="1400" dirty="0" smtClean="0"/>
              <a:t>e &lt; a OR ...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89134" y="3915716"/>
            <a:ext cx="114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tx2"/>
                </a:solidFill>
              </a:rPr>
              <a:t>submap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98998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Mixed-Integer Linear Constraints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Constraints are linear, no high powers such as x</a:t>
            </a:r>
            <a:r>
              <a:rPr lang="en-US" sz="1800" baseline="30000" dirty="0"/>
              <a:t>2</a:t>
            </a:r>
            <a:r>
              <a:rPr lang="en-US" sz="1800" dirty="0"/>
              <a:t> = y</a:t>
            </a:r>
            <a:r>
              <a:rPr lang="en-US" sz="1800" baseline="30000" dirty="0"/>
              <a:t>3</a:t>
            </a:r>
          </a:p>
          <a:p>
            <a:r>
              <a:rPr lang="en-US" sz="1800" dirty="0"/>
              <a:t>Coefficients are typically 1.</a:t>
            </a:r>
          </a:p>
          <a:p>
            <a:r>
              <a:rPr lang="en-US" sz="1800" dirty="0"/>
              <a:t>Sum-even </a:t>
            </a:r>
            <a:r>
              <a:rPr lang="en-US" sz="1800" dirty="0" smtClean="0"/>
              <a:t>modeled </a:t>
            </a:r>
            <a:r>
              <a:rPr lang="en-US" sz="1800" dirty="0"/>
              <a:t>with </a:t>
            </a:r>
            <a:r>
              <a:rPr lang="en-US" sz="1800" dirty="0" smtClean="0"/>
              <a:t>artificial variable, </a:t>
            </a:r>
            <a:r>
              <a:rPr lang="en-US" sz="1800" dirty="0"/>
              <a:t>2-</a:t>
            </a:r>
            <a:r>
              <a:rPr lang="en-US" sz="1800" dirty="0" smtClean="0"/>
              <a:t>coefficient</a:t>
            </a:r>
          </a:p>
          <a:p>
            <a:pPr lvl="1"/>
            <a:r>
              <a:rPr lang="en-US" sz="1600" dirty="0" smtClean="0">
                <a:sym typeface="Wingdings"/>
              </a:rPr>
              <a:t>sum</a:t>
            </a:r>
            <a:r>
              <a:rPr lang="en-US" sz="1600" dirty="0">
                <a:sym typeface="Wingdings"/>
              </a:rPr>
              <a:t>(x</a:t>
            </a:r>
            <a:r>
              <a:rPr lang="en-US" sz="1600" baseline="-25000" dirty="0">
                <a:sym typeface="Wingdings"/>
              </a:rPr>
              <a:t>i</a:t>
            </a:r>
            <a:r>
              <a:rPr lang="en-US" sz="1600" dirty="0">
                <a:sym typeface="Wingdings"/>
              </a:rPr>
              <a:t>)=even  sum(x</a:t>
            </a:r>
            <a:r>
              <a:rPr lang="en-US" sz="1600" baseline="-25000" dirty="0">
                <a:sym typeface="Wingdings"/>
              </a:rPr>
              <a:t>i</a:t>
            </a:r>
            <a:r>
              <a:rPr lang="en-US" sz="1600" dirty="0">
                <a:sym typeface="Wingdings"/>
              </a:rPr>
              <a:t>) = 2z : z is integer</a:t>
            </a:r>
            <a:endParaRPr lang="en-US" sz="1600" dirty="0"/>
          </a:p>
          <a:p>
            <a:r>
              <a:rPr lang="en-US" sz="1800" dirty="0"/>
              <a:t>Expressed in matrix form</a:t>
            </a:r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r>
              <a:rPr lang="en-US" sz="1800" dirty="0" smtClean="0"/>
              <a:t>Inequality </a:t>
            </a:r>
            <a:r>
              <a:rPr lang="en-US" sz="1800" dirty="0"/>
              <a:t>and equality are equivalent</a:t>
            </a:r>
          </a:p>
          <a:p>
            <a:pPr lvl="1"/>
            <a:r>
              <a:rPr lang="en-US" sz="1600" dirty="0"/>
              <a:t>Ax ≥ b </a:t>
            </a:r>
            <a:r>
              <a:rPr lang="en-US" sz="1600" dirty="0">
                <a:sym typeface="Wingdings"/>
              </a:rPr>
              <a:t> Ax + y = b,  y </a:t>
            </a:r>
            <a:r>
              <a:rPr lang="en-US" sz="1600" dirty="0"/>
              <a:t>≥</a:t>
            </a:r>
            <a:r>
              <a:rPr lang="en-US" sz="1600" dirty="0">
                <a:sym typeface="Wingdings"/>
              </a:rPr>
              <a:t> 0 </a:t>
            </a:r>
          </a:p>
          <a:p>
            <a:pPr lvl="1"/>
            <a:r>
              <a:rPr lang="en-US" sz="1600" dirty="0">
                <a:sym typeface="Wingdings"/>
              </a:rPr>
              <a:t>Ax = b  Ax </a:t>
            </a:r>
            <a:r>
              <a:rPr lang="en-US" sz="1600" dirty="0"/>
              <a:t>≤ </a:t>
            </a:r>
            <a:r>
              <a:rPr lang="en-US" sz="1600" dirty="0">
                <a:sym typeface="Wingdings"/>
              </a:rPr>
              <a:t>b and Ax </a:t>
            </a:r>
            <a:r>
              <a:rPr lang="en-US" sz="1600" dirty="0"/>
              <a:t>≥</a:t>
            </a:r>
            <a:r>
              <a:rPr lang="en-US" sz="1600" dirty="0">
                <a:sym typeface="Wingdings"/>
              </a:rPr>
              <a:t> b</a:t>
            </a:r>
            <a:endParaRPr lang="en-US" sz="1600" dirty="0"/>
          </a:p>
          <a:p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62" y="3268558"/>
            <a:ext cx="1573736" cy="174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2648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Linear Constraints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61258" y="1211089"/>
            <a:ext cx="7983476" cy="776828"/>
          </a:xfrm>
        </p:spPr>
        <p:txBody>
          <a:bodyPr/>
          <a:lstStyle/>
          <a:p>
            <a:r>
              <a:rPr lang="en-US" sz="1800" dirty="0" smtClean="0"/>
              <a:t>Feasible region (space of solutions) is convex (possibly unbounded) </a:t>
            </a:r>
            <a:br>
              <a:rPr lang="en-US" sz="1800" dirty="0" smtClean="0"/>
            </a:br>
            <a:r>
              <a:rPr lang="en-US" sz="1800" dirty="0" smtClean="0"/>
              <a:t>we have efficient solution algorithms (especially for linear objective)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901965" y="4779586"/>
            <a:ext cx="2116702" cy="1920424"/>
            <a:chOff x="2165785" y="3718137"/>
            <a:chExt cx="2116702" cy="1920424"/>
          </a:xfrm>
        </p:grpSpPr>
        <p:cxnSp>
          <p:nvCxnSpPr>
            <p:cNvPr id="7" name="Straight Connector 6"/>
            <p:cNvCxnSpPr/>
            <p:nvPr/>
          </p:nvCxnSpPr>
          <p:spPr bwMode="auto">
            <a:xfrm>
              <a:off x="2165785" y="3718137"/>
              <a:ext cx="2116702" cy="1920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 flipV="1">
              <a:off x="2889759" y="4202845"/>
              <a:ext cx="153384" cy="16566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3" name="Group 12"/>
          <p:cNvGrpSpPr/>
          <p:nvPr/>
        </p:nvGrpSpPr>
        <p:grpSpPr>
          <a:xfrm rot="17520000">
            <a:off x="3704780" y="4790869"/>
            <a:ext cx="2116702" cy="1920424"/>
            <a:chOff x="2165785" y="3718137"/>
            <a:chExt cx="2116702" cy="1920424"/>
          </a:xfrm>
        </p:grpSpPr>
        <p:cxnSp>
          <p:nvCxnSpPr>
            <p:cNvPr id="14" name="Straight Connector 13"/>
            <p:cNvCxnSpPr/>
            <p:nvPr/>
          </p:nvCxnSpPr>
          <p:spPr bwMode="auto">
            <a:xfrm>
              <a:off x="2165785" y="3718137"/>
              <a:ext cx="2116702" cy="1920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Arrow Connector 14"/>
            <p:cNvCxnSpPr/>
            <p:nvPr/>
          </p:nvCxnSpPr>
          <p:spPr bwMode="auto">
            <a:xfrm flipV="1">
              <a:off x="2889759" y="4202845"/>
              <a:ext cx="153384" cy="16566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6" name="Group 15"/>
          <p:cNvGrpSpPr/>
          <p:nvPr/>
        </p:nvGrpSpPr>
        <p:grpSpPr>
          <a:xfrm rot="4320000">
            <a:off x="1508317" y="3471728"/>
            <a:ext cx="2116702" cy="1920424"/>
            <a:chOff x="2165785" y="3718137"/>
            <a:chExt cx="2116702" cy="1920424"/>
          </a:xfrm>
        </p:grpSpPr>
        <p:cxnSp>
          <p:nvCxnSpPr>
            <p:cNvPr id="17" name="Straight Connector 16"/>
            <p:cNvCxnSpPr/>
            <p:nvPr/>
          </p:nvCxnSpPr>
          <p:spPr bwMode="auto">
            <a:xfrm>
              <a:off x="2165785" y="3718137"/>
              <a:ext cx="2116702" cy="1920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Arrow Connector 17"/>
            <p:cNvCxnSpPr/>
            <p:nvPr/>
          </p:nvCxnSpPr>
          <p:spPr bwMode="auto">
            <a:xfrm flipV="1">
              <a:off x="2889759" y="4202845"/>
              <a:ext cx="153384" cy="16566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72" y="3538522"/>
            <a:ext cx="1573736" cy="17423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75719" y="4043326"/>
            <a:ext cx="40663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f’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 bwMode="auto">
          <a:xfrm flipV="1">
            <a:off x="3834605" y="4460538"/>
            <a:ext cx="1227074" cy="1840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1784408" y="4858365"/>
            <a:ext cx="49244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x*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4" name="Oval 23"/>
          <p:cNvSpPr>
            <a:spLocks noChangeAspect="1"/>
          </p:cNvSpPr>
          <p:nvPr/>
        </p:nvSpPr>
        <p:spPr bwMode="auto">
          <a:xfrm>
            <a:off x="2221003" y="5067955"/>
            <a:ext cx="91440" cy="91440"/>
          </a:xfrm>
          <a:prstGeom prst="ellipse">
            <a:avLst/>
          </a:prstGeom>
          <a:solidFill>
            <a:schemeClr val="tx2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96" name="Group 95"/>
          <p:cNvGrpSpPr/>
          <p:nvPr/>
        </p:nvGrpSpPr>
        <p:grpSpPr>
          <a:xfrm>
            <a:off x="2121087" y="3362890"/>
            <a:ext cx="3291840" cy="2834640"/>
            <a:chOff x="274320" y="2743200"/>
            <a:chExt cx="3291840" cy="2834640"/>
          </a:xfrm>
        </p:grpSpPr>
        <p:grpSp>
          <p:nvGrpSpPr>
            <p:cNvPr id="60" name="Group 59"/>
            <p:cNvGrpSpPr/>
            <p:nvPr/>
          </p:nvGrpSpPr>
          <p:grpSpPr>
            <a:xfrm>
              <a:off x="274320" y="2743200"/>
              <a:ext cx="1463040" cy="2834640"/>
              <a:chOff x="274320" y="2743200"/>
              <a:chExt cx="1463040" cy="2834640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274320" y="2743200"/>
                <a:ext cx="548640" cy="2834640"/>
                <a:chOff x="274320" y="2743200"/>
                <a:chExt cx="548640" cy="2834640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2743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25" name="Oval 2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6" name="Oval 2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7" name="Oval 2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8" name="Oval 2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9" name="Oval 2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0" name="Oval 2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1" name="Oval 3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grpSp>
              <p:nvGrpSpPr>
                <p:cNvPr id="34" name="Group 33"/>
                <p:cNvGrpSpPr/>
                <p:nvPr/>
              </p:nvGrpSpPr>
              <p:grpSpPr>
                <a:xfrm>
                  <a:off x="7315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35" name="Oval 3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6" name="Oval 3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7" name="Oval 3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8" name="Oval 3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9" name="Oval 3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0" name="Oval 3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1" name="Oval 4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</p:grpSp>
          <p:grpSp>
            <p:nvGrpSpPr>
              <p:cNvPr id="43" name="Group 42"/>
              <p:cNvGrpSpPr/>
              <p:nvPr/>
            </p:nvGrpSpPr>
            <p:grpSpPr>
              <a:xfrm>
                <a:off x="1188720" y="2743200"/>
                <a:ext cx="548640" cy="2834640"/>
                <a:chOff x="274320" y="2743200"/>
                <a:chExt cx="548640" cy="2834640"/>
              </a:xfrm>
            </p:grpSpPr>
            <p:grpSp>
              <p:nvGrpSpPr>
                <p:cNvPr id="44" name="Group 43"/>
                <p:cNvGrpSpPr/>
                <p:nvPr/>
              </p:nvGrpSpPr>
              <p:grpSpPr>
                <a:xfrm>
                  <a:off x="2743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53" name="Oval 5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4" name="Oval 5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5" name="Oval 5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6" name="Oval 5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7" name="Oval 5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8" name="Oval 5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9" name="Oval 5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grpSp>
              <p:nvGrpSpPr>
                <p:cNvPr id="45" name="Group 44"/>
                <p:cNvGrpSpPr/>
                <p:nvPr/>
              </p:nvGrpSpPr>
              <p:grpSpPr>
                <a:xfrm>
                  <a:off x="7315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46" name="Oval 4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7" name="Oval 4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8" name="Oval 4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9" name="Oval 4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0" name="Oval 4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1" name="Oval 5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2" name="Oval 5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</p:grpSp>
        </p:grpSp>
        <p:grpSp>
          <p:nvGrpSpPr>
            <p:cNvPr id="61" name="Group 60"/>
            <p:cNvGrpSpPr/>
            <p:nvPr/>
          </p:nvGrpSpPr>
          <p:grpSpPr>
            <a:xfrm>
              <a:off x="2103120" y="2743200"/>
              <a:ext cx="1463040" cy="2834640"/>
              <a:chOff x="274320" y="2743200"/>
              <a:chExt cx="1463040" cy="2834640"/>
            </a:xfrm>
          </p:grpSpPr>
          <p:grpSp>
            <p:nvGrpSpPr>
              <p:cNvPr id="62" name="Group 61"/>
              <p:cNvGrpSpPr/>
              <p:nvPr/>
            </p:nvGrpSpPr>
            <p:grpSpPr>
              <a:xfrm>
                <a:off x="274320" y="2743200"/>
                <a:ext cx="548640" cy="2834640"/>
                <a:chOff x="274320" y="2743200"/>
                <a:chExt cx="548640" cy="2834640"/>
              </a:xfrm>
            </p:grpSpPr>
            <p:grpSp>
              <p:nvGrpSpPr>
                <p:cNvPr id="80" name="Group 79"/>
                <p:cNvGrpSpPr/>
                <p:nvPr/>
              </p:nvGrpSpPr>
              <p:grpSpPr>
                <a:xfrm>
                  <a:off x="2743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89" name="Oval 8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90" name="Oval 8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91" name="Oval 9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92" name="Oval 9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93" name="Oval 9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94" name="Oval 9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95" name="Oval 9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grpSp>
              <p:nvGrpSpPr>
                <p:cNvPr id="81" name="Group 80"/>
                <p:cNvGrpSpPr/>
                <p:nvPr/>
              </p:nvGrpSpPr>
              <p:grpSpPr>
                <a:xfrm>
                  <a:off x="7315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82" name="Oval 8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3" name="Oval 8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4" name="Oval 8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5" name="Oval 8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6" name="Oval 8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7" name="Oval 8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8" name="Oval 8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</p:grpSp>
          <p:grpSp>
            <p:nvGrpSpPr>
              <p:cNvPr id="63" name="Group 62"/>
              <p:cNvGrpSpPr/>
              <p:nvPr/>
            </p:nvGrpSpPr>
            <p:grpSpPr>
              <a:xfrm>
                <a:off x="1188720" y="2743200"/>
                <a:ext cx="548640" cy="2834640"/>
                <a:chOff x="274320" y="2743200"/>
                <a:chExt cx="548640" cy="2834640"/>
              </a:xfrm>
            </p:grpSpPr>
            <p:grpSp>
              <p:nvGrpSpPr>
                <p:cNvPr id="64" name="Group 63"/>
                <p:cNvGrpSpPr/>
                <p:nvPr/>
              </p:nvGrpSpPr>
              <p:grpSpPr>
                <a:xfrm>
                  <a:off x="2743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73" name="Oval 7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4" name="Oval 7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5" name="Oval 7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6" name="Oval 7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7" name="Oval 7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8" name="Oval 7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9" name="Oval 7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grpSp>
              <p:nvGrpSpPr>
                <p:cNvPr id="65" name="Group 64"/>
                <p:cNvGrpSpPr/>
                <p:nvPr/>
              </p:nvGrpSpPr>
              <p:grpSpPr>
                <a:xfrm>
                  <a:off x="7315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66" name="Oval 6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7" name="Oval 6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8" name="Oval 6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9" name="Oval 6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0" name="Oval 6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1" name="Oval 7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2" name="Oval 7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</p:grpSp>
        </p:grpSp>
      </p:grpSp>
      <p:sp>
        <p:nvSpPr>
          <p:cNvPr id="97" name="Content Placeholder 3"/>
          <p:cNvSpPr txBox="1">
            <a:spLocks/>
          </p:cNvSpPr>
          <p:nvPr/>
        </p:nvSpPr>
        <p:spPr bwMode="auto">
          <a:xfrm>
            <a:off x="746169" y="1854331"/>
            <a:ext cx="7772400" cy="46490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lvl="1"/>
            <a:r>
              <a:rPr lang="en-US" sz="1800" dirty="0" smtClean="0"/>
              <a:t>Not so easy for integer solutions</a:t>
            </a:r>
            <a:endParaRPr lang="en-US" sz="1800" dirty="0"/>
          </a:p>
        </p:txBody>
      </p:sp>
      <p:grpSp>
        <p:nvGrpSpPr>
          <p:cNvPr id="171" name="Group 170"/>
          <p:cNvGrpSpPr/>
          <p:nvPr/>
        </p:nvGrpSpPr>
        <p:grpSpPr>
          <a:xfrm>
            <a:off x="732917" y="2196950"/>
            <a:ext cx="7772400" cy="3876879"/>
            <a:chOff x="-3322562" y="2074240"/>
            <a:chExt cx="7772400" cy="3876879"/>
          </a:xfrm>
        </p:grpSpPr>
        <p:sp>
          <p:nvSpPr>
            <p:cNvPr id="98" name="Content Placeholder 3"/>
            <p:cNvSpPr txBox="1">
              <a:spLocks/>
            </p:cNvSpPr>
            <p:nvPr/>
          </p:nvSpPr>
          <p:spPr bwMode="auto">
            <a:xfrm>
              <a:off x="-3322562" y="2074240"/>
              <a:ext cx="7772400" cy="4649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pPr lvl="1"/>
              <a:r>
                <a:rPr lang="en-US" sz="1800" dirty="0" smtClean="0"/>
                <a:t>Unless coefficients are cooperative!</a:t>
              </a:r>
              <a:endParaRPr lang="en-US" sz="1800" dirty="0"/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-1831096" y="3116479"/>
              <a:ext cx="3291840" cy="2834640"/>
              <a:chOff x="274320" y="2743200"/>
              <a:chExt cx="3291840" cy="2834640"/>
            </a:xfrm>
          </p:grpSpPr>
          <p:grpSp>
            <p:nvGrpSpPr>
              <p:cNvPr id="100" name="Group 99"/>
              <p:cNvGrpSpPr/>
              <p:nvPr/>
            </p:nvGrpSpPr>
            <p:grpSpPr>
              <a:xfrm>
                <a:off x="274320" y="2743200"/>
                <a:ext cx="1463040" cy="2834640"/>
                <a:chOff x="274320" y="2743200"/>
                <a:chExt cx="1463040" cy="2834640"/>
              </a:xfrm>
            </p:grpSpPr>
            <p:grpSp>
              <p:nvGrpSpPr>
                <p:cNvPr id="136" name="Group 135"/>
                <p:cNvGrpSpPr/>
                <p:nvPr/>
              </p:nvGrpSpPr>
              <p:grpSpPr>
                <a:xfrm>
                  <a:off x="274320" y="2743200"/>
                  <a:ext cx="548640" cy="2834640"/>
                  <a:chOff x="274320" y="2743200"/>
                  <a:chExt cx="548640" cy="2834640"/>
                </a:xfrm>
              </p:grpSpPr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274320" y="2743200"/>
                    <a:ext cx="91440" cy="2834640"/>
                    <a:chOff x="274320" y="2743200"/>
                    <a:chExt cx="91440" cy="2834640"/>
                  </a:xfrm>
                </p:grpSpPr>
                <p:sp>
                  <p:nvSpPr>
                    <p:cNvPr id="163" name="Oval 16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2743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4" name="Oval 163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200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5" name="Oval 16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6576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6" name="Oval 165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1148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7" name="Oval 16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5720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8" name="Oval 16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486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9" name="Oval 16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029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</p:grpSp>
              <p:grpSp>
                <p:nvGrpSpPr>
                  <p:cNvPr id="155" name="Group 154"/>
                  <p:cNvGrpSpPr/>
                  <p:nvPr/>
                </p:nvGrpSpPr>
                <p:grpSpPr>
                  <a:xfrm>
                    <a:off x="731520" y="2743200"/>
                    <a:ext cx="91440" cy="2834640"/>
                    <a:chOff x="274320" y="2743200"/>
                    <a:chExt cx="91440" cy="2834640"/>
                  </a:xfrm>
                </p:grpSpPr>
                <p:sp>
                  <p:nvSpPr>
                    <p:cNvPr id="156" name="Oval 155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2743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57" name="Oval 15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200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58" name="Oval 15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6576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59" name="Oval 15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1148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0" name="Oval 159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5720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1" name="Oval 16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486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62" name="Oval 16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029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37" name="Group 136"/>
                <p:cNvGrpSpPr/>
                <p:nvPr/>
              </p:nvGrpSpPr>
              <p:grpSpPr>
                <a:xfrm>
                  <a:off x="1188720" y="2743200"/>
                  <a:ext cx="548640" cy="2834640"/>
                  <a:chOff x="274320" y="2743200"/>
                  <a:chExt cx="548640" cy="2834640"/>
                </a:xfrm>
              </p:grpSpPr>
              <p:grpSp>
                <p:nvGrpSpPr>
                  <p:cNvPr id="138" name="Group 137"/>
                  <p:cNvGrpSpPr/>
                  <p:nvPr/>
                </p:nvGrpSpPr>
                <p:grpSpPr>
                  <a:xfrm>
                    <a:off x="274320" y="2743200"/>
                    <a:ext cx="91440" cy="2834640"/>
                    <a:chOff x="274320" y="2743200"/>
                    <a:chExt cx="91440" cy="2834640"/>
                  </a:xfrm>
                </p:grpSpPr>
                <p:sp>
                  <p:nvSpPr>
                    <p:cNvPr id="147" name="Oval 14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2743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48" name="Oval 14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200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49" name="Oval 14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6576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50" name="Oval 149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1148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51" name="Oval 15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5720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52" name="Oval 15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486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53" name="Oval 15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029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</p:grpSp>
              <p:grpSp>
                <p:nvGrpSpPr>
                  <p:cNvPr id="139" name="Group 138"/>
                  <p:cNvGrpSpPr/>
                  <p:nvPr/>
                </p:nvGrpSpPr>
                <p:grpSpPr>
                  <a:xfrm>
                    <a:off x="731520" y="2743200"/>
                    <a:ext cx="91440" cy="2834640"/>
                    <a:chOff x="274320" y="2743200"/>
                    <a:chExt cx="91440" cy="2834640"/>
                  </a:xfrm>
                </p:grpSpPr>
                <p:sp>
                  <p:nvSpPr>
                    <p:cNvPr id="140" name="Oval 139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2743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41" name="Oval 14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200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42" name="Oval 14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6576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43" name="Oval 14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1148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44" name="Oval 143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5720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45" name="Oval 14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486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46" name="Oval 145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029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101" name="Group 100"/>
              <p:cNvGrpSpPr/>
              <p:nvPr/>
            </p:nvGrpSpPr>
            <p:grpSpPr>
              <a:xfrm>
                <a:off x="2103120" y="2743200"/>
                <a:ext cx="1463040" cy="2834640"/>
                <a:chOff x="274320" y="2743200"/>
                <a:chExt cx="1463040" cy="2834640"/>
              </a:xfrm>
            </p:grpSpPr>
            <p:grpSp>
              <p:nvGrpSpPr>
                <p:cNvPr id="102" name="Group 101"/>
                <p:cNvGrpSpPr/>
                <p:nvPr/>
              </p:nvGrpSpPr>
              <p:grpSpPr>
                <a:xfrm>
                  <a:off x="274320" y="2743200"/>
                  <a:ext cx="548640" cy="2834640"/>
                  <a:chOff x="274320" y="2743200"/>
                  <a:chExt cx="548640" cy="2834640"/>
                </a:xfrm>
              </p:grpSpPr>
              <p:grpSp>
                <p:nvGrpSpPr>
                  <p:cNvPr id="120" name="Group 119"/>
                  <p:cNvGrpSpPr/>
                  <p:nvPr/>
                </p:nvGrpSpPr>
                <p:grpSpPr>
                  <a:xfrm>
                    <a:off x="274320" y="2743200"/>
                    <a:ext cx="91440" cy="2834640"/>
                    <a:chOff x="274320" y="2743200"/>
                    <a:chExt cx="91440" cy="2834640"/>
                  </a:xfrm>
                </p:grpSpPr>
                <p:sp>
                  <p:nvSpPr>
                    <p:cNvPr id="129" name="Oval 12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2743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30" name="Oval 129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200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31" name="Oval 13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6576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32" name="Oval 13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1148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33" name="Oval 13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5720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34" name="Oval 133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486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35" name="Oval 13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029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</p:grpSp>
              <p:grpSp>
                <p:nvGrpSpPr>
                  <p:cNvPr id="121" name="Group 120"/>
                  <p:cNvGrpSpPr/>
                  <p:nvPr/>
                </p:nvGrpSpPr>
                <p:grpSpPr>
                  <a:xfrm>
                    <a:off x="731520" y="2743200"/>
                    <a:ext cx="91440" cy="2834640"/>
                    <a:chOff x="274320" y="2743200"/>
                    <a:chExt cx="91440" cy="2834640"/>
                  </a:xfrm>
                </p:grpSpPr>
                <p:sp>
                  <p:nvSpPr>
                    <p:cNvPr id="122" name="Oval 12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2743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23" name="Oval 12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200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24" name="Oval 123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6576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25" name="Oval 12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1148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26" name="Oval 125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5720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27" name="Oval 12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486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28" name="Oval 12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029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03" name="Group 102"/>
                <p:cNvGrpSpPr/>
                <p:nvPr/>
              </p:nvGrpSpPr>
              <p:grpSpPr>
                <a:xfrm>
                  <a:off x="1188720" y="2743200"/>
                  <a:ext cx="548640" cy="2834640"/>
                  <a:chOff x="274320" y="2743200"/>
                  <a:chExt cx="548640" cy="2834640"/>
                </a:xfrm>
              </p:grpSpPr>
              <p:grpSp>
                <p:nvGrpSpPr>
                  <p:cNvPr id="104" name="Group 103"/>
                  <p:cNvGrpSpPr/>
                  <p:nvPr/>
                </p:nvGrpSpPr>
                <p:grpSpPr>
                  <a:xfrm>
                    <a:off x="274320" y="2743200"/>
                    <a:ext cx="91440" cy="2834640"/>
                    <a:chOff x="274320" y="2743200"/>
                    <a:chExt cx="91440" cy="2834640"/>
                  </a:xfrm>
                </p:grpSpPr>
                <p:sp>
                  <p:nvSpPr>
                    <p:cNvPr id="113" name="Oval 112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2743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4" name="Oval 113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200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5" name="Oval 114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6576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6" name="Oval 115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1148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7" name="Oval 11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5720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8" name="Oval 11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486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9" name="Oval 11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029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</p:grpSp>
              <p:grpSp>
                <p:nvGrpSpPr>
                  <p:cNvPr id="105" name="Group 104"/>
                  <p:cNvGrpSpPr/>
                  <p:nvPr/>
                </p:nvGrpSpPr>
                <p:grpSpPr>
                  <a:xfrm>
                    <a:off x="731520" y="2743200"/>
                    <a:ext cx="91440" cy="2834640"/>
                    <a:chOff x="274320" y="2743200"/>
                    <a:chExt cx="91440" cy="2834640"/>
                  </a:xfrm>
                </p:grpSpPr>
                <p:sp>
                  <p:nvSpPr>
                    <p:cNvPr id="106" name="Oval 105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2743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07" name="Oval 106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200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08" name="Oval 10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36576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09" name="Oval 108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1148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0" name="Oval 109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45720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1" name="Oval 110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4864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  <p:sp>
                  <p:nvSpPr>
                    <p:cNvPr id="112" name="Oval 111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74320" y="5029200"/>
                      <a:ext cx="91440" cy="9144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pitchFamily="18" charset="0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3" name="TextBox 2"/>
          <p:cNvSpPr txBox="1"/>
          <p:nvPr/>
        </p:nvSpPr>
        <p:spPr>
          <a:xfrm>
            <a:off x="129587" y="5714460"/>
            <a:ext cx="20104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</a:t>
            </a:r>
            <a:r>
              <a:rPr lang="en-US" sz="2000" baseline="30000" dirty="0" smtClean="0"/>
              <a:t>v</a:t>
            </a:r>
            <a:r>
              <a:rPr lang="en-US" sz="2000" dirty="0" smtClean="0"/>
              <a:t> nearby integer</a:t>
            </a:r>
          </a:p>
          <a:p>
            <a:r>
              <a:rPr lang="en-US" sz="2000" dirty="0" smtClean="0"/>
              <a:t>points. v=#curves</a:t>
            </a:r>
            <a:endParaRPr lang="en-US" sz="2000" dirty="0"/>
          </a:p>
        </p:txBody>
      </p:sp>
      <p:grpSp>
        <p:nvGrpSpPr>
          <p:cNvPr id="32" name="Group 31"/>
          <p:cNvGrpSpPr/>
          <p:nvPr/>
        </p:nvGrpSpPr>
        <p:grpSpPr>
          <a:xfrm>
            <a:off x="1568006" y="4613034"/>
            <a:ext cx="4146792" cy="596065"/>
            <a:chOff x="349886" y="3589355"/>
            <a:chExt cx="3019382" cy="414654"/>
          </a:xfrm>
        </p:grpSpPr>
        <p:cxnSp>
          <p:nvCxnSpPr>
            <p:cNvPr id="6" name="Straight Connector 5"/>
            <p:cNvCxnSpPr/>
            <p:nvPr/>
          </p:nvCxnSpPr>
          <p:spPr bwMode="auto">
            <a:xfrm flipV="1">
              <a:off x="349886" y="3589355"/>
              <a:ext cx="3019382" cy="41465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/>
            <p:cNvCxnSpPr/>
            <p:nvPr/>
          </p:nvCxnSpPr>
          <p:spPr bwMode="auto">
            <a:xfrm flipV="1">
              <a:off x="349886" y="3874430"/>
              <a:ext cx="3006424" cy="6479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8020866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47" y="1397000"/>
            <a:ext cx="7080600" cy="361284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Global Infeasibility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523" y="5206999"/>
            <a:ext cx="87065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global IA problem may be infeasible, meaning no solution exists,</a:t>
            </a:r>
          </a:p>
          <a:p>
            <a:r>
              <a:rPr lang="en-US" dirty="0" smtClean="0"/>
              <a:t>even when each surface can be meshed in isolation.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6404429" y="2588380"/>
            <a:ext cx="961571" cy="1227667"/>
          </a:xfrm>
          <a:custGeom>
            <a:avLst/>
            <a:gdLst>
              <a:gd name="connsiteX0" fmla="*/ 0 w 913190"/>
              <a:gd name="connsiteY0" fmla="*/ 1233715 h 1233715"/>
              <a:gd name="connsiteX1" fmla="*/ 913190 w 913190"/>
              <a:gd name="connsiteY1" fmla="*/ 411239 h 1233715"/>
              <a:gd name="connsiteX2" fmla="*/ 907143 w 913190"/>
              <a:gd name="connsiteY2" fmla="*/ 0 h 1233715"/>
              <a:gd name="connsiteX3" fmla="*/ 36286 w 913190"/>
              <a:gd name="connsiteY3" fmla="*/ 828524 h 1233715"/>
              <a:gd name="connsiteX4" fmla="*/ 0 w 913190"/>
              <a:gd name="connsiteY4" fmla="*/ 1233715 h 123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190" h="1233715">
                <a:moveTo>
                  <a:pt x="0" y="1233715"/>
                </a:moveTo>
                <a:lnTo>
                  <a:pt x="913190" y="411239"/>
                </a:lnTo>
                <a:cubicBezTo>
                  <a:pt x="911174" y="274159"/>
                  <a:pt x="909159" y="137080"/>
                  <a:pt x="907143" y="0"/>
                </a:cubicBezTo>
                <a:lnTo>
                  <a:pt x="36286" y="828524"/>
                </a:lnTo>
                <a:lnTo>
                  <a:pt x="0" y="1233715"/>
                </a:lnTo>
                <a:close/>
              </a:path>
            </a:pathLst>
          </a:custGeom>
          <a:ln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255762" y="2896810"/>
            <a:ext cx="562428" cy="755952"/>
          </a:xfrm>
          <a:custGeom>
            <a:avLst/>
            <a:gdLst>
              <a:gd name="connsiteX0" fmla="*/ 102809 w 562428"/>
              <a:gd name="connsiteY0" fmla="*/ 755952 h 755952"/>
              <a:gd name="connsiteX1" fmla="*/ 562428 w 562428"/>
              <a:gd name="connsiteY1" fmla="*/ 538238 h 755952"/>
              <a:gd name="connsiteX2" fmla="*/ 447524 w 562428"/>
              <a:gd name="connsiteY2" fmla="*/ 0 h 755952"/>
              <a:gd name="connsiteX3" fmla="*/ 0 w 562428"/>
              <a:gd name="connsiteY3" fmla="*/ 199571 h 755952"/>
              <a:gd name="connsiteX4" fmla="*/ 102809 w 562428"/>
              <a:gd name="connsiteY4" fmla="*/ 755952 h 75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428" h="755952">
                <a:moveTo>
                  <a:pt x="102809" y="755952"/>
                </a:moveTo>
                <a:lnTo>
                  <a:pt x="562428" y="538238"/>
                </a:lnTo>
                <a:lnTo>
                  <a:pt x="447524" y="0"/>
                </a:lnTo>
                <a:lnTo>
                  <a:pt x="0" y="199571"/>
                </a:lnTo>
                <a:lnTo>
                  <a:pt x="102809" y="755952"/>
                </a:lnTo>
                <a:close/>
              </a:path>
            </a:pathLst>
          </a:custGeom>
          <a:ln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42381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Graphics has discovered quad meshes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4300" y="3594100"/>
            <a:ext cx="4601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Designing </a:t>
            </a:r>
            <a:r>
              <a:rPr lang="en-US" sz="1200" dirty="0" err="1"/>
              <a:t>Quadrangulations</a:t>
            </a:r>
            <a:r>
              <a:rPr lang="en-US" sz="1200" dirty="0"/>
              <a:t> with Discrete Harmonic Forms </a:t>
            </a:r>
          </a:p>
          <a:p>
            <a:r>
              <a:rPr lang="en-US" sz="1200" dirty="0" err="1"/>
              <a:t>Yiying</a:t>
            </a:r>
            <a:r>
              <a:rPr lang="en-US" sz="1200" dirty="0"/>
              <a:t> Tong, Pierre </a:t>
            </a:r>
            <a:r>
              <a:rPr lang="en-US" sz="1200" dirty="0" err="1"/>
              <a:t>Alliez</a:t>
            </a:r>
            <a:r>
              <a:rPr lang="en-US" sz="1200" dirty="0"/>
              <a:t>, David Cohen-Steiner, and Mathieu </a:t>
            </a:r>
            <a:r>
              <a:rPr lang="en-US" sz="1200" dirty="0" err="1"/>
              <a:t>Desbrun</a:t>
            </a:r>
            <a:r>
              <a:rPr lang="en-US" sz="1200" dirty="0"/>
              <a:t> </a:t>
            </a:r>
          </a:p>
          <a:p>
            <a:r>
              <a:rPr lang="en-US" sz="1200" dirty="0"/>
              <a:t>ACM/EG Symposium on Geometry Processing 2006, pp. 201-210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257300"/>
            <a:ext cx="3708400" cy="23103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43" y="4284530"/>
            <a:ext cx="1834508" cy="24032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1716" y="5806792"/>
            <a:ext cx="3187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Integer-Grid Maps for Reliable Quad Meshing</a:t>
            </a:r>
          </a:p>
          <a:p>
            <a:r>
              <a:rPr lang="en-US" sz="1200" dirty="0"/>
              <a:t>David </a:t>
            </a:r>
            <a:r>
              <a:rPr lang="en-US" sz="1200" dirty="0" err="1"/>
              <a:t>Bommes</a:t>
            </a:r>
            <a:r>
              <a:rPr lang="en-US" sz="1200" dirty="0"/>
              <a:t>, Marcel </a:t>
            </a:r>
            <a:r>
              <a:rPr lang="en-US" sz="1200" dirty="0" err="1"/>
              <a:t>Campen</a:t>
            </a:r>
            <a:r>
              <a:rPr lang="en-US" sz="1200" dirty="0"/>
              <a:t>, Hans-Christian </a:t>
            </a:r>
            <a:r>
              <a:rPr lang="en-US" sz="1200" dirty="0" err="1"/>
              <a:t>Ebke</a:t>
            </a:r>
            <a:r>
              <a:rPr lang="en-US" sz="1200" dirty="0"/>
              <a:t>, Pierre </a:t>
            </a:r>
            <a:r>
              <a:rPr lang="en-US" sz="1200" dirty="0" err="1"/>
              <a:t>Alliez</a:t>
            </a:r>
            <a:r>
              <a:rPr lang="en-US" sz="1200" dirty="0"/>
              <a:t>, Leif </a:t>
            </a:r>
            <a:r>
              <a:rPr lang="en-US" sz="1200" dirty="0" err="1"/>
              <a:t>Kobbelt</a:t>
            </a:r>
            <a:endParaRPr lang="en-US" sz="1200" dirty="0"/>
          </a:p>
          <a:p>
            <a:r>
              <a:rPr lang="en-US" sz="1200" dirty="0"/>
              <a:t>SIGGRAPH 2013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316" y="1221373"/>
            <a:ext cx="3995253" cy="45271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73382" y="5718323"/>
            <a:ext cx="24331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Disney Animation</a:t>
            </a:r>
          </a:p>
          <a:p>
            <a:r>
              <a:rPr lang="en-US" sz="1600" dirty="0" smtClean="0"/>
              <a:t>(Pixar uses triangles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42353" y="4473724"/>
            <a:ext cx="26525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0000FF"/>
                </a:solidFill>
              </a:rPr>
              <a:t>Mostly structured quads</a:t>
            </a:r>
          </a:p>
          <a:p>
            <a:r>
              <a:rPr lang="en-US" sz="1800" dirty="0" smtClean="0">
                <a:solidFill>
                  <a:srgbClr val="0000FF"/>
                </a:solidFill>
              </a:rPr>
              <a:t>on smooth curved surfaces</a:t>
            </a:r>
          </a:p>
          <a:p>
            <a:r>
              <a:rPr lang="en-US" sz="1800" dirty="0" smtClean="0">
                <a:solidFill>
                  <a:srgbClr val="0000FF"/>
                </a:solidFill>
              </a:rPr>
              <a:t>Key issue is placement </a:t>
            </a:r>
            <a:br>
              <a:rPr lang="en-US" sz="1800" dirty="0" smtClean="0">
                <a:solidFill>
                  <a:srgbClr val="0000FF"/>
                </a:solidFill>
              </a:rPr>
            </a:br>
            <a:r>
              <a:rPr lang="en-US" sz="1800" dirty="0" smtClean="0">
                <a:solidFill>
                  <a:srgbClr val="0000FF"/>
                </a:solidFill>
              </a:rPr>
              <a:t>  of irregular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179" y="0"/>
            <a:ext cx="3589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State of the Art in Quad Meshing</a:t>
            </a:r>
          </a:p>
          <a:p>
            <a:r>
              <a:rPr lang="en-US" sz="2000" dirty="0" err="1" smtClean="0"/>
              <a:t>Eurographics</a:t>
            </a:r>
            <a:r>
              <a:rPr lang="en-US" sz="2000" dirty="0" smtClean="0"/>
              <a:t> STARS 2012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100986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Graphics has discovered quad meshes</a:t>
            </a:r>
            <a:br>
              <a:rPr lang="en-US" dirty="0" smtClean="0"/>
            </a:br>
            <a:r>
              <a:rPr lang="en-US" sz="2000" dirty="0" smtClean="0"/>
              <a:t>including the need for interval assignment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97011" y="1333095"/>
            <a:ext cx="8028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dirty="0" smtClean="0"/>
              <a:t>olved with mixed-integer linear-constraint optimization, series of problems</a:t>
            </a:r>
          </a:p>
          <a:p>
            <a:r>
              <a:rPr lang="en-US" sz="2000" dirty="0"/>
              <a:t>T</a:t>
            </a:r>
            <a:r>
              <a:rPr lang="en-US" sz="2000" dirty="0" smtClean="0"/>
              <a:t>he placement of irregular nodes is included in the optimization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3" y="4755044"/>
            <a:ext cx="3446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0000FF"/>
                </a:solidFill>
              </a:rPr>
              <a:t>Mixed-</a:t>
            </a:r>
            <a:r>
              <a:rPr lang="en-US" sz="1400" dirty="0">
                <a:solidFill>
                  <a:srgbClr val="0000FF"/>
                </a:solidFill>
              </a:rPr>
              <a:t>I</a:t>
            </a:r>
            <a:r>
              <a:rPr lang="en-US" sz="1400" dirty="0" smtClean="0">
                <a:solidFill>
                  <a:srgbClr val="0000FF"/>
                </a:solidFill>
              </a:rPr>
              <a:t>nteger Quadrangulation</a:t>
            </a:r>
            <a:r>
              <a:rPr lang="en-US" sz="1400" dirty="0">
                <a:solidFill>
                  <a:srgbClr val="0000FF"/>
                </a:solidFill>
              </a:rPr>
              <a:t>.</a:t>
            </a:r>
          </a:p>
          <a:p>
            <a:r>
              <a:rPr lang="en-US" sz="1100" dirty="0" smtClean="0"/>
              <a:t>David </a:t>
            </a:r>
            <a:r>
              <a:rPr lang="en-US" sz="1100" dirty="0" err="1"/>
              <a:t>Bommes</a:t>
            </a:r>
            <a:r>
              <a:rPr lang="en-US" sz="1100" dirty="0"/>
              <a:t>, </a:t>
            </a:r>
            <a:r>
              <a:rPr lang="en-US" sz="1100" dirty="0" err="1"/>
              <a:t>Henrik</a:t>
            </a:r>
            <a:r>
              <a:rPr lang="en-US" sz="1100" dirty="0"/>
              <a:t> Zimmer, and Leif </a:t>
            </a:r>
            <a:r>
              <a:rPr lang="en-US" sz="1100" dirty="0" err="1"/>
              <a:t>Kobbelt</a:t>
            </a:r>
            <a:r>
              <a:rPr lang="en-US" sz="1100" dirty="0" smtClean="0"/>
              <a:t>.</a:t>
            </a:r>
          </a:p>
          <a:p>
            <a:r>
              <a:rPr lang="en-US" sz="1100" dirty="0" smtClean="0"/>
              <a:t>ACM </a:t>
            </a:r>
            <a:r>
              <a:rPr lang="en-US" sz="1100" dirty="0"/>
              <a:t>Trans. Graph. (TOG), 28(3):77:1–77:10, July 2009.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93" y="2546248"/>
            <a:ext cx="2231060" cy="2134381"/>
          </a:xfrm>
          <a:prstGeom prst="rect">
            <a:avLst/>
          </a:prstGeom>
        </p:spPr>
      </p:pic>
      <p:pic>
        <p:nvPicPr>
          <p:cNvPr id="6" name="Picture 5" descr="Screen shot 2013-10-09 at 4.22.5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877" y="2013856"/>
            <a:ext cx="3028980" cy="3291014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>
            <a:off x="3634619" y="3628571"/>
            <a:ext cx="1469571" cy="1209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3785809" y="3695096"/>
            <a:ext cx="115308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commercial</a:t>
            </a:r>
          </a:p>
          <a:p>
            <a:r>
              <a:rPr lang="en-US" sz="1600" dirty="0" smtClean="0"/>
              <a:t>version</a:t>
            </a:r>
            <a:endParaRPr lang="en-US" sz="1600" dirty="0"/>
          </a:p>
        </p:txBody>
      </p:sp>
      <p:pic>
        <p:nvPicPr>
          <p:cNvPr id="10" name="Picture 9" descr="Screen shot 2013-10-09 at 4.24.53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381" y="5340046"/>
            <a:ext cx="2435253" cy="143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3246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Objectives: user specified sizes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888" y="1278579"/>
            <a:ext cx="7772400" cy="4572000"/>
          </a:xfrm>
        </p:spPr>
        <p:txBody>
          <a:bodyPr/>
          <a:lstStyle/>
          <a:p>
            <a:r>
              <a:rPr lang="en-US" sz="1800" dirty="0" smtClean="0"/>
              <a:t>Goal </a:t>
            </a:r>
            <a:r>
              <a:rPr lang="en-US" sz="1800" i="1" dirty="0"/>
              <a:t>g </a:t>
            </a:r>
            <a:r>
              <a:rPr lang="en-US" sz="1800" dirty="0"/>
              <a:t>for each </a:t>
            </a:r>
            <a:r>
              <a:rPr lang="en-US" sz="1800" dirty="0" smtClean="0"/>
              <a:t>interval</a:t>
            </a:r>
          </a:p>
          <a:p>
            <a:pPr lvl="1"/>
            <a:r>
              <a:rPr lang="en-US" sz="1800" dirty="0" smtClean="0"/>
              <a:t>about g</a:t>
            </a:r>
          </a:p>
          <a:p>
            <a:pPr lvl="2"/>
            <a:r>
              <a:rPr lang="en-US" sz="1600" dirty="0" smtClean="0"/>
              <a:t>each mesh edge should be </a:t>
            </a:r>
            <a:br>
              <a:rPr lang="en-US" sz="1600" dirty="0" smtClean="0"/>
            </a:br>
            <a:r>
              <a:rPr lang="en-US" sz="1600" dirty="0" smtClean="0"/>
              <a:t>about 0.1 inches long</a:t>
            </a:r>
          </a:p>
          <a:p>
            <a:pPr lvl="1"/>
            <a:r>
              <a:rPr lang="en-US" sz="1800" dirty="0" smtClean="0"/>
              <a:t>exactly g </a:t>
            </a:r>
            <a:r>
              <a:rPr lang="en-US" sz="1200" b="0" dirty="0" smtClean="0"/>
              <a:t>(not implemented currently)</a:t>
            </a:r>
          </a:p>
          <a:p>
            <a:pPr lvl="2"/>
            <a:r>
              <a:rPr lang="en-US" sz="1600" dirty="0" smtClean="0"/>
              <a:t>I want exactly 8 intervals here</a:t>
            </a:r>
          </a:p>
          <a:p>
            <a:pPr lvl="1"/>
            <a:r>
              <a:rPr lang="en-US" sz="1800" dirty="0" smtClean="0"/>
              <a:t>at least g</a:t>
            </a:r>
          </a:p>
          <a:p>
            <a:pPr lvl="2"/>
            <a:r>
              <a:rPr lang="en-US" sz="1600" dirty="0" smtClean="0"/>
              <a:t>I need at least 6 here</a:t>
            </a:r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pPr lvl="1"/>
            <a:endParaRPr lang="en-US" sz="1800" dirty="0" smtClean="0"/>
          </a:p>
          <a:p>
            <a:pPr lvl="1"/>
            <a:endParaRPr lang="en-US" sz="1800" dirty="0"/>
          </a:p>
          <a:p>
            <a:r>
              <a:rPr lang="en-US" sz="1800" dirty="0" smtClean="0"/>
              <a:t>Achieving all of these </a:t>
            </a:r>
            <a:r>
              <a:rPr lang="en-US" sz="1800" i="1" dirty="0" smtClean="0"/>
              <a:t>g</a:t>
            </a:r>
            <a:r>
              <a:rPr lang="en-US" sz="1800" dirty="0" smtClean="0"/>
              <a:t>, and constraints, may not be possible.</a:t>
            </a:r>
          </a:p>
          <a:p>
            <a:pPr lvl="1"/>
            <a:r>
              <a:rPr lang="en-US" sz="1800" dirty="0" smtClean="0"/>
              <a:t>How do you measure deviations? Relative values?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719667" y="1312333"/>
            <a:ext cx="1846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098" y="1405039"/>
            <a:ext cx="4385460" cy="3135262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>
            <a:off x="3405130" y="3632240"/>
            <a:ext cx="4810129" cy="27609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3502312" y="2348923"/>
            <a:ext cx="1553232" cy="2553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7558773" y="1478666"/>
            <a:ext cx="1364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Autodesk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31154" y="2036013"/>
            <a:ext cx="143450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6"/>
                </a:solidFill>
              </a:rPr>
              <a:t>g = length / 0.1</a:t>
            </a:r>
          </a:p>
          <a:p>
            <a:r>
              <a:rPr lang="en-US" sz="1600" dirty="0" smtClean="0">
                <a:solidFill>
                  <a:schemeClr val="accent6"/>
                </a:solidFill>
              </a:rPr>
              <a:t>x ≈ g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77418" y="3341892"/>
            <a:ext cx="6081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g = 6</a:t>
            </a:r>
          </a:p>
          <a:p>
            <a:r>
              <a:rPr lang="en-US" sz="1600" dirty="0" smtClean="0">
                <a:solidFill>
                  <a:schemeClr val="tx2"/>
                </a:solidFill>
              </a:rPr>
              <a:t>x ≥ g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4233404" y="2460352"/>
            <a:ext cx="2313034" cy="53379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213030" y="2624030"/>
            <a:ext cx="6081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g = 8</a:t>
            </a:r>
          </a:p>
          <a:p>
            <a:r>
              <a:rPr lang="en-US" sz="1600" dirty="0" smtClean="0">
                <a:solidFill>
                  <a:srgbClr val="FF0000"/>
                </a:solidFill>
              </a:rPr>
              <a:t>x = g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25151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good about linear objectives?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Optimal solutions occur at corners, easy to find.</a:t>
            </a:r>
          </a:p>
          <a:p>
            <a:pPr lvl="1"/>
            <a:r>
              <a:rPr lang="en-US" dirty="0" smtClean="0"/>
              <a:t>if constraint coefficients cooperate, corners are integer solutions. Integer solution for free!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901965" y="4779586"/>
            <a:ext cx="2116702" cy="1920424"/>
            <a:chOff x="2165785" y="3718137"/>
            <a:chExt cx="2116702" cy="1920424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2165785" y="3718137"/>
              <a:ext cx="2116702" cy="1920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flipV="1">
              <a:off x="2889759" y="4202845"/>
              <a:ext cx="153384" cy="16566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7" name="Group 6"/>
          <p:cNvGrpSpPr/>
          <p:nvPr/>
        </p:nvGrpSpPr>
        <p:grpSpPr>
          <a:xfrm rot="4320000">
            <a:off x="1508317" y="3471728"/>
            <a:ext cx="2116702" cy="1920424"/>
            <a:chOff x="2165785" y="3718137"/>
            <a:chExt cx="2116702" cy="1920424"/>
          </a:xfrm>
        </p:grpSpPr>
        <p:cxnSp>
          <p:nvCxnSpPr>
            <p:cNvPr id="8" name="Straight Connector 7"/>
            <p:cNvCxnSpPr/>
            <p:nvPr/>
          </p:nvCxnSpPr>
          <p:spPr bwMode="auto">
            <a:xfrm>
              <a:off x="2165785" y="3718137"/>
              <a:ext cx="2116702" cy="1920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 flipV="1">
              <a:off x="2889759" y="4202845"/>
              <a:ext cx="153384" cy="16566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72" y="3538522"/>
            <a:ext cx="1573736" cy="17423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5719" y="4043326"/>
            <a:ext cx="406632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f’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V="1">
            <a:off x="3834605" y="4460538"/>
            <a:ext cx="1227074" cy="1840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784408" y="4858365"/>
            <a:ext cx="49244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x*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4" name="Oval 13"/>
          <p:cNvSpPr>
            <a:spLocks noChangeAspect="1"/>
          </p:cNvSpPr>
          <p:nvPr/>
        </p:nvSpPr>
        <p:spPr bwMode="auto">
          <a:xfrm>
            <a:off x="2221003" y="5067955"/>
            <a:ext cx="91440" cy="91440"/>
          </a:xfrm>
          <a:prstGeom prst="ellipse">
            <a:avLst/>
          </a:prstGeom>
          <a:solidFill>
            <a:schemeClr val="tx2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219231" y="3240178"/>
            <a:ext cx="3291840" cy="2834640"/>
            <a:chOff x="274320" y="2743200"/>
            <a:chExt cx="3291840" cy="2834640"/>
          </a:xfrm>
        </p:grpSpPr>
        <p:grpSp>
          <p:nvGrpSpPr>
            <p:cNvPr id="16" name="Group 15"/>
            <p:cNvGrpSpPr/>
            <p:nvPr/>
          </p:nvGrpSpPr>
          <p:grpSpPr>
            <a:xfrm>
              <a:off x="274320" y="2743200"/>
              <a:ext cx="1463040" cy="2834640"/>
              <a:chOff x="274320" y="2743200"/>
              <a:chExt cx="1463040" cy="2834640"/>
            </a:xfrm>
          </p:grpSpPr>
          <p:grpSp>
            <p:nvGrpSpPr>
              <p:cNvPr id="52" name="Group 51"/>
              <p:cNvGrpSpPr/>
              <p:nvPr/>
            </p:nvGrpSpPr>
            <p:grpSpPr>
              <a:xfrm>
                <a:off x="274320" y="2743200"/>
                <a:ext cx="548640" cy="2834640"/>
                <a:chOff x="274320" y="2743200"/>
                <a:chExt cx="548640" cy="2834640"/>
              </a:xfrm>
            </p:grpSpPr>
            <p:grpSp>
              <p:nvGrpSpPr>
                <p:cNvPr id="70" name="Group 69"/>
                <p:cNvGrpSpPr/>
                <p:nvPr/>
              </p:nvGrpSpPr>
              <p:grpSpPr>
                <a:xfrm>
                  <a:off x="2743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79" name="Oval 7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0" name="Oval 7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1" name="Oval 8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2" name="Oval 8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3" name="Oval 8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4" name="Oval 8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5" name="Oval 8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grpSp>
              <p:nvGrpSpPr>
                <p:cNvPr id="71" name="Group 70"/>
                <p:cNvGrpSpPr/>
                <p:nvPr/>
              </p:nvGrpSpPr>
              <p:grpSpPr>
                <a:xfrm>
                  <a:off x="7315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72" name="Oval 7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3" name="Oval 7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4" name="Oval 7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5" name="Oval 7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6" name="Oval 7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7" name="Oval 7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78" name="Oval 7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</p:grpSp>
          <p:grpSp>
            <p:nvGrpSpPr>
              <p:cNvPr id="53" name="Group 52"/>
              <p:cNvGrpSpPr/>
              <p:nvPr/>
            </p:nvGrpSpPr>
            <p:grpSpPr>
              <a:xfrm>
                <a:off x="1188720" y="2743200"/>
                <a:ext cx="548640" cy="2834640"/>
                <a:chOff x="274320" y="2743200"/>
                <a:chExt cx="548640" cy="2834640"/>
              </a:xfrm>
            </p:grpSpPr>
            <p:grpSp>
              <p:nvGrpSpPr>
                <p:cNvPr id="54" name="Group 53"/>
                <p:cNvGrpSpPr/>
                <p:nvPr/>
              </p:nvGrpSpPr>
              <p:grpSpPr>
                <a:xfrm>
                  <a:off x="2743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63" name="Oval 6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4" name="Oval 6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5" name="Oval 6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6" name="Oval 6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7" name="Oval 6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8" name="Oval 6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9" name="Oval 6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grpSp>
              <p:nvGrpSpPr>
                <p:cNvPr id="55" name="Group 54"/>
                <p:cNvGrpSpPr/>
                <p:nvPr/>
              </p:nvGrpSpPr>
              <p:grpSpPr>
                <a:xfrm>
                  <a:off x="7315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56" name="Oval 5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7" name="Oval 5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8" name="Oval 5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9" name="Oval 5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0" name="Oval 5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1" name="Oval 6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62" name="Oval 6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</p:grpSp>
        </p:grpSp>
        <p:grpSp>
          <p:nvGrpSpPr>
            <p:cNvPr id="17" name="Group 16"/>
            <p:cNvGrpSpPr/>
            <p:nvPr/>
          </p:nvGrpSpPr>
          <p:grpSpPr>
            <a:xfrm>
              <a:off x="2103120" y="2743200"/>
              <a:ext cx="1463040" cy="2834640"/>
              <a:chOff x="274320" y="2743200"/>
              <a:chExt cx="1463040" cy="283464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274320" y="2743200"/>
                <a:ext cx="548640" cy="2834640"/>
                <a:chOff x="274320" y="2743200"/>
                <a:chExt cx="548640" cy="2834640"/>
              </a:xfrm>
            </p:grpSpPr>
            <p:grpSp>
              <p:nvGrpSpPr>
                <p:cNvPr id="36" name="Group 35"/>
                <p:cNvGrpSpPr/>
                <p:nvPr/>
              </p:nvGrpSpPr>
              <p:grpSpPr>
                <a:xfrm>
                  <a:off x="2743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45" name="Oval 4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6" name="Oval 4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7" name="Oval 4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8" name="Oval 4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9" name="Oval 4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0" name="Oval 4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1" name="Oval 5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grpSp>
              <p:nvGrpSpPr>
                <p:cNvPr id="37" name="Group 36"/>
                <p:cNvGrpSpPr/>
                <p:nvPr/>
              </p:nvGrpSpPr>
              <p:grpSpPr>
                <a:xfrm>
                  <a:off x="7315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38" name="Oval 3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9" name="Oval 3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0" name="Oval 3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1" name="Oval 4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2" name="Oval 4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3" name="Oval 4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44" name="Oval 4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</p:grpSp>
          <p:grpSp>
            <p:nvGrpSpPr>
              <p:cNvPr id="19" name="Group 18"/>
              <p:cNvGrpSpPr/>
              <p:nvPr/>
            </p:nvGrpSpPr>
            <p:grpSpPr>
              <a:xfrm>
                <a:off x="1188720" y="2743200"/>
                <a:ext cx="548640" cy="2834640"/>
                <a:chOff x="274320" y="2743200"/>
                <a:chExt cx="548640" cy="2834640"/>
              </a:xfrm>
            </p:grpSpPr>
            <p:grpSp>
              <p:nvGrpSpPr>
                <p:cNvPr id="20" name="Group 19"/>
                <p:cNvGrpSpPr/>
                <p:nvPr/>
              </p:nvGrpSpPr>
              <p:grpSpPr>
                <a:xfrm>
                  <a:off x="2743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29" name="Oval 28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0" name="Oval 29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1" name="Oval 30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2" name="Oval 3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3" name="Oval 3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4" name="Oval 3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35" name="Oval 3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grpSp>
              <p:nvGrpSpPr>
                <p:cNvPr id="21" name="Group 20"/>
                <p:cNvGrpSpPr/>
                <p:nvPr/>
              </p:nvGrpSpPr>
              <p:grpSpPr>
                <a:xfrm>
                  <a:off x="731520" y="2743200"/>
                  <a:ext cx="91440" cy="2834640"/>
                  <a:chOff x="274320" y="2743200"/>
                  <a:chExt cx="91440" cy="2834640"/>
                </a:xfrm>
              </p:grpSpPr>
              <p:sp>
                <p:nvSpPr>
                  <p:cNvPr id="22" name="Oval 21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2743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3" name="Oval 22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200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4" name="Oval 23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36576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5" name="Oval 24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1148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6" name="Oval 25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45720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7" name="Oval 26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4864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8" name="Oval 27"/>
                  <p:cNvSpPr>
                    <a:spLocks noChangeAspect="1"/>
                  </p:cNvSpPr>
                  <p:nvPr/>
                </p:nvSpPr>
                <p:spPr bwMode="auto">
                  <a:xfrm>
                    <a:off x="274320" y="5029200"/>
                    <a:ext cx="91440" cy="91440"/>
                  </a:xfrm>
                  <a:prstGeom prst="ellipse">
                    <a:avLst/>
                  </a:prstGeom>
                  <a:solidFill>
                    <a:schemeClr val="accent6"/>
                  </a:solidFill>
                  <a:ln w="12700" cap="flat" cmpd="sng" algn="ctr">
                    <a:solidFill>
                      <a:schemeClr val="accent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65031717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wrong with linear objectives?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All the deviations are concentrated</a:t>
            </a:r>
          </a:p>
          <a:p>
            <a:pPr lvl="1"/>
            <a:r>
              <a:rPr lang="en-US" sz="2000" dirty="0"/>
              <a:t>L</a:t>
            </a:r>
            <a:r>
              <a:rPr lang="en-US" sz="2000" baseline="-25000" dirty="0"/>
              <a:t>1 </a:t>
            </a:r>
            <a:r>
              <a:rPr lang="en-US" sz="2000" dirty="0"/>
              <a:t>minimization leads to </a:t>
            </a:r>
            <a:r>
              <a:rPr lang="en-US" sz="2000" dirty="0" err="1" smtClean="0"/>
              <a:t>sparsity</a:t>
            </a:r>
            <a:r>
              <a:rPr lang="en-US" sz="2000" dirty="0" smtClean="0"/>
              <a:t> </a:t>
            </a:r>
            <a:r>
              <a:rPr lang="en-US" sz="2000" dirty="0"/>
              <a:t>in the </a:t>
            </a:r>
            <a:r>
              <a:rPr lang="en-US" sz="2000" dirty="0" smtClean="0"/>
              <a:t>solution</a:t>
            </a:r>
            <a:endParaRPr lang="en-US" sz="2000" dirty="0"/>
          </a:p>
          <a:p>
            <a:pPr lvl="1"/>
            <a:r>
              <a:rPr lang="en-US" sz="2000" dirty="0" smtClean="0"/>
              <a:t>not a big deal if deviations are small</a:t>
            </a:r>
          </a:p>
          <a:p>
            <a:pPr lvl="1"/>
            <a:r>
              <a:rPr lang="en-US" sz="2000" dirty="0" smtClean="0"/>
              <a:t>could be a big deal if deviations are large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89" y="3563534"/>
            <a:ext cx="7670415" cy="1596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62400" y="52449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min sum f(</a:t>
            </a:r>
            <a:r>
              <a:rPr lang="en-US" sz="1200" dirty="0" err="1" smtClean="0"/>
              <a:t>x</a:t>
            </a:r>
            <a:r>
              <a:rPr lang="en-US" sz="1200" baseline="-25000" dirty="0" err="1" smtClean="0"/>
              <a:t>i</a:t>
            </a:r>
            <a:r>
              <a:rPr lang="en-US" sz="1200" dirty="0" err="1" smtClean="0"/>
              <a:t>,g</a:t>
            </a:r>
            <a:r>
              <a:rPr lang="en-US" sz="1200" baseline="-25000" dirty="0" err="1" smtClean="0"/>
              <a:t>i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f ≈ (</a:t>
            </a:r>
            <a:r>
              <a:rPr lang="en-US" sz="1200" dirty="0" err="1" smtClean="0"/>
              <a:t>g</a:t>
            </a:r>
            <a:r>
              <a:rPr lang="en-US" sz="1200" baseline="-25000" dirty="0" err="1" smtClean="0"/>
              <a:t>i</a:t>
            </a:r>
            <a:r>
              <a:rPr lang="en-US" sz="1200" dirty="0" smtClean="0"/>
              <a:t>/x</a:t>
            </a:r>
            <a:r>
              <a:rPr lang="en-US" sz="1200" baseline="-25000" dirty="0" smtClean="0"/>
              <a:t>i</a:t>
            </a:r>
            <a:r>
              <a:rPr lang="en-US" sz="1200" dirty="0" smtClean="0"/>
              <a:t>)</a:t>
            </a:r>
            <a:r>
              <a:rPr lang="en-US" sz="1200" baseline="30000" dirty="0" smtClean="0"/>
              <a:t> 3 </a:t>
            </a:r>
            <a:r>
              <a:rPr lang="en-US" sz="1200" dirty="0" smtClean="0"/>
              <a:t>+ (x</a:t>
            </a:r>
            <a:r>
              <a:rPr lang="en-US" sz="1200" baseline="-25000" dirty="0" smtClean="0"/>
              <a:t>i</a:t>
            </a:r>
            <a:r>
              <a:rPr lang="en-US" sz="1200" dirty="0" smtClean="0"/>
              <a:t>/</a:t>
            </a:r>
            <a:r>
              <a:rPr lang="en-US" sz="1200" dirty="0" err="1" smtClean="0"/>
              <a:t>g</a:t>
            </a:r>
            <a:r>
              <a:rPr lang="en-US" sz="1200" baseline="-25000" dirty="0" err="1" smtClean="0"/>
              <a:t>i</a:t>
            </a:r>
            <a:r>
              <a:rPr lang="en-US" sz="1200" dirty="0"/>
              <a:t>)</a:t>
            </a:r>
            <a:r>
              <a:rPr lang="en-US" sz="1200" baseline="30000" dirty="0"/>
              <a:t> 3 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077858" y="5176436"/>
            <a:ext cx="9254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g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 = 9</a:t>
            </a:r>
          </a:p>
          <a:p>
            <a:r>
              <a:rPr lang="en-US" sz="1200" dirty="0" smtClean="0"/>
              <a:t>g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 = 9</a:t>
            </a:r>
          </a:p>
          <a:p>
            <a:r>
              <a:rPr lang="en-US" sz="1200" dirty="0" smtClean="0"/>
              <a:t>g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 = 18</a:t>
            </a:r>
          </a:p>
          <a:p>
            <a:r>
              <a:rPr lang="en-US" sz="1200" dirty="0" smtClean="0"/>
              <a:t>x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 = g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 - n</a:t>
            </a:r>
            <a:r>
              <a:rPr lang="en-US" sz="1200" baseline="-25000" dirty="0" smtClean="0"/>
              <a:t>1</a:t>
            </a:r>
          </a:p>
          <a:p>
            <a:r>
              <a:rPr lang="en-US" sz="1200" dirty="0" smtClean="0"/>
              <a:t>x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 = g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 -  n</a:t>
            </a:r>
            <a:r>
              <a:rPr lang="en-US" sz="1200" baseline="-25000" dirty="0" smtClean="0"/>
              <a:t>2</a:t>
            </a:r>
          </a:p>
          <a:p>
            <a:r>
              <a:rPr lang="en-US" sz="1200" dirty="0" smtClean="0"/>
              <a:t>x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 = g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 + p</a:t>
            </a:r>
            <a:r>
              <a:rPr lang="en-US" sz="1200" baseline="-25000" dirty="0" smtClean="0"/>
              <a:t>3</a:t>
            </a:r>
            <a:endParaRPr lang="en-US" sz="1200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5636436" y="3096489"/>
            <a:ext cx="2008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Linear Objectives</a:t>
            </a:r>
          </a:p>
          <a:p>
            <a:r>
              <a:rPr lang="en-US" sz="1200" dirty="0" smtClean="0"/>
              <a:t>min sum w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n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 + w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n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 + w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p</a:t>
            </a:r>
            <a:r>
              <a:rPr lang="en-US" sz="1200" baseline="-25000" dirty="0" smtClean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5736" y="5181584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 &gt; w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 = w</a:t>
            </a:r>
            <a:r>
              <a:rPr lang="en-US" sz="1200" baseline="-25000" dirty="0" smtClean="0"/>
              <a:t>2</a:t>
            </a:r>
          </a:p>
          <a:p>
            <a:r>
              <a:rPr lang="en-US" sz="1200" dirty="0" smtClean="0"/>
              <a:t>no x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 x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 tradeoff</a:t>
            </a:r>
          </a:p>
          <a:p>
            <a:r>
              <a:rPr lang="en-US" sz="1200" dirty="0" smtClean="0"/>
              <a:t>for most solvers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4445" y="5217409"/>
            <a:ext cx="1025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 </a:t>
            </a:r>
            <a:r>
              <a:rPr lang="en-US" sz="1200" dirty="0"/>
              <a:t>&lt;</a:t>
            </a:r>
            <a:r>
              <a:rPr lang="en-US" sz="1200" dirty="0" smtClean="0"/>
              <a:t> w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 = w</a:t>
            </a:r>
            <a:r>
              <a:rPr lang="en-US" sz="1200" baseline="-25000" dirty="0" smtClean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991" y="3917661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x</a:t>
            </a:r>
            <a:r>
              <a:rPr lang="en-US" sz="1200" baseline="-25000" dirty="0" smtClean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4360" y="4395245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x</a:t>
            </a:r>
            <a:r>
              <a:rPr lang="en-US" sz="1200" baseline="-25000" dirty="0" smtClean="0"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648" y="4811474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x</a:t>
            </a:r>
            <a:r>
              <a:rPr lang="en-US" sz="1200" baseline="-25000" dirty="0" smtClean="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7834" y="5740908"/>
            <a:ext cx="2120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or </a:t>
            </a:r>
          </a:p>
          <a:p>
            <a:endParaRPr lang="en-US" sz="1200" dirty="0"/>
          </a:p>
          <a:p>
            <a:r>
              <a:rPr lang="en-US" sz="1200" dirty="0" err="1" smtClean="0"/>
              <a:t>lex</a:t>
            </a:r>
            <a:r>
              <a:rPr lang="en-US" sz="1200" dirty="0" smtClean="0"/>
              <a:t> min max (w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n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, w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n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, w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p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2024" y="3304108"/>
            <a:ext cx="15990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Non-Linear Objectives</a:t>
            </a:r>
          </a:p>
        </p:txBody>
      </p:sp>
    </p:spTree>
    <p:extLst>
      <p:ext uri="{BB962C8B-B14F-4D97-AF65-F5344CB8AC3E}">
        <p14:creationId xmlns:p14="http://schemas.microsoft.com/office/powerpoint/2010/main" val="17717242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Solutions</a:t>
            </a:r>
            <a:br>
              <a:rPr lang="en-US" dirty="0"/>
            </a:br>
            <a:r>
              <a:rPr lang="en-US" sz="2000" dirty="0" smtClean="0"/>
              <a:t>to spread </a:t>
            </a:r>
            <a:r>
              <a:rPr lang="en-US" sz="2000" dirty="0"/>
              <a:t>out deviations</a:t>
            </a:r>
            <a:br>
              <a:rPr lang="en-US" sz="20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595" y="1450373"/>
            <a:ext cx="7772400" cy="4572000"/>
          </a:xfrm>
        </p:spPr>
        <p:txBody>
          <a:bodyPr/>
          <a:lstStyle/>
          <a:p>
            <a:r>
              <a:rPr lang="en-US" sz="1800" dirty="0" smtClean="0"/>
              <a:t>1997 </a:t>
            </a:r>
            <a:r>
              <a:rPr lang="en-US" sz="1800" dirty="0"/>
              <a:t>L</a:t>
            </a:r>
            <a:r>
              <a:rPr lang="en-US" sz="1800" dirty="0" smtClean="0"/>
              <a:t>exicographic min max</a:t>
            </a:r>
            <a:br>
              <a:rPr lang="en-US" sz="1800" dirty="0" smtClean="0"/>
            </a:br>
            <a:r>
              <a:rPr lang="en-US" sz="1800" dirty="0" smtClean="0"/>
              <a:t>solve series of linear programs, one per variable = slow.</a:t>
            </a:r>
          </a:p>
          <a:p>
            <a:pPr lvl="1"/>
            <a:r>
              <a:rPr lang="en-US" sz="1800" dirty="0"/>
              <a:t>M</a:t>
            </a:r>
            <a:r>
              <a:rPr lang="en-US" sz="1800" dirty="0" smtClean="0"/>
              <a:t>inimize maximum x</a:t>
            </a:r>
            <a:r>
              <a:rPr lang="en-US" sz="1800" baseline="-25000" dirty="0" smtClean="0"/>
              <a:t>i</a:t>
            </a:r>
            <a:r>
              <a:rPr lang="en-US" sz="1800" dirty="0" smtClean="0"/>
              <a:t>-</a:t>
            </a:r>
            <a:r>
              <a:rPr lang="en-US" sz="1800" dirty="0" err="1" smtClean="0"/>
              <a:t>g</a:t>
            </a:r>
            <a:r>
              <a:rPr lang="en-US" sz="1800" baseline="-25000" dirty="0" err="1" smtClean="0"/>
              <a:t>i</a:t>
            </a:r>
            <a:r>
              <a:rPr lang="en-US" sz="1800" dirty="0" smtClean="0"/>
              <a:t>. Fix that x</a:t>
            </a:r>
            <a:r>
              <a:rPr lang="en-US" sz="1800" baseline="-25000" dirty="0" smtClean="0"/>
              <a:t>i</a:t>
            </a:r>
            <a:r>
              <a:rPr lang="en-US" sz="1800" dirty="0" smtClean="0"/>
              <a:t> at a nearby integer value,</a:t>
            </a:r>
            <a:r>
              <a:rPr lang="en-US" sz="1800" baseline="-25000" dirty="0" smtClean="0"/>
              <a:t> </a:t>
            </a:r>
            <a:r>
              <a:rPr lang="en-US" sz="1800" dirty="0" smtClean="0"/>
              <a:t>check feasibility, remove it from equations.</a:t>
            </a:r>
          </a:p>
          <a:p>
            <a:pPr lvl="2"/>
            <a:r>
              <a:rPr lang="en-US" sz="1600" dirty="0" smtClean="0"/>
              <a:t>minimize maximum remaining </a:t>
            </a:r>
            <a:r>
              <a:rPr lang="en-US" sz="1600" dirty="0"/>
              <a:t>x</a:t>
            </a:r>
            <a:r>
              <a:rPr lang="en-US" sz="1600" baseline="-25000" dirty="0"/>
              <a:t>i</a:t>
            </a:r>
            <a:r>
              <a:rPr lang="en-US" sz="1600" dirty="0"/>
              <a:t>-</a:t>
            </a:r>
            <a:r>
              <a:rPr lang="en-US" sz="1600" dirty="0" err="1" smtClean="0"/>
              <a:t>g</a:t>
            </a:r>
            <a:r>
              <a:rPr lang="en-US" sz="1600" baseline="-25000" dirty="0" err="1" smtClean="0"/>
              <a:t>i</a:t>
            </a:r>
            <a:r>
              <a:rPr lang="en-US" sz="1600" dirty="0" smtClean="0"/>
              <a:t>, repeat</a:t>
            </a:r>
          </a:p>
          <a:p>
            <a:pPr lvl="1"/>
            <a:r>
              <a:rPr lang="en-US" sz="1800" dirty="0" smtClean="0"/>
              <a:t>Weighted deviations, relative size</a:t>
            </a:r>
          </a:p>
          <a:p>
            <a:pPr lvl="2"/>
            <a:r>
              <a:rPr lang="en-US" sz="1600" dirty="0" smtClean="0"/>
              <a:t>min max p</a:t>
            </a:r>
            <a:r>
              <a:rPr lang="en-US" sz="1600" baseline="-25000" dirty="0" smtClean="0"/>
              <a:t>i</a:t>
            </a:r>
            <a:r>
              <a:rPr lang="en-US" sz="1600" dirty="0" smtClean="0"/>
              <a:t>(x</a:t>
            </a:r>
            <a:r>
              <a:rPr lang="en-US" sz="1600" baseline="-25000" dirty="0" smtClean="0"/>
              <a:t>i</a:t>
            </a:r>
            <a:r>
              <a:rPr lang="en-US" sz="1600" dirty="0"/>
              <a:t>-</a:t>
            </a:r>
            <a:r>
              <a:rPr lang="en-US" sz="1600" dirty="0" err="1" smtClean="0"/>
              <a:t>g</a:t>
            </a:r>
            <a:r>
              <a:rPr lang="en-US" sz="1600" baseline="-25000" dirty="0" err="1" smtClean="0"/>
              <a:t>i</a:t>
            </a:r>
            <a:r>
              <a:rPr lang="en-US" sz="1600" baseline="-25000" dirty="0" smtClean="0"/>
              <a:t> </a:t>
            </a:r>
            <a:r>
              <a:rPr lang="en-US" sz="1600" dirty="0" smtClean="0"/>
              <a:t>&gt;0) + </a:t>
            </a:r>
            <a:r>
              <a:rPr lang="en-US" sz="1600" dirty="0" err="1" smtClean="0"/>
              <a:t>n</a:t>
            </a:r>
            <a:r>
              <a:rPr lang="en-US" sz="1600" baseline="-25000" dirty="0" err="1" smtClean="0"/>
              <a:t>i</a:t>
            </a:r>
            <a:r>
              <a:rPr lang="en-US" sz="1600" dirty="0" smtClean="0"/>
              <a:t>(</a:t>
            </a:r>
            <a:r>
              <a:rPr lang="en-US" sz="1600" dirty="0" err="1" smtClean="0"/>
              <a:t>g</a:t>
            </a:r>
            <a:r>
              <a:rPr lang="en-US" sz="1600" baseline="-25000" dirty="0" err="1" smtClean="0"/>
              <a:t>i</a:t>
            </a:r>
            <a:r>
              <a:rPr lang="en-US" sz="1600" baseline="-25000" dirty="0" smtClean="0"/>
              <a:t> </a:t>
            </a:r>
            <a:r>
              <a:rPr lang="en-US" sz="1600" dirty="0" smtClean="0"/>
              <a:t>-</a:t>
            </a:r>
            <a:r>
              <a:rPr lang="en-US" sz="1600" baseline="-25000" dirty="0" smtClean="0"/>
              <a:t> </a:t>
            </a:r>
            <a:r>
              <a:rPr lang="en-US" sz="1600" dirty="0" smtClean="0"/>
              <a:t>x</a:t>
            </a:r>
            <a:r>
              <a:rPr lang="en-US" sz="1600" baseline="-25000" dirty="0" smtClean="0"/>
              <a:t>i </a:t>
            </a:r>
            <a:r>
              <a:rPr lang="en-US" sz="1600" dirty="0" smtClean="0"/>
              <a:t>&gt;0)</a:t>
            </a:r>
            <a:r>
              <a:rPr lang="en-US" sz="1600" baseline="-25000" dirty="0" smtClean="0"/>
              <a:t>,</a:t>
            </a:r>
            <a:r>
              <a:rPr lang="en-US" sz="1600" dirty="0" smtClean="0"/>
              <a:t> </a:t>
            </a:r>
            <a:br>
              <a:rPr lang="en-US" sz="1600" dirty="0" smtClean="0"/>
            </a:br>
            <a:r>
              <a:rPr lang="en-US" sz="1600" dirty="0" smtClean="0"/>
              <a:t>where     p</a:t>
            </a:r>
            <a:r>
              <a:rPr lang="en-US" sz="1600" baseline="-25000" dirty="0" smtClean="0"/>
              <a:t>i</a:t>
            </a:r>
            <a:r>
              <a:rPr lang="en-US" sz="1600" dirty="0" smtClean="0"/>
              <a:t> = 1/</a:t>
            </a:r>
            <a:r>
              <a:rPr lang="en-US" sz="1600" dirty="0" err="1" smtClean="0"/>
              <a:t>g</a:t>
            </a:r>
            <a:r>
              <a:rPr lang="en-US" sz="1600" baseline="-25000" dirty="0" err="1" smtClean="0"/>
              <a:t>i</a:t>
            </a:r>
            <a:r>
              <a:rPr lang="en-US" sz="1600" baseline="-25000" dirty="0" smtClean="0"/>
              <a:t>             </a:t>
            </a:r>
            <a:r>
              <a:rPr lang="en-US" sz="1600" dirty="0" err="1" smtClean="0"/>
              <a:t>n</a:t>
            </a:r>
            <a:r>
              <a:rPr lang="en-US" sz="1600" baseline="-25000" dirty="0" err="1" smtClean="0"/>
              <a:t>i</a:t>
            </a:r>
            <a:r>
              <a:rPr lang="en-US" sz="1600" dirty="0" smtClean="0"/>
              <a:t> = 1.3/</a:t>
            </a:r>
            <a:r>
              <a:rPr lang="en-US" sz="1600" dirty="0" err="1" smtClean="0"/>
              <a:t>g</a:t>
            </a:r>
            <a:r>
              <a:rPr lang="en-US" sz="1600" baseline="-25000" dirty="0" err="1" smtClean="0"/>
              <a:t>i</a:t>
            </a:r>
            <a:endParaRPr lang="en-US" sz="1600" baseline="-25000" dirty="0" smtClean="0"/>
          </a:p>
          <a:p>
            <a:pPr lvl="1"/>
            <a:r>
              <a:rPr lang="en-US" sz="1800" dirty="0" smtClean="0"/>
              <a:t>i.e. assigning x=10 for g=5, is as bad as x=20 for g=10</a:t>
            </a:r>
          </a:p>
          <a:p>
            <a:pPr lvl="1"/>
            <a:endParaRPr lang="en-US" sz="1800" dirty="0" smtClean="0"/>
          </a:p>
          <a:p>
            <a:r>
              <a:rPr lang="en-US" sz="1800" dirty="0" smtClean="0"/>
              <a:t>Today, cubic </a:t>
            </a:r>
            <a:r>
              <a:rPr lang="en-US" sz="1800" dirty="0"/>
              <a:t>objective (L</a:t>
            </a:r>
            <a:r>
              <a:rPr lang="en-US" sz="1800" baseline="-25000" dirty="0"/>
              <a:t>3</a:t>
            </a:r>
            <a:r>
              <a:rPr lang="en-US" sz="1800" dirty="0" smtClean="0"/>
              <a:t>)</a:t>
            </a:r>
          </a:p>
          <a:p>
            <a:pPr lvl="1"/>
            <a:r>
              <a:rPr lang="en-US" sz="1800" dirty="0" smtClean="0"/>
              <a:t>A small series of nearby problems to get integer</a:t>
            </a:r>
          </a:p>
          <a:p>
            <a:pPr lvl="1"/>
            <a:r>
              <a:rPr lang="en-US" sz="1800" dirty="0" smtClean="0"/>
              <a:t>About the same solution as </a:t>
            </a:r>
            <a:r>
              <a:rPr lang="en-US" sz="1800" dirty="0" err="1" smtClean="0"/>
              <a:t>lex</a:t>
            </a:r>
            <a:r>
              <a:rPr lang="en-US" sz="1800" dirty="0" smtClean="0"/>
              <a:t> min max, </a:t>
            </a:r>
            <a:br>
              <a:rPr lang="en-US" sz="1800" dirty="0" smtClean="0"/>
            </a:br>
            <a:r>
              <a:rPr lang="en-US" sz="1800" dirty="0" smtClean="0"/>
              <a:t>depending on problem size</a:t>
            </a:r>
          </a:p>
          <a:p>
            <a:pPr lvl="2"/>
            <a:r>
              <a:rPr lang="en-US" sz="1600" dirty="0" err="1" smtClean="0"/>
              <a:t>L</a:t>
            </a:r>
            <a:r>
              <a:rPr lang="en-US" sz="1600" baseline="-25000" dirty="0" err="1" smtClean="0"/>
              <a:t>∞</a:t>
            </a:r>
            <a:r>
              <a:rPr lang="en-US" sz="1600" dirty="0" err="1" smtClean="0"/>
              <a:t>vs</a:t>
            </a:r>
            <a:r>
              <a:rPr lang="en-US" sz="1600" dirty="0" smtClean="0"/>
              <a:t>. L</a:t>
            </a:r>
            <a:r>
              <a:rPr lang="en-US" sz="1600" baseline="-25000" dirty="0" smtClean="0"/>
              <a:t>3 </a:t>
            </a:r>
            <a:r>
              <a:rPr lang="en-US" sz="1600" dirty="0" smtClean="0"/>
              <a:t>norm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880" y="3342208"/>
            <a:ext cx="1449712" cy="1517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16679" y="49565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min sum f(</a:t>
            </a:r>
            <a:r>
              <a:rPr lang="en-US" sz="1200" dirty="0" err="1" smtClean="0"/>
              <a:t>x</a:t>
            </a:r>
            <a:r>
              <a:rPr lang="en-US" sz="1200" baseline="-25000" dirty="0" err="1" smtClean="0"/>
              <a:t>i</a:t>
            </a:r>
            <a:r>
              <a:rPr lang="en-US" sz="1200" dirty="0" err="1" smtClean="0"/>
              <a:t>,g</a:t>
            </a:r>
            <a:r>
              <a:rPr lang="en-US" sz="1200" baseline="-25000" dirty="0" err="1" smtClean="0"/>
              <a:t>i</a:t>
            </a:r>
            <a:r>
              <a:rPr lang="en-US" sz="1200" dirty="0" smtClean="0"/>
              <a:t>)</a:t>
            </a:r>
          </a:p>
          <a:p>
            <a:r>
              <a:rPr lang="en-US" sz="1200" dirty="0" smtClean="0"/>
              <a:t>f ≈ (</a:t>
            </a:r>
            <a:r>
              <a:rPr lang="en-US" sz="1200" dirty="0" err="1" smtClean="0"/>
              <a:t>g</a:t>
            </a:r>
            <a:r>
              <a:rPr lang="en-US" sz="1200" baseline="-25000" dirty="0" err="1" smtClean="0"/>
              <a:t>i</a:t>
            </a:r>
            <a:r>
              <a:rPr lang="en-US" sz="1200" dirty="0" smtClean="0"/>
              <a:t>/x</a:t>
            </a:r>
            <a:r>
              <a:rPr lang="en-US" sz="1200" baseline="-25000" dirty="0" smtClean="0"/>
              <a:t>i</a:t>
            </a:r>
            <a:r>
              <a:rPr lang="en-US" sz="1200" dirty="0" smtClean="0"/>
              <a:t>)</a:t>
            </a:r>
            <a:r>
              <a:rPr lang="en-US" sz="1200" baseline="30000" dirty="0" smtClean="0"/>
              <a:t> 3 </a:t>
            </a:r>
            <a:r>
              <a:rPr lang="en-US" sz="1200" dirty="0" smtClean="0"/>
              <a:t>+ (x</a:t>
            </a:r>
            <a:r>
              <a:rPr lang="en-US" sz="1200" baseline="-25000" dirty="0" smtClean="0"/>
              <a:t>i</a:t>
            </a:r>
            <a:r>
              <a:rPr lang="en-US" sz="1200" dirty="0" smtClean="0"/>
              <a:t>/</a:t>
            </a:r>
            <a:r>
              <a:rPr lang="en-US" sz="1200" dirty="0" err="1" smtClean="0"/>
              <a:t>g</a:t>
            </a:r>
            <a:r>
              <a:rPr lang="en-US" sz="1200" baseline="-25000" dirty="0" err="1" smtClean="0"/>
              <a:t>i</a:t>
            </a:r>
            <a:r>
              <a:rPr lang="en-US" sz="1200" dirty="0"/>
              <a:t>)</a:t>
            </a:r>
            <a:r>
              <a:rPr lang="en-US" sz="1200" baseline="30000" dirty="0"/>
              <a:t> 3 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7023182" y="3071947"/>
            <a:ext cx="21208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 smtClean="0"/>
              <a:t>lex</a:t>
            </a:r>
            <a:r>
              <a:rPr lang="en-US" sz="1200" dirty="0" smtClean="0"/>
              <a:t> min max (w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n</a:t>
            </a:r>
            <a:r>
              <a:rPr lang="en-US" sz="1200" baseline="-25000" dirty="0" smtClean="0"/>
              <a:t>1</a:t>
            </a:r>
            <a:r>
              <a:rPr lang="en-US" sz="1200" dirty="0" smtClean="0"/>
              <a:t>, w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n</a:t>
            </a:r>
            <a:r>
              <a:rPr lang="en-US" sz="1200" baseline="-25000" dirty="0" smtClean="0"/>
              <a:t>2</a:t>
            </a:r>
            <a:r>
              <a:rPr lang="en-US" sz="1200" dirty="0" smtClean="0"/>
              <a:t>, w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p</a:t>
            </a:r>
            <a:r>
              <a:rPr lang="en-US" sz="1200" baseline="-25000" dirty="0" smtClean="0"/>
              <a:t>3</a:t>
            </a:r>
            <a:r>
              <a:rPr lang="en-US" sz="12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954077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Cubic Objective</a:t>
            </a:r>
            <a:endParaRPr lang="en-US" dirty="0"/>
          </a:p>
        </p:txBody>
      </p:sp>
      <p:pic>
        <p:nvPicPr>
          <p:cNvPr id="6" name="Picture 5" descr="cubic-objectiv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75" y="3160207"/>
            <a:ext cx="7518400" cy="3263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4165" y="1248124"/>
            <a:ext cx="82337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Good: directly measures relative change, (g-&gt;x: 4-&gt;8 is as bad as 4-&gt;2)</a:t>
            </a:r>
          </a:p>
          <a:p>
            <a:r>
              <a:rPr lang="en-US" sz="2000" dirty="0" smtClean="0"/>
              <a:t>Good: no lexicographic min max, single optimization solve spreads deviations</a:t>
            </a:r>
          </a:p>
          <a:p>
            <a:r>
              <a:rPr lang="en-US" sz="2000" dirty="0" smtClean="0"/>
              <a:t>Good: convex objective (plus convex constraints)</a:t>
            </a:r>
            <a:br>
              <a:rPr lang="en-US" sz="2000" dirty="0" smtClean="0"/>
            </a:br>
            <a:r>
              <a:rPr lang="en-US" sz="2000" dirty="0" smtClean="0"/>
              <a:t>           local optimum is the global optimum</a:t>
            </a:r>
          </a:p>
          <a:p>
            <a:r>
              <a:rPr lang="en-US" sz="2000" dirty="0" smtClean="0"/>
              <a:t>Bad: non-linear objective requires slower algorithms than a linear one,</a:t>
            </a:r>
            <a:br>
              <a:rPr lang="en-US" sz="2000" dirty="0" smtClean="0"/>
            </a:br>
            <a:r>
              <a:rPr lang="en-US" sz="2000" dirty="0" smtClean="0"/>
              <a:t>         but the difference is less today than in 1997</a:t>
            </a:r>
          </a:p>
        </p:txBody>
      </p:sp>
    </p:spTree>
    <p:extLst>
      <p:ext uri="{BB962C8B-B14F-4D97-AF65-F5344CB8AC3E}">
        <p14:creationId xmlns:p14="http://schemas.microsoft.com/office/powerpoint/2010/main" val="339669011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Cubic Objective Solution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263447"/>
            <a:ext cx="3706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Non-integer solution usually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269165" y="2017791"/>
            <a:ext cx="1309756" cy="1246318"/>
            <a:chOff x="256699" y="1747827"/>
            <a:chExt cx="1309756" cy="124631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137" y="1747827"/>
              <a:ext cx="1246318" cy="1246318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263822" y="1957240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4.5</a:t>
              </a:r>
              <a:endParaRPr lang="en-US" sz="11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6699" y="2661837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4.5</a:t>
              </a:r>
              <a:endParaRPr lang="en-US" sz="11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08165" y="2306237"/>
              <a:ext cx="141064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19</a:t>
              </a:r>
              <a:endParaRPr lang="en-US" sz="1100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05787" y="2189419"/>
            <a:ext cx="222445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min sum f(</a:t>
            </a:r>
            <a:r>
              <a:rPr lang="en-US" sz="1600" dirty="0" err="1" smtClean="0"/>
              <a:t>x</a:t>
            </a:r>
            <a:r>
              <a:rPr lang="en-US" sz="1600" baseline="-25000" dirty="0" err="1" smtClean="0"/>
              <a:t>i</a:t>
            </a:r>
            <a:r>
              <a:rPr lang="en-US" sz="1600" dirty="0" err="1" smtClean="0"/>
              <a:t>,g</a:t>
            </a:r>
            <a:r>
              <a:rPr lang="en-US" sz="1600" baseline="-25000" dirty="0" err="1" smtClean="0"/>
              <a:t>i</a:t>
            </a:r>
            <a:r>
              <a:rPr lang="en-US" sz="1600" dirty="0" smtClean="0"/>
              <a:t>)</a:t>
            </a:r>
          </a:p>
          <a:p>
            <a:r>
              <a:rPr lang="en-US" sz="1600" dirty="0" smtClean="0"/>
              <a:t>f = (</a:t>
            </a:r>
            <a:r>
              <a:rPr lang="en-US" sz="1600" dirty="0" err="1" smtClean="0"/>
              <a:t>g</a:t>
            </a:r>
            <a:r>
              <a:rPr lang="en-US" sz="1600" baseline="-25000" dirty="0" err="1" smtClean="0"/>
              <a:t>i</a:t>
            </a:r>
            <a:r>
              <a:rPr lang="en-US" sz="1600" dirty="0" smtClean="0"/>
              <a:t>/x</a:t>
            </a:r>
            <a:r>
              <a:rPr lang="en-US" sz="1600" baseline="-25000" dirty="0" smtClean="0"/>
              <a:t>i</a:t>
            </a:r>
            <a:r>
              <a:rPr lang="en-US" sz="1600" dirty="0" smtClean="0"/>
              <a:t>-1)</a:t>
            </a:r>
            <a:r>
              <a:rPr lang="en-US" sz="1600" baseline="30000" dirty="0" smtClean="0"/>
              <a:t> 3 </a:t>
            </a:r>
            <a:r>
              <a:rPr lang="en-US" sz="1600" dirty="0" smtClean="0"/>
              <a:t>or (x</a:t>
            </a:r>
            <a:r>
              <a:rPr lang="en-US" sz="1600" baseline="-25000" dirty="0" smtClean="0"/>
              <a:t>i</a:t>
            </a:r>
            <a:r>
              <a:rPr lang="en-US" sz="1600" dirty="0" smtClean="0"/>
              <a:t>/g</a:t>
            </a:r>
            <a:r>
              <a:rPr lang="en-US" sz="1600" baseline="-25000" dirty="0" smtClean="0"/>
              <a:t>i</a:t>
            </a:r>
            <a:r>
              <a:rPr lang="en-US" sz="1600" dirty="0" smtClean="0"/>
              <a:t>-1)</a:t>
            </a:r>
            <a:r>
              <a:rPr lang="en-US" sz="1600" baseline="30000" dirty="0" smtClean="0"/>
              <a:t> </a:t>
            </a:r>
            <a:r>
              <a:rPr lang="en-US" sz="1600" baseline="30000" dirty="0"/>
              <a:t>3 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2556482" y="4501529"/>
            <a:ext cx="41278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min F = (</a:t>
            </a: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/4.5 - 1)</a:t>
            </a:r>
            <a:r>
              <a:rPr lang="en-US" sz="1600" baseline="30000" dirty="0"/>
              <a:t> </a:t>
            </a:r>
            <a:r>
              <a:rPr lang="en-US" sz="1600" baseline="30000" dirty="0" smtClean="0"/>
              <a:t>3 </a:t>
            </a:r>
            <a:r>
              <a:rPr lang="en-US" sz="1600" dirty="0" smtClean="0"/>
              <a:t>+ (</a:t>
            </a:r>
            <a:r>
              <a:rPr lang="en-US" sz="1600" dirty="0"/>
              <a:t>x</a:t>
            </a:r>
            <a:r>
              <a:rPr lang="en-US" sz="1600" baseline="-25000" dirty="0"/>
              <a:t>1</a:t>
            </a:r>
            <a:r>
              <a:rPr lang="en-US" sz="1600" dirty="0"/>
              <a:t>/4.5 - 1)</a:t>
            </a:r>
            <a:r>
              <a:rPr lang="en-US" sz="1600" baseline="30000" dirty="0"/>
              <a:t> 3</a:t>
            </a:r>
            <a:r>
              <a:rPr lang="en-US" sz="1600" baseline="30000" dirty="0" smtClean="0"/>
              <a:t> </a:t>
            </a:r>
            <a:r>
              <a:rPr lang="en-US" sz="1600" dirty="0"/>
              <a:t>+ (19/x</a:t>
            </a:r>
            <a:r>
              <a:rPr lang="en-US" sz="1600" baseline="-25000" dirty="0"/>
              <a:t>3</a:t>
            </a:r>
            <a:r>
              <a:rPr lang="en-US" sz="1600" dirty="0"/>
              <a:t>-1)</a:t>
            </a:r>
            <a:r>
              <a:rPr lang="en-US" sz="1600" baseline="30000" dirty="0"/>
              <a:t> 3 </a:t>
            </a:r>
            <a:endParaRPr lang="en-US" sz="1600" baseline="30000" dirty="0" smtClean="0"/>
          </a:p>
          <a:p>
            <a:r>
              <a:rPr lang="en-US" sz="1600" dirty="0" smtClean="0"/>
              <a:t>minimum when F’ = 0 (or extremes x</a:t>
            </a:r>
            <a:r>
              <a:rPr lang="en-US" sz="1600" baseline="-25000" dirty="0" smtClean="0"/>
              <a:t>i</a:t>
            </a:r>
            <a:r>
              <a:rPr lang="en-US" sz="1600" dirty="0" smtClean="0"/>
              <a:t>=1, etc.)</a:t>
            </a:r>
          </a:p>
          <a:p>
            <a:r>
              <a:rPr lang="en-US" sz="1600" dirty="0" smtClean="0"/>
              <a:t>sum of slopes = 0</a:t>
            </a:r>
            <a:endParaRPr lang="en-US" sz="1600" dirty="0"/>
          </a:p>
        </p:txBody>
      </p:sp>
      <p:grpSp>
        <p:nvGrpSpPr>
          <p:cNvPr id="23" name="Group 22"/>
          <p:cNvGrpSpPr/>
          <p:nvPr/>
        </p:nvGrpSpPr>
        <p:grpSpPr>
          <a:xfrm>
            <a:off x="112463" y="3141396"/>
            <a:ext cx="2416784" cy="1049178"/>
            <a:chOff x="112463" y="3141396"/>
            <a:chExt cx="2416784" cy="1049178"/>
          </a:xfrm>
        </p:grpSpPr>
        <p:pic>
          <p:nvPicPr>
            <p:cNvPr id="15" name="Picture 14" descr="cubic-objective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63" y="3141396"/>
              <a:ext cx="2416784" cy="1049178"/>
            </a:xfrm>
            <a:prstGeom prst="rect">
              <a:avLst/>
            </a:prstGeom>
          </p:spPr>
        </p:pic>
        <p:cxnSp>
          <p:nvCxnSpPr>
            <p:cNvPr id="18" name="Straight Connector 17"/>
            <p:cNvCxnSpPr/>
            <p:nvPr/>
          </p:nvCxnSpPr>
          <p:spPr bwMode="auto">
            <a:xfrm flipH="1">
              <a:off x="1625874" y="3865392"/>
              <a:ext cx="276091" cy="9816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9D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0" name="Picture 19" descr="cubic-objectiv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988" y="2992167"/>
            <a:ext cx="2619204" cy="1137053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 bwMode="auto">
          <a:xfrm rot="10800000" flipH="1" flipV="1">
            <a:off x="6434029" y="3630269"/>
            <a:ext cx="274320" cy="2011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9D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4" name="Group 23"/>
          <p:cNvGrpSpPr/>
          <p:nvPr/>
        </p:nvGrpSpPr>
        <p:grpSpPr>
          <a:xfrm>
            <a:off x="2774229" y="3140407"/>
            <a:ext cx="2416784" cy="1049178"/>
            <a:chOff x="112463" y="3141396"/>
            <a:chExt cx="2416784" cy="1049178"/>
          </a:xfrm>
        </p:grpSpPr>
        <p:pic>
          <p:nvPicPr>
            <p:cNvPr id="25" name="Picture 24" descr="cubic-objective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463" y="3141396"/>
              <a:ext cx="2416784" cy="1049178"/>
            </a:xfrm>
            <a:prstGeom prst="rect">
              <a:avLst/>
            </a:prstGeom>
          </p:spPr>
        </p:pic>
        <p:cxnSp>
          <p:nvCxnSpPr>
            <p:cNvPr id="26" name="Straight Connector 25"/>
            <p:cNvCxnSpPr/>
            <p:nvPr/>
          </p:nvCxnSpPr>
          <p:spPr bwMode="auto">
            <a:xfrm flipH="1">
              <a:off x="1625874" y="3865392"/>
              <a:ext cx="276091" cy="9816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009D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Rectangle 27"/>
          <p:cNvSpPr/>
          <p:nvPr/>
        </p:nvSpPr>
        <p:spPr bwMode="auto">
          <a:xfrm>
            <a:off x="7613993" y="3122991"/>
            <a:ext cx="1153449" cy="120256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06921" y="4121351"/>
            <a:ext cx="141064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smtClean="0"/>
              <a:t>19</a:t>
            </a:r>
            <a:endParaRPr 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6492401" y="4120368"/>
            <a:ext cx="246862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smtClean="0"/>
              <a:t>12.8</a:t>
            </a:r>
            <a:endParaRPr lang="en-US" sz="1100" dirty="0"/>
          </a:p>
        </p:txBody>
      </p:sp>
      <p:sp>
        <p:nvSpPr>
          <p:cNvPr id="36" name="TextBox 35"/>
          <p:cNvSpPr txBox="1"/>
          <p:nvPr/>
        </p:nvSpPr>
        <p:spPr>
          <a:xfrm>
            <a:off x="4337898" y="4131651"/>
            <a:ext cx="17633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smtClean="0"/>
              <a:t>6.4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38337" y="4143921"/>
            <a:ext cx="17633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1100" dirty="0" smtClean="0"/>
              <a:t>6.4</a:t>
            </a:r>
            <a:endParaRPr lang="en-US" sz="1100" dirty="0"/>
          </a:p>
        </p:txBody>
      </p:sp>
      <p:sp>
        <p:nvSpPr>
          <p:cNvPr id="38" name="Rectangle 37"/>
          <p:cNvSpPr/>
          <p:nvPr/>
        </p:nvSpPr>
        <p:spPr bwMode="auto">
          <a:xfrm>
            <a:off x="5913508" y="4011655"/>
            <a:ext cx="1153449" cy="12983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>
            <a:off x="7268432" y="3998398"/>
            <a:ext cx="1153449" cy="12983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08732" y="1675003"/>
            <a:ext cx="32120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(later problem definitions fix)</a:t>
            </a:r>
            <a:endParaRPr lang="en-US" sz="2000" dirty="0"/>
          </a:p>
        </p:txBody>
      </p:sp>
      <p:grpSp>
        <p:nvGrpSpPr>
          <p:cNvPr id="48" name="Group 47"/>
          <p:cNvGrpSpPr/>
          <p:nvPr/>
        </p:nvGrpSpPr>
        <p:grpSpPr>
          <a:xfrm>
            <a:off x="3397021" y="5231954"/>
            <a:ext cx="1582392" cy="1517140"/>
            <a:chOff x="169817" y="5072430"/>
            <a:chExt cx="1582392" cy="151714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040" y="5072430"/>
              <a:ext cx="1449712" cy="15171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176944" y="5379884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6.4</a:t>
              </a:r>
              <a:endParaRPr lang="en-US" sz="11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69817" y="6244006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6.4</a:t>
              </a:r>
              <a:endParaRPr lang="en-US" sz="11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505347" y="5814778"/>
              <a:ext cx="24686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12.8</a:t>
              </a:r>
              <a:endParaRPr lang="en-US" sz="11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76724" y="6031235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relaxed</a:t>
              </a:r>
              <a:endParaRPr lang="en-US" sz="1100" dirty="0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5662963" y="5468259"/>
            <a:ext cx="77752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 have spread out the </a:t>
            </a:r>
          </a:p>
          <a:p>
            <a:r>
              <a:rPr lang="en-US" dirty="0"/>
              <a:t>d</a:t>
            </a:r>
            <a:r>
              <a:rPr lang="en-US" dirty="0" smtClean="0"/>
              <a:t>eviations, made the major </a:t>
            </a:r>
          </a:p>
          <a:p>
            <a:r>
              <a:rPr lang="en-US" dirty="0" smtClean="0"/>
              <a:t>compromises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8140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Piecewise Linear Objective</a:t>
            </a:r>
            <a:endParaRPr lang="en-US" dirty="0"/>
          </a:p>
        </p:txBody>
      </p:sp>
      <p:pic>
        <p:nvPicPr>
          <p:cNvPr id="2" name="Picture 1" descr="linearized-objectiv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15" y="2138280"/>
            <a:ext cx="7708900" cy="325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2615" y="1229716"/>
            <a:ext cx="81780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Good: restores integer solutions for free (often)</a:t>
            </a:r>
          </a:p>
          <a:p>
            <a:r>
              <a:rPr lang="en-US" sz="2000" dirty="0" smtClean="0"/>
              <a:t>Bad: explicit variable for every single unit interval = expensive time, memory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99120" y="5529741"/>
            <a:ext cx="72544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Bend at integer points </a:t>
            </a:r>
            <a:r>
              <a:rPr lang="en-US" sz="2000" dirty="0" smtClean="0">
                <a:sym typeface="Wingdings"/>
              </a:rPr>
              <a:t>&lt;-&gt; </a:t>
            </a:r>
            <a:r>
              <a:rPr lang="en-US" sz="2000" dirty="0" smtClean="0"/>
              <a:t>corner at every integer </a:t>
            </a:r>
            <a:br>
              <a:rPr lang="en-US" sz="2000" dirty="0" smtClean="0"/>
            </a:br>
            <a:r>
              <a:rPr lang="en-US" sz="2000" dirty="0" smtClean="0"/>
              <a:t>		                in the higher-dimensional linear problem </a:t>
            </a:r>
            <a:br>
              <a:rPr lang="en-US" sz="2000" dirty="0" smtClean="0"/>
            </a:br>
            <a:r>
              <a:rPr lang="en-US" sz="2000" dirty="0" smtClean="0"/>
              <a:t>			  where each unit interval is a dimension.</a:t>
            </a:r>
          </a:p>
        </p:txBody>
      </p:sp>
    </p:spTree>
    <p:extLst>
      <p:ext uri="{BB962C8B-B14F-4D97-AF65-F5344CB8AC3E}">
        <p14:creationId xmlns:p14="http://schemas.microsoft.com/office/powerpoint/2010/main" val="245635055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Adaptive Piecewise Linear Objective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263447"/>
            <a:ext cx="6659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 efficiency, just add the bends (pieces) as needed</a:t>
            </a:r>
          </a:p>
        </p:txBody>
      </p:sp>
      <p:pic>
        <p:nvPicPr>
          <p:cNvPr id="4" name="Picture 3" descr="bend-A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47" y="1136841"/>
            <a:ext cx="2564076" cy="1466977"/>
          </a:xfrm>
          <a:prstGeom prst="rect">
            <a:avLst/>
          </a:prstGeom>
        </p:spPr>
      </p:pic>
      <p:pic>
        <p:nvPicPr>
          <p:cNvPr id="5" name="Picture 4" descr="bend-A2a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002" y="4822814"/>
            <a:ext cx="2491844" cy="1438780"/>
          </a:xfrm>
          <a:prstGeom prst="rect">
            <a:avLst/>
          </a:prstGeom>
        </p:spPr>
      </p:pic>
      <p:pic>
        <p:nvPicPr>
          <p:cNvPr id="6" name="Picture 5" descr="bend-A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699" y="2864253"/>
            <a:ext cx="2527610" cy="144701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62835" y="2005518"/>
            <a:ext cx="1309756" cy="1246318"/>
            <a:chOff x="256699" y="1747827"/>
            <a:chExt cx="1309756" cy="124631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0137" y="1747827"/>
              <a:ext cx="1246318" cy="1246318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263822" y="1957240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4.5</a:t>
              </a:r>
              <a:endParaRPr lang="en-US" sz="11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6699" y="2661837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4.5</a:t>
              </a:r>
              <a:endParaRPr lang="en-US" sz="11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08165" y="2306237"/>
              <a:ext cx="141064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19</a:t>
              </a:r>
              <a:endParaRPr lang="en-US" sz="11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004292" y="1845136"/>
            <a:ext cx="1582392" cy="1517140"/>
            <a:chOff x="169817" y="5072430"/>
            <a:chExt cx="1582392" cy="151714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8040" y="5072430"/>
              <a:ext cx="1449712" cy="151714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76944" y="5379884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6.4</a:t>
              </a:r>
              <a:endParaRPr lang="en-US" sz="11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9817" y="6244006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6.4</a:t>
              </a:r>
              <a:endParaRPr lang="en-US" sz="11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05347" y="5814778"/>
              <a:ext cx="24686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12.8</a:t>
              </a:r>
              <a:endParaRPr lang="en-US" sz="11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6724" y="6031235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relaxed</a:t>
              </a:r>
              <a:endParaRPr lang="en-US" sz="11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26024" y="3483524"/>
            <a:ext cx="504497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Delta variable for each interval [k,k+1]</a:t>
            </a:r>
          </a:p>
          <a:p>
            <a:r>
              <a:rPr lang="en-US" sz="2000" dirty="0" smtClean="0"/>
              <a:t>linear slope = weight = f(k+1) – f(k) </a:t>
            </a:r>
          </a:p>
          <a:p>
            <a:r>
              <a:rPr lang="en-US" sz="2000" dirty="0" smtClean="0"/>
              <a:t>Create three intervals:</a:t>
            </a:r>
            <a:br>
              <a:rPr lang="en-US" sz="2000" dirty="0" smtClean="0"/>
            </a:br>
            <a:r>
              <a:rPr lang="en-US" sz="2000" dirty="0" smtClean="0"/>
              <a:t>  around relaxed x*, beyond it, below it</a:t>
            </a:r>
          </a:p>
          <a:p>
            <a:endParaRPr lang="en-US" sz="2000" dirty="0"/>
          </a:p>
          <a:p>
            <a:r>
              <a:rPr lang="en-US" sz="2000" dirty="0" smtClean="0"/>
              <a:t>Solve min sum weighted deltas (linear)</a:t>
            </a:r>
          </a:p>
          <a:p>
            <a:r>
              <a:rPr lang="en-US" sz="2000" dirty="0" smtClean="0"/>
              <a:t>Add more deltas if solution beyond k+1, 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851" y="6203031"/>
            <a:ext cx="760917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00FF"/>
                </a:solidFill>
              </a:rPr>
              <a:t>*Notional. For the problem on the left the solution is 6,6,12.</a:t>
            </a:r>
          </a:p>
          <a:p>
            <a:r>
              <a:rPr lang="en-US" sz="1600" dirty="0" smtClean="0">
                <a:solidFill>
                  <a:srgbClr val="0000FF"/>
                </a:solidFill>
              </a:rPr>
              <a:t>A long chain of surfaces from the long curve might lead to the behavior on the left column.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93621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Adaptive Piecewise Linear Objective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263447"/>
            <a:ext cx="68951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 the bends (pieces) as needed</a:t>
            </a:r>
          </a:p>
          <a:p>
            <a:endParaRPr lang="en-US" dirty="0" smtClean="0"/>
          </a:p>
          <a:p>
            <a:r>
              <a:rPr lang="en-US" dirty="0" smtClean="0"/>
              <a:t>Start with two bends, so relaxed solution is in a trough</a:t>
            </a:r>
          </a:p>
          <a:p>
            <a:r>
              <a:rPr lang="en-US" dirty="0" smtClean="0"/>
              <a:t>to avoid unbounded solutions right away</a:t>
            </a:r>
          </a:p>
        </p:txBody>
      </p:sp>
      <p:pic>
        <p:nvPicPr>
          <p:cNvPr id="7" name="Picture 6" descr="bend-B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330" y="2911078"/>
            <a:ext cx="2137818" cy="1187171"/>
          </a:xfrm>
          <a:prstGeom prst="rect">
            <a:avLst/>
          </a:prstGeom>
        </p:spPr>
      </p:pic>
      <p:pic>
        <p:nvPicPr>
          <p:cNvPr id="8" name="Picture 7" descr="bend-B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0" y="4251120"/>
            <a:ext cx="2238627" cy="126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6809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Tilt to Break Non-integer Ties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33144" y="1208227"/>
            <a:ext cx="710963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Break non-integer ties by tweaking the weights (of the deltas), </a:t>
            </a:r>
            <a:br>
              <a:rPr lang="en-US" sz="1800" dirty="0" smtClean="0"/>
            </a:br>
            <a:r>
              <a:rPr lang="en-US" sz="1800" dirty="0" smtClean="0"/>
              <a:t>an additive factor to the slope of the objective.</a:t>
            </a:r>
          </a:p>
          <a:p>
            <a:r>
              <a:rPr lang="en-US" sz="1800" dirty="0" smtClean="0"/>
              <a:t>    Randomization helps avoid cases where, say, many variables to the right</a:t>
            </a:r>
            <a:br>
              <a:rPr lang="en-US" sz="1800" dirty="0" smtClean="0"/>
            </a:br>
            <a:r>
              <a:rPr lang="en-US" sz="1800" dirty="0" smtClean="0"/>
              <a:t>    gang up to motivate a non-integer solution on the left.</a:t>
            </a:r>
          </a:p>
          <a:p>
            <a:r>
              <a:rPr lang="en-US" sz="1800" dirty="0" smtClean="0"/>
              <a:t>Scaling heuristics needed when goals or deviations vary widely,</a:t>
            </a:r>
          </a:p>
          <a:p>
            <a:r>
              <a:rPr lang="en-US" sz="1800" dirty="0" smtClean="0"/>
              <a:t>    else small goal variables are left at non-integer values.</a:t>
            </a:r>
          </a:p>
          <a:p>
            <a:r>
              <a:rPr lang="en-US" sz="1800" dirty="0" smtClean="0"/>
              <a:t>    Numerical tolerance issue with solver</a:t>
            </a:r>
            <a:r>
              <a:rPr lang="en-US" sz="1800" dirty="0"/>
              <a:t>s</a:t>
            </a:r>
            <a:endParaRPr lang="en-US" sz="1800" dirty="0" smtClean="0"/>
          </a:p>
        </p:txBody>
      </p:sp>
      <p:pic>
        <p:nvPicPr>
          <p:cNvPr id="6" name="Picture 5" descr="tilts-bigfont-fatlin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68" y="3257972"/>
            <a:ext cx="4430625" cy="25845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74474" y="2703982"/>
            <a:ext cx="629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e.g.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292981" y="1397242"/>
            <a:ext cx="1582392" cy="1517140"/>
            <a:chOff x="169817" y="5072430"/>
            <a:chExt cx="1582392" cy="151714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040" y="5072430"/>
              <a:ext cx="1449712" cy="151714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76944" y="5379884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6.4</a:t>
              </a:r>
              <a:endParaRPr lang="en-US" sz="11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9817" y="6244006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6.4</a:t>
              </a:r>
              <a:endParaRPr lang="en-US" sz="11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05347" y="5814778"/>
              <a:ext cx="24686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12.8</a:t>
              </a:r>
              <a:endParaRPr lang="en-US" sz="11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6724" y="6031235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relaxed</a:t>
              </a:r>
              <a:endParaRPr lang="en-US" sz="11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334945" y="3095798"/>
            <a:ext cx="1487935" cy="1517140"/>
            <a:chOff x="169817" y="5072430"/>
            <a:chExt cx="1487935" cy="1517140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040" y="5072430"/>
              <a:ext cx="1449712" cy="15171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76944" y="5379884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6.5</a:t>
              </a:r>
              <a:endParaRPr lang="en-US" sz="11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9817" y="6244006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6.5</a:t>
              </a:r>
              <a:endParaRPr lang="en-US" sz="11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05347" y="5814778"/>
              <a:ext cx="141064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13</a:t>
              </a:r>
              <a:endParaRPr lang="en-US" sz="11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6724" y="6031235"/>
              <a:ext cx="5726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no tilts</a:t>
              </a:r>
              <a:endParaRPr lang="en-US" sz="1100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366047" y="4683913"/>
            <a:ext cx="1449712" cy="1517140"/>
            <a:chOff x="5464083" y="4978419"/>
            <a:chExt cx="1449712" cy="1517140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4083" y="4978419"/>
              <a:ext cx="1449712" cy="151714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5494337" y="5298145"/>
              <a:ext cx="7053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</a:t>
              </a:r>
              <a:endParaRPr lang="en-US" sz="11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530155" y="6149995"/>
              <a:ext cx="7053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/>
                <a:t>6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61390" y="5720767"/>
              <a:ext cx="141064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12</a:t>
              </a:r>
              <a:endParaRPr lang="en-US" sz="11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32767" y="5937224"/>
              <a:ext cx="6899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after tilts</a:t>
              </a:r>
              <a:endParaRPr lang="en-US" sz="1100" dirty="0"/>
            </a:p>
          </p:txBody>
        </p:sp>
      </p:grpSp>
      <p:sp>
        <p:nvSpPr>
          <p:cNvPr id="28" name="Rectangle 27"/>
          <p:cNvSpPr/>
          <p:nvPr/>
        </p:nvSpPr>
        <p:spPr bwMode="auto">
          <a:xfrm>
            <a:off x="8571110" y="1527749"/>
            <a:ext cx="423340" cy="1325277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30" name="Straight Arrow Connector 29"/>
          <p:cNvCxnSpPr/>
          <p:nvPr/>
        </p:nvCxnSpPr>
        <p:spPr bwMode="auto">
          <a:xfrm flipV="1">
            <a:off x="8681547" y="1773171"/>
            <a:ext cx="462453" cy="613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Rectangle 30"/>
          <p:cNvSpPr/>
          <p:nvPr/>
        </p:nvSpPr>
        <p:spPr bwMode="auto">
          <a:xfrm>
            <a:off x="8613074" y="3226305"/>
            <a:ext cx="423340" cy="1325277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 flipV="1">
            <a:off x="8723511" y="3471727"/>
            <a:ext cx="462453" cy="613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Rectangle 32"/>
          <p:cNvSpPr/>
          <p:nvPr/>
        </p:nvSpPr>
        <p:spPr bwMode="auto">
          <a:xfrm>
            <a:off x="8607920" y="4815409"/>
            <a:ext cx="423340" cy="1325277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 bwMode="auto">
          <a:xfrm flipV="1">
            <a:off x="8718357" y="5060831"/>
            <a:ext cx="462453" cy="613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948054" y="3602313"/>
            <a:ext cx="14029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=</a:t>
            </a:r>
          </a:p>
          <a:p>
            <a:pPr algn="ctr"/>
            <a:r>
              <a:rPr lang="en-US" dirty="0" smtClean="0"/>
              <a:t>constraint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33345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Last Resort, Waves to Force Integrality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98231" y="1281853"/>
            <a:ext cx="4705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unstuck ½ (fractional) integer values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95764" y="2794841"/>
            <a:ext cx="5126492" cy="2395350"/>
            <a:chOff x="0" y="4310319"/>
            <a:chExt cx="5126492" cy="2395350"/>
          </a:xfrm>
        </p:grpSpPr>
        <p:pic>
          <p:nvPicPr>
            <p:cNvPr id="6" name="Picture 5" descr="wave-even.pd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264" y="5487469"/>
              <a:ext cx="4511228" cy="750595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1282292" y="4712095"/>
              <a:ext cx="25636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constrain g &lt; 0.001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5600760"/>
              <a:ext cx="69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</a:t>
              </a:r>
              <a:r>
                <a:rPr lang="en-US" dirty="0" smtClean="0"/>
                <a:t>(x)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04714" y="6244004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3010" y="4310319"/>
              <a:ext cx="4916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x=sum of edges, need an even number</a:t>
              </a:r>
              <a:endParaRPr lang="en-US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91679" y="6115671"/>
            <a:ext cx="5502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Better, in progress: bends and tilts for sum-even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194" y="1932696"/>
            <a:ext cx="629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e.g.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948417" y="1249001"/>
            <a:ext cx="1487935" cy="1517140"/>
            <a:chOff x="169817" y="5072430"/>
            <a:chExt cx="1487935" cy="1517140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040" y="5072430"/>
              <a:ext cx="1449712" cy="151714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76944" y="5379884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6.5</a:t>
              </a:r>
              <a:endParaRPr lang="en-US" sz="11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9817" y="6244006"/>
              <a:ext cx="17633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6.5</a:t>
              </a:r>
              <a:endParaRPr lang="en-US" sz="11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05347" y="5814778"/>
              <a:ext cx="141064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13</a:t>
              </a:r>
              <a:endParaRPr lang="en-US" sz="11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6724" y="6031235"/>
              <a:ext cx="57266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no tilts</a:t>
              </a:r>
              <a:endParaRPr lang="en-US" sz="11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979519" y="2837116"/>
            <a:ext cx="1449712" cy="1517140"/>
            <a:chOff x="5464083" y="4978419"/>
            <a:chExt cx="1449712" cy="1517140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4083" y="4978419"/>
              <a:ext cx="1449712" cy="151714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5494337" y="5298145"/>
              <a:ext cx="7053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6</a:t>
              </a:r>
              <a:endParaRPr lang="en-US" sz="11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30155" y="6149995"/>
              <a:ext cx="7053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/>
                <a:t>7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61390" y="5720767"/>
              <a:ext cx="141064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100" dirty="0" smtClean="0"/>
                <a:t>13</a:t>
              </a:r>
              <a:endParaRPr lang="en-US" sz="11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32767" y="5937224"/>
              <a:ext cx="830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after waves</a:t>
              </a:r>
              <a:endParaRPr lang="en-US" sz="1100" dirty="0"/>
            </a:p>
          </p:txBody>
        </p:sp>
      </p:grpSp>
      <p:sp>
        <p:nvSpPr>
          <p:cNvPr id="24" name="Rectangle 23"/>
          <p:cNvSpPr/>
          <p:nvPr/>
        </p:nvSpPr>
        <p:spPr bwMode="auto">
          <a:xfrm>
            <a:off x="8226546" y="1379508"/>
            <a:ext cx="423340" cy="1325277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 bwMode="auto">
          <a:xfrm flipV="1">
            <a:off x="8336983" y="1624930"/>
            <a:ext cx="462453" cy="613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ctangle 25"/>
          <p:cNvSpPr/>
          <p:nvPr/>
        </p:nvSpPr>
        <p:spPr bwMode="auto">
          <a:xfrm>
            <a:off x="8221392" y="2968612"/>
            <a:ext cx="423340" cy="1325277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 flipV="1">
            <a:off x="8331829" y="3214034"/>
            <a:ext cx="462453" cy="613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378425" y="5341605"/>
            <a:ext cx="5650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Bad: breaks convexity, local minima are not global minima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        IPOPT has limited global optimization capabilities</a:t>
            </a:r>
          </a:p>
        </p:txBody>
      </p:sp>
    </p:spTree>
    <p:extLst>
      <p:ext uri="{BB962C8B-B14F-4D97-AF65-F5344CB8AC3E}">
        <p14:creationId xmlns:p14="http://schemas.microsoft.com/office/powerpoint/2010/main" val="195238268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stress tests</a:t>
            </a:r>
            <a:endParaRPr lang="en-US" dirty="0"/>
          </a:p>
        </p:txBody>
      </p:sp>
      <p:pic>
        <p:nvPicPr>
          <p:cNvPr id="6" name="Picture 5" descr="scaling-by-curves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942" y="1407235"/>
            <a:ext cx="762000" cy="1244600"/>
          </a:xfrm>
          <a:prstGeom prst="rect">
            <a:avLst/>
          </a:prstGeom>
        </p:spPr>
      </p:pic>
      <p:pic>
        <p:nvPicPr>
          <p:cNvPr id="9" name="Picture 8" descr="scaling-by-faces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352" y="1402224"/>
            <a:ext cx="3416300" cy="1257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244" y="2828483"/>
            <a:ext cx="2321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scaling by curves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453358" y="2864308"/>
            <a:ext cx="2150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scaling by faces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243" y="3386443"/>
            <a:ext cx="4137947" cy="9513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59444"/>
            <a:ext cx="4141374" cy="119639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7798054" y="4337827"/>
            <a:ext cx="6135" cy="46630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5151741" y="4759201"/>
            <a:ext cx="3835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</a:t>
            </a:r>
            <a:r>
              <a:rPr lang="en-US" sz="1200" dirty="0" smtClean="0"/>
              <a:t>ime for an </a:t>
            </a:r>
            <a:r>
              <a:rPr lang="en-US" sz="1200" i="1" dirty="0" smtClean="0"/>
              <a:t>integer</a:t>
            </a:r>
            <a:r>
              <a:rPr lang="en-US" sz="1200" dirty="0" smtClean="0"/>
              <a:t> solution is only a small multiple </a:t>
            </a:r>
            <a:br>
              <a:rPr lang="en-US" sz="1200" dirty="0" smtClean="0"/>
            </a:br>
            <a:r>
              <a:rPr lang="en-US" sz="1200" dirty="0" smtClean="0"/>
              <a:t>  of the time for the </a:t>
            </a:r>
            <a:r>
              <a:rPr lang="en-US" sz="1200" i="1" dirty="0" smtClean="0"/>
              <a:t>relaxed</a:t>
            </a:r>
            <a:r>
              <a:rPr lang="en-US" sz="1200" dirty="0" smtClean="0"/>
              <a:t> solution.</a:t>
            </a:r>
            <a:br>
              <a:rPr lang="en-US" sz="1200" dirty="0" smtClean="0"/>
            </a:br>
            <a:r>
              <a:rPr lang="en-US" sz="1200" dirty="0" smtClean="0"/>
              <a:t>In contrast, </a:t>
            </a:r>
            <a:r>
              <a:rPr lang="en-US" sz="1200" dirty="0" err="1" smtClean="0"/>
              <a:t>Lex</a:t>
            </a:r>
            <a:r>
              <a:rPr lang="en-US" sz="1200" dirty="0" smtClean="0"/>
              <a:t> min max grows quadratic+ in problem size</a:t>
            </a:r>
            <a:endParaRPr lang="en-US" sz="1200" dirty="0"/>
          </a:p>
        </p:txBody>
      </p:sp>
      <p:cxnSp>
        <p:nvCxnSpPr>
          <p:cNvPr id="15" name="Straight Arrow Connector 14"/>
          <p:cNvCxnSpPr/>
          <p:nvPr/>
        </p:nvCxnSpPr>
        <p:spPr bwMode="auto">
          <a:xfrm flipV="1">
            <a:off x="3778403" y="4410465"/>
            <a:ext cx="6135" cy="46630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1598378" y="4923872"/>
            <a:ext cx="2500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Runtime about O(c</a:t>
            </a:r>
            <a:r>
              <a:rPr lang="en-US" sz="1200" baseline="30000" dirty="0" smtClean="0"/>
              <a:t>1.5</a:t>
            </a:r>
            <a:r>
              <a:rPr lang="en-US" sz="1200" dirty="0" smtClean="0"/>
              <a:t>) for c variables.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6253590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Robustness stress tests</a:t>
            </a:r>
            <a:endParaRPr lang="en-US" dirty="0"/>
          </a:p>
        </p:txBody>
      </p:sp>
      <p:pic>
        <p:nvPicPr>
          <p:cNvPr id="10" name="Picture 9" descr="radish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80" y="2099037"/>
            <a:ext cx="2718291" cy="1966195"/>
          </a:xfrm>
          <a:prstGeom prst="rect">
            <a:avLst/>
          </a:prstGeom>
        </p:spPr>
      </p:pic>
      <p:pic>
        <p:nvPicPr>
          <p:cNvPr id="11" name="Picture 10" descr="radish-complex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4857426" y="2116761"/>
            <a:ext cx="2603316" cy="19572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2816" y="1276191"/>
            <a:ext cx="5809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roblems needing tilts to get integer solutions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20019" y="4134364"/>
            <a:ext cx="1199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“radish”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 bwMode="auto">
          <a:xfrm>
            <a:off x="7436065" y="2195534"/>
            <a:ext cx="693298" cy="1823245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7546502" y="2447092"/>
            <a:ext cx="757353" cy="230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930867" y="4188595"/>
            <a:ext cx="3734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Split curves provide more degrees of freedom: </a:t>
            </a:r>
            <a:br>
              <a:rPr lang="en-US" sz="1400" dirty="0" smtClean="0"/>
            </a:br>
            <a:r>
              <a:rPr lang="en-US" sz="1400" dirty="0" smtClean="0"/>
              <a:t>more tilts are needed to remove fractional values.</a:t>
            </a:r>
            <a:endParaRPr 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929883" y="4911601"/>
            <a:ext cx="3983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Only a few tilts are necessary, </a:t>
            </a:r>
            <a:br>
              <a:rPr lang="en-US" sz="1400" dirty="0" smtClean="0"/>
            </a:br>
            <a:r>
              <a:rPr lang="en-US" sz="1400" dirty="0" smtClean="0"/>
              <a:t>  tilt for each split curve in the chain is simultaneous.</a:t>
            </a:r>
            <a:endParaRPr lang="en-US" sz="1400" dirty="0"/>
          </a:p>
        </p:txBody>
      </p:sp>
      <p:sp>
        <p:nvSpPr>
          <p:cNvPr id="19" name="Rectangle 18"/>
          <p:cNvSpPr/>
          <p:nvPr/>
        </p:nvSpPr>
        <p:spPr bwMode="auto">
          <a:xfrm flipH="1">
            <a:off x="1098230" y="2564658"/>
            <a:ext cx="521506" cy="1030770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927799" y="2863320"/>
            <a:ext cx="56968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8610647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Availability and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17953"/>
            <a:ext cx="5031619" cy="4572000"/>
          </a:xfrm>
        </p:spPr>
        <p:txBody>
          <a:bodyPr/>
          <a:lstStyle/>
          <a:p>
            <a:r>
              <a:rPr lang="en-US" sz="1800" dirty="0" smtClean="0"/>
              <a:t>MeshKit algorithm implementation</a:t>
            </a:r>
          </a:p>
          <a:p>
            <a:pPr lvl="1"/>
            <a:r>
              <a:rPr lang="en-US" sz="1800" dirty="0" smtClean="0"/>
              <a:t>Open source</a:t>
            </a:r>
          </a:p>
          <a:p>
            <a:pPr lvl="2"/>
            <a:r>
              <a:rPr lang="en-US" sz="1600" dirty="0"/>
              <a:t>http://gnep.mcs.anl.gov:8010/</a:t>
            </a:r>
            <a:r>
              <a:rPr lang="en-US" sz="1600" dirty="0" err="1"/>
              <a:t>meshkit</a:t>
            </a:r>
            <a:r>
              <a:rPr lang="en-US" sz="1600" dirty="0"/>
              <a:t>/</a:t>
            </a:r>
            <a:endParaRPr lang="en-US" sz="1600" dirty="0" smtClean="0"/>
          </a:p>
          <a:p>
            <a:pPr lvl="1"/>
            <a:r>
              <a:rPr lang="en-US" sz="1800" dirty="0" smtClean="0"/>
              <a:t>Well defined API</a:t>
            </a:r>
          </a:p>
          <a:p>
            <a:pPr lvl="1"/>
            <a:r>
              <a:rPr lang="en-US" sz="1800" dirty="0" smtClean="0"/>
              <a:t>IPOPT optimization library is free</a:t>
            </a:r>
          </a:p>
          <a:p>
            <a:pPr lvl="2"/>
            <a:r>
              <a:rPr lang="en-US" sz="1600" dirty="0" smtClean="0"/>
              <a:t>MA27 </a:t>
            </a:r>
            <a:r>
              <a:rPr lang="en-US" sz="1600" dirty="0" smtClean="0"/>
              <a:t>linear </a:t>
            </a:r>
            <a:r>
              <a:rPr lang="en-US" sz="1600" dirty="0" smtClean="0"/>
              <a:t>algebra </a:t>
            </a:r>
            <a:r>
              <a:rPr lang="en-US" sz="1600" dirty="0" smtClean="0"/>
              <a:t>library </a:t>
            </a:r>
            <a:r>
              <a:rPr lang="en-US" sz="1600" dirty="0" smtClean="0"/>
              <a:t>is free</a:t>
            </a:r>
          </a:p>
          <a:p>
            <a:pPr lvl="2"/>
            <a:r>
              <a:rPr lang="en-US" sz="1600" dirty="0" smtClean="0"/>
              <a:t>but you have to download it yourself</a:t>
            </a:r>
            <a:endParaRPr lang="en-US" sz="1600" dirty="0" smtClean="0"/>
          </a:p>
          <a:p>
            <a:pPr lvl="2"/>
            <a:r>
              <a:rPr lang="en-US" sz="800" dirty="0"/>
              <a:t>HSL (formerly the Harwell Subroutine Library). A collection of Fortran </a:t>
            </a:r>
            <a:r>
              <a:rPr lang="en-US" sz="800" dirty="0" smtClean="0"/>
              <a:t>codes for </a:t>
            </a:r>
            <a:r>
              <a:rPr lang="en-US" sz="800" dirty="0"/>
              <a:t>large scale </a:t>
            </a:r>
            <a:r>
              <a:rPr lang="en-US" sz="800" dirty="0" smtClean="0"/>
              <a:t>scientific </a:t>
            </a:r>
            <a:r>
              <a:rPr lang="en-US" sz="800" dirty="0"/>
              <a:t>computation. http://</a:t>
            </a:r>
            <a:r>
              <a:rPr lang="en-US" sz="800" dirty="0" err="1"/>
              <a:t>www.hsl.rl.ac.uk</a:t>
            </a:r>
            <a:r>
              <a:rPr lang="en-US" sz="800" dirty="0"/>
              <a:t>, 2011. </a:t>
            </a:r>
            <a:r>
              <a:rPr lang="en-US" sz="800" dirty="0" smtClean="0"/>
              <a:t/>
            </a:r>
            <a:br>
              <a:rPr lang="en-US" sz="800" dirty="0" smtClean="0"/>
            </a:br>
            <a:r>
              <a:rPr lang="en-US" sz="800" dirty="0" smtClean="0"/>
              <a:t>Includes MA27. IPOPT special instructions at http://</a:t>
            </a:r>
            <a:r>
              <a:rPr lang="en-US" sz="800" dirty="0" err="1" smtClean="0"/>
              <a:t>www.hsl.rl.ac.uk</a:t>
            </a:r>
            <a:r>
              <a:rPr lang="en-US" sz="800" dirty="0" smtClean="0"/>
              <a:t>/</a:t>
            </a:r>
            <a:r>
              <a:rPr lang="en-US" sz="800" dirty="0" err="1" smtClean="0"/>
              <a:t>ipopt</a:t>
            </a:r>
            <a:r>
              <a:rPr lang="en-US" sz="800" dirty="0" smtClean="0"/>
              <a:t>/</a:t>
            </a:r>
            <a:endParaRPr lang="en-US" sz="800" dirty="0" smtClean="0"/>
          </a:p>
          <a:p>
            <a:r>
              <a:rPr lang="en-US" sz="1800" dirty="0" smtClean="0"/>
              <a:t>To </a:t>
            </a:r>
            <a:r>
              <a:rPr lang="en-US" sz="1800" dirty="0" smtClean="0"/>
              <a:t>do: </a:t>
            </a:r>
          </a:p>
          <a:p>
            <a:pPr lvl="1"/>
            <a:r>
              <a:rPr lang="en-US" sz="1800" dirty="0"/>
              <a:t>R</a:t>
            </a:r>
            <a:r>
              <a:rPr lang="en-US" sz="1800" dirty="0" smtClean="0"/>
              <a:t>obustness and quality testing on large models</a:t>
            </a:r>
          </a:p>
          <a:p>
            <a:pPr lvl="1"/>
            <a:r>
              <a:rPr lang="en-US" sz="1800" dirty="0"/>
              <a:t>T</a:t>
            </a:r>
            <a:r>
              <a:rPr lang="en-US" sz="1800" dirty="0" smtClean="0"/>
              <a:t>ilt for sum-even constraints</a:t>
            </a:r>
          </a:p>
          <a:p>
            <a:pPr lvl="2"/>
            <a:r>
              <a:rPr lang="en-US" sz="1600" dirty="0" smtClean="0"/>
              <a:t>better than just waves</a:t>
            </a:r>
            <a:endParaRPr lang="en-US" sz="1600" dirty="0"/>
          </a:p>
        </p:txBody>
      </p:sp>
      <p:pic>
        <p:nvPicPr>
          <p:cNvPr id="4" name="Picture 3" descr="Screen shot 2013-10-09 at 4.40.5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710" y="1251855"/>
            <a:ext cx="3988890" cy="420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6429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bother with the nonlinear solver?</a:t>
            </a:r>
          </a:p>
          <a:p>
            <a:pPr lvl="1"/>
            <a:r>
              <a:rPr lang="en-US" dirty="0" smtClean="0"/>
              <a:t>it is fast, uses little memory</a:t>
            </a:r>
          </a:p>
          <a:p>
            <a:pPr lvl="1"/>
            <a:r>
              <a:rPr lang="en-US" dirty="0" smtClean="0"/>
              <a:t>but maybe you don’t have one</a:t>
            </a:r>
          </a:p>
          <a:p>
            <a:r>
              <a:rPr lang="en-US" dirty="0" smtClean="0"/>
              <a:t>Skip the relaxed cubic-objective phase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tart with piecewise linear adaptive bends</a:t>
            </a:r>
          </a:p>
          <a:p>
            <a:pPr lvl="1"/>
            <a:r>
              <a:rPr lang="en-US" dirty="0" smtClean="0"/>
              <a:t>efficiency would depend on </a:t>
            </a:r>
            <a:r>
              <a:rPr lang="en-US" dirty="0" err="1" smtClean="0"/>
              <a:t>numerics</a:t>
            </a:r>
            <a:r>
              <a:rPr lang="en-US" dirty="0" smtClean="0"/>
              <a:t>, how far the optimal solution is to the initial goals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33859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sum-of-cubes objective function?</a:t>
            </a:r>
          </a:p>
          <a:p>
            <a:pPr lvl="1"/>
            <a:r>
              <a:rPr lang="en-US" dirty="0" smtClean="0"/>
              <a:t>Any power in [2, infinity] is possible.</a:t>
            </a:r>
          </a:p>
          <a:p>
            <a:pPr lvl="2"/>
            <a:r>
              <a:rPr lang="en-US" dirty="0" err="1"/>
              <a:t>Lex</a:t>
            </a:r>
            <a:r>
              <a:rPr lang="en-US" dirty="0"/>
              <a:t> Min Max </a:t>
            </a:r>
            <a:r>
              <a:rPr lang="en-US" dirty="0" smtClean="0"/>
              <a:t>from 1997 is </a:t>
            </a:r>
            <a:r>
              <a:rPr lang="en-US" dirty="0"/>
              <a:t>a form of </a:t>
            </a:r>
            <a:r>
              <a:rPr lang="en-US" dirty="0" err="1"/>
              <a:t>L_infinity</a:t>
            </a:r>
            <a:endParaRPr lang="en-US" dirty="0"/>
          </a:p>
          <a:p>
            <a:pPr lvl="2"/>
            <a:r>
              <a:rPr lang="en-US" dirty="0" smtClean="0"/>
              <a:t>The lower the power, the bigger the worst deviation, but the fewer number of curves need to change</a:t>
            </a:r>
          </a:p>
          <a:p>
            <a:pPr lvl="1"/>
            <a:r>
              <a:rPr lang="en-US" dirty="0" smtClean="0"/>
              <a:t>Experimental</a:t>
            </a:r>
            <a:r>
              <a:rPr lang="en-US" dirty="0"/>
              <a:t>. I tried powers of 2, 3, and 4. </a:t>
            </a:r>
            <a:endParaRPr lang="en-US" dirty="0" smtClean="0"/>
          </a:p>
          <a:p>
            <a:pPr lvl="2"/>
            <a:r>
              <a:rPr lang="en-US" dirty="0" smtClean="0"/>
              <a:t>2 concentrated deviations too much</a:t>
            </a:r>
          </a:p>
          <a:p>
            <a:pPr lvl="2"/>
            <a:r>
              <a:rPr lang="en-US" dirty="0" smtClean="0"/>
              <a:t>4 spread deviations out too much in some contrived cases</a:t>
            </a:r>
          </a:p>
          <a:p>
            <a:pPr lvl="2"/>
            <a:r>
              <a:rPr lang="en-US" dirty="0" smtClean="0"/>
              <a:t>This was just my opinion</a:t>
            </a:r>
          </a:p>
          <a:p>
            <a:pPr lvl="1"/>
            <a:r>
              <a:rPr lang="en-US" dirty="0" smtClean="0"/>
              <a:t>Some other power may be better, depending on what a “typical” model is for you.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14311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950"/>
            <a:ext cx="7772400" cy="1187450"/>
          </a:xfrm>
        </p:spPr>
        <p:txBody>
          <a:bodyPr/>
          <a:lstStyle/>
          <a:p>
            <a:r>
              <a:rPr lang="en-US" dirty="0"/>
              <a:t>Interval </a:t>
            </a:r>
            <a:r>
              <a:rPr lang="en-US" dirty="0" smtClean="0"/>
              <a:t>Assignment Summary 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800600"/>
            <a:ext cx="8255720" cy="1746250"/>
          </a:xfrm>
        </p:spPr>
        <p:txBody>
          <a:bodyPr/>
          <a:lstStyle/>
          <a:p>
            <a:r>
              <a:rPr lang="en-US" sz="1400" dirty="0" smtClean="0"/>
              <a:t>First known improvement to FEM interval assignment </a:t>
            </a:r>
            <a:r>
              <a:rPr lang="en-US" sz="1400" dirty="0" smtClean="0">
                <a:solidFill>
                  <a:srgbClr val="0000FF"/>
                </a:solidFill>
              </a:rPr>
              <a:t>structure</a:t>
            </a:r>
            <a:r>
              <a:rPr lang="en-US" sz="1400" dirty="0" smtClean="0"/>
              <a:t> since 1997 lexicographic min-max</a:t>
            </a:r>
          </a:p>
          <a:p>
            <a:pPr lvl="1"/>
            <a:r>
              <a:rPr lang="en-US" sz="1200" dirty="0"/>
              <a:t>Lots of people write new constraints for new schemes, but this is first change to objective (except Graphics community solving related-but-different problem using MIQP)</a:t>
            </a:r>
          </a:p>
          <a:p>
            <a:r>
              <a:rPr lang="en-US" sz="1400" dirty="0" smtClean="0"/>
              <a:t>Implemented in MeshKit, using IPOPT</a:t>
            </a:r>
          </a:p>
          <a:p>
            <a:pPr lvl="1"/>
            <a:r>
              <a:rPr lang="en-US" sz="1200" dirty="0" smtClean="0"/>
              <a:t>scales to thousands of surfaces in nuclear reactor core models</a:t>
            </a:r>
          </a:p>
          <a:p>
            <a:pPr lvl="1"/>
            <a:r>
              <a:rPr lang="en-US" sz="1200" dirty="0"/>
              <a:t>1997-2013, Cubit </a:t>
            </a:r>
            <a:r>
              <a:rPr lang="en-US" sz="1200" dirty="0" smtClean="0"/>
              <a:t>runs </a:t>
            </a:r>
            <a:r>
              <a:rPr lang="en-US" sz="1200" dirty="0" err="1"/>
              <a:t>lex</a:t>
            </a:r>
            <a:r>
              <a:rPr lang="en-US" sz="1200" dirty="0"/>
              <a:t> min-max for </a:t>
            </a:r>
            <a:r>
              <a:rPr lang="en-US" sz="1200" i="1" dirty="0"/>
              <a:t>every</a:t>
            </a:r>
            <a:r>
              <a:rPr lang="en-US" sz="1200" dirty="0"/>
              <a:t> quad and hex </a:t>
            </a:r>
            <a:r>
              <a:rPr lang="en-US" sz="1200" dirty="0" smtClean="0"/>
              <a:t>mesh (that meshes the boundary first)</a:t>
            </a:r>
            <a:endParaRPr lang="en-US" sz="1200" dirty="0"/>
          </a:p>
          <a:p>
            <a:pPr lvl="1"/>
            <a:r>
              <a:rPr lang="en-US" sz="1200" dirty="0" smtClean="0"/>
              <a:t>New solution may migrate to Cubit, as Cubit includes MeshKit</a:t>
            </a:r>
            <a:r>
              <a:rPr lang="en-US" sz="1200" dirty="0"/>
              <a:t> </a:t>
            </a:r>
            <a:r>
              <a:rPr lang="en-US" sz="1200" dirty="0" smtClean="0"/>
              <a:t>library </a:t>
            </a:r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1059247"/>
            <a:ext cx="4330700" cy="1143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450" y="3409950"/>
            <a:ext cx="1828800" cy="825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5100" y="4184650"/>
            <a:ext cx="8909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2"/>
                </a:solidFill>
              </a:rPr>
              <a:t>I just relax	                    bend	                             tilt               &amp;          wave!    </a:t>
            </a:r>
            <a:r>
              <a:rPr lang="en-US" sz="2000" dirty="0" smtClean="0">
                <a:solidFill>
                  <a:schemeClr val="accent2"/>
                </a:solidFill>
                <a:sym typeface="Wingdings"/>
              </a:rPr>
              <a:t>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05400" y="1346200"/>
            <a:ext cx="410210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New nonlinear objective function</a:t>
            </a:r>
          </a:p>
          <a:p>
            <a:pPr marL="342900" lvl="0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Finesse </a:t>
            </a:r>
            <a:r>
              <a:rPr lang="en-US" sz="1200" b="1" kern="0" dirty="0">
                <a:solidFill>
                  <a:srgbClr val="000000"/>
                </a:solidFill>
                <a:latin typeface="Arial"/>
              </a:rPr>
              <a:t>integer constraints using </a:t>
            </a: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/>
            </a:r>
            <a:br>
              <a:rPr lang="en-US" sz="1200" b="1" kern="0" dirty="0" smtClean="0">
                <a:solidFill>
                  <a:srgbClr val="000000"/>
                </a:solidFill>
                <a:latin typeface="Arial"/>
              </a:rPr>
            </a:b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L</a:t>
            </a:r>
            <a:r>
              <a:rPr lang="en-US" sz="1200" b="1" kern="0" baseline="-25000" dirty="0" smtClean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200" b="1" kern="0" dirty="0">
                <a:solidFill>
                  <a:srgbClr val="000000"/>
                </a:solidFill>
                <a:latin typeface="Arial"/>
              </a:rPr>
              <a:t>minimization of </a:t>
            </a: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convex </a:t>
            </a:r>
            <a:br>
              <a:rPr lang="en-US" sz="1200" b="1" kern="0" dirty="0" smtClean="0">
                <a:solidFill>
                  <a:srgbClr val="000000"/>
                </a:solidFill>
                <a:latin typeface="Arial"/>
              </a:rPr>
            </a:b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piecewise </a:t>
            </a:r>
            <a:r>
              <a:rPr lang="en-US" sz="1200" b="1" kern="0" dirty="0">
                <a:solidFill>
                  <a:srgbClr val="000000"/>
                </a:solidFill>
                <a:latin typeface="Arial"/>
              </a:rPr>
              <a:t>linear </a:t>
            </a: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approximation</a:t>
            </a:r>
          </a:p>
          <a:p>
            <a:pPr marL="800100" lvl="1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adapt piecewise, slope</a:t>
            </a:r>
          </a:p>
          <a:p>
            <a:pPr marL="800100" lvl="1" indent="-171450">
              <a:spcBef>
                <a:spcPct val="20000"/>
              </a:spcBef>
              <a:buSzPct val="100000"/>
              <a:buFontTx/>
              <a:buChar char="•"/>
            </a:pPr>
            <a:r>
              <a:rPr lang="en-US" sz="1200" b="1" kern="0" dirty="0" smtClean="0">
                <a:solidFill>
                  <a:srgbClr val="000000"/>
                </a:solidFill>
                <a:latin typeface="Arial"/>
              </a:rPr>
              <a:t>heuristics for constraint interactions</a:t>
            </a:r>
            <a:endParaRPr lang="en-US" sz="1200" b="1" kern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Picture 11" descr="tilts-bigfont-fatline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2968624"/>
            <a:ext cx="2044700" cy="1192743"/>
          </a:xfrm>
          <a:prstGeom prst="rect">
            <a:avLst/>
          </a:prstGeom>
        </p:spPr>
      </p:pic>
      <p:pic>
        <p:nvPicPr>
          <p:cNvPr id="13" name="Picture 12" descr="linearized-objective-bigfont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082" y="3175000"/>
            <a:ext cx="2206329" cy="984250"/>
          </a:xfrm>
          <a:prstGeom prst="rect">
            <a:avLst/>
          </a:prstGeom>
        </p:spPr>
      </p:pic>
      <p:pic>
        <p:nvPicPr>
          <p:cNvPr id="14" name="Picture 13" descr="cubic-objective-bigfont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0" y="3162300"/>
            <a:ext cx="2208006" cy="1003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1596345"/>
            <a:ext cx="806450" cy="8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5819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indent="0">
              <a:buNone/>
            </a:pPr>
            <a:r>
              <a:rPr lang="en-US" sz="1600" dirty="0" smtClean="0">
                <a:solidFill>
                  <a:schemeClr val="accent2"/>
                </a:solidFill>
              </a:rPr>
              <a:t>It takes a village to make me successful</a:t>
            </a:r>
          </a:p>
          <a:p>
            <a:r>
              <a:rPr lang="en-US" sz="1600" dirty="0" smtClean="0"/>
              <a:t>Thanks to Tim Tautges for suggesting and supporting this project</a:t>
            </a:r>
          </a:p>
          <a:p>
            <a:r>
              <a:rPr lang="en-US" sz="1600" dirty="0" smtClean="0"/>
              <a:t>Thanks to Tim Tautges, Rajeev Jain, for MeshKit</a:t>
            </a:r>
          </a:p>
          <a:p>
            <a:r>
              <a:rPr lang="en-US" sz="1600" dirty="0" smtClean="0"/>
              <a:t>Thanks to Carl Laird, for IPOPT</a:t>
            </a:r>
          </a:p>
          <a:p>
            <a:r>
              <a:rPr lang="en-US" sz="1600" dirty="0" smtClean="0"/>
              <a:t>Thanks to David </a:t>
            </a:r>
            <a:r>
              <a:rPr lang="en-US" sz="1600" dirty="0" err="1" smtClean="0"/>
              <a:t>Bommes</a:t>
            </a:r>
            <a:r>
              <a:rPr lang="en-US" sz="1600" dirty="0" smtClean="0"/>
              <a:t> for Graphics quads via mixed-integer quadratic programming</a:t>
            </a:r>
          </a:p>
          <a:p>
            <a:endParaRPr lang="en-US" sz="1600" dirty="0" smtClean="0"/>
          </a:p>
          <a:p>
            <a:r>
              <a:rPr lang="en-US" sz="1200" dirty="0"/>
              <a:t>This work was funded under the auspices of the Nuclear Energy Advanced </a:t>
            </a:r>
            <a:r>
              <a:rPr lang="en-US" sz="1200" dirty="0" smtClean="0"/>
              <a:t>Modeling </a:t>
            </a:r>
            <a:r>
              <a:rPr lang="en-US" sz="1200" dirty="0"/>
              <a:t>and Simulation (</a:t>
            </a:r>
            <a:r>
              <a:rPr lang="en-US" sz="1200" dirty="0">
                <a:solidFill>
                  <a:schemeClr val="tx2"/>
                </a:solidFill>
              </a:rPr>
              <a:t>NEAMS</a:t>
            </a:r>
            <a:r>
              <a:rPr lang="en-US" sz="1200" dirty="0"/>
              <a:t>) program of the U.S. Department of Energy Office of Nuclear Energy, U.S. Department of Energy. Partial support for this work was provided through Scientific Discovery through Advanced Computing (</a:t>
            </a:r>
            <a:r>
              <a:rPr lang="en-US" sz="1200" dirty="0" err="1">
                <a:solidFill>
                  <a:srgbClr val="0000FF"/>
                </a:solidFill>
              </a:rPr>
              <a:t>SciDAC</a:t>
            </a:r>
            <a:r>
              <a:rPr lang="en-US" sz="1200"/>
              <a:t>) </a:t>
            </a:r>
            <a:r>
              <a:rPr lang="en-US" sz="1200" smtClean="0"/>
              <a:t>program </a:t>
            </a:r>
            <a:r>
              <a:rPr lang="en-US" sz="1200" dirty="0"/>
              <a:t>funded by U.S. Department of Energy, Office of Science, Advanced Scientific Computing Research. Sandia National Laboratories is a multi-program laboratory managed and operated by Sandia Corporation, a wholly owned subsidiary of </a:t>
            </a:r>
            <a:r>
              <a:rPr lang="en-US" sz="1200" dirty="0" smtClean="0"/>
              <a:t>Lockheed </a:t>
            </a:r>
            <a:r>
              <a:rPr lang="en-US" sz="1200" dirty="0"/>
              <a:t>Martin Corporation, for the U.S. Department of Energy’s National Nuclear Security Administration under contract DE-AC04-94AL85000</a:t>
            </a:r>
            <a:r>
              <a:rPr lang="en-US" sz="1200" dirty="0" smtClean="0"/>
              <a:t>.</a:t>
            </a:r>
          </a:p>
          <a:p>
            <a:endParaRPr lang="en-US" sz="1200" dirty="0"/>
          </a:p>
          <a:p>
            <a:r>
              <a:rPr lang="en-US" sz="1600" dirty="0" smtClean="0">
                <a:solidFill>
                  <a:schemeClr val="accent2"/>
                </a:solidFill>
              </a:rPr>
              <a:t>Is the government still shut down? </a:t>
            </a:r>
            <a:br>
              <a:rPr lang="en-US" sz="1600" dirty="0" smtClean="0">
                <a:solidFill>
                  <a:schemeClr val="accent2"/>
                </a:solidFill>
              </a:rPr>
            </a:br>
            <a:r>
              <a:rPr lang="en-US" sz="1600" dirty="0" smtClean="0">
                <a:solidFill>
                  <a:schemeClr val="accent2"/>
                </a:solidFill>
              </a:rPr>
              <a:t>Will mesh for food.</a:t>
            </a:r>
            <a:endParaRPr lang="en-US" sz="1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8101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65021</TotalTime>
  <Words>2155</Words>
  <Application>Microsoft Macintosh PowerPoint</Application>
  <PresentationFormat>On-screen Show (4:3)</PresentationFormat>
  <Paragraphs>414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Default Design</vt:lpstr>
      <vt:lpstr>Simple and Fast Interval Assignment Using Nonlinear and Piecewise Linear Objectives </vt:lpstr>
      <vt:lpstr>Outline</vt:lpstr>
      <vt:lpstr>Interval Assignment Summary </vt:lpstr>
      <vt:lpstr>Interval Assignment (IA) Problem Definition</vt:lpstr>
      <vt:lpstr>Why is Interval Assignment Hard?</vt:lpstr>
      <vt:lpstr>Interval Assignment  by linear constraints is old</vt:lpstr>
      <vt:lpstr>Local Constraints</vt:lpstr>
      <vt:lpstr>Mixed-Integer Linear Constraints</vt:lpstr>
      <vt:lpstr>Benefits of Linear Constraints</vt:lpstr>
      <vt:lpstr>Global Infeasibility</vt:lpstr>
      <vt:lpstr>Graphics has discovered quad meshes</vt:lpstr>
      <vt:lpstr>Graphics has discovered quad meshes including the need for interval assignment</vt:lpstr>
      <vt:lpstr>Objectives: user specified sizes</vt:lpstr>
      <vt:lpstr>What’s good about linear objectives?</vt:lpstr>
      <vt:lpstr>What’s wrong with linear objectives?</vt:lpstr>
      <vt:lpstr>My Solutions to spread out deviations </vt:lpstr>
      <vt:lpstr>Cubic Objective</vt:lpstr>
      <vt:lpstr>Cubic Objective Solution</vt:lpstr>
      <vt:lpstr>Piecewise Linear Objective</vt:lpstr>
      <vt:lpstr>Adaptive Piecewise Linear Objective</vt:lpstr>
      <vt:lpstr>Adaptive Piecewise Linear Objective</vt:lpstr>
      <vt:lpstr>Tilt to Break Non-integer Ties</vt:lpstr>
      <vt:lpstr>Last Resort, Waves to Force Integrality</vt:lpstr>
      <vt:lpstr>Scaling stress tests</vt:lpstr>
      <vt:lpstr>Robustness stress tests</vt:lpstr>
      <vt:lpstr>Availability and Status</vt:lpstr>
      <vt:lpstr>Alternatives</vt:lpstr>
      <vt:lpstr>Alternatives</vt:lpstr>
      <vt:lpstr>Interval Assignment Summary 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32pt</dc:title>
  <cp:lastModifiedBy>Scott Mitchell</cp:lastModifiedBy>
  <cp:revision>850</cp:revision>
  <cp:lastPrinted>2011-09-09T19:40:28Z</cp:lastPrinted>
  <dcterms:modified xsi:type="dcterms:W3CDTF">2013-10-21T19:42:22Z</dcterms:modified>
</cp:coreProperties>
</file>