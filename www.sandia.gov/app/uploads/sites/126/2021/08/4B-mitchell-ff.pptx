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02" r:id="rId2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A1FF"/>
    <a:srgbClr val="FF0000"/>
    <a:srgbClr val="00D200"/>
    <a:srgbClr val="FA0456"/>
    <a:srgbClr val="3366FF"/>
    <a:srgbClr val="000000"/>
    <a:srgbClr val="080808"/>
    <a:srgbClr val="3A984A"/>
    <a:srgbClr val="25B41E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 snapToGrid="0">
      <p:cViewPr varScale="1">
        <p:scale>
          <a:sx n="210" d="100"/>
          <a:sy n="210" d="100"/>
        </p:scale>
        <p:origin x="-217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744"/>
    </p:cViewPr>
  </p:sorterViewPr>
  <p:notesViewPr>
    <p:cSldViewPr snapToGrid="0">
      <p:cViewPr varScale="1">
        <p:scale>
          <a:sx n="96" d="100"/>
          <a:sy n="96" d="100"/>
        </p:scale>
        <p:origin x="-3084" y="-108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png"/><Relationship Id="rId5" Type="http://schemas.openxmlformats.org/officeDocument/2006/relationships/image" Target="../media/image6.emf"/><Relationship Id="rId6" Type="http://schemas.openxmlformats.org/officeDocument/2006/relationships/image" Target="../media/image7.emf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Variable Radii Poisson-Disk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6358"/>
            <a:ext cx="8458200" cy="4359641"/>
          </a:xfrm>
        </p:spPr>
        <p:txBody>
          <a:bodyPr/>
          <a:lstStyle/>
          <a:p>
            <a:r>
              <a:rPr lang="en-US" sz="1800" dirty="0">
                <a:solidFill>
                  <a:srgbClr val="00AE00"/>
                </a:solidFill>
              </a:rPr>
              <a:t>Maximal Poisson-Disk Sampling is a particular </a:t>
            </a:r>
            <a:r>
              <a:rPr lang="en-US" sz="1800" dirty="0" smtClean="0">
                <a:solidFill>
                  <a:srgbClr val="00AE00"/>
                </a:solidFill>
              </a:rPr>
              <a:t>statistical </a:t>
            </a:r>
            <a:br>
              <a:rPr lang="en-US" sz="1800" dirty="0" smtClean="0">
                <a:solidFill>
                  <a:srgbClr val="00AE00"/>
                </a:solidFill>
              </a:rPr>
            </a:br>
            <a:r>
              <a:rPr lang="en-US" sz="1800" dirty="0" smtClean="0">
                <a:solidFill>
                  <a:srgbClr val="00AE00"/>
                </a:solidFill>
              </a:rPr>
              <a:t>process </a:t>
            </a:r>
            <a:r>
              <a:rPr lang="en-US" sz="1800" dirty="0">
                <a:solidFill>
                  <a:srgbClr val="00AE00"/>
                </a:solidFill>
              </a:rPr>
              <a:t>for generating </a:t>
            </a:r>
            <a:r>
              <a:rPr lang="en-US" sz="1800" dirty="0" smtClean="0">
                <a:solidFill>
                  <a:srgbClr val="00AE00"/>
                </a:solidFill>
              </a:rPr>
              <a:t>separated-yet-dense point </a:t>
            </a:r>
            <a:r>
              <a:rPr lang="en-US" sz="1800" dirty="0">
                <a:solidFill>
                  <a:srgbClr val="00AE00"/>
                </a:solidFill>
              </a:rPr>
              <a:t>clouds</a:t>
            </a:r>
          </a:p>
          <a:p>
            <a:pPr marL="857250" lvl="3"/>
            <a:r>
              <a:rPr lang="en-US" sz="1400" dirty="0"/>
              <a:t>Similar-yet-different from </a:t>
            </a:r>
            <a:r>
              <a:rPr lang="en-US" sz="1400" dirty="0" smtClean="0"/>
              <a:t>Delaunay Refinement </a:t>
            </a:r>
            <a:r>
              <a:rPr lang="en-US" sz="1400" dirty="0"/>
              <a:t>and sphere </a:t>
            </a:r>
            <a:r>
              <a:rPr lang="en-US" sz="1400" dirty="0" smtClean="0"/>
              <a:t>packings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better </a:t>
            </a:r>
            <a:r>
              <a:rPr lang="en-US" sz="1400" dirty="0"/>
              <a:t>output properties for certain apps</a:t>
            </a:r>
          </a:p>
          <a:p>
            <a:r>
              <a:rPr lang="en-US" sz="1800" dirty="0" smtClean="0">
                <a:solidFill>
                  <a:schemeClr val="accent2"/>
                </a:solidFill>
              </a:rPr>
              <a:t>Motivation</a:t>
            </a:r>
          </a:p>
          <a:p>
            <a:pPr lvl="1"/>
            <a:r>
              <a:rPr lang="en-US" sz="1600" dirty="0" smtClean="0">
                <a:solidFill>
                  <a:srgbClr val="FF0000"/>
                </a:solidFill>
              </a:rPr>
              <a:t>Hot </a:t>
            </a:r>
            <a:r>
              <a:rPr lang="en-US" sz="1600" dirty="0">
                <a:solidFill>
                  <a:srgbClr val="FF0000"/>
                </a:solidFill>
              </a:rPr>
              <a:t>topic in Computer </a:t>
            </a:r>
            <a:r>
              <a:rPr lang="en-US" sz="1600" dirty="0" smtClean="0">
                <a:solidFill>
                  <a:srgbClr val="FF0000"/>
                </a:solidFill>
              </a:rPr>
              <a:t>Graphics</a:t>
            </a:r>
          </a:p>
          <a:p>
            <a:pPr lvl="2"/>
            <a:r>
              <a:rPr lang="en-US" sz="1600" dirty="0" smtClean="0"/>
              <a:t>for </a:t>
            </a:r>
            <a:r>
              <a:rPr lang="en-US" sz="1600" dirty="0"/>
              <a:t>texture synthesis</a:t>
            </a:r>
          </a:p>
          <a:p>
            <a:pPr lvl="1"/>
            <a:r>
              <a:rPr lang="en-US" sz="1600" dirty="0"/>
              <a:t>Voronoi meshes for fracture mechanics</a:t>
            </a:r>
          </a:p>
          <a:p>
            <a:r>
              <a:rPr lang="en-US" sz="1800" dirty="0" smtClean="0">
                <a:solidFill>
                  <a:srgbClr val="00AE00"/>
                </a:solidFill>
              </a:rPr>
              <a:t>Two Contributions </a:t>
            </a:r>
            <a:endParaRPr lang="en-US" sz="1800" dirty="0">
              <a:solidFill>
                <a:srgbClr val="00AE00"/>
              </a:solidFill>
            </a:endParaRPr>
          </a:p>
          <a:p>
            <a:pPr lvl="1"/>
            <a:r>
              <a:rPr lang="en-US" sz="1800" dirty="0"/>
              <a:t>Lipschitz conditions for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spatially </a:t>
            </a:r>
            <a:r>
              <a:rPr lang="en-US" sz="1800" dirty="0"/>
              <a:t>varying </a:t>
            </a:r>
            <a:r>
              <a:rPr lang="en-US" sz="1800" dirty="0" smtClean="0"/>
              <a:t>radii</a:t>
            </a:r>
          </a:p>
          <a:p>
            <a:pPr lvl="2"/>
            <a:r>
              <a:rPr lang="en-US" sz="1600" dirty="0" smtClean="0">
                <a:solidFill>
                  <a:srgbClr val="FF0000"/>
                </a:solidFill>
              </a:rPr>
              <a:t>Necessary condition for certain Graphics </a:t>
            </a:r>
            <a:r>
              <a:rPr lang="en-US" sz="1600" dirty="0" err="1" smtClean="0">
                <a:solidFill>
                  <a:srgbClr val="FF0000"/>
                </a:solidFill>
              </a:rPr>
              <a:t>algs</a:t>
            </a:r>
            <a:r>
              <a:rPr lang="en-US" sz="1600" dirty="0" smtClean="0">
                <a:solidFill>
                  <a:srgbClr val="FF0000"/>
                </a:solidFill>
              </a:rPr>
              <a:t> to work</a:t>
            </a:r>
            <a:endParaRPr lang="en-US" sz="1600" dirty="0">
              <a:solidFill>
                <a:srgbClr val="FF0000"/>
              </a:solidFill>
            </a:endParaRPr>
          </a:p>
          <a:p>
            <a:pPr lvl="1"/>
            <a:r>
              <a:rPr lang="en-US" sz="1800" dirty="0"/>
              <a:t>New two-radii </a:t>
            </a:r>
            <a:r>
              <a:rPr lang="en-US" sz="1800" dirty="0" smtClean="0"/>
              <a:t>definition </a:t>
            </a:r>
            <a:br>
              <a:rPr lang="en-US" sz="1800" dirty="0" smtClean="0"/>
            </a:br>
            <a:r>
              <a:rPr lang="en-US" sz="1800" dirty="0" smtClean="0"/>
              <a:t>decoupled </a:t>
            </a:r>
            <a:r>
              <a:rPr lang="en-US" sz="1800" dirty="0"/>
              <a:t>coverage and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inhibition radii</a:t>
            </a:r>
            <a:endParaRPr lang="en-US" sz="1800" dirty="0"/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Better “blue noise”</a:t>
            </a:r>
          </a:p>
          <a:p>
            <a:pPr lvl="2"/>
            <a:r>
              <a:rPr lang="en-US" sz="1600" dirty="0"/>
              <a:t>More random refinements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6993" y="0"/>
            <a:ext cx="52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FF</a:t>
            </a:r>
            <a:endParaRPr lang="en-US" dirty="0"/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175387" y="1139675"/>
            <a:ext cx="8569476" cy="680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Scott A. Mitchell, </a:t>
            </a:r>
            <a:r>
              <a:rPr lang="en-US" sz="1800" dirty="0" smtClean="0">
                <a:solidFill>
                  <a:schemeClr val="tx1"/>
                </a:solidFill>
              </a:rPr>
              <a:t>Alexander Rand, Mohamed S. Ebeida, Chandrajit Bajaj</a:t>
            </a:r>
          </a:p>
          <a:p>
            <a:pPr marL="171450" indent="0">
              <a:buNone/>
            </a:pPr>
            <a:r>
              <a:rPr lang="en-US" sz="1400" dirty="0" smtClean="0">
                <a:solidFill>
                  <a:srgbClr val="44A1FF"/>
                </a:solidFill>
              </a:rPr>
              <a:t>Session 4B, Thursday Aug 9, 11:30-11:50</a:t>
            </a:r>
            <a:endParaRPr lang="en-US" sz="1400" dirty="0">
              <a:solidFill>
                <a:srgbClr val="44A1FF"/>
              </a:solidFill>
            </a:endParaRPr>
          </a:p>
        </p:txBody>
      </p:sp>
      <p:pic>
        <p:nvPicPr>
          <p:cNvPr id="7" name="Picture 6" descr="twor_one_step_A_rp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978" y="5393140"/>
            <a:ext cx="1725313" cy="1165752"/>
          </a:xfrm>
          <a:prstGeom prst="rect">
            <a:avLst/>
          </a:prstGeom>
        </p:spPr>
      </p:pic>
      <p:pic>
        <p:nvPicPr>
          <p:cNvPr id="9" name="Picture 8" descr="psa-gpu-0_01-rp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328" y="3342012"/>
            <a:ext cx="1773466" cy="1198288"/>
          </a:xfrm>
          <a:prstGeom prst="rect">
            <a:avLst/>
          </a:prstGeom>
        </p:spPr>
      </p:pic>
      <p:pic>
        <p:nvPicPr>
          <p:cNvPr id="14" name="Picture 13" descr="psa-gpu-0_01-spec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444" y="3380683"/>
            <a:ext cx="955556" cy="955556"/>
          </a:xfrm>
          <a:prstGeom prst="rect">
            <a:avLst/>
          </a:prstGeom>
        </p:spPr>
      </p:pic>
      <p:pic>
        <p:nvPicPr>
          <p:cNvPr id="15" name="Picture 14" descr="psa-gpu-0_01-pts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37" y="3380728"/>
            <a:ext cx="1625873" cy="1625873"/>
          </a:xfrm>
          <a:prstGeom prst="rect">
            <a:avLst/>
          </a:prstGeom>
        </p:spPr>
      </p:pic>
      <p:pic>
        <p:nvPicPr>
          <p:cNvPr id="17" name="Picture 16" descr="twor_one_step_A_pts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602" y="5207577"/>
            <a:ext cx="1619737" cy="1619737"/>
          </a:xfrm>
          <a:prstGeom prst="rect">
            <a:avLst/>
          </a:prstGeom>
        </p:spPr>
      </p:pic>
      <p:pic>
        <p:nvPicPr>
          <p:cNvPr id="18" name="Picture 17" descr="twor_one_step_A_spec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926" y="5393139"/>
            <a:ext cx="986074" cy="986074"/>
          </a:xfrm>
          <a:prstGeom prst="rect">
            <a:avLst/>
          </a:prstGeom>
        </p:spPr>
      </p:pic>
      <p:grpSp>
        <p:nvGrpSpPr>
          <p:cNvPr id="27" name="Group 26"/>
          <p:cNvGrpSpPr>
            <a:grpSpLocks noChangeAspect="1"/>
          </p:cNvGrpSpPr>
          <p:nvPr/>
        </p:nvGrpSpPr>
        <p:grpSpPr>
          <a:xfrm>
            <a:off x="6629651" y="4316806"/>
            <a:ext cx="1834306" cy="1463040"/>
            <a:chOff x="-1585607" y="4795379"/>
            <a:chExt cx="2292883" cy="1828800"/>
          </a:xfrm>
        </p:grpSpPr>
        <p:sp>
          <p:nvSpPr>
            <p:cNvPr id="11" name="Oval 10"/>
            <p:cNvSpPr>
              <a:spLocks noChangeAspect="1"/>
            </p:cNvSpPr>
            <p:nvPr/>
          </p:nvSpPr>
          <p:spPr bwMode="auto">
            <a:xfrm>
              <a:off x="-1585607" y="4795379"/>
              <a:ext cx="1828800" cy="1828800"/>
            </a:xfrm>
            <a:prstGeom prst="ellipse">
              <a:avLst/>
            </a:prstGeom>
            <a:solidFill>
              <a:schemeClr val="accent1">
                <a:alpha val="42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" name="Oval 18"/>
            <p:cNvSpPr>
              <a:spLocks noChangeAspect="1"/>
            </p:cNvSpPr>
            <p:nvPr/>
          </p:nvSpPr>
          <p:spPr bwMode="auto">
            <a:xfrm>
              <a:off x="-1128407" y="5246229"/>
              <a:ext cx="914400" cy="914400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217777" y="5218903"/>
              <a:ext cx="9250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coverage</a:t>
              </a:r>
              <a:endParaRPr lang="en-US"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746547" y="5683523"/>
              <a:ext cx="9710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exclusion</a:t>
              </a:r>
              <a:endParaRPr lang="en-US" sz="16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871612" y="5459062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x</a:t>
              </a:r>
              <a:endParaRPr lang="en-US" sz="1600" dirty="0"/>
            </a:p>
          </p:txBody>
        </p:sp>
        <p:cxnSp>
          <p:nvCxnSpPr>
            <p:cNvPr id="23" name="Straight Arrow Connector 22"/>
            <p:cNvCxnSpPr/>
            <p:nvPr/>
          </p:nvCxnSpPr>
          <p:spPr bwMode="auto">
            <a:xfrm>
              <a:off x="-633107" y="5709780"/>
              <a:ext cx="412750" cy="253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/>
            <p:cNvCxnSpPr/>
            <p:nvPr/>
          </p:nvCxnSpPr>
          <p:spPr bwMode="auto">
            <a:xfrm flipV="1">
              <a:off x="-639457" y="5189079"/>
              <a:ext cx="711200" cy="5270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4797857" y="5270556"/>
            <a:ext cx="1619738" cy="4968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Two</a:t>
            </a:r>
            <a:r>
              <a:rPr 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-radii </a:t>
            </a:r>
            <a:r>
              <a:rPr 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MPS</a:t>
            </a:r>
            <a:endParaRPr lang="en-US" sz="1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4839446" y="3436406"/>
            <a:ext cx="154747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Classic MPS</a:t>
            </a:r>
            <a:endParaRPr lang="en-US" sz="14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7003620"/>
      </p:ext>
    </p:extLst>
  </p:cSld>
  <p:clrMapOvr>
    <a:masterClrMapping/>
  </p:clrMapOvr>
  <p:transition xmlns:p14="http://schemas.microsoft.com/office/powerpoint/2010/main" spd="med"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65219</TotalTime>
  <Words>54</Words>
  <Application>Microsoft Macintosh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Variable Radii Poisson-Disk Sampling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Scott Mitchell</cp:lastModifiedBy>
  <cp:revision>701</cp:revision>
  <cp:lastPrinted>2001-12-04T02:38:31Z</cp:lastPrinted>
  <dcterms:modified xsi:type="dcterms:W3CDTF">2012-08-03T17:54:05Z</dcterms:modified>
</cp:coreProperties>
</file>